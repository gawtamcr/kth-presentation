
<file path=[Content_Types].xml><?xml version="1.0" encoding="utf-8"?>
<Types xmlns="http://schemas.openxmlformats.org/package/2006/content-types">
  <Default Extension="mp4" ContentType="video/mp4"/>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slides/slide4.xml" ContentType="application/vnd.openxmlformats-officedocument.presentationml.slide+xml"/>
  <Override PartName="/ppt/notesSlides/notesSlideS4.xml" ContentType="application/vnd.openxmlformats-officedocument.presentationml.notesSlide+xml"/>
  <Override PartName="/ppt/slides/slide5.xml" ContentType="application/vnd.openxmlformats-officedocument.presentationml.slide+xml"/>
  <Override PartName="/ppt/notesSlides/notesSlideS5.xml" ContentType="application/vnd.openxmlformats-officedocument.presentationml.notesSlide+xml"/>
  <Override PartName="/ppt/slides/slide6.xml" ContentType="application/vnd.openxmlformats-officedocument.presentationml.slide+xml"/>
  <Override PartName="/ppt/notesSlides/notesSlideS6.xml" ContentType="application/vnd.openxmlformats-officedocument.presentationml.notesSlide+xml"/>
  <Override PartName="/ppt/slides/slide7.xml" ContentType="application/vnd.openxmlformats-officedocument.presentationml.slide+xml"/>
  <Override PartName="/ppt/notesSlides/notesSlideS7.xml" ContentType="application/vnd.openxmlformats-officedocument.presentationml.notesSlide+xml"/>
  <Override PartName="/ppt/slides/slide8.xml" ContentType="application/vnd.openxmlformats-officedocument.presentationml.slide+xml"/>
  <Override PartName="/ppt/notesSlides/notesSlideS8.xml" ContentType="application/vnd.openxmlformats-officedocument.presentationml.notesSlide+xml"/>
  <Override PartName="/ppt/slides/slide9.xml" ContentType="application/vnd.openxmlformats-officedocument.presentationml.slide+xml"/>
  <Override PartName="/ppt/notesSlides/notesSlideS9.xml" ContentType="application/vnd.openxmlformats-officedocument.presentationml.notesSlide+xml"/>
  <Override PartName="/ppt/slides/slide10.xml" ContentType="application/vnd.openxmlformats-officedocument.presentationml.slide+xml"/>
  <Override PartName="/ppt/notesSlides/notesSlideS10.xml" ContentType="application/vnd.openxmlformats-officedocument.presentationml.notesSlide+xml"/>
  <Override PartName="/ppt/slides/slide11.xml" ContentType="application/vnd.openxmlformats-officedocument.presentationml.slide+xml"/>
  <Override PartName="/ppt/notesSlides/notesSlideS11.xml" ContentType="application/vnd.openxmlformats-officedocument.presentationml.notesSlide+xml"/>
  <Override PartName="/ppt/slides/slide12.xml" ContentType="application/vnd.openxmlformats-officedocument.presentationml.slide+xml"/>
  <Override PartName="/ppt/notesSlides/notesSlideS12.xml" ContentType="application/vnd.openxmlformats-officedocument.presentationml.notesSlide+xml"/>
  <Override PartName="/ppt/slides/slide13.xml" ContentType="application/vnd.openxmlformats-officedocument.presentationml.slide+xml"/>
  <Override PartName="/ppt/notesSlides/notesSlideS13.xml" ContentType="application/vnd.openxmlformats-officedocument.presentationml.notesSlide+xml"/>
  <Override PartName="/ppt/slides/slide14.xml" ContentType="application/vnd.openxmlformats-officedocument.presentationml.slide+xml"/>
  <Override PartName="/ppt/notesSlides/notesSlideS14.xml" ContentType="application/vnd.openxmlformats-officedocument.presentationml.notesSlide+xml"/>
  <Override PartName="/ppt/slides/slide15.xml" ContentType="application/vnd.openxmlformats-officedocument.presentationml.slide+xml"/>
  <Override PartName="/ppt/notesSlides/notesSlideS15.xml" ContentType="application/vnd.openxmlformats-officedocument.presentationml.notesSlide+xml"/>
  <Override PartName="/ppt/slides/slide16.xml" ContentType="application/vnd.openxmlformats-officedocument.presentationml.slide+xml"/>
  <Override PartName="/ppt/notesSlides/notesSlideS16.xml" ContentType="application/vnd.openxmlformats-officedocument.presentationml.notesSlide+xml"/>
  <Override PartName="/ppt/slides/slide17.xml" ContentType="application/vnd.openxmlformats-officedocument.presentationml.slide+xml"/>
  <Override PartName="/ppt/notesSlides/notesSlideS17.xml" ContentType="application/vnd.openxmlformats-officedocument.presentationml.notesSlide+xml"/>
  <Override PartName="/ppt/slides/slide18.xml" ContentType="application/vnd.openxmlformats-officedocument.presentationml.slide+xml"/>
  <Override PartName="/ppt/notesSlides/notesSlideS18.xml" ContentType="application/vnd.openxmlformats-officedocument.presentationml.notesSlide+xml"/>
  <Override PartName="/ppt/slides/slide19.xml" ContentType="application/vnd.openxmlformats-officedocument.presentationml.slide+xml"/>
  <Override PartName="/ppt/notesSlides/notesSlideS19.xml" ContentType="application/vnd.openxmlformats-officedocument.presentationml.notesSlide+xml"/>
  <Override PartName="/ppt/slides/slide20.xml" ContentType="application/vnd.openxmlformats-officedocument.presentationml.slide+xml"/>
  <Override PartName="/ppt/notesSlides/notesSlideS20.xml" ContentType="application/vnd.openxmlformats-officedocument.presentationml.notesSlide+xml"/>
  <Override PartName="/ppt/slides/slide21.xml" ContentType="application/vnd.openxmlformats-officedocument.presentationml.slide+xml"/>
  <Override PartName="/ppt/notesSlides/notesSlideS21.xml" ContentType="application/vnd.openxmlformats-officedocument.presentationml.notesSlide+xml"/>
  <Override PartName="/ppt/slides/slide22.xml" ContentType="application/vnd.openxmlformats-officedocument.presentationml.slide+xml"/>
  <Override PartName="/ppt/notesSlides/notesSlideS22.xml" ContentType="application/vnd.openxmlformats-officedocument.presentationml.notesSlide+xml"/>
  <Override PartName="/ppt/slides/slide23.xml" ContentType="application/vnd.openxmlformats-officedocument.presentationml.slide+xml"/>
  <Override PartName="/ppt/notesSlides/notesSlideS23.xml" ContentType="application/vnd.openxmlformats-officedocument.presentationml.notesSlide+xml"/>
  <Override PartName="/ppt/slides/slide24.xml" ContentType="application/vnd.openxmlformats-officedocument.presentationml.slide+xml"/>
  <Override PartName="/ppt/notesSlides/notesSlideS24.xml" ContentType="application/vnd.openxmlformats-officedocument.presentationml.notesSlide+xml"/>
  <Override PartName="/ppt/slides/slide25.xml" ContentType="application/vnd.openxmlformats-officedocument.presentationml.slide+xml"/>
  <Override PartName="/ppt/notesSlides/notesSlideS25.xml" ContentType="application/vnd.openxmlformats-officedocument.presentationml.notesSlide+xml"/>
  <Override PartName="/ppt/slides/slide26.xml" ContentType="application/vnd.openxmlformats-officedocument.presentationml.slide+xml"/>
  <Override PartName="/ppt/notesSlides/notesSlideS26.xml" ContentType="application/vnd.openxmlformats-officedocument.presentationml.notesSlide+xml"/>
  <Override PartName="/ppt/slides/slide27.xml" ContentType="application/vnd.openxmlformats-officedocument.presentationml.slide+xml"/>
  <Override PartName="/ppt/notesSlides/notesSlideS27.xml" ContentType="application/vnd.openxmlformats-officedocument.presentationml.notesSlide+xml"/>
  <Override PartName="/ppt/slides/slide28.xml" ContentType="application/vnd.openxmlformats-officedocument.presentationml.slide+xml"/>
  <Override PartName="/ppt/notesSlides/notesSlideS28.xml" ContentType="application/vnd.openxmlformats-officedocument.presentationml.notesSlide+xml"/>
  <Override PartName="/ppt/slides/slide29.xml" ContentType="application/vnd.openxmlformats-officedocument.presentationml.slide+xml"/>
  <Override PartName="/ppt/notesSlides/notesSlideS29.xml" ContentType="application/vnd.openxmlformats-officedocument.presentationml.notesSlide+xml"/>
  <Override PartName="/ppt/slides/slide30.xml" ContentType="application/vnd.openxmlformats-officedocument.presentationml.slide+xml"/>
  <Override PartName="/ppt/notesSlides/notesSlideS30.xml" ContentType="application/vnd.openxmlformats-officedocument.presentationml.notesSlide+xml"/>
  <Override PartName="/ppt/slides/slide31.xml" ContentType="application/vnd.openxmlformats-officedocument.presentationml.slide+xml"/>
  <Override PartName="/ppt/notesSlides/notesSlideS31.xml" ContentType="application/vnd.openxmlformats-officedocument.presentationml.notesSlide+xml"/>
  <Override PartName="/ppt/slides/slide32.xml" ContentType="application/vnd.openxmlformats-officedocument.presentationml.slide+xml"/>
  <Override PartName="/ppt/notesSlides/notesSlideS32.xml" ContentType="application/vnd.openxmlformats-officedocument.presentationml.notes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Slides/notesSlideS35.xml" ContentType="application/vnd.openxmlformats-officedocument.presentationml.notesSlide+xml"/>
  <Override PartName="/ppt/slides/slide36.xml" ContentType="application/vnd.openxmlformats-officedocument.presentationml.slide+xml"/>
  <Override PartName="/ppt/notesSlides/notesSlideS36.xml" ContentType="application/vnd.openxmlformats-officedocument.presentationml.notesSlide+xml"/>
  <Override PartName="/ppt/slides/slide37.xml" ContentType="application/vnd.openxmlformats-officedocument.presentationml.slide+xml"/>
  <Override PartName="/ppt/notesSlides/notesSlideS37.xml" ContentType="application/vnd.openxmlformats-officedocument.presentationml.notesSlide+xml"/>
  <Override PartName="/ppt/slides/slide38.xml" ContentType="application/vnd.openxmlformats-officedocument.presentationml.slide+xml"/>
  <Override PartName="/ppt/notesSlides/notesSlideS38.xml" ContentType="application/vnd.openxmlformats-officedocument.presentationml.notesSlide+xml"/>
  <Override PartName="/ppt/slides/slide39.xml" ContentType="application/vnd.openxmlformats-officedocument.presentationml.slide+xml"/>
  <Override PartName="/ppt/notesSlides/notesSlideS39.xml" ContentType="application/vnd.openxmlformats-officedocument.presentationml.notesSlide+xml"/>
  <Override PartName="/ppt/slides/slide40.xml" ContentType="application/vnd.openxmlformats-officedocument.presentationml.slide+xml"/>
  <Override PartName="/ppt/notesSlides/notesSlideS40.xml" ContentType="application/vnd.openxmlformats-officedocument.presentationml.notesSlide+xml"/>
  <Override PartName="/ppt/slides/slide41.xml" ContentType="application/vnd.openxmlformats-officedocument.presentationml.slide+xml"/>
  <Override PartName="/ppt/notesSlides/notesSlideS41.xml" ContentType="application/vnd.openxmlformats-officedocument.presentationml.notesSlide+xml"/>
  <Override PartName="/ppt/slides/slide42.xml" ContentType="application/vnd.openxmlformats-officedocument.presentationml.slide+xml"/>
  <Override PartName="/ppt/notesSlides/notesSlideS42.xml" ContentType="application/vnd.openxmlformats-officedocument.presentationml.notesSlide+xml"/>
  <Override PartName="/ppt/slides/slide43.xml" ContentType="application/vnd.openxmlformats-officedocument.presentationml.slide+xml"/>
  <Override PartName="/ppt/notesSlides/notesSlideS43.xml" ContentType="application/vnd.openxmlformats-officedocument.presentationml.notesSlide+xml"/>
  <Override PartName="/ppt/slides/slide44.xml" ContentType="application/vnd.openxmlformats-officedocument.presentationml.slide+xml"/>
  <Override PartName="/ppt/notesSlides/notesSlideS44.xml" ContentType="application/vnd.openxmlformats-officedocument.presentationml.notesSlide+xml"/>
  <Override PartName="/ppt/slides/slide45.xml" ContentType="application/vnd.openxmlformats-officedocument.presentationml.slide+xml"/>
  <Override PartName="/ppt/notesSlides/notesSlideS45.xml" ContentType="application/vnd.openxmlformats-officedocument.presentationml.notesSlide+xml"/>
  <Override PartName="/ppt/slides/slide46.xml" ContentType="application/vnd.openxmlformats-officedocument.presentationml.slide+xml"/>
  <Override PartName="/ppt/notesSlides/notesSlideS46.xml" ContentType="application/vnd.openxmlformats-officedocument.presentationml.notesSlide+xml"/>
  <Override PartName="/ppt/slides/slide47.xml" ContentType="application/vnd.openxmlformats-officedocument.presentationml.slide+xml"/>
  <Override PartName="/ppt/notesSlides/notesSlideS47.xml" ContentType="application/vnd.openxmlformats-officedocument.presentationml.notesSlide+xml"/>
  <Override PartName="/ppt/slides/slide48.xml" ContentType="application/vnd.openxmlformats-officedocument.presentationml.slide+xml"/>
  <Override PartName="/ppt/notesSlides/notesSlideS48.xml" ContentType="application/vnd.openxmlformats-officedocument.presentationml.notesSlide+xml"/>
  <Override PartName="/ppt/slides/slide49.xml" ContentType="application/vnd.openxmlformats-officedocument.presentationml.slide+xml"/>
  <Override PartName="/ppt/notesSlides/notesSlideS49.xml" ContentType="application/vnd.openxmlformats-officedocument.presentationml.notesSlide+xml"/>
  <Override PartName="/ppt/slides/slide50.xml" ContentType="application/vnd.openxmlformats-officedocument.presentationml.slide+xml"/>
  <Override PartName="/ppt/notesSlides/notesSlideS50.xml" ContentType="application/vnd.openxmlformats-officedocument.presentationml.notesSlide+xml"/>
  <Override PartName="/ppt/slides/slide51.xml" ContentType="application/vnd.openxmlformats-officedocument.presentationml.slide+xml"/>
  <Override PartName="/ppt/notesSlides/notesSlideS51.xml" ContentType="application/vnd.openxmlformats-officedocument.presentationml.notesSlide+xml"/>
  <Override PartName="/ppt/slides/slide52.xml" ContentType="application/vnd.openxmlformats-officedocument.presentationml.slide+xml"/>
  <Override PartName="/ppt/notesSlides/notesSlideS52.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5"/>
  </p:notesMasterIdLst>
  <p:sldIdLst>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Lst>
  <p:sldSz cx="12192000" cy="6858000"/>
  <p:notesSz cx="6858000" cy="9144000"/>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74" autoAdjust="0"/>
    <p:restoredTop sz="96327"/>
  </p:normalViewPr>
  <p:slideViewPr>
    <p:cSldViewPr snapToGrid="0">
      <p:cViewPr varScale="1">
        <p:scale>
          <a:sx n="78" d="100"/>
          <a:sy n="78" d="100"/>
        </p:scale>
        <p:origin x="52" y="140"/>
      </p:cViewPr>
      <p:guideLst/>
    </p:cSldViewPr>
  </p:slideViewPr>
  <p:notesTextViewPr>
    <p:cViewPr>
      <p:scale>
        <a:sx n="1" d="1"/>
        <a:sy n="1" d="1"/>
      </p:scale>
      <p:origin x="0" y="0"/>
    </p:cViewPr>
  </p:notesTextViewPr>
  <p:gridSpacing cx="72008" cy="72008"/>
</p:viewPr>
</file>

<file path=ppt/_rels/presentation.xml.rels><?xml version="1.0" encoding="utf-8"?><Relationships xmlns="http://schemas.openxmlformats.org/package/2006/relationships"><Relationship Id="rId13" Type="http://schemas.openxmlformats.org/officeDocument/2006/relationships/tableStyles" Target="tableStyles.xml"/><Relationship Id="rId12" Type="http://schemas.openxmlformats.org/officeDocument/2006/relationships/theme" Target="theme/theme1.xml"/><Relationship Id="rId1" Type="http://schemas.openxmlformats.org/officeDocument/2006/relationships/slideMaster" Target="slideMasters/slideMaster1.xml"/><Relationship Id="rId11" Type="http://schemas.openxmlformats.org/officeDocument/2006/relationships/viewProps" Target="viewProps.xml"/><Relationship Id="rId5" Type="http://schemas.openxmlformats.org/officeDocument/2006/relationships/notesMaster" Target="notesMasters/notesMaster1.xml"/><Relationship Id="rId10" Type="http://schemas.openxmlformats.org/officeDocument/2006/relationships/presProps" Target="presProps.xml"/>  <Relationship Id="rId14" Type="http://schemas.openxmlformats.org/officeDocument/2006/relationships/slide" Target="slides/slide4.xml"/>
  <Relationship Id="rId15" Type="http://schemas.openxmlformats.org/officeDocument/2006/relationships/slide" Target="slides/slide5.xml"/>
  <Relationship Id="rId16" Type="http://schemas.openxmlformats.org/officeDocument/2006/relationships/slide" Target="slides/slide6.xml"/>
  <Relationship Id="rId17" Type="http://schemas.openxmlformats.org/officeDocument/2006/relationships/slide" Target="slides/slide7.xml"/>
  <Relationship Id="rId18" Type="http://schemas.openxmlformats.org/officeDocument/2006/relationships/slide" Target="slides/slide8.xml"/>
  <Relationship Id="rId19" Type="http://schemas.openxmlformats.org/officeDocument/2006/relationships/slide" Target="slides/slide9.xml"/>
  <Relationship Id="rId20" Type="http://schemas.openxmlformats.org/officeDocument/2006/relationships/slide" Target="slides/slide10.xml"/>
  <Relationship Id="rId21" Type="http://schemas.openxmlformats.org/officeDocument/2006/relationships/slide" Target="slides/slide11.xml"/>
  <Relationship Id="rId22" Type="http://schemas.openxmlformats.org/officeDocument/2006/relationships/slide" Target="slides/slide12.xml"/>
  <Relationship Id="rId23" Type="http://schemas.openxmlformats.org/officeDocument/2006/relationships/slide" Target="slides/slide13.xml"/>
  <Relationship Id="rId24" Type="http://schemas.openxmlformats.org/officeDocument/2006/relationships/slide" Target="slides/slide14.xml"/>
  <Relationship Id="rId25" Type="http://schemas.openxmlformats.org/officeDocument/2006/relationships/slide" Target="slides/slide15.xml"/>
  <Relationship Id="rId26" Type="http://schemas.openxmlformats.org/officeDocument/2006/relationships/slide" Target="slides/slide16.xml"/>
  <Relationship Id="rId27" Type="http://schemas.openxmlformats.org/officeDocument/2006/relationships/slide" Target="slides/slide17.xml"/>
  <Relationship Id="rId28" Type="http://schemas.openxmlformats.org/officeDocument/2006/relationships/slide" Target="slides/slide18.xml"/>
  <Relationship Id="rId29" Type="http://schemas.openxmlformats.org/officeDocument/2006/relationships/slide" Target="slides/slide19.xml"/>
  <Relationship Id="rId30" Type="http://schemas.openxmlformats.org/officeDocument/2006/relationships/slide" Target="slides/slide20.xml"/>
  <Relationship Id="rId31" Type="http://schemas.openxmlformats.org/officeDocument/2006/relationships/slide" Target="slides/slide21.xml"/>
  <Relationship Id="rId32" Type="http://schemas.openxmlformats.org/officeDocument/2006/relationships/slide" Target="slides/slide22.xml"/>
  <Relationship Id="rId33" Type="http://schemas.openxmlformats.org/officeDocument/2006/relationships/slide" Target="slides/slide23.xml"/>
  <Relationship Id="rId34" Type="http://schemas.openxmlformats.org/officeDocument/2006/relationships/slide" Target="slides/slide24.xml"/>
  <Relationship Id="rId35" Type="http://schemas.openxmlformats.org/officeDocument/2006/relationships/slide" Target="slides/slide25.xml"/>
  <Relationship Id="rId36" Type="http://schemas.openxmlformats.org/officeDocument/2006/relationships/slide" Target="slides/slide26.xml"/>
  <Relationship Id="rId37" Type="http://schemas.openxmlformats.org/officeDocument/2006/relationships/slide" Target="slides/slide27.xml"/>
  <Relationship Id="rId38" Type="http://schemas.openxmlformats.org/officeDocument/2006/relationships/slide" Target="slides/slide28.xml"/>
  <Relationship Id="rId39" Type="http://schemas.openxmlformats.org/officeDocument/2006/relationships/slide" Target="slides/slide29.xml"/>
  <Relationship Id="rId40" Type="http://schemas.openxmlformats.org/officeDocument/2006/relationships/slide" Target="slides/slide30.xml"/>
  <Relationship Id="rId41" Type="http://schemas.openxmlformats.org/officeDocument/2006/relationships/slide" Target="slides/slide31.xml"/>
  <Relationship Id="rId42" Type="http://schemas.openxmlformats.org/officeDocument/2006/relationships/slide" Target="slides/slide32.xml"/>
  <Relationship Id="rId43" Type="http://schemas.openxmlformats.org/officeDocument/2006/relationships/slide" Target="slides/slide33.xml"/>
  <Relationship Id="rId44" Type="http://schemas.openxmlformats.org/officeDocument/2006/relationships/slide" Target="slides/slide34.xml"/>
  <Relationship Id="rId45" Type="http://schemas.openxmlformats.org/officeDocument/2006/relationships/slide" Target="slides/slide35.xml"/>
  <Relationship Id="rId46" Type="http://schemas.openxmlformats.org/officeDocument/2006/relationships/slide" Target="slides/slide36.xml"/>
  <Relationship Id="rId47" Type="http://schemas.openxmlformats.org/officeDocument/2006/relationships/slide" Target="slides/slide37.xml"/>
  <Relationship Id="rId48" Type="http://schemas.openxmlformats.org/officeDocument/2006/relationships/slide" Target="slides/slide38.xml"/>
  <Relationship Id="rId49" Type="http://schemas.openxmlformats.org/officeDocument/2006/relationships/slide" Target="slides/slide39.xml"/>
  <Relationship Id="rId50" Type="http://schemas.openxmlformats.org/officeDocument/2006/relationships/slide" Target="slides/slide40.xml"/>
  <Relationship Id="rId51" Type="http://schemas.openxmlformats.org/officeDocument/2006/relationships/slide" Target="slides/slide41.xml"/>
  <Relationship Id="rId52" Type="http://schemas.openxmlformats.org/officeDocument/2006/relationships/slide" Target="slides/slide42.xml"/>
  <Relationship Id="rId53" Type="http://schemas.openxmlformats.org/officeDocument/2006/relationships/slide" Target="slides/slide43.xml"/>
  <Relationship Id="rId54" Type="http://schemas.openxmlformats.org/officeDocument/2006/relationships/slide" Target="slides/slide44.xml"/>
  <Relationship Id="rId55" Type="http://schemas.openxmlformats.org/officeDocument/2006/relationships/slide" Target="slides/slide45.xml"/>
  <Relationship Id="rId56" Type="http://schemas.openxmlformats.org/officeDocument/2006/relationships/slide" Target="slides/slide46.xml"/>
  <Relationship Id="rId57" Type="http://schemas.openxmlformats.org/officeDocument/2006/relationships/slide" Target="slides/slide47.xml"/>
  <Relationship Id="rId58" Type="http://schemas.openxmlformats.org/officeDocument/2006/relationships/slide" Target="slides/slide48.xml"/>
  <Relationship Id="rId59" Type="http://schemas.openxmlformats.org/officeDocument/2006/relationships/slide" Target="slides/slide49.xml"/>
  <Relationship Id="rId60" Type="http://schemas.openxmlformats.org/officeDocument/2006/relationships/slide" Target="slides/slide50.xml"/>
  <Relationship Id="rId61" Type="http://schemas.openxmlformats.org/officeDocument/2006/relationships/slide" Target="slides/slide51.xml"/>
  <Relationship Id="rId62" Type="http://schemas.openxmlformats.org/officeDocument/2006/relationships/slide" Target="slides/slide52.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BACA97-DCC5-D741-8303-D68B06D997A0}" type="datetimeFigureOut">
              <a:rPr lang="sv-SE" smtClean="0"/>
              <a:t>2025-12-03</a:t>
            </a:fld>
            <a:endParaRPr lang="sv-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702129-24FE-4746-9897-C7E55345F5DD}" type="slidenum">
              <a:rPr lang="sv-SE" smtClean="0"/>
              <a:t>‹#›</a:t>
            </a:fld>
            <a:endParaRPr lang="sv-SE"/>
          </a:p>
        </p:txBody>
      </p:sp>
    </p:spTree>
    <p:extLst>
      <p:ext uri="{BB962C8B-B14F-4D97-AF65-F5344CB8AC3E}">
        <p14:creationId xmlns:p14="http://schemas.microsoft.com/office/powerpoint/2010/main" val="4061700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S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S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S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S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S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S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S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S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S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S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S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S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S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S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S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S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S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S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S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S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S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S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S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S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S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S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S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S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S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S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S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S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S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S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S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S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S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S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S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S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S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S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S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S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S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S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S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notesSlideS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 robot learns its motion from demonstrations. This thesis imposes a requirement on that learned motion afterwards, at inference, without retraining.</a:t>
            </a:r>
          </a:p>
        </p:txBody>
      </p:sp>
    </p:spTree>
  </p:cSld>
  <p:clrMapOvr>
    <a:masterClrMapping/>
  </p:clrMapOvr>
</p:notes>
</file>

<file path=ppt/notesSlides/notesSlideS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 real cell from ABB. At GE Healthcare in Helsinki a single-arm YuMi picks a prototype component from a jig, applies a bead of fast-setting glue that is hard to apply by hand, and returns the part. The prototypes change on a rapid schedule. The customer's own words: even in half an hour they can get major changes done to the code. Every change of the product or the process requires a change of the program. [ABB customer story, IRB 14050 at GE Healthcare]</a:t>
            </a:r>
          </a:p>
        </p:txBody>
      </p:sp>
    </p:spTree>
  </p:cSld>
  <p:clrMapOvr>
    <a:masterClrMapping/>
  </p:clrMapOvr>
</p:notes>
</file>

<file path=ppt/notesSlides/notesSlideS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How such a cell works today. The motion is taught or programmed once and replayed exactly, run after run, and every run seats the part inside the adhesive's open time. [Click] A faster-curing adhesive shortens the open time. The same program now seats the part too late. [Click] An engineer changes the timing in the code. [Click] The bead is laid at a different position. The same program places the part off the bead. [Click] An engineer changes the path in the code. [Click] Each change of product or process requires a code change, because the requirements, when to seat and where, are not stated explicitly, and the program encodes them only implicitly. [§1.1; ABB customer story]</a:t>
            </a:r>
          </a:p>
        </p:txBody>
      </p:sp>
    </p:spTree>
  </p:cSld>
  <p:clrMapOvr>
    <a:masterClrMapping/>
  </p:clrMapOvr>
</p:notes>
</file>

<file path=ppt/notesSlides/notesSlideS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There are three ways to obtain the motion. One: program it. One motion, coded by hand, and every change is a code change, as on the previous slide. [Click] Two: record demonstrations instead, and train a network on them. Ordinary regression predicts the most likely motion for each state; it generalizes to states near the demonstrations, but it returns a single trajectory, and the same input returns the same trajectory every time. It also blends distinct demonstrated motions into an average. [Click] Three: a generative model represents the distribution of plausible motions, and two draws give two different, plausible trajectories. The method depends on this property, because selection by a requirement stated after training is possible only where alternatives exist. Here a zone stated after training rules out three samples and leaves five. [§3.3.1; ALVINN, Ross et al.; §1.4]</a:t>
            </a:r>
          </a:p>
        </p:txBody>
      </p:sp>
    </p:spTree>
  </p:cSld>
  <p:clrMapOvr>
    <a:masterClrMapping/>
  </p:clrMapOvr>
</p:notes>
</file>

<file path=ppt/notesSlides/notesSlideS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slide states the timing explicitly. In a load-and-bond cell the robot seats a component on an adhesive bead. It must seat within the adhesive's open time, hold for a minimum duration, and keep clear of the operator's side. Left, samples of a model trained on demonstrations. The same samples satisfy the requirement for one adhesive and violate it for another. The window and the hold depend on the adhesive, so they can change after the demonstrations are recorded. [§1.1, eq. 1.1]</a:t>
            </a:r>
          </a:p>
        </p:txBody>
      </p:sp>
    </p:spTree>
  </p:cSld>
  <p:clrMapOvr>
    <a:masterClrMapping/>
  </p:clrMapOvr>
</p:notes>
</file>

<file path=ppt/notesSlides/notesSlideS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 demonstration records the instant of seating, not the required window: it witnesses that the requirement can be satisfied without determining it. A model trained on demonstrations alone has no input for the requirement, so a sample can seat too late and still end on the housing, and a benchmark that judges the final state counts it as a success. [Click] The problem: given demonstrations recorded before training and a requirement stated after it, generate a trajectory that is plausible under the demonstrations and satisfies the requirement, without retraining. Training-time conditioning, such as TeLoGraF, learns the requirement from paired data and degrades outside its training distribution. [§1.1, §1.2, Problem 4.1]</a:t>
            </a:r>
          </a:p>
        </p:txBody>
      </p:sp>
    </p:spTree>
  </p:cSld>
  <p:clrMapOvr>
    <a:masterClrMapping/>
  </p:clrMapOvr>
</p:notes>
</file>

<file path=ppt/notesSlides/notesSlideS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aim: a method for imposing STL requirements on a trained generative model at inference time. Two open questions concern the requirement itself rather than the performance of a planner: whether a demonstration determines the requirement, and whether the robustness score alone determines a trajectory. The first two contributions answer them by proof. The third contribution is the method, STL-FM, which guides the learned prior, an unconditional model trained once by flow matching, by the gradient of STL robustness at one constant strength, and which is evaluated experimentally. [§1.2, §1.3; Ch. 4, App. A; Ch. 5]</a:t>
            </a:r>
          </a:p>
        </p:txBody>
      </p:sp>
    </p:spTree>
  </p:cSld>
  <p:clrMapOvr>
    <a:masterClrMapping/>
  </p:clrMapOvr>
</p:notes>
</file>

<file path=ppt/notesSlides/notesSlideS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trained model is called the learned prior, because it provides the motion the requirement does not specify. The prior is trained once, offline, on demonstrations. Each requirement is compiled into a robustness score at inference. The guided sampler combines the two into a plan, which a controller executes. The bar at the top of each slide shows the section. [§1.3, Fig. 5.1]</a:t>
            </a:r>
          </a:p>
        </p:txBody>
      </p:sp>
    </p:spTree>
  </p:cSld>
  <p:clrMapOvr>
    <a:masterClrMapping/>
  </p:clrMapOvr>
</p:notes>
</file>

<file path=ppt/notesSlides/notesSlideS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First, how the requirement is written and how it is scored.</a:t>
            </a:r>
          </a:p>
        </p:txBody>
      </p:sp>
    </p:spTree>
  </p:cSld>
  <p:clrMapOvr>
    <a:masterClrMapping/>
  </p:clrMapOvr>
</p:notes>
</file>

<file path=ppt/notesSlides/notesSlideS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Signal Temporal Logic expresses time bounds over real-valued signals, such as a robot trajectory. [Click] Eventually, the diamond, means at some instant of its window. Always, the box, means at every instant. The requirement says: at some instant in [a, b] the part becomes seated and stays seated for d, and at every instant the robot stays out of the operator zone. [Click] The requirement bounds only the timing of the seating and the region to avoid. The grasp, the approach and the rest of the motion are hard to write as a formula and are learned from the demonstrations. Every requirement in this talk is built from a predicate, a margin function of the state; negation; conjunction; and these two bounded temporal operators. [§1.1, eq. 1.1; §3.2; Remark rem:fragment]</a:t>
            </a:r>
          </a:p>
        </p:txBody>
      </p:sp>
    </p:spTree>
  </p:cSld>
  <p:clrMapOvr>
    <a:masterClrMapping/>
  </p:clrMapOvr>
</p:notes>
</file>

<file path=ppt/notesSlides/notesSlideS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Robustness replaces the Boolean verdict with a real number, defined by recursion over the formula. A predicate gives its margin h, negation changes the sign, conjunction and always take a minimum, eventually a maximum over its window. Soundness: a positive score certifies satisfaction. Below, the avoidance margin of one plan over time. The exact robustness is the minimum of the margin, a single witness instant; its gradient acts on that one instant alone. Log-sum-exp replaces max and min, and at sharpness kappa = 10 in the experiments it spreads the gradient over the neighbouring instants. The formula is compiled by recursion over its syntax tree into this differentiable score, with no learned component, so a new requirement requires only a new syntax tree. The smoothed score is sound only up to a margin, so satisfaction is always scored exactly. Implementation: stljax, the JAX library of STLCG++. [§3.2, def:robustness, eq:robustness-sound; §3.2.3, eq:logsumexp; §4.2, alg:build-rho, prop:smoothing-bias]</a:t>
            </a:r>
          </a:p>
        </p:txBody>
      </p:sp>
    </p:spTree>
  </p:cSld>
  <p:clrMapOvr>
    <a:masterClrMapping/>
  </p:clrMapOvr>
</p:notes>
</file>

<file path=ppt/notesSlides/notesSlideS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Second, the learned prior that generates the motion.</a:t>
            </a:r>
          </a:p>
        </p:txBody>
      </p:sp>
    </p:spTree>
  </p:cSld>
  <p:clrMapOvr>
    <a:masterClrMapping/>
  </p:clrMapOvr>
</p:notes>
</file>

<file path=ppt/notesSlides/notesSlideS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[Click to play] A point of this space is a whole trajectory. Flow matching trains a velocity field v_theta by regression onto the straight-line target tau_1 minus tau_0, from noise to data. Sampling integrates the field from s = 0 to s = 1, here in K = 64 Euler steps. The density deforms from one Gaussian into two modes, two plausible behaviours, here passing a fixture on either side. The prior is unconditional, trained once on demonstrations, and its only conditioning is the start state. [§3.3, def:fm, eq:fm-loss, eq:fm-ode-bg, Fig. 3.1; §5.1.1]</a:t>
            </a:r>
          </a:p>
        </p:txBody>
      </p:sp>
    </p:spTree>
  </p:cSld>
  <p:clrMapOvr>
    <a:masterClrMapping/>
  </p:clrMapOvr>
</p:notes>
</file>

<file path=ppt/notesSlides/notesSlideS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[Click to play] Generation from noise, applied to a robot trajectory. This clip shows a diffusion model. Flow matching produces the same kind of result along straight-line paths. The prior used here is unconditional, trained once on demonstrations, and its only conditioning is the start state. [§3.3; §5.1.1]</a:t>
            </a:r>
          </a:p>
        </p:txBody>
      </p:sp>
    </p:spTree>
  </p:cSld>
  <p:clrMapOvr>
    <a:masterClrMapping/>
  </p:clrMapOvr>
</p:notes>
</file>

<file path=ppt/notesSlides/notesSlideS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Previous work differs in where the requirement enters. Training-time conditioning, such as TeLoGraF, learns the requirement from paired data and degrades outside the conditioning distribution. Decompose-and-stitch, such as ZSTP, splits the formula into timed waypoints before generation and fixes each operator's timing in advance. Trajectory optimization uses robustness with a known dynamics model, specified by hand. Safe-set enforcement, such as SafeDiffuser, keeps samples in a time-invariant safe set, which expresses no dwell or order. STL-FM belongs to inference-time robustness guidance, with CTG. Unlike CTG, it guides a flow-matching prior, whose velocity is bounded, so one constant strength is well posed where diffusion needs a schedule. It also evaluates long-horizon dwell, sequence and avoidance, including nested operators. [Ch. 2, §2.7]</a:t>
            </a:r>
          </a:p>
        </p:txBody>
      </p:sp>
    </p:spTree>
  </p:cSld>
  <p:clrMapOvr>
    <a:masterClrMapping/>
  </p:clrMapOvr>
</p:notes>
</file>

<file path=ppt/notesSlides/notesSlideS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table compares each approach by where the requirement enters and by what determines the rest of the motion. Trajectory optimization and control synthesis with barrier functions represent the requirement explicitly, as STL-FM does, and the dynamics model and costs determine what the score leaves free; the barrier-function formulation of Lindemann and Dimarogonas also conjoins a boundedness clause to the requirement, and later work extends it to disjunctions and nested operators. Training-time conditioning learns the requirement from requirement-demonstration pairs. Decompose-and-stitch fixes the timing of each operator before generation. Safe-set enforcement gives an invariance certificate, but for a time-invariant safe set. CTG shares the guidance mechanism, on a diffusion model. STL-FM takes the rest of the motion from a learned prior, at one constant strength, and gives no certificate; a barrier-based tracker could execute an STL-FM plan, which is future work. [Ch. 2: rw-modelbased, rw-guidance, rw-decompose, rw-conditioning, rw-constraints, positioning]</a:t>
            </a:r>
          </a:p>
        </p:txBody>
      </p:sp>
    </p:spTree>
  </p:cSld>
  <p:clrMapOvr>
    <a:masterClrMapping/>
  </p:clrMapOvr>
</p:notes>
</file>

<file path=ppt/notesSlides/notesSlideS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Third, the guided sampler that combines the learned prior with the robustness score.</a:t>
            </a:r>
          </a:p>
        </p:txBody>
      </p:sp>
    </p:spTree>
  </p:cSld>
  <p:clrMapOvr>
    <a:masterClrMapping/>
  </p:clrMapOvr>
</p:notes>
</file>

<file path=ppt/notesSlides/notesSlideS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sampler integrates the guided velocity from the same Gaussian start as the prior. [Click] The prior velocity moves the iterate toward trajectories likely under the learned prior, extrapolated to a predicted endpoint. [Click] The requirement is scored at that predicted endpoint, alongside a smoothness penalty, and their difference forms a penalized objective; its gradient is taken, masked to the position coordinates, and normalized to unit length, so lambda_0 is a step size that transfers across requirements. This is a soft realization of the constrained problem, not a solution with a certificate. [§4.3, eq:guided-velocity; §4.5, eq:smoothness-penalty, eq:grad-normalize]</a:t>
            </a:r>
          </a:p>
        </p:txBody>
      </p:sp>
    </p:spTree>
  </p:cSld>
  <p:clrMapOvr>
    <a:masterClrMapping/>
  </p:clrMapOvr>
</p:notes>
</file>

<file path=ppt/notesSlides/notesSlideS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One step of the sampler, continuing the dataflow from the previous slide. [Click] Autodiff takes the gradient of the penalized objective with respect to the predicted endpoint. [Click] It is masked to the position coordinates and normalized to unit length. [Click] That gives the guidance term, lambda_0 times the normalized gradient times the step size. [Click] It is added to the nominal prior increment, the sum is taken as one Euler step, and the start state is re-pinned; the loop repeats for K steps. Early in the flow the iterate is mostly noise, and the gradient of its robustness would point in a direction unrelated to any plausible trajectory; the predicted endpoint is the prior's running estimate of the finished trajectory instead. [§4.4, eq:predicted-endpoint; §4.7, alg:guided-ode]</a:t>
            </a:r>
          </a:p>
        </p:txBody>
      </p:sp>
    </p:spTree>
  </p:cSld>
  <p:clrMapOvr>
    <a:masterClrMapping/>
  </p:clrMapOvr>
</p:notes>
</file>

<file path=ppt/notesSlides/notesSlideS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Finally, the evaluation: what the plans satisfy, and what their executions achieve.</a:t>
            </a:r>
          </a:p>
        </p:txBody>
      </p:sp>
    </p:spTree>
  </p:cSld>
  <p:clrMapOvr>
    <a:masterClrMapping/>
  </p:clrMapOvr>
</p:notes>
</file>

<file path=ppt/notesSlides/notesSlideS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Two settings. Planar navigation: 100 runs per class on one fixed instance per class, plans only. Cube manipulation in OGBench: 10 runs per class on three classes, each plan executed in the simulator. Each baseline differs from STL-FM in one component. The endpoint-inpaint planner replaces the requirement by a pinned endpoint instead of the robustness gradient. The STL Optimizer (no-prior) keeps the requirement and removes the prior; it descends the violation penalty with a smoothness penalty and a velocity limit. A fourth planner, STL-FM with endpoint pin, differs from STL-FM in satisfaction rate by at most 0.05 on any of the six classes. [§5.1.2-5.1.3, tab:families, tab:planners]</a:t>
            </a:r>
          </a:p>
        </p:txBody>
      </p:sp>
    </p:spTree>
  </p:cSld>
  <p:clrMapOvr>
    <a:masterClrMapping/>
  </p:clrMapOvr>
</p:notes>
</file>

<file path=ppt/notesSlides/notesSlideS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same prior and the same lambda_0 for all six classes. A new requirement requires only a new syntax tree. Satisfaction rates of STL-FM: reach 0.96, nested reach-and-dwell 1.00, recurrence 0.98, sequence 0.89, sequence with avoidance 0.89, composite 0.78. The STL Optimizer satisfies every class on every run, so the panels show plan shape rather than a satisfaction gap; on sequence and sequence with avoidance its plans leave the arena (next slide). A sweep of one requirement's own parameters is future work, so this does not test adaptation to a changed parameter. If asked about roughness: on nested reach-and-dwell 47 percent of turns exceed a right angle. [tab:families; tab:openloop; §4.2; §6.1; §7.2]</a:t>
            </a:r>
          </a:p>
        </p:txBody>
      </p:sp>
    </p:spTree>
  </p:cSld>
  <p:clrMapOvr>
    <a:masterClrMapping/>
  </p:clrMapOvr>
</p:notes>
</file>

<file path=ppt/notesSlides/notesSlideS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Over 100 runs per class. The endpoint-inpaint planner satisfies reach on every run and no other class on any run: the pin fixes the end, and the prior generates the remainder of the trajectory, which contains no dwell, order or avoidance. STL-FM satisfies the five history-dependent classes at 0.78 to 1.00. The STL Optimizer satisfies every class on every run, so satisfaction alone does not separate it from STL-FM. Below, estimated wall-clock time to first satisfaction, assuming every step of a planner takes the same time: 0.10 to 1.07 seconds for STL-FM against 0.83 to 6.75 for the optimizer, and on every class the optimizer is the later. A whole plan takes 0.42 to 1.15 seconds for STL-FM and 5.67 to 28.22 seconds for the optimizer. In the cube study STL-FM plans in 0.24 seconds and the optimizer in 0.96. In the kitchen STL-FM plans in 0.25 seconds under both priors, against 0.16 and 0.21 seconds for the unguided prior. Times are medians over 20 separate timing runs per class on a laptop GPU, an NVIDIA RTX A500, without recording the robustness at every step. A repeated measurement of the cube and kitchen times was up to 20 percent slower, with the same order of the planners. [tab:openloop; §5.2.3, tab:anytime; §5.3; §5.4; app:anytime; §6.1]</a:t>
            </a:r>
          </a:p>
        </p:txBody>
      </p:sp>
    </p:spTree>
  </p:cSld>
  <p:clrMapOvr>
    <a:masterClrMapping/>
  </p:clrMapOvr>
</p:notes>
</file>

<file path=ppt/notesSlides/notesSlideS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STL Optimizer removes the prior and optimizes robustness directly. It descends the violation penalty with a smoothness penalty and a velocity limit. It satisfies every requirement class on every run. On sequence with avoidance every one of its plans leaves the arena, at a median largest coordinate of 10.27 against a half-width of 5.0. The excursion lies at steps 31 to 63, which no reach window covers. Deleting the avoidance conjuncts leaves the plans outside the arena, so the avoidance conjuncts do not cause the excursion. Its plans also leave the arena on sequence. Plans that use the prior cross the arena edge in at most 4 of 100 runs per class, by a small margin. [§5.1.3; §5.2.2; §6.1; app:noobs-ablation]</a:t>
            </a:r>
          </a:p>
        </p:txBody>
      </p:sp>
    </p:spTree>
  </p:cSld>
  <p:clrMapOvr>
    <a:masterClrMapping/>
  </p:clrMapOvr>
</p:notes>
</file>

<file path=ppt/notesSlides/notesSlideS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Robustness is computed from a few predicate evaluations combined by min and max. A formula with m predicate occurrences is determined by at most m waypoints, and m is between 1 and 5 here, against horizons of 64 to 256. Under the exact semantics the gradient is zero at every other waypoint, and the score is flat along a subspace of dimension at least (H - m) d. At steps that only avoidance constrains, the set of maximizers is unbounded. A planner guided by robustness therefore needs a component besides the requirement to determine the rest of the trajectory. Here that is the learned prior. Its contribution is measured, not assumed, because the prior does not meet the idealized conditions of the theorem in backup. [Contribution 2; §4.1.1; prop:sparse-gradient, thm:prior-resolves, prop:no-maximizer; rem:prior-idealization]</a:t>
            </a:r>
          </a:p>
        </p:txBody>
      </p:sp>
    </p:spTree>
  </p:cSld>
  <p:clrMapOvr>
    <a:masterClrMapping/>
  </p:clrMapOvr>
</p:notes>
</file>

<file path=ppt/notesSlides/notesSlideS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OGBench single cube. The prior generates the effector and the cube position over 128 steps, so the requirement and the environment's success criterion refer to the same cube. Place is a 4 cm ball about the target, the environment's own tolerance; pick holds when the effector is within 5 cm of the cube. [Click to play] A proportional controller tracks the effector and a gripper state machine follows the plan. STL-FM completes 10 of 30 runs, the STL Optimizer none. The endpoint-inpaint planner completes 1. [§5.3, tab:closedloop]</a:t>
            </a:r>
          </a:p>
        </p:txBody>
      </p:sp>
    </p:spTree>
  </p:cSld>
  <p:clrMapOvr>
    <a:masterClrMapping/>
  </p:clrMapOvr>
</p:notes>
</file>

<file path=ppt/notesSlides/notesSlideS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Left, pooled over the three classes. Right, STL-FM per class. On nested reach-and-dwell STL-FM satisfies the requirement in 1 of 10 runs and completes the task in 9. The requirement constrains the grasp and the placement to hold over windows that close by step 30, whereas success requires only that the cube arrive. On sequence it satisfies 10 of 10 and completes 1. A requirement written on the generated variables constrains only those variables. The kitchen study shows the same gap more strongly (backup). [tab:closedloop, §6.2]</a:t>
            </a:r>
          </a:p>
        </p:txBody>
      </p:sp>
    </p:spTree>
  </p:cSld>
  <p:clrMapOvr>
    <a:masterClrMapping/>
  </p:clrMapOvr>
</p:notes>
</file>

<file path=ppt/notesSlides/notesSlideS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Back to the two questions. RQ1: a demonstration witnesses a requirement without determining it, so the requirement is stated as a formula and the demonstrations provide plausibility. RQ2: the robustness score alone does not determine a trajectory; its gradient acts on a few waypoints and its maximizers are unbounded where only avoidance applies. The learned prior provides the rest of the trajectory, as the navigation excursion and the cube carry gap show, and its contribution is not smoothness. The method: STL-FM guides the learned prior at one constant strength, without retraining, and covers nested and recurrent operators. Finally, satisfying the requirement on the plan is not completing the task: a requirement written on the generated variables constrains only those variables. STL-FM is a soft realization without a certificate. [§7.1; §6.1-6.3]</a:t>
            </a:r>
          </a:p>
        </p:txBody>
      </p:sp>
    </p:spTree>
  </p:cSld>
  <p:clrMapOvr>
    <a:masterClrMapping/>
  </p:clrMapOvr>
</p:notes>
</file>

<file path=ppt/notesSlides/notesSlideS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First, a differentiable dynamics or world model, so that a requirement can be written on contact, an object's pose or a hinge angle and constrain the executed behaviour. In the kitchen study under the complete-v2 prior every plan satisfies the requirement, and no execution does. Second, completion of the physical study: the GoFA prior is trained and the requirement compiled, but no plan has been executed. Third, a sweep of a requirement's own parameters with the prior held fixed, such as the open time or the dwell, which tests adaptation without retraining directly. Fourth, a barrier-filtered controller paired with the planner, for an execution-time guarantee. [§7.2; §2.6]</a:t>
            </a:r>
          </a:p>
        </p:txBody>
      </p:sp>
    </p:spTree>
  </p:cSld>
  <p:clrMapOvr>
    <a:masterClrMapping/>
  </p:clrMapOvr>
</p:notes>
</file>

<file path=ppt/notesSlides/notesSlideS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Backup for the problem slide. The demonstrations record the instant of seating. Samples of the learned prior can satisfy the window, seat too late, or release too early, and still end with the component on the housing. [§1.1, Fig. 1.1(b)]</a:t>
            </a:r>
          </a:p>
        </p:txBody>
      </p:sp>
    </p:spTree>
  </p:cSld>
  <p:clrMapOvr>
    <a:masterClrMapping/>
  </p:clrMapOvr>
</p:notes>
</file>

<file path=ppt/notesSlides/notesSlideS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result answers RQ1. Any trajectory witnesses uncountably many requirements, ordered from 'do exactly this' to 'do anything', so no map from one demonstration to a requirement is determined by its argument. The chains already contain standard STL formulae, from a tight ball at every step to a tautology. The requirement is therefore stated, not inferred. [App. A, def:requirement, prop:witness-underdetermines]</a:t>
            </a:r>
          </a:p>
        </p:txBody>
      </p:sp>
    </p:spTree>
  </p:cSld>
  <p:clrMapOvr>
    <a:masterClrMapping/>
  </p:clrMapOvr>
</p:notes>
</file>

<file path=ppt/notesSlides/notesSlideS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first half of RQ2. Under the exact semantics the gradient is supported on at most m active waypoints, and the score is flat along a subspace of dimension at least (H - m) d. Under the smooth surrogate the gradient at the other waypoints is not zero, but it is suppressed exponentially in their robustness deficit. [App. A, prop:sparse-gradient, lem:smooth-concentration]</a:t>
            </a:r>
          </a:p>
        </p:txBody>
      </p:sp>
    </p:spTree>
  </p:cSld>
  <p:clrMapOvr>
    <a:masterClrMapping/>
  </p:clrMapOvr>
</p:notes>
</file>

<file path=ppt/notesSlides/notesSlideS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For a reach requirement the maximizers include trajectories of arbitrarily large velocity. This is why guidance uses a penalized objective with a smoothness term rather than the score alone. [App. A, prop:spurious-maxima, eq:optimal-set; §4.5]</a:t>
            </a:r>
          </a:p>
        </p:txBody>
      </p:sp>
    </p:spTree>
  </p:cSld>
  <p:clrMapOvr>
    <a:masterClrMapping/>
  </p:clrMapOvr>
</p:notes>
</file>

<file path=ppt/notesSlides/notesSlideS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second half of RQ2. Pure safety has no maximizer. With a reach conjunct the maximizers exist but are unbounded at time indices covered only by avoidance. In neither case does the requirement bound the trajectory. Control-synthesis formulations obtain the bound from the dynamics and costs, or conjoin a boundedness clause (Lindemann and Dimarogonas 2019). If asked about the STL Optimizer: it minimizes the violation penalty rather than ascending the score, so for it the result says only that no term of the requirement returns those coordinates to any region. [App. A, prop:no-maximizer, rem:violation-penalty; §2.2]</a:t>
            </a:r>
          </a:p>
        </p:txBody>
      </p:sp>
    </p:spTree>
  </p:cSld>
  <p:clrMapOvr>
    <a:masterClrMapping/>
  </p:clrMapOvr>
</p:notes>
</file>

<file path=ppt/notesSlides/notesSlideS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Under idealized conditions, a compact manifold of plausible trajectories, the constrained problem attains its maximum and its maximizers are isolated. The learned prior satisfies neither hypothesis. A flow-matching sampler has support on the whole trajectory space, and the guided sampler realizes a soft penalty rather than the hard constraint. The contribution of the prior is therefore measured in the experiments, not assumed. [App. A, eq:constrained-problem, thm:prior-resolves, rem:prior-idealization]</a:t>
            </a:r>
          </a:p>
        </p:txBody>
      </p:sp>
    </p:spTree>
  </p:cSld>
  <p:clrMapOvr>
    <a:masterClrMapping/>
  </p:clrMapOvr>
</p:notes>
</file>

<file path=ppt/notesSlides/notesSlideS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Why one constant strength is well posed. The diffusion score grows like 1 over sigma_t squared as the noise vanishes, so a constant guidance weight has an influence that varies with the noise level, and diffusion guidance needs a schedule. Under the straight-line path the flow-matching target is tau_1 minus tau_0, of order one at every flow time, and the conditioned gradient has unit norm, so the guided velocity is bounded uniformly in s. One lambda_0 therefore has the same meaning throughout the flow. The claim is that a constant is well posed, not that it suffices in every setting. The same lambda_0 = 50 is used in navigation and cube without retuning. [eq:tweedie; §3.3; §4.6, eq:guided-bounded; tab:diffusion-vs-fm]</a:t>
            </a:r>
          </a:p>
        </p:txBody>
      </p:sp>
    </p:spTree>
  </p:cSld>
  <p:clrMapOvr>
    <a:masterClrMapping/>
  </p:clrMapOvr>
</p:notes>
</file>

<file path=ppt/notesSlides/notesSlideS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compilation is a post-order traversal of the syntax tree with no learned component. Smoothing replaces min and max by log-sum-exp. The bias is bounded by log n over kappa per node, and soundness is recovered exactly as kappa grows. kappa = 10 in the experiments, and satisfaction is scored with the exact semantics. [§4.2, alg:build-rho, prop:smoothing-bias]</a:t>
            </a:r>
          </a:p>
        </p:txBody>
      </p:sp>
    </p:spTree>
  </p:cSld>
  <p:clrMapOvr>
    <a:masterClrMapping/>
  </p:clrMapOvr>
</p:notes>
</file>

<file path=ppt/notesSlides/notesSlideS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sampler in full. The predicted endpoint, the penalized requirement gradient, masking and normalization, the constant-strength update and the re-pinned start state are the steps of the guided-sampler slide. The optional clamp is off in all reported runs. [§4.7, alg:guided-ode]</a:t>
            </a:r>
          </a:p>
        </p:txBody>
      </p:sp>
    </p:spTree>
  </p:cSld>
  <p:clrMapOvr>
    <a:masterClrMapping/>
  </p:clrMapOvr>
</p:notes>
</file>

<file path=ppt/notesSlides/notesSlideS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How the STL Optimizer is actually computed, since it is named for what it scores rather than for how it works. Controls for a single integrator start as small random noise and are integrated into a trajectory at every gradient step, p of t plus 1 equals p of t plus u of t times delta t. That trajectory is scored by the same masked, differentiable robustness construction that stljax slash STLCG plus plus provides, and that STL-FM's own guidance term uses at every one of its integration steps. What differs is the objective: plain gradient descent on the violation penalty, max of zero and minus rho, with a hand-specified finite-difference smoothness penalty and a velocity limit taking the place of a learned prior, run for 1,500 to 6,000 steps with the log-sum-exp temperature annealed from soft to sharp. STLCG++ supplies the differentiable score; it does not propose this optimization design, which follows standard direct STL trajectory optimization (Belta and Vasile 2020). [§5.1.3]</a:t>
            </a:r>
          </a:p>
        </p:txBody>
      </p:sp>
    </p:spTree>
  </p:cSld>
  <p:clrMapOvr>
    <a:masterClrMapping/>
  </p:clrMapOvr>
</p:notes>
</file>

<file path=ppt/notesSlides/notesSlideS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upper table gives satisfaction and mean robustness over 100 runs, and a star marks entries whose plans all leave the arena. Classes 1 to 6 are reach, nested reach-and-dwell, recurrence, sequence, sequence with avoidance and composite, and classes 7 to 10 are choice of target, choice of sequence, ordered visit and avoidance until reach. The lower table gives, per class, when each planner first satisfies the requirement and when it reaches its best robustness, as percentages of its budget, and the wall-clock plan time in seconds. STL-FM with endpoint pin differs from STL-FM by at most 0.05 on classes 1 to 6. [tab:openloop, tab:anytime; tab:families]</a:t>
            </a:r>
          </a:p>
        </p:txBody>
      </p:sp>
    </p:spTree>
  </p:cSld>
  <p:clrMapOvr>
    <a:masterClrMapping/>
  </p:clrMapOvr>
</p:notes>
</file>

<file path=ppt/notesSlides/notesSlideS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Added after the report: four navigation classes that use disjunction, choice of target and choice of sequence, and until, ordered visit and avoidance until reach, instantiated in the scene of the composite class. Panels show STL-FM, 25 of 100 runs. Under STL-FM the satisfied branch of a disjunction varies between runs. On choice of target 52 plans reach the distant target and 54 the near one, and on choice of sequence 14 take the branch through the first target and 84 the shorter branch, whereas the STL Optimizer always takes the branch through the near target. On ordered visit the first target lies 7.95 world units from the start and the second only 1.96, and the until operator forbids entering the second before the first. The STL Optimizer enters the near target first in every run. It fails at a local optimum and not because the instance is infeasible: the reach conjunct for the second target attains its value at an early waypoint near it, where its gradient is opposite to that of the until conjunct. Started from a plan that visits the first target first, it satisfies the instance, and with the second target's window moved to steps 31 to 63 it satisfies 19 of 20 runs. STL-FM satisfies 0.27 of runs, and STL-FM with endpoint pin 0.96, because the pinned final state satisfies the reach conjunct at the final index. The plan time of STL-FM on the two until classes, 4.7 and 5.7 s against 0.42 to 1.15 s elsewhere, is attributed to the compiled until, which is evaluated once for every end index of its window. Over all ten classes the estimated time to first satisfaction is 0.10 to 2.56 s for STL-FM and 0.83 to 7.29 s for the optimizer, excluding ordered visit. [§5.2.1, tab:openloop; §5.2.3, tab:anytime; app:ordered-visit, tab:ordered-visit; tab:families]</a:t>
            </a:r>
          </a:p>
        </p:txBody>
      </p:sp>
    </p:spTree>
  </p:cSld>
  <p:clrMapOvr>
    <a:masterClrMapping/>
  </p:clrMapOvr>
</p:notes>
</file>

<file path=ppt/notesSlides/notesSlideS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Robustness against progress through each planner's own budget, one panel per class, as the median over 100 runs with an interquartile band. The step axis is normalized per planner, so the comparison is of shape and not of cost. The dashed line is the satisfaction threshold. STL-FM reaches its largest robustness at 95 to 100 percent of its budget on the five history-dependent classes of the fragment, and the STL Optimizer at 10 to 57 percent on the classes it satisfies. [fig:anytime, fig:anytime-ext]</a:t>
            </a:r>
          </a:p>
        </p:txBody>
      </p:sp>
    </p:spTree>
  </p:cSld>
  <p:clrMapOvr>
    <a:masterClrMapping/>
  </p:clrMapOvr>
</p:notes>
</file>

<file path=ppt/notesSlides/notesSlideS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the table, sat is logic satisfaction on the plan, task is success on the rollout, and gap is the median carry gap in centimetres. Classes 2, 4 and 5 are nested reach-and-dwell, sequence and sequence with avoidance. The pooled row gives the medians quoted in the talk, 12.5 cm for the STL Optimizer and 6.9 cm for STL-FM. [tab:closedloop; tab:families]</a:t>
            </a:r>
          </a:p>
        </p:txBody>
      </p:sp>
    </p:spTree>
  </p:cSld>
  <p:clrMapOvr>
    <a:masterClrMapping/>
  </p:clrMapOvr>
</p:notes>
</file>

<file path=ppt/notesSlides/notesSlideS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D4RL kitchen. The requirement: open the microwave within steps 60 to 130, then move the kettle onto its burner within 140 to 230, with predicates on the fixtures' own state at the environment's tolerance. Two priors, complete-v2 and mixed, and two planners, the unguided prior and STL-FM, 20 runs each. Under complete-v2 every plan satisfies the requirement under both planners, because the demonstrations operate the fixtures in the required order, so guidance performs no selection. Under mixed, 6 of 20 without and 2 of 20 with guidance, no effect detected. No execution satisfies the requirement: the planned microwave crosses the threshold in every complete-v2 plan, the executed one in none. The prior generates the state, not the actions that produce it. [§5.4, tab:kitchen, §6.2]</a:t>
            </a:r>
          </a:p>
        </p:txBody>
      </p:sp>
    </p:spTree>
  </p:cSld>
  <p:clrMapOvr>
    <a:masterClrMapping/>
  </p:clrMapOvr>
</p:notes>
</file>

<file path=ppt/notesSlides/notesSlideS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ABB GoFA CRB 15000-12/1.27 with a parallel gripper. Five door-opening demonstrations of 894 to 1872 frames at 15 fps. The prior generates six joint angles and the gripper state over 128 steps. The carry requirement states that between grasp and release the tool must not rotate by more than 5 degrees about any axis, compiled through differentiable forward kinematics. No recorded demonstration satisfies it. Distance to the demonstration falls from 0.451 to 0.315 in the first 10,000 steps and then stays flat; only smoothness keeps improving; diversity falls about sevenfold, measured on four samples per checkpoint. No plan has been executed on the robot. The carry interval is a proxy read from the gripper trace. [§5.5, tab:gofa-checkpoints, §6.3]</a:t>
            </a:r>
          </a:p>
        </p:txBody>
      </p:sp>
    </p:spTree>
  </p:cSld>
  <p:clrMapOvr>
    <a:masterClrMapping/>
  </p:clrMapOvr>
</p:notes>
</file>

<file path=ppt/notesSlides/notesSlideS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Moving steps are steps longer than 0.05 world units. The prior does not reproduce the smoothness of its demonstrations, and guidance raises the turn angle on nested reach-and-dwell, where nearly half the turns exceed a right angle. On sequence and sequence with avoidance the guided plans are no rougher than the prior. The STL Optimizer is smoother than the demonstrations because of its hand-specified smoothness penalty. Two explanations remain open, and the evaluation does not distinguish them. The evidence for the contribution of the prior is the cube carry gap and the navigation excursion. [§5.2, §6.1]</a:t>
            </a:r>
          </a:p>
        </p:txBody>
      </p:sp>
    </p:spTree>
  </p:cSld>
  <p:clrMapOvr>
    <a:masterClrMapping/>
  </p:clrMapOvr>
</p:notes>
</file>

<file path=ppt/notesSlides/notesSlideS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limitations, one line each. [§6.3]</a:t>
            </a: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8.sv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12.svg"/><Relationship Id="rId4" Type="http://schemas.openxmlformats.org/officeDocument/2006/relationships/image" Target="../media/image11.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3.jp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5.svg"/><Relationship Id="rId4" Type="http://schemas.openxmlformats.org/officeDocument/2006/relationships/image" Target="../media/image14.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6.sv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1.png"/><Relationship Id="rId5" Type="http://schemas.openxmlformats.org/officeDocument/2006/relationships/image" Target="../media/image10.svg"/><Relationship Id="rId4" Type="http://schemas.openxmlformats.org/officeDocument/2006/relationships/image" Target="../media/image9.png"/></Relationships>
</file>

<file path=ppt/slideLayouts/_rels/slideLayout45.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png"/><Relationship Id="rId1" Type="http://schemas.openxmlformats.org/officeDocument/2006/relationships/slideMaster" Target="../slideMasters/slideMaster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 Id="rId9" Type="http://schemas.openxmlformats.org/officeDocument/2006/relationships/image" Target="../media/image31.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KTH blue">
    <p:bg>
      <p:bgPr>
        <a:solidFill>
          <a:schemeClr val="accent1"/>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6D38D80F-8198-3D50-0CAB-FB287588B37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3936" b="32409"/>
          <a:stretch/>
        </p:blipFill>
        <p:spPr>
          <a:xfrm>
            <a:off x="-1" y="1"/>
            <a:ext cx="3177767" cy="4635374"/>
          </a:xfrm>
          <a:prstGeom prst="rect">
            <a:avLst/>
          </a:prstGeom>
        </p:spPr>
      </p:pic>
      <p:pic>
        <p:nvPicPr>
          <p:cNvPr id="8" name="Bild 7">
            <a:extLst>
              <a:ext uri="{FF2B5EF4-FFF2-40B4-BE49-F238E27FC236}">
                <a16:creationId xmlns:a16="http://schemas.microsoft.com/office/drawing/2014/main" id="{70792B10-D270-C2C6-5B88-13B9E3D50A01}"/>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369C0258-E083-684F-B81E-2491FB4EFBD1}" type="datetime1">
              <a:rPr lang="sv-SE" smtClean="0"/>
              <a:t>2025-12-03</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2478540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063A90AC-AA0F-4983-942B-962F71B301C4}"/>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3936" b="32409"/>
          <a:stretch/>
        </p:blipFill>
        <p:spPr>
          <a:xfrm>
            <a:off x="-1" y="1"/>
            <a:ext cx="3177767" cy="4635374"/>
          </a:xfrm>
          <a:prstGeom prst="rect">
            <a:avLst/>
          </a:prstGeom>
        </p:spPr>
      </p:pic>
      <p:pic>
        <p:nvPicPr>
          <p:cNvPr id="10" name="Bild 9">
            <a:extLst>
              <a:ext uri="{FF2B5EF4-FFF2-40B4-BE49-F238E27FC236}">
                <a16:creationId xmlns:a16="http://schemas.microsoft.com/office/drawing/2014/main" id="{73BDFF50-BF25-9A02-09D1-C21E45C0BA8F}"/>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D7F93862-881E-DF46-AD81-FDB1501BAD48}" type="datetime1">
              <a:rPr lang="sv-SE" smtClean="0"/>
              <a:t>2025-12-03</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966584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ktangel 6">
            <a:extLst>
              <a:ext uri="{FF2B5EF4-FFF2-40B4-BE49-F238E27FC236}">
                <a16:creationId xmlns:a16="http://schemas.microsoft.com/office/drawing/2014/main" id="{E4E20116-AB17-4A1A-F8AD-05FA68213302}"/>
              </a:ext>
            </a:extLst>
          </p:cNvPr>
          <p:cNvSpPr/>
          <p:nvPr userDrawn="1"/>
        </p:nvSpPr>
        <p:spPr>
          <a:xfrm>
            <a:off x="0" y="0"/>
            <a:ext cx="12192000" cy="6858000"/>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A1A0D637-CC39-0F47-97F1-76AAE59A5700}" type="datetime1">
              <a:rPr lang="sv-SE" smtClean="0"/>
              <a:t>2025-12-03</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algn="l">
              <a:spcAft>
                <a:spcPts val="800"/>
              </a:spcAft>
            </a:pPr>
            <a:r>
              <a:rPr lang="en-US" sz="1100" noProof="0" dirty="0">
                <a:latin typeface="+mj-lt"/>
              </a:rPr>
              <a:t>Change background image</a:t>
            </a:r>
          </a:p>
          <a:p>
            <a:pPr marL="162900" indent="-162900" algn="l">
              <a:spcAft>
                <a:spcPts val="600"/>
              </a:spcAft>
              <a:buFont typeface="+mj-lt"/>
              <a:buAutoNum type="arabicPeriod"/>
            </a:pPr>
            <a:r>
              <a:rPr lang="en-US" sz="1000" noProof="0" dirty="0"/>
              <a:t>Select Design &gt; Format Background.</a:t>
            </a:r>
          </a:p>
          <a:p>
            <a:pPr marL="162900" indent="-162900" algn="l">
              <a:spcAft>
                <a:spcPts val="600"/>
              </a:spcAft>
              <a:buFont typeface="+mj-lt"/>
              <a:buAutoNum type="arabicPeriod"/>
            </a:pPr>
            <a:r>
              <a:rPr lang="en-US" sz="1000" noProof="0" dirty="0"/>
              <a:t>In the Format Background pane, select Picture or texture fill.</a:t>
            </a:r>
          </a:p>
          <a:p>
            <a:pPr marL="162900" indent="-162900" algn="l">
              <a:spcAft>
                <a:spcPts val="600"/>
              </a:spcAft>
              <a:buFont typeface="+mj-lt"/>
              <a:buAutoNum type="arabicPeriod"/>
            </a:pPr>
            <a:r>
              <a:rPr lang="en-US" sz="1000" noProof="0" dirty="0"/>
              <a:t>Select File.</a:t>
            </a:r>
          </a:p>
          <a:p>
            <a:pPr marL="162900" indent="-162900" algn="l">
              <a:spcAft>
                <a:spcPts val="600"/>
              </a:spcAft>
              <a:buFont typeface="+mj-lt"/>
              <a:buAutoNum type="arabicPeriod"/>
            </a:pPr>
            <a:r>
              <a:rPr lang="en-US" sz="1000" noProof="0" dirty="0"/>
              <a:t>In the Insert Picture dialog box, choose the picture you want to use and then select Insert.</a:t>
            </a:r>
          </a:p>
        </p:txBody>
      </p:sp>
    </p:spTree>
    <p:extLst>
      <p:ext uri="{BB962C8B-B14F-4D97-AF65-F5344CB8AC3E}">
        <p14:creationId xmlns:p14="http://schemas.microsoft.com/office/powerpoint/2010/main" val="1939952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Title/chapter, light blue">
    <p:bg>
      <p:bgPr>
        <a:solidFill>
          <a:schemeClr val="accent4"/>
        </a:solidFill>
        <a:effectLst/>
      </p:bgPr>
    </p:bg>
    <p:spTree>
      <p:nvGrpSpPr>
        <p:cNvPr id="1" name=""/>
        <p:cNvGrpSpPr/>
        <p:nvPr/>
      </p:nvGrpSpPr>
      <p:grpSpPr>
        <a:xfrm>
          <a:off x="0" y="0"/>
          <a:ext cx="0" cy="0"/>
          <a:chOff x="0" y="0"/>
          <a:chExt cx="0" cy="0"/>
        </a:xfrm>
      </p:grpSpPr>
      <p:pic>
        <p:nvPicPr>
          <p:cNvPr id="13" name="Bild 12">
            <a:extLst>
              <a:ext uri="{FF2B5EF4-FFF2-40B4-BE49-F238E27FC236}">
                <a16:creationId xmlns:a16="http://schemas.microsoft.com/office/drawing/2014/main" id="{90C470E2-DC28-87C0-F617-C04E8F72383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FC84D86F-77A2-B649-9DAB-4D28280CD96F}" type="datetime1">
              <a:rPr lang="sv-SE" smtClean="0"/>
              <a:t>2025-12-03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3308359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chapter, image,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75DBF22-A5DA-3B43-92C3-F6BCD51A4216}" type="datetime1">
              <a:rPr lang="sv-SE" smtClean="0"/>
              <a:t>2025-12-03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195098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Title/chapter, sand">
    <p:bg>
      <p:bgPr>
        <a:solidFill>
          <a:schemeClr val="bg2"/>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3B3563A2-9CD9-4FFB-4072-1AE98552F2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0F5ACA-7455-4642-BFE0-35A3360E2D3F}" type="datetime1">
              <a:rPr lang="sv-SE" smtClean="0"/>
              <a:t>2025-12-03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6899389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chapter, image,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7029E1-9B44-DE43-98B9-EBAFD8B9E3F1}" type="datetime1">
              <a:rPr lang="sv-SE" smtClean="0"/>
              <a:t>2025-12-03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Tree>
    <p:extLst>
      <p:ext uri="{BB962C8B-B14F-4D97-AF65-F5344CB8AC3E}">
        <p14:creationId xmlns:p14="http://schemas.microsoft.com/office/powerpoint/2010/main" val="3734903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Title/chapter, KTH blue">
    <p:bg>
      <p:bgPr>
        <a:solidFill>
          <a:schemeClr val="accent1"/>
        </a:solidFill>
        <a:effectLst/>
      </p:bgPr>
    </p:bg>
    <p:spTree>
      <p:nvGrpSpPr>
        <p:cNvPr id="1" name=""/>
        <p:cNvGrpSpPr/>
        <p:nvPr/>
      </p:nvGrpSpPr>
      <p:grpSpPr>
        <a:xfrm>
          <a:off x="0" y="0"/>
          <a:ext cx="0" cy="0"/>
          <a:chOff x="0" y="0"/>
          <a:chExt cx="0" cy="0"/>
        </a:xfrm>
      </p:grpSpPr>
      <p:pic>
        <p:nvPicPr>
          <p:cNvPr id="9" name="Bild 8">
            <a:extLst>
              <a:ext uri="{FF2B5EF4-FFF2-40B4-BE49-F238E27FC236}">
                <a16:creationId xmlns:a16="http://schemas.microsoft.com/office/drawing/2014/main" id="{BD7C2495-EEC2-B0B4-E314-5E0AAC7DA05C}"/>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pic>
        <p:nvPicPr>
          <p:cNvPr id="8" name="Bild 7">
            <a:extLst>
              <a:ext uri="{FF2B5EF4-FFF2-40B4-BE49-F238E27FC236}">
                <a16:creationId xmlns:a16="http://schemas.microsoft.com/office/drawing/2014/main" id="{2A6CC77B-C027-6CAF-7D4C-2E3A15A51698}"/>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EECCBBAF-5C49-D145-9814-61A8103632A9}" type="datetime1">
              <a:rPr lang="sv-SE" smtClean="0"/>
              <a:t>2025-12-03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1096779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KTH blue">
    <p:bg>
      <p:bgPr>
        <a:solidFill>
          <a:schemeClr val="accent1"/>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823D8581-A4D9-BE4A-AEA5-9282CF05EB42}" type="datetime1">
              <a:rPr lang="sv-SE" smtClean="0"/>
              <a:t>2025-12-03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pic>
        <p:nvPicPr>
          <p:cNvPr id="9" name="Bild 8">
            <a:extLst>
              <a:ext uri="{FF2B5EF4-FFF2-40B4-BE49-F238E27FC236}">
                <a16:creationId xmlns:a16="http://schemas.microsoft.com/office/drawing/2014/main" id="{B9CCB106-B724-D4FC-9180-F2081684D467}"/>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3070710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Title/chapter,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E5884329-1698-379E-55B0-296699708BB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08C894E9-0885-714C-A367-BDC2DC59BB91}" type="datetime1">
              <a:rPr lang="sv-SE" smtClean="0"/>
              <a:t>2025-12-03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pic>
        <p:nvPicPr>
          <p:cNvPr id="9" name="Bild 8">
            <a:extLst>
              <a:ext uri="{FF2B5EF4-FFF2-40B4-BE49-F238E27FC236}">
                <a16:creationId xmlns:a16="http://schemas.microsoft.com/office/drawing/2014/main" id="{E3DA9A33-1CAA-3164-6E44-47421CD08E03}"/>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650629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navy blue">
    <p:bg>
      <p:bgPr>
        <a:solidFill>
          <a:schemeClr val="accent3"/>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E926FF3D-704F-D246-9E92-4739AF4BF32C}" type="datetime1">
              <a:rPr lang="sv-SE" smtClean="0"/>
              <a:t>2025-12-03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pic>
        <p:nvPicPr>
          <p:cNvPr id="9" name="Bild 8">
            <a:extLst>
              <a:ext uri="{FF2B5EF4-FFF2-40B4-BE49-F238E27FC236}">
                <a16:creationId xmlns:a16="http://schemas.microsoft.com/office/drawing/2014/main" id="{EACB4A23-3C87-4C5A-07DC-8116B46C6C7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5929940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Headline and conten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2025-12-03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787806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Headline and content, blue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795850"/>
            <a:ext cx="8805181" cy="453030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E2AD36EE-D7EC-624A-BB6C-F8DADCB0E6B6}" type="datetime1">
              <a:rPr lang="sv-SE" smtClean="0"/>
              <a:t>2025-12-03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0272297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Headline and content, sand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CEEB1428-F34F-9743-B7C9-0212F6B23615}" type="datetime1">
              <a:rPr lang="sv-SE" smtClean="0"/>
              <a:t>2025-12-03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108309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Headline and content, light blue ">
    <p:bg>
      <p:bgPr>
        <a:solidFill>
          <a:schemeClr val="accent4"/>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805182" cy="453030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117AD585-73D1-4C4C-9D7C-030D27625895}" type="datetime1">
              <a:rPr lang="sv-SE" smtClean="0"/>
              <a:t>2025-12-03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5269847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Headline and content, sand">
    <p:bg>
      <p:bgPr>
        <a:solidFill>
          <a:schemeClr val="bg2"/>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750754" cy="453030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07E8514D-D455-9E46-BC18-4265F6A85EC5}" type="datetime1">
              <a:rPr lang="sv-SE" smtClean="0"/>
              <a:t>2025-12-03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8508522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part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14959C9-2F76-B9B0-59E8-58FE65006E5D}"/>
              </a:ext>
            </a:extLst>
          </p:cNvPr>
          <p:cNvSpPr>
            <a:spLocks noGrp="1"/>
          </p:cNvSpPr>
          <p:nvPr>
            <p:ph type="title"/>
          </p:nvPr>
        </p:nvSpPr>
        <p:spPr/>
        <p:txBody>
          <a:bodyPr/>
          <a:lstStyle/>
          <a:p>
            <a:r>
              <a:rPr lang="en-US"/>
              <a:t>Click to edit Master title style</a:t>
            </a:r>
            <a:endParaRPr lang="sv-SE" dirty="0"/>
          </a:p>
        </p:txBody>
      </p:sp>
      <p:sp>
        <p:nvSpPr>
          <p:cNvPr id="3" name="Platshållare för innehåll 2">
            <a:extLst>
              <a:ext uri="{FF2B5EF4-FFF2-40B4-BE49-F238E27FC236}">
                <a16:creationId xmlns:a16="http://schemas.microsoft.com/office/drawing/2014/main" id="{902AE670-4D80-39DE-5AAA-236D68C5E4FE}"/>
              </a:ext>
            </a:extLst>
          </p:cNvPr>
          <p:cNvSpPr>
            <a:spLocks noGrp="1"/>
          </p:cNvSpPr>
          <p:nvPr>
            <p:ph sz="half" idx="1"/>
          </p:nvPr>
        </p:nvSpPr>
        <p:spPr>
          <a:xfrm>
            <a:off x="600075" y="1795850"/>
            <a:ext cx="5314950" cy="453192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4" name="Platshållare för innehåll 3">
            <a:extLst>
              <a:ext uri="{FF2B5EF4-FFF2-40B4-BE49-F238E27FC236}">
                <a16:creationId xmlns:a16="http://schemas.microsoft.com/office/drawing/2014/main" id="{540C6723-9D57-3BE7-0314-142789CF9371}"/>
              </a:ext>
            </a:extLst>
          </p:cNvPr>
          <p:cNvSpPr>
            <a:spLocks noGrp="1"/>
          </p:cNvSpPr>
          <p:nvPr>
            <p:ph sz="half" idx="2"/>
          </p:nvPr>
        </p:nvSpPr>
        <p:spPr>
          <a:xfrm>
            <a:off x="6275388" y="1795851"/>
            <a:ext cx="5314950" cy="45319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5" name="Platshållare för datum 4">
            <a:extLst>
              <a:ext uri="{FF2B5EF4-FFF2-40B4-BE49-F238E27FC236}">
                <a16:creationId xmlns:a16="http://schemas.microsoft.com/office/drawing/2014/main" id="{E2533F65-F144-E57C-127B-9A8D7ABE671A}"/>
              </a:ext>
            </a:extLst>
          </p:cNvPr>
          <p:cNvSpPr>
            <a:spLocks noGrp="1"/>
          </p:cNvSpPr>
          <p:nvPr>
            <p:ph type="dt" sz="half" idx="10"/>
          </p:nvPr>
        </p:nvSpPr>
        <p:spPr/>
        <p:txBody>
          <a:bodyPr/>
          <a:lstStyle/>
          <a:p>
            <a:fld id="{A67A58AE-A0B6-FF4E-B30B-64917FEAC316}" type="datetime1">
              <a:rPr lang="sv-SE" smtClean="0"/>
              <a:t>2025-12-03</a:t>
            </a:fld>
            <a:endParaRPr lang="sv-SE"/>
          </a:p>
        </p:txBody>
      </p:sp>
      <p:sp>
        <p:nvSpPr>
          <p:cNvPr id="6" name="Platshållare för sidfot 5">
            <a:extLst>
              <a:ext uri="{FF2B5EF4-FFF2-40B4-BE49-F238E27FC236}">
                <a16:creationId xmlns:a16="http://schemas.microsoft.com/office/drawing/2014/main" id="{F6C0DB15-F374-5A00-4880-4AA76C675F94}"/>
              </a:ext>
            </a:extLst>
          </p:cNvPr>
          <p:cNvSpPr>
            <a:spLocks noGrp="1"/>
          </p:cNvSpPr>
          <p:nvPr>
            <p:ph type="ftr" sz="quarter" idx="11"/>
          </p:nvPr>
        </p:nvSpPr>
        <p:spPr/>
        <p:txBody>
          <a:bodyPr/>
          <a:lstStyle/>
          <a:p>
            <a:r>
              <a:rPr lang="sv-SE"/>
              <a:t>Presentation footer</a:t>
            </a:r>
          </a:p>
        </p:txBody>
      </p:sp>
      <p:sp>
        <p:nvSpPr>
          <p:cNvPr id="7" name="Platshållare för bildnummer 6">
            <a:extLst>
              <a:ext uri="{FF2B5EF4-FFF2-40B4-BE49-F238E27FC236}">
                <a16:creationId xmlns:a16="http://schemas.microsoft.com/office/drawing/2014/main" id="{12539EF3-2889-FC04-31FC-8AF48EAFC002}"/>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5487051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parts, subheader">
    <p:spTree>
      <p:nvGrpSpPr>
        <p:cNvPr id="1" name=""/>
        <p:cNvGrpSpPr/>
        <p:nvPr/>
      </p:nvGrpSpPr>
      <p:grpSpPr>
        <a:xfrm>
          <a:off x="0" y="0"/>
          <a:ext cx="0" cy="0"/>
          <a:chOff x="0" y="0"/>
          <a:chExt cx="0" cy="0"/>
        </a:xfrm>
      </p:grpSpPr>
      <p:sp>
        <p:nvSpPr>
          <p:cNvPr id="10" name="Rubrik 9">
            <a:extLst>
              <a:ext uri="{FF2B5EF4-FFF2-40B4-BE49-F238E27FC236}">
                <a16:creationId xmlns:a16="http://schemas.microsoft.com/office/drawing/2014/main" id="{C63C1EB8-E569-DA98-4D95-5FC12FB4C459}"/>
              </a:ext>
            </a:extLst>
          </p:cNvPr>
          <p:cNvSpPr>
            <a:spLocks noGrp="1"/>
          </p:cNvSpPr>
          <p:nvPr>
            <p:ph type="title"/>
          </p:nvPr>
        </p:nvSpPr>
        <p:spPr/>
        <p:txBody>
          <a:body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8DE1978A-D59D-BEB3-3574-B37CA68E4323}"/>
              </a:ext>
            </a:extLst>
          </p:cNvPr>
          <p:cNvSpPr>
            <a:spLocks noGrp="1"/>
          </p:cNvSpPr>
          <p:nvPr>
            <p:ph type="body" idx="1"/>
          </p:nvPr>
        </p:nvSpPr>
        <p:spPr>
          <a:xfrm>
            <a:off x="600075"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Platshållare för innehåll 3">
            <a:extLst>
              <a:ext uri="{FF2B5EF4-FFF2-40B4-BE49-F238E27FC236}">
                <a16:creationId xmlns:a16="http://schemas.microsoft.com/office/drawing/2014/main" id="{3FDE66B4-4491-C676-4004-9327D92F0111}"/>
              </a:ext>
            </a:extLst>
          </p:cNvPr>
          <p:cNvSpPr>
            <a:spLocks noGrp="1"/>
          </p:cNvSpPr>
          <p:nvPr>
            <p:ph sz="half" idx="2"/>
          </p:nvPr>
        </p:nvSpPr>
        <p:spPr>
          <a:xfrm>
            <a:off x="600075" y="2179165"/>
            <a:ext cx="5314950" cy="414861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5" name="Platshållare för text 4">
            <a:extLst>
              <a:ext uri="{FF2B5EF4-FFF2-40B4-BE49-F238E27FC236}">
                <a16:creationId xmlns:a16="http://schemas.microsoft.com/office/drawing/2014/main" id="{F55884CC-21E7-90D7-61AB-0459599D097A}"/>
              </a:ext>
            </a:extLst>
          </p:cNvPr>
          <p:cNvSpPr>
            <a:spLocks noGrp="1"/>
          </p:cNvSpPr>
          <p:nvPr>
            <p:ph type="body" sz="quarter" idx="3"/>
          </p:nvPr>
        </p:nvSpPr>
        <p:spPr>
          <a:xfrm>
            <a:off x="6275388"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Platshållare för innehåll 5">
            <a:extLst>
              <a:ext uri="{FF2B5EF4-FFF2-40B4-BE49-F238E27FC236}">
                <a16:creationId xmlns:a16="http://schemas.microsoft.com/office/drawing/2014/main" id="{C9A9E6FC-CBB8-1BD8-F388-D4BAEC7E1F13}"/>
              </a:ext>
            </a:extLst>
          </p:cNvPr>
          <p:cNvSpPr>
            <a:spLocks noGrp="1"/>
          </p:cNvSpPr>
          <p:nvPr>
            <p:ph sz="quarter" idx="4"/>
          </p:nvPr>
        </p:nvSpPr>
        <p:spPr>
          <a:xfrm>
            <a:off x="6275388" y="2179163"/>
            <a:ext cx="5314950" cy="414861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datum 6">
            <a:extLst>
              <a:ext uri="{FF2B5EF4-FFF2-40B4-BE49-F238E27FC236}">
                <a16:creationId xmlns:a16="http://schemas.microsoft.com/office/drawing/2014/main" id="{CAFDD56A-1297-3792-8143-D555882FE2CA}"/>
              </a:ext>
            </a:extLst>
          </p:cNvPr>
          <p:cNvSpPr>
            <a:spLocks noGrp="1"/>
          </p:cNvSpPr>
          <p:nvPr>
            <p:ph type="dt" sz="half" idx="10"/>
          </p:nvPr>
        </p:nvSpPr>
        <p:spPr/>
        <p:txBody>
          <a:bodyPr/>
          <a:lstStyle/>
          <a:p>
            <a:fld id="{3626A2DA-BD88-784C-A132-57FFB928491A}" type="datetime1">
              <a:rPr lang="sv-SE" smtClean="0"/>
              <a:t>2025-12-03</a:t>
            </a:fld>
            <a:endParaRPr lang="sv-SE"/>
          </a:p>
        </p:txBody>
      </p:sp>
      <p:sp>
        <p:nvSpPr>
          <p:cNvPr id="8" name="Platshållare för sidfot 7">
            <a:extLst>
              <a:ext uri="{FF2B5EF4-FFF2-40B4-BE49-F238E27FC236}">
                <a16:creationId xmlns:a16="http://schemas.microsoft.com/office/drawing/2014/main" id="{A57BD6EF-A167-CE86-7A77-2162641605FD}"/>
              </a:ext>
            </a:extLst>
          </p:cNvPr>
          <p:cNvSpPr>
            <a:spLocks noGrp="1"/>
          </p:cNvSpPr>
          <p:nvPr>
            <p:ph type="ftr" sz="quarter" idx="11"/>
          </p:nvPr>
        </p:nvSpPr>
        <p:spPr/>
        <p:txBody>
          <a:bodyPr/>
          <a:lstStyle/>
          <a:p>
            <a:r>
              <a:rPr lang="sv-SE"/>
              <a:t>Presentation footer</a:t>
            </a:r>
          </a:p>
        </p:txBody>
      </p:sp>
      <p:sp>
        <p:nvSpPr>
          <p:cNvPr id="9" name="Platshållare för bildnummer 8">
            <a:extLst>
              <a:ext uri="{FF2B5EF4-FFF2-40B4-BE49-F238E27FC236}">
                <a16:creationId xmlns:a16="http://schemas.microsoft.com/office/drawing/2014/main" id="{CDB4B22B-EE55-F7F6-4734-928F7B66EC5D}"/>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197619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7" name="Rubrik 6">
            <a:extLst>
              <a:ext uri="{FF2B5EF4-FFF2-40B4-BE49-F238E27FC236}">
                <a16:creationId xmlns:a16="http://schemas.microsoft.com/office/drawing/2014/main" id="{9B9D78B8-14EA-7C8B-0F6E-5FC0A61A7676}"/>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6" name="Platshållare för innehåll 2">
            <a:extLst>
              <a:ext uri="{FF2B5EF4-FFF2-40B4-BE49-F238E27FC236}">
                <a16:creationId xmlns:a16="http://schemas.microsoft.com/office/drawing/2014/main" id="{C8E71948-DDFC-93D6-07D4-FA5E9923A9C4}"/>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Platshållare för bild 2">
            <a:extLst>
              <a:ext uri="{FF2B5EF4-FFF2-40B4-BE49-F238E27FC236}">
                <a16:creationId xmlns:a16="http://schemas.microsoft.com/office/drawing/2014/main" id="{A51C4AA9-7CC2-70C9-89B3-A18AC9ECAA3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AC15C714-122B-4048-9D2D-1F5A3BEA504A}" type="datetime1">
              <a:rPr lang="sv-SE" smtClean="0"/>
              <a:t>2025-12-03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6226858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light blue">
    <p:bg>
      <p:bgPr>
        <a:solidFill>
          <a:schemeClr val="accent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E53B21-3BB0-7776-1C8F-14570934732F}"/>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0" name="Rubrik 1">
            <a:extLst>
              <a:ext uri="{FF2B5EF4-FFF2-40B4-BE49-F238E27FC236}">
                <a16:creationId xmlns:a16="http://schemas.microsoft.com/office/drawing/2014/main" id="{70BAD773-C5A8-1DD6-DAEF-296346C1E1B4}"/>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8" name="Platshållare för innehåll 1">
            <a:extLst>
              <a:ext uri="{FF2B5EF4-FFF2-40B4-BE49-F238E27FC236}">
                <a16:creationId xmlns:a16="http://schemas.microsoft.com/office/drawing/2014/main" id="{9E21FC13-6345-3248-A947-DE8A8903EE8D}"/>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11" name="Rubrik 2">
            <a:extLst>
              <a:ext uri="{FF2B5EF4-FFF2-40B4-BE49-F238E27FC236}">
                <a16:creationId xmlns:a16="http://schemas.microsoft.com/office/drawing/2014/main" id="{45E054D9-4635-C7AD-5248-012C9290BBA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9" name="Platshållare för innehåll 2">
            <a:extLst>
              <a:ext uri="{FF2B5EF4-FFF2-40B4-BE49-F238E27FC236}">
                <a16:creationId xmlns:a16="http://schemas.microsoft.com/office/drawing/2014/main" id="{08973148-6FE0-2E5B-CDAC-B5A8EFA5DCAF}"/>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EE5E874D-60F8-8B45-B36B-3029A6FA7FCB}" type="datetime1">
              <a:rPr lang="sv-SE" smtClean="0"/>
              <a:t>2025-12-03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1794251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sand">
    <p:bg>
      <p:bgPr>
        <a:solidFill>
          <a:schemeClr val="bg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D98A3471-E78E-5A25-CDCD-A70A1BA88DD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A2A70668-AB85-7E63-22C0-B9431D72BC07}"/>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65773533-9418-9BC8-07BE-DE1982D8EE15}"/>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592051F6-14B7-8364-56E9-FC036767257B}"/>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BF2B79C1-A27F-5DA9-D1F0-FC96C9A68BC7}"/>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7FE3A002-8AA0-194E-81B1-1ADE5B52840E}" type="datetime1">
              <a:rPr lang="sv-SE" smtClean="0"/>
              <a:t>2025-12-03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6169482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KTH blue">
    <p:bg>
      <p:bgPr>
        <a:solidFill>
          <a:schemeClr val="accent1"/>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83C6AD54-EED3-3960-39F1-6C44C49ED29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3B85E6DD-F8DF-4BBD-E46A-52EC6D703C63}"/>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3" name="Platshållare för innehåll 1">
            <a:extLst>
              <a:ext uri="{FF2B5EF4-FFF2-40B4-BE49-F238E27FC236}">
                <a16:creationId xmlns:a16="http://schemas.microsoft.com/office/drawing/2014/main" id="{DD1CE06C-E8A4-9360-B155-3B7D11D411EA}"/>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CC32D746-BC2A-D4E0-4FDE-8026A3339744}"/>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0B6CAC2E-851A-9B60-91F5-AEEA25AB753E}"/>
              </a:ext>
            </a:extLst>
          </p:cNvPr>
          <p:cNvSpPr>
            <a:spLocks noGrp="1"/>
          </p:cNvSpPr>
          <p:nvPr>
            <p:ph sz="half" idx="13"/>
          </p:nvPr>
        </p:nvSpPr>
        <p:spPr>
          <a:xfrm>
            <a:off x="6661947" y="2281473"/>
            <a:ext cx="4928391" cy="4046300"/>
          </a:xfrm>
        </p:spPr>
        <p:txBody>
          <a:bodyPr/>
          <a:lstStyle>
            <a:lvl1pPr>
              <a:buClr>
                <a:schemeClr val="accent2"/>
              </a:buClr>
              <a:defRPr>
                <a:solidFill>
                  <a:schemeClr val="bg1"/>
                </a:solidFill>
              </a:defRPr>
            </a:lvl1pPr>
            <a:lvl2pPr>
              <a:buClr>
                <a:schemeClr val="accent2"/>
              </a:buClr>
              <a:defRPr>
                <a:solidFill>
                  <a:schemeClr val="bg1"/>
                </a:solidFill>
              </a:defRPr>
            </a:lvl2pPr>
            <a:lvl3pPr>
              <a:buClr>
                <a:schemeClr val="accent2"/>
              </a:buClr>
              <a:defRPr>
                <a:solidFill>
                  <a:schemeClr val="bg1"/>
                </a:solidFill>
              </a:defRPr>
            </a:lvl3pPr>
            <a:lvl4pPr>
              <a:buClr>
                <a:schemeClr val="accent2"/>
              </a:buClr>
              <a:defRPr>
                <a:solidFill>
                  <a:schemeClr val="bg1"/>
                </a:solidFill>
              </a:defRPr>
            </a:lvl4pPr>
            <a:lvl5pPr>
              <a:buClr>
                <a:schemeClr val="accent2"/>
              </a:buCl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B003E109-5503-A446-83DE-4F0349794E27}" type="datetime1">
              <a:rPr lang="sv-SE" smtClean="0"/>
              <a:t>2025-12-03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3715672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navy blue">
    <p:bg>
      <p:bgPr>
        <a:solidFill>
          <a:schemeClr val="tx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4BFF3707-BCF8-3B40-4A6E-BB485A3058DD}"/>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7E30C4E1-FD13-FB51-43E8-4F36CF652781}"/>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3" name="Platshållare för innehåll 1">
            <a:extLst>
              <a:ext uri="{FF2B5EF4-FFF2-40B4-BE49-F238E27FC236}">
                <a16:creationId xmlns:a16="http://schemas.microsoft.com/office/drawing/2014/main" id="{E649F8F8-B8DB-7C5C-A600-75F519BA5D5A}"/>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D24132AE-47F1-716B-6975-B6DE84BD7143}"/>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C2860E0A-4616-275E-6EEB-5B0EBBD9F7E3}"/>
              </a:ext>
            </a:extLst>
          </p:cNvPr>
          <p:cNvSpPr>
            <a:spLocks noGrp="1"/>
          </p:cNvSpPr>
          <p:nvPr>
            <p:ph sz="half" idx="13"/>
          </p:nvPr>
        </p:nvSpPr>
        <p:spPr>
          <a:xfrm>
            <a:off x="6661947" y="2281473"/>
            <a:ext cx="4928391" cy="40463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1F9706F9-3770-3C47-9C0E-E405B1F87DBD}" type="datetime1">
              <a:rPr lang="sv-SE" smtClean="0"/>
              <a:t>2025-12-03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34309726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green">
    <p:bg>
      <p:bgPr>
        <a:solidFill>
          <a:srgbClr val="C7EBBA"/>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498978-27A1-BC36-D1C0-F12E64FC5C0E}"/>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58CDF499-9790-E8A2-3B44-8DDFA267A94F}"/>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86430320-1A4F-412F-300A-456151767E30}"/>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9B510906-94F4-6B14-FDC7-76CDBAF81A1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334025BC-079F-EA86-F798-CAD6618E645E}"/>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8E503FC7-D8F6-4243-8CCB-9A739180F56A}" type="datetime1">
              <a:rPr lang="sv-SE" smtClean="0"/>
              <a:t>2025-12-03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12125025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mparison, teal">
    <p:bg>
      <p:bgPr>
        <a:solidFill>
          <a:srgbClr val="B2E0E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925A3E22-BA62-7F69-450C-20B52F594B7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E1E07B9C-02BD-AC56-ABC5-455CEBB24ACF}"/>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22D67319-CD30-B99B-C636-4905BD0CE9D9}"/>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FE151B58-3B63-330E-7BE5-9A36F8D82000}"/>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1BA7EFEF-D6C1-C9F7-8504-107188FC0566}"/>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9719EDF7-C24A-7E4C-9EBB-98C778ECC35A}" type="datetime1">
              <a:rPr lang="sv-SE" smtClean="0"/>
              <a:t>2025-12-03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9062174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red">
    <p:bg>
      <p:bgPr>
        <a:solidFill>
          <a:srgbClr val="FFCCC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0A12FA56-217E-78A9-0201-C28109AB8E9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214F56B9-DEF6-409D-736C-E96172170452}"/>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C0ECC4A3-C076-B625-7E77-9DE3F047B9BB}"/>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0A9AF8D0-B58B-0439-D162-96136F7DA0C7}"/>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BC163C54-5959-5606-C36B-9E364C931E73}"/>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DB96772-CADE-B345-804B-3DF93A11AE0A}" type="datetime1">
              <a:rPr lang="sv-SE" smtClean="0"/>
              <a:t>2025-12-03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4178440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mparison, yellow">
    <p:bg>
      <p:bgPr>
        <a:solidFill>
          <a:srgbClr val="FFF0B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A5D08FD5-CEDA-760E-6063-D0EA59B0D676}"/>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F9485CCE-1723-48F8-36F7-B271C8911C85}"/>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020AD7BA-30E7-614D-F529-872AA9BB7A1A}"/>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976FF026-F97C-9444-5B6A-C4AF50690ADD}"/>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93803107-D46C-D12D-AAD7-E84641384E1F}"/>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69F8B43-28B6-0949-93DC-6B291391CFD4}" type="datetime1">
              <a:rPr lang="sv-SE" smtClean="0"/>
              <a:t>2025-12-03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6502592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Headline and 1 image">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4" y="1919288"/>
            <a:ext cx="10990263"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450A6BD-1EFB-BD42-9DC0-F0A6BEB4C27D}" type="datetime1">
              <a:rPr lang="sv-SE" smtClean="0"/>
              <a:t>2025-12-03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566691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Headline and 2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ADBDFCF2-2839-8D4F-B5E5-9B488CE2E4EE}" type="datetime1">
              <a:rPr lang="sv-SE" smtClean="0"/>
              <a:t>2025-12-03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0698180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Headline and 2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text 2">
            <a:extLst>
              <a:ext uri="{FF2B5EF4-FFF2-40B4-BE49-F238E27FC236}">
                <a16:creationId xmlns:a16="http://schemas.microsoft.com/office/drawing/2014/main" id="{BC674729-23CB-CE55-418D-9B4DA58EC148}"/>
              </a:ext>
            </a:extLst>
          </p:cNvPr>
          <p:cNvSpPr>
            <a:spLocks noGrp="1"/>
          </p:cNvSpPr>
          <p:nvPr>
            <p:ph type="body" sz="quarter" idx="16"/>
          </p:nvPr>
        </p:nvSpPr>
        <p:spPr>
          <a:xfrm>
            <a:off x="600075"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3">
            <a:extLst>
              <a:ext uri="{FF2B5EF4-FFF2-40B4-BE49-F238E27FC236}">
                <a16:creationId xmlns:a16="http://schemas.microsoft.com/office/drawing/2014/main" id="{4E2E81CD-B9BA-4D4B-D687-9453DEF10687}"/>
              </a:ext>
            </a:extLst>
          </p:cNvPr>
          <p:cNvSpPr>
            <a:spLocks noGrp="1"/>
          </p:cNvSpPr>
          <p:nvPr>
            <p:ph type="body" sz="quarter" idx="17"/>
          </p:nvPr>
        </p:nvSpPr>
        <p:spPr>
          <a:xfrm>
            <a:off x="6275388"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47A9746E-62D8-944D-99B0-D98695592DCF}" type="datetime1">
              <a:rPr lang="sv-SE" smtClean="0"/>
              <a:t>2025-12-03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4697270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Headline and 3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EC42A3C6-0141-7544-8502-44E44E5AD51F}" type="datetime1">
              <a:rPr lang="sv-SE" smtClean="0"/>
              <a:t>2025-12-03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219712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eadline and 3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E8F9620A-7B37-2787-0C61-0CB4A6519E3C}"/>
              </a:ext>
            </a:extLst>
          </p:cNvPr>
          <p:cNvSpPr>
            <a:spLocks noGrp="1"/>
          </p:cNvSpPr>
          <p:nvPr>
            <p:ph type="body" sz="quarter" idx="16"/>
          </p:nvPr>
        </p:nvSpPr>
        <p:spPr>
          <a:xfrm>
            <a:off x="600075"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1" name="Platshållare för text 3">
            <a:extLst>
              <a:ext uri="{FF2B5EF4-FFF2-40B4-BE49-F238E27FC236}">
                <a16:creationId xmlns:a16="http://schemas.microsoft.com/office/drawing/2014/main" id="{81E59C72-4325-9697-1B8F-6876044359F2}"/>
              </a:ext>
            </a:extLst>
          </p:cNvPr>
          <p:cNvSpPr>
            <a:spLocks noGrp="1"/>
          </p:cNvSpPr>
          <p:nvPr>
            <p:ph type="body" sz="quarter" idx="17"/>
          </p:nvPr>
        </p:nvSpPr>
        <p:spPr>
          <a:xfrm>
            <a:off x="4383881"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2" name="Platshållare för text 4">
            <a:extLst>
              <a:ext uri="{FF2B5EF4-FFF2-40B4-BE49-F238E27FC236}">
                <a16:creationId xmlns:a16="http://schemas.microsoft.com/office/drawing/2014/main" id="{04B71E10-09CE-4F1F-5969-3DD959F0102C}"/>
              </a:ext>
            </a:extLst>
          </p:cNvPr>
          <p:cNvSpPr>
            <a:spLocks noGrp="1"/>
          </p:cNvSpPr>
          <p:nvPr>
            <p:ph type="body" sz="quarter" idx="18"/>
          </p:nvPr>
        </p:nvSpPr>
        <p:spPr>
          <a:xfrm>
            <a:off x="8167687"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5A8E03F6-2D99-9C4F-8DF5-D169CFDD1A0C}" type="datetime1">
              <a:rPr lang="sv-SE" smtClean="0"/>
              <a:t>2025-12-03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70295718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Headline and 4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8AF63115-71BE-3E46-BB5A-A4600F1506C7}" type="datetime1">
              <a:rPr lang="sv-SE" smtClean="0"/>
              <a:t>2025-12-03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3571204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line and 4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D90C2B5D-CFFA-002C-8403-A5BA4FD6C513}"/>
              </a:ext>
            </a:extLst>
          </p:cNvPr>
          <p:cNvSpPr>
            <a:spLocks noGrp="1"/>
          </p:cNvSpPr>
          <p:nvPr>
            <p:ph type="body" sz="quarter" idx="17"/>
          </p:nvPr>
        </p:nvSpPr>
        <p:spPr>
          <a:xfrm>
            <a:off x="600075"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4" name="Platshållare för text 3">
            <a:extLst>
              <a:ext uri="{FF2B5EF4-FFF2-40B4-BE49-F238E27FC236}">
                <a16:creationId xmlns:a16="http://schemas.microsoft.com/office/drawing/2014/main" id="{F4E32133-1B05-00E9-FC72-16105F20E5D8}"/>
              </a:ext>
            </a:extLst>
          </p:cNvPr>
          <p:cNvSpPr>
            <a:spLocks noGrp="1"/>
          </p:cNvSpPr>
          <p:nvPr>
            <p:ph type="body" sz="quarter" idx="18"/>
          </p:nvPr>
        </p:nvSpPr>
        <p:spPr>
          <a:xfrm>
            <a:off x="3446727"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5" name="Platshållare för text 4">
            <a:extLst>
              <a:ext uri="{FF2B5EF4-FFF2-40B4-BE49-F238E27FC236}">
                <a16:creationId xmlns:a16="http://schemas.microsoft.com/office/drawing/2014/main" id="{9FBEA034-4378-57AD-9BAA-D23952A616CE}"/>
              </a:ext>
            </a:extLst>
          </p:cNvPr>
          <p:cNvSpPr>
            <a:spLocks noGrp="1"/>
          </p:cNvSpPr>
          <p:nvPr>
            <p:ph type="body" sz="quarter" idx="19"/>
          </p:nvPr>
        </p:nvSpPr>
        <p:spPr>
          <a:xfrm>
            <a:off x="6293379"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6" name="Platshållare för text 5">
            <a:extLst>
              <a:ext uri="{FF2B5EF4-FFF2-40B4-BE49-F238E27FC236}">
                <a16:creationId xmlns:a16="http://schemas.microsoft.com/office/drawing/2014/main" id="{06D592E5-8C13-50D1-1CCC-8F6917A28780}"/>
              </a:ext>
            </a:extLst>
          </p:cNvPr>
          <p:cNvSpPr>
            <a:spLocks noGrp="1"/>
          </p:cNvSpPr>
          <p:nvPr>
            <p:ph type="body" sz="quarter" idx="20"/>
          </p:nvPr>
        </p:nvSpPr>
        <p:spPr>
          <a:xfrm>
            <a:off x="9140030"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09FED66-59CE-6445-BA05-B37954B8CE47}" type="datetime1">
              <a:rPr lang="sv-SE" smtClean="0"/>
              <a:t>2025-12-03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483866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8C332B6B-9A86-944B-B689-8453757791DF}" type="datetime1">
              <a:rPr lang="sv-SE" smtClean="0"/>
              <a:t>2025-12-03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spTree>
    <p:extLst>
      <p:ext uri="{BB962C8B-B14F-4D97-AF65-F5344CB8AC3E}">
        <p14:creationId xmlns:p14="http://schemas.microsoft.com/office/powerpoint/2010/main" val="40127707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Headline only, light blue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957E16A-1246-F744-BDA8-D5896FB385F8}" type="datetime1">
              <a:rPr lang="sv-SE" smtClean="0"/>
              <a:t>2025-12-03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2CD49F62-B17F-4256-87E8-B48CEC1AECF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428514932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Headline only, sand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68888E78-A3E8-2E47-A37C-B0DACC4AC38C}" type="datetime1">
              <a:rPr lang="sv-SE" smtClean="0"/>
              <a:t>2025-12-03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70BC9548-E26C-77A2-1994-5B2D723366A9}"/>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56752721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Headline only,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AC1801B8-2ABD-E645-B0F3-2F4D3FFFF5AE}" type="datetime1">
              <a:rPr lang="sv-SE" smtClean="0"/>
              <a:t>2025-12-03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C21FC7DD-9D09-44CA-0597-9DEB74E2004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377687905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Headline only,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64FA935-6078-184F-946C-D8B2130A7BC4}" type="datetime1">
              <a:rPr lang="sv-SE" smtClean="0"/>
              <a:t>2025-12-03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B0E08DE0-7713-2F89-9CAE-718563F453A7}"/>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229315274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Platshållare för datum 1">
            <a:extLst>
              <a:ext uri="{FF2B5EF4-FFF2-40B4-BE49-F238E27FC236}">
                <a16:creationId xmlns:a16="http://schemas.microsoft.com/office/drawing/2014/main" id="{CB35DBFB-5CDF-E32D-0562-6D92213809A1}"/>
              </a:ext>
            </a:extLst>
          </p:cNvPr>
          <p:cNvSpPr>
            <a:spLocks noGrp="1"/>
          </p:cNvSpPr>
          <p:nvPr>
            <p:ph type="dt" sz="half" idx="10"/>
          </p:nvPr>
        </p:nvSpPr>
        <p:spPr/>
        <p:txBody>
          <a:bodyPr/>
          <a:lstStyle/>
          <a:p>
            <a:fld id="{878DDE6C-6786-8C48-9317-AF0776715ACF}" type="datetime1">
              <a:rPr lang="sv-SE" smtClean="0"/>
              <a:t>2025-12-03</a:t>
            </a:fld>
            <a:endParaRPr lang="sv-SE"/>
          </a:p>
        </p:txBody>
      </p:sp>
      <p:sp>
        <p:nvSpPr>
          <p:cNvPr id="3" name="Platshållare för sidfot 2">
            <a:extLst>
              <a:ext uri="{FF2B5EF4-FFF2-40B4-BE49-F238E27FC236}">
                <a16:creationId xmlns:a16="http://schemas.microsoft.com/office/drawing/2014/main" id="{9757DD51-31A9-0B97-878B-DC725BEF456D}"/>
              </a:ext>
            </a:extLst>
          </p:cNvPr>
          <p:cNvSpPr>
            <a:spLocks noGrp="1"/>
          </p:cNvSpPr>
          <p:nvPr>
            <p:ph type="ftr" sz="quarter" idx="11"/>
          </p:nvPr>
        </p:nvSpPr>
        <p:spPr/>
        <p:txBody>
          <a:bodyPr/>
          <a:lstStyle/>
          <a:p>
            <a:r>
              <a:rPr lang="sv-SE"/>
              <a:t>Presentation footer</a:t>
            </a:r>
          </a:p>
        </p:txBody>
      </p:sp>
      <p:sp>
        <p:nvSpPr>
          <p:cNvPr id="4" name="Platshållare för bildnummer 3">
            <a:extLst>
              <a:ext uri="{FF2B5EF4-FFF2-40B4-BE49-F238E27FC236}">
                <a16:creationId xmlns:a16="http://schemas.microsoft.com/office/drawing/2014/main" id="{49810C51-F518-224E-FB91-8421FD7D6879}"/>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13494009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Headline and content,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a:t>Click to edit Master title style</a:t>
            </a:r>
            <a:endParaRPr lang="sv-SE" dirty="0"/>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366838"/>
            <a:ext cx="10990263" cy="49593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2025-12-03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6058086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Headline only,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a:t>Click to edit Master title style</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2025-12-03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28333641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Logo">
    <p:bg>
      <p:bgPr>
        <a:solidFill>
          <a:schemeClr val="accent1"/>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A3328FD-6257-AC43-9CE4-2903A4D2BB9D}" type="datetime1">
              <a:rPr lang="sv-SE" smtClean="0"/>
              <a:t>2025-12-03</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B31C6E16-A8C5-A850-CB5B-D4A530D7DE27}"/>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4EDED1D2-CC81-27E6-259D-AC4805594BE1}"/>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232605936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Logo, navy blue">
    <p:bg>
      <p:bgPr>
        <a:solidFill>
          <a:schemeClr val="tx2"/>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2BABC24-2A82-014C-9256-A51302708EE4}" type="datetime1">
              <a:rPr lang="sv-SE" smtClean="0"/>
              <a:t>2025-12-03</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0D27DED8-EA09-1EA2-8C8D-DCB1C9F0377C}"/>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004E1202-DA06-9B02-2B87-6713C953C357}"/>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415031168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How to use template">
    <p:spTree>
      <p:nvGrpSpPr>
        <p:cNvPr id="1" name=""/>
        <p:cNvGrpSpPr/>
        <p:nvPr/>
      </p:nvGrpSpPr>
      <p:grpSpPr>
        <a:xfrm>
          <a:off x="0" y="0"/>
          <a:ext cx="0" cy="0"/>
          <a:chOff x="0" y="0"/>
          <a:chExt cx="0" cy="0"/>
        </a:xfrm>
      </p:grpSpPr>
      <p:grpSp>
        <p:nvGrpSpPr>
          <p:cNvPr id="16" name="Grupp 15">
            <a:extLst>
              <a:ext uri="{FF2B5EF4-FFF2-40B4-BE49-F238E27FC236}">
                <a16:creationId xmlns:a16="http://schemas.microsoft.com/office/drawing/2014/main" id="{CE19B76B-69BE-2CE8-2691-D7F57CA2A986}"/>
              </a:ext>
            </a:extLst>
          </p:cNvPr>
          <p:cNvGrpSpPr>
            <a:grpSpLocks noChangeAspect="1"/>
          </p:cNvGrpSpPr>
          <p:nvPr userDrawn="1"/>
        </p:nvGrpSpPr>
        <p:grpSpPr>
          <a:xfrm>
            <a:off x="2347236" y="2028884"/>
            <a:ext cx="1806522" cy="3150398"/>
            <a:chOff x="3971925" y="-1798194"/>
            <a:chExt cx="6248400" cy="10896600"/>
          </a:xfrm>
        </p:grpSpPr>
        <p:pic>
          <p:nvPicPr>
            <p:cNvPr id="13" name="Bildobjekt 12" descr="En bild som visar text, skärmbild, programvara, diagram&#10;&#10;Automatiskt genererad beskrivning">
              <a:extLst>
                <a:ext uri="{FF2B5EF4-FFF2-40B4-BE49-F238E27FC236}">
                  <a16:creationId xmlns:a16="http://schemas.microsoft.com/office/drawing/2014/main" id="{77182B8F-9D5B-E130-993A-698BFACD821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971925" y="3650106"/>
              <a:ext cx="6248400" cy="5448300"/>
            </a:xfrm>
            <a:prstGeom prst="rect">
              <a:avLst/>
            </a:prstGeom>
          </p:spPr>
        </p:pic>
        <p:pic>
          <p:nvPicPr>
            <p:cNvPr id="15" name="Bildobjekt 14" descr="En bild som visar text, skärmbild, programvara, Datorikon&#10;&#10;Automatiskt genererad beskrivning">
              <a:extLst>
                <a:ext uri="{FF2B5EF4-FFF2-40B4-BE49-F238E27FC236}">
                  <a16:creationId xmlns:a16="http://schemas.microsoft.com/office/drawing/2014/main" id="{7DA50AB1-F7A2-EBC7-FB82-E0BBB147318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971925" y="-1798194"/>
              <a:ext cx="6248400" cy="5448300"/>
            </a:xfrm>
            <a:prstGeom prst="rect">
              <a:avLst/>
            </a:prstGeom>
          </p:spPr>
        </p:pic>
      </p:grpSp>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77AA192B-9140-F746-B429-ACF197DC5439}" type="datetime1">
              <a:rPr lang="sv-SE" smtClean="0"/>
              <a:t>2025-12-03</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46036"/>
            <a:ext cx="10991850" cy="796252"/>
          </a:xfrm>
          <a:prstGeom prst="rect">
            <a:avLst/>
          </a:prstGeom>
          <a:noFill/>
        </p:spPr>
        <p:txBody>
          <a:bodyPr wrap="square" anchor="t">
            <a:noAutofit/>
          </a:bodyPr>
          <a:lstStyle/>
          <a:p>
            <a:r>
              <a:rPr lang="en-US" sz="3600" b="1" noProof="0" dirty="0">
                <a:solidFill>
                  <a:schemeClr val="tx2"/>
                </a:solidFill>
                <a:latin typeface="+mj-lt"/>
              </a:rPr>
              <a:t>How to use this template</a:t>
            </a:r>
          </a:p>
        </p:txBody>
      </p:sp>
      <p:sp>
        <p:nvSpPr>
          <p:cNvPr id="6" name="textruta 5">
            <a:extLst>
              <a:ext uri="{FF2B5EF4-FFF2-40B4-BE49-F238E27FC236}">
                <a16:creationId xmlns:a16="http://schemas.microsoft.com/office/drawing/2014/main" id="{A169F84A-F3A8-EFE5-7C9A-F2537DED6605}"/>
              </a:ext>
            </a:extLst>
          </p:cNvPr>
          <p:cNvSpPr txBox="1"/>
          <p:nvPr userDrawn="1"/>
        </p:nvSpPr>
        <p:spPr>
          <a:xfrm>
            <a:off x="716536" y="2472816"/>
            <a:ext cx="1469735" cy="723275"/>
          </a:xfrm>
          <a:prstGeom prst="rect">
            <a:avLst/>
          </a:prstGeom>
          <a:noFill/>
        </p:spPr>
        <p:txBody>
          <a:bodyPr wrap="square" lIns="0" tIns="0" rIns="0" bIns="0" rtlCol="0">
            <a:spAutoFit/>
          </a:bodyPr>
          <a:lstStyle/>
          <a:p>
            <a:pPr>
              <a:spcAft>
                <a:spcPts val="600"/>
              </a:spcAft>
            </a:pPr>
            <a:r>
              <a:rPr lang="en-US" sz="1000" b="1" noProof="0" dirty="0">
                <a:solidFill>
                  <a:schemeClr val="tx2"/>
                </a:solidFill>
              </a:rPr>
              <a:t>Slide templates</a:t>
            </a:r>
          </a:p>
          <a:p>
            <a:pPr>
              <a:spcAft>
                <a:spcPts val="600"/>
              </a:spcAft>
            </a:pPr>
            <a:r>
              <a:rPr lang="en-US" sz="800" noProof="0" dirty="0"/>
              <a:t>Click on </a:t>
            </a:r>
            <a:r>
              <a:rPr lang="en-US" sz="800" i="1" noProof="0" dirty="0"/>
              <a:t>New slide</a:t>
            </a:r>
            <a:r>
              <a:rPr lang="en-US" sz="800" noProof="0" dirty="0"/>
              <a:t> to see the templates various template slide. Choose one to suite </a:t>
            </a:r>
            <a:br>
              <a:rPr lang="en-US" sz="800" noProof="0" dirty="0"/>
            </a:br>
            <a:r>
              <a:rPr lang="en-US" sz="800" noProof="0" dirty="0"/>
              <a:t>your content.</a:t>
            </a:r>
          </a:p>
        </p:txBody>
      </p:sp>
      <p:sp>
        <p:nvSpPr>
          <p:cNvPr id="8" name="textruta 7">
            <a:extLst>
              <a:ext uri="{FF2B5EF4-FFF2-40B4-BE49-F238E27FC236}">
                <a16:creationId xmlns:a16="http://schemas.microsoft.com/office/drawing/2014/main" id="{768BCC39-F9DA-DF60-4025-17B6E0131556}"/>
              </a:ext>
            </a:extLst>
          </p:cNvPr>
          <p:cNvSpPr txBox="1"/>
          <p:nvPr userDrawn="1"/>
        </p:nvSpPr>
        <p:spPr>
          <a:xfrm>
            <a:off x="716537" y="3685917"/>
            <a:ext cx="1469735" cy="692497"/>
          </a:xfrm>
          <a:prstGeom prst="rect">
            <a:avLst/>
          </a:prstGeom>
          <a:noFill/>
        </p:spPr>
        <p:txBody>
          <a:bodyPr wrap="square" lIns="0" tIns="0" rIns="0" bIns="0" rtlCol="0">
            <a:spAutoFit/>
          </a:bodyPr>
          <a:lstStyle/>
          <a:p>
            <a:pPr>
              <a:spcAft>
                <a:spcPts val="600"/>
              </a:spcAft>
            </a:pPr>
            <a:r>
              <a:rPr lang="en-US" sz="800" b="1" noProof="0" dirty="0">
                <a:solidFill>
                  <a:schemeClr val="tx2"/>
                </a:solidFill>
              </a:rPr>
              <a:t>Layout</a:t>
            </a:r>
          </a:p>
          <a:p>
            <a:pPr>
              <a:spcAft>
                <a:spcPts val="600"/>
              </a:spcAft>
            </a:pPr>
            <a:r>
              <a:rPr lang="en-US" sz="800" noProof="0" dirty="0"/>
              <a:t>If you’d like to change slide template on an existing slide, click on </a:t>
            </a:r>
            <a:r>
              <a:rPr lang="en-US" sz="800" i="1" noProof="0" dirty="0"/>
              <a:t>Layout</a:t>
            </a:r>
            <a:r>
              <a:rPr lang="en-US" sz="800" noProof="0" dirty="0"/>
              <a:t> and select a new template. </a:t>
            </a:r>
          </a:p>
        </p:txBody>
      </p:sp>
      <p:sp>
        <p:nvSpPr>
          <p:cNvPr id="9" name="textruta 8">
            <a:extLst>
              <a:ext uri="{FF2B5EF4-FFF2-40B4-BE49-F238E27FC236}">
                <a16:creationId xmlns:a16="http://schemas.microsoft.com/office/drawing/2014/main" id="{F266C024-6842-2553-28D2-931168DE2970}"/>
              </a:ext>
            </a:extLst>
          </p:cNvPr>
          <p:cNvSpPr txBox="1"/>
          <p:nvPr userDrawn="1"/>
        </p:nvSpPr>
        <p:spPr>
          <a:xfrm>
            <a:off x="716536" y="4881301"/>
            <a:ext cx="1469735" cy="569387"/>
          </a:xfrm>
          <a:prstGeom prst="rect">
            <a:avLst/>
          </a:prstGeom>
          <a:noFill/>
        </p:spPr>
        <p:txBody>
          <a:bodyPr wrap="square" lIns="0" tIns="0" rIns="0" bIns="0" rtlCol="0">
            <a:spAutoFit/>
          </a:bodyPr>
          <a:lstStyle/>
          <a:p>
            <a:pPr>
              <a:spcAft>
                <a:spcPts val="600"/>
              </a:spcAft>
            </a:pPr>
            <a:r>
              <a:rPr lang="en-US" sz="800" b="1" noProof="0" dirty="0">
                <a:solidFill>
                  <a:schemeClr val="tx2"/>
                </a:solidFill>
              </a:rPr>
              <a:t>Reset</a:t>
            </a:r>
          </a:p>
          <a:p>
            <a:pPr>
              <a:spcAft>
                <a:spcPts val="600"/>
              </a:spcAft>
            </a:pPr>
            <a:r>
              <a:rPr lang="en-US" sz="800" noProof="0" dirty="0"/>
              <a:t>Reset a slide to the slide templates design by </a:t>
            </a:r>
            <a:br>
              <a:rPr lang="en-US" sz="800" noProof="0" dirty="0"/>
            </a:br>
            <a:r>
              <a:rPr lang="en-US" sz="800" noProof="0" dirty="0"/>
              <a:t>clicking on </a:t>
            </a:r>
            <a:r>
              <a:rPr lang="en-US" sz="800" i="1" noProof="0" dirty="0"/>
              <a:t>Reset</a:t>
            </a:r>
            <a:r>
              <a:rPr lang="en-US" sz="800" noProof="0" dirty="0"/>
              <a:t>. </a:t>
            </a:r>
          </a:p>
        </p:txBody>
      </p:sp>
      <p:sp>
        <p:nvSpPr>
          <p:cNvPr id="10" name="textruta 9">
            <a:extLst>
              <a:ext uri="{FF2B5EF4-FFF2-40B4-BE49-F238E27FC236}">
                <a16:creationId xmlns:a16="http://schemas.microsoft.com/office/drawing/2014/main" id="{C49C5967-B80A-E7A8-432B-804EA96184DA}"/>
              </a:ext>
            </a:extLst>
          </p:cNvPr>
          <p:cNvSpPr txBox="1"/>
          <p:nvPr userDrawn="1"/>
        </p:nvSpPr>
        <p:spPr>
          <a:xfrm>
            <a:off x="4586575" y="2066955"/>
            <a:ext cx="1361445" cy="1092607"/>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Colors</a:t>
            </a:r>
          </a:p>
          <a:p>
            <a:pPr>
              <a:spcAft>
                <a:spcPts val="600"/>
              </a:spcAft>
            </a:pPr>
            <a:r>
              <a:rPr lang="en-US" sz="800" noProof="0" dirty="0"/>
              <a:t>This template is programmed with the KTH color palette. The correct colors are the in top row under </a:t>
            </a:r>
            <a:r>
              <a:rPr lang="en-US" sz="800" i="1" noProof="0" dirty="0"/>
              <a:t>Theme Colors</a:t>
            </a:r>
            <a:r>
              <a:rPr lang="en-US" sz="800" noProof="0" dirty="0"/>
              <a:t> and all colors under </a:t>
            </a:r>
            <a:r>
              <a:rPr lang="en-US" sz="800" i="1" noProof="0" dirty="0"/>
              <a:t>Custom Colors</a:t>
            </a:r>
            <a:r>
              <a:rPr lang="en-US" sz="800" noProof="0" dirty="0"/>
              <a:t>. Only use the correct colors.</a:t>
            </a:r>
          </a:p>
        </p:txBody>
      </p:sp>
      <p:sp>
        <p:nvSpPr>
          <p:cNvPr id="17" name="textruta 16">
            <a:extLst>
              <a:ext uri="{FF2B5EF4-FFF2-40B4-BE49-F238E27FC236}">
                <a16:creationId xmlns:a16="http://schemas.microsoft.com/office/drawing/2014/main" id="{5077E03A-6420-92EB-FBAB-1A11484F6E1E}"/>
              </a:ext>
            </a:extLst>
          </p:cNvPr>
          <p:cNvSpPr txBox="1"/>
          <p:nvPr userDrawn="1"/>
        </p:nvSpPr>
        <p:spPr>
          <a:xfrm>
            <a:off x="6938221" y="2303726"/>
            <a:ext cx="598588" cy="307777"/>
          </a:xfrm>
          <a:prstGeom prst="rect">
            <a:avLst/>
          </a:prstGeom>
          <a:noFill/>
        </p:spPr>
        <p:txBody>
          <a:bodyPr wrap="square" lIns="0" tIns="0" rIns="0" bIns="0" rtlCol="0">
            <a:spAutoFit/>
          </a:bodyPr>
          <a:lstStyle/>
          <a:p>
            <a:r>
              <a:rPr lang="en-US" sz="500" noProof="0" dirty="0">
                <a:solidFill>
                  <a:srgbClr val="F9535C"/>
                </a:solidFill>
              </a:rPr>
              <a:t>Do </a:t>
            </a:r>
            <a:r>
              <a:rPr lang="en-US" sz="500" u="sng" noProof="0" dirty="0">
                <a:solidFill>
                  <a:srgbClr val="F9535C"/>
                </a:solidFill>
              </a:rPr>
              <a:t>NOT</a:t>
            </a:r>
            <a:r>
              <a:rPr lang="en-US" sz="500" noProof="0" dirty="0">
                <a:solidFill>
                  <a:srgbClr val="F9535C"/>
                </a:solidFill>
              </a:rPr>
              <a:t> use the colors PowerPoint auto generates. They are not on brand. </a:t>
            </a:r>
          </a:p>
        </p:txBody>
      </p:sp>
      <p:sp>
        <p:nvSpPr>
          <p:cNvPr id="21" name="textruta 20">
            <a:extLst>
              <a:ext uri="{FF2B5EF4-FFF2-40B4-BE49-F238E27FC236}">
                <a16:creationId xmlns:a16="http://schemas.microsoft.com/office/drawing/2014/main" id="{8926CA3B-DA70-E9B7-6DA6-A695DCFB4726}"/>
              </a:ext>
            </a:extLst>
          </p:cNvPr>
          <p:cNvSpPr txBox="1"/>
          <p:nvPr userDrawn="1"/>
        </p:nvSpPr>
        <p:spPr>
          <a:xfrm>
            <a:off x="8095279" y="2061013"/>
            <a:ext cx="1588210" cy="2185214"/>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Change the image crop</a:t>
            </a:r>
          </a:p>
          <a:p>
            <a:pPr>
              <a:spcAft>
                <a:spcPts val="600"/>
              </a:spcAft>
            </a:pPr>
            <a:r>
              <a:rPr lang="en-US" sz="800" noProof="0" dirty="0"/>
              <a:t>When an image is placed in an image place holder, PowerPoint automatically crops the image to fit the placeholder. To alter what part of the image is shown:</a:t>
            </a:r>
          </a:p>
          <a:p>
            <a:pPr marL="120600" indent="-120600">
              <a:spcAft>
                <a:spcPts val="600"/>
              </a:spcAft>
              <a:buClr>
                <a:schemeClr val="accent1"/>
              </a:buClr>
              <a:buFont typeface="+mj-lt"/>
              <a:buAutoNum type="arabicPeriod"/>
            </a:pPr>
            <a:r>
              <a:rPr lang="en-US" sz="800" noProof="0" dirty="0"/>
              <a:t>Select the image and go to </a:t>
            </a:r>
            <a:br>
              <a:rPr lang="en-US" sz="800" noProof="0" dirty="0"/>
            </a:br>
            <a:r>
              <a:rPr lang="en-US" sz="800" noProof="0" dirty="0"/>
              <a:t>the </a:t>
            </a:r>
            <a:r>
              <a:rPr lang="en-US" sz="800" i="1" noProof="0" dirty="0"/>
              <a:t>Picture Format </a:t>
            </a:r>
            <a:r>
              <a:rPr lang="en-US" sz="800" noProof="0" dirty="0"/>
              <a:t>tab. </a:t>
            </a:r>
          </a:p>
          <a:p>
            <a:pPr marL="120600" indent="-120600">
              <a:spcAft>
                <a:spcPts val="600"/>
              </a:spcAft>
              <a:buClr>
                <a:schemeClr val="accent1"/>
              </a:buClr>
              <a:buFont typeface="+mj-lt"/>
              <a:buAutoNum type="arabicPeriod"/>
            </a:pPr>
            <a:r>
              <a:rPr lang="en-US" sz="800" noProof="0" dirty="0"/>
              <a:t>Choose </a:t>
            </a:r>
            <a:r>
              <a:rPr lang="en-US" sz="800" i="1" noProof="0" dirty="0"/>
              <a:t>Crop</a:t>
            </a:r>
            <a:r>
              <a:rPr lang="en-US" sz="800" noProof="0" dirty="0"/>
              <a:t>. Now, the entire image is visible, the cropped out parts are darker. </a:t>
            </a:r>
          </a:p>
          <a:p>
            <a:pPr marL="120600" indent="-120600">
              <a:spcAft>
                <a:spcPts val="600"/>
              </a:spcAft>
              <a:buClr>
                <a:schemeClr val="accent1"/>
              </a:buClr>
              <a:buFont typeface="+mj-lt"/>
              <a:buAutoNum type="arabicPeriod"/>
            </a:pPr>
            <a:r>
              <a:rPr lang="en-US" sz="800" noProof="0" dirty="0"/>
              <a:t>Now you can move the image around within the placeholder and/or zoom in by pulling the corners of the image. </a:t>
            </a:r>
          </a:p>
        </p:txBody>
      </p:sp>
      <p:sp>
        <p:nvSpPr>
          <p:cNvPr id="23" name="textruta 22">
            <a:extLst>
              <a:ext uri="{FF2B5EF4-FFF2-40B4-BE49-F238E27FC236}">
                <a16:creationId xmlns:a16="http://schemas.microsoft.com/office/drawing/2014/main" id="{4FF18537-A6AC-E08C-1D06-F4EFDB0287B8}"/>
              </a:ext>
            </a:extLst>
          </p:cNvPr>
          <p:cNvSpPr txBox="1"/>
          <p:nvPr userDrawn="1"/>
        </p:nvSpPr>
        <p:spPr>
          <a:xfrm>
            <a:off x="10058400" y="2061013"/>
            <a:ext cx="1486590" cy="1692771"/>
          </a:xfrm>
          <a:prstGeom prst="rect">
            <a:avLst/>
          </a:prstGeom>
          <a:noFill/>
        </p:spPr>
        <p:txBody>
          <a:bodyPr wrap="square" lIns="0" tIns="0" rIns="0" bIns="0" rtlCol="0">
            <a:spAutoFit/>
          </a:bodyPr>
          <a:lstStyle/>
          <a:p>
            <a:pPr>
              <a:spcAft>
                <a:spcPts val="600"/>
              </a:spcAft>
            </a:pPr>
            <a:r>
              <a:rPr lang="en-US" sz="1000" b="1" noProof="0" dirty="0">
                <a:solidFill>
                  <a:schemeClr val="tx2"/>
                </a:solidFill>
              </a:rPr>
              <a:t>Edit image background</a:t>
            </a:r>
          </a:p>
          <a:p>
            <a:pPr marL="120600" indent="-120600">
              <a:spcAft>
                <a:spcPts val="600"/>
              </a:spcAft>
              <a:buClr>
                <a:schemeClr val="accent1"/>
              </a:buClr>
              <a:buAutoNum type="arabicPeriod"/>
            </a:pPr>
            <a:r>
              <a:rPr lang="en-US" sz="800" noProof="0" dirty="0"/>
              <a:t>Select </a:t>
            </a:r>
            <a:r>
              <a:rPr lang="en-US" sz="800" i="1" noProof="0" dirty="0"/>
              <a:t>Design</a:t>
            </a:r>
            <a:r>
              <a:rPr lang="en-US" sz="800" noProof="0" dirty="0"/>
              <a:t> &gt; </a:t>
            </a:r>
            <a:r>
              <a:rPr lang="en-US" sz="800" i="1" noProof="0" dirty="0"/>
              <a:t>Format Background</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Format Background pane</a:t>
            </a:r>
            <a:r>
              <a:rPr lang="en-US" sz="800" noProof="0" dirty="0"/>
              <a:t>, select </a:t>
            </a:r>
            <a:r>
              <a:rPr lang="en-US" sz="800" i="1" noProof="0" dirty="0"/>
              <a:t>Picture or texture fill</a:t>
            </a:r>
            <a:r>
              <a:rPr lang="en-US" sz="800" noProof="0" dirty="0"/>
              <a:t>.</a:t>
            </a:r>
          </a:p>
          <a:p>
            <a:pPr marL="120600" indent="-120600">
              <a:spcAft>
                <a:spcPts val="600"/>
              </a:spcAft>
              <a:buClr>
                <a:schemeClr val="accent1"/>
              </a:buClr>
              <a:buAutoNum type="arabicPeriod"/>
            </a:pPr>
            <a:r>
              <a:rPr lang="en-US" sz="800" noProof="0" dirty="0"/>
              <a:t>Select </a:t>
            </a:r>
            <a:r>
              <a:rPr lang="en-US" sz="800" i="1" noProof="0" dirty="0"/>
              <a:t>File</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Insert Picture</a:t>
            </a:r>
            <a:r>
              <a:rPr lang="en-US" sz="800" noProof="0" dirty="0"/>
              <a:t> dialog box, choose the picture </a:t>
            </a:r>
            <a:br>
              <a:rPr lang="en-US" sz="800" noProof="0" dirty="0"/>
            </a:br>
            <a:r>
              <a:rPr lang="en-US" sz="800" noProof="0" dirty="0"/>
              <a:t>you want to use and then select </a:t>
            </a:r>
            <a:r>
              <a:rPr lang="en-US" sz="800" i="1" noProof="0" dirty="0"/>
              <a:t>Insert</a:t>
            </a:r>
            <a:r>
              <a:rPr lang="en-US" sz="800" noProof="0" dirty="0"/>
              <a:t>.</a:t>
            </a:r>
          </a:p>
        </p:txBody>
      </p:sp>
      <p:sp>
        <p:nvSpPr>
          <p:cNvPr id="24" name="textruta 23">
            <a:extLst>
              <a:ext uri="{FF2B5EF4-FFF2-40B4-BE49-F238E27FC236}">
                <a16:creationId xmlns:a16="http://schemas.microsoft.com/office/drawing/2014/main" id="{49208D86-4998-5146-37DE-48F0F8DCB7BC}"/>
              </a:ext>
            </a:extLst>
          </p:cNvPr>
          <p:cNvSpPr txBox="1"/>
          <p:nvPr userDrawn="1"/>
        </p:nvSpPr>
        <p:spPr>
          <a:xfrm>
            <a:off x="4586575" y="4075714"/>
            <a:ext cx="1295401" cy="1569660"/>
          </a:xfrm>
          <a:prstGeom prst="rect">
            <a:avLst/>
          </a:prstGeom>
          <a:noFill/>
        </p:spPr>
        <p:txBody>
          <a:bodyPr wrap="square" lIns="0" tIns="0" rIns="0" bIns="0" rtlCol="0">
            <a:spAutoFit/>
          </a:bodyPr>
          <a:lstStyle/>
          <a:p>
            <a:pPr>
              <a:spcAft>
                <a:spcPts val="600"/>
              </a:spcAft>
            </a:pPr>
            <a:r>
              <a:rPr lang="en-US" sz="1000" b="1" noProof="0" dirty="0">
                <a:solidFill>
                  <a:schemeClr val="tx2"/>
                </a:solidFill>
              </a:rPr>
              <a:t>Header and footer</a:t>
            </a:r>
          </a:p>
          <a:p>
            <a:pPr>
              <a:spcAft>
                <a:spcPts val="600"/>
              </a:spcAft>
            </a:pPr>
            <a:r>
              <a:rPr lang="en-US" sz="800" noProof="0" dirty="0"/>
              <a:t>Insert header/footer, </a:t>
            </a:r>
            <a:br>
              <a:rPr lang="en-US" sz="800" noProof="0" dirty="0"/>
            </a:br>
            <a:r>
              <a:rPr lang="en-US" sz="800" noProof="0" dirty="0"/>
              <a:t>date and page numbers:</a:t>
            </a:r>
          </a:p>
          <a:p>
            <a:pPr marL="120600" indent="-120600">
              <a:spcAft>
                <a:spcPts val="600"/>
              </a:spcAft>
              <a:buClr>
                <a:schemeClr val="accent1"/>
              </a:buClr>
              <a:buFont typeface="+mj-lt"/>
              <a:buAutoNum type="arabicPeriod"/>
            </a:pPr>
            <a:r>
              <a:rPr lang="en-US" sz="800" noProof="0" dirty="0"/>
              <a:t>On the </a:t>
            </a:r>
            <a:r>
              <a:rPr lang="en-US" sz="800" i="1" noProof="0" dirty="0"/>
              <a:t>Insert</a:t>
            </a:r>
            <a:r>
              <a:rPr lang="en-US" sz="800" noProof="0" dirty="0"/>
              <a:t> tab, </a:t>
            </a:r>
            <a:br>
              <a:rPr lang="en-US" sz="800" noProof="0" dirty="0"/>
            </a:br>
            <a:r>
              <a:rPr lang="en-US" sz="800" noProof="0" dirty="0"/>
              <a:t>click </a:t>
            </a:r>
            <a:r>
              <a:rPr lang="en-US" sz="800" i="1" noProof="0" dirty="0"/>
              <a:t>Header &amp; Footer</a:t>
            </a:r>
            <a:r>
              <a:rPr lang="en-US" sz="800" noProof="0" dirty="0"/>
              <a:t>.</a:t>
            </a:r>
          </a:p>
          <a:p>
            <a:pPr marL="120600" indent="-120600">
              <a:spcAft>
                <a:spcPts val="600"/>
              </a:spcAft>
              <a:buClr>
                <a:schemeClr val="accent1"/>
              </a:buClr>
              <a:buFont typeface="+mj-lt"/>
              <a:buAutoNum type="arabicPeriod"/>
            </a:pPr>
            <a:r>
              <a:rPr lang="en-US" sz="800" noProof="0" dirty="0"/>
              <a:t>In the Header and Footer box, on the Slide tab, select the information you want.</a:t>
            </a:r>
          </a:p>
          <a:p>
            <a:pPr marL="120600" indent="-120600">
              <a:spcAft>
                <a:spcPts val="600"/>
              </a:spcAft>
              <a:buClr>
                <a:schemeClr val="accent1"/>
              </a:buClr>
              <a:buFont typeface="+mj-lt"/>
              <a:buAutoNum type="arabicPeriod"/>
            </a:pPr>
            <a:r>
              <a:rPr lang="en-US" sz="800" noProof="0" dirty="0"/>
              <a:t>Click </a:t>
            </a:r>
            <a:r>
              <a:rPr lang="en-US" sz="800" i="1" noProof="0" dirty="0"/>
              <a:t>Apply to All</a:t>
            </a:r>
            <a:r>
              <a:rPr lang="en-US" sz="800" noProof="0" dirty="0"/>
              <a:t>.</a:t>
            </a:r>
          </a:p>
        </p:txBody>
      </p:sp>
      <p:pic>
        <p:nvPicPr>
          <p:cNvPr id="32" name="Bildobjekt 31" descr="En bild som visar moln, utomhus, himmel, byggnad&#10;&#10;Automatiskt genererad beskrivning">
            <a:extLst>
              <a:ext uri="{FF2B5EF4-FFF2-40B4-BE49-F238E27FC236}">
                <a16:creationId xmlns:a16="http://schemas.microsoft.com/office/drawing/2014/main" id="{94D13EAB-F856-BC62-1623-0235CE917A48}"/>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8066200" y="4318565"/>
            <a:ext cx="1493231" cy="1981989"/>
          </a:xfrm>
          <a:prstGeom prst="rect">
            <a:avLst/>
          </a:prstGeom>
        </p:spPr>
      </p:pic>
      <p:pic>
        <p:nvPicPr>
          <p:cNvPr id="34" name="Picture 4" descr="Microsoft PowerPoint 365 Overview and Supported File Types">
            <a:extLst>
              <a:ext uri="{FF2B5EF4-FFF2-40B4-BE49-F238E27FC236}">
                <a16:creationId xmlns:a16="http://schemas.microsoft.com/office/drawing/2014/main" id="{6B95C2D0-3101-BE06-9875-AF2510CF817D}"/>
              </a:ext>
            </a:extLst>
          </p:cNvPr>
          <p:cNvPicPr>
            <a:picLocks noChangeAspect="1" noChangeArrowheads="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721644" y="2028884"/>
            <a:ext cx="208587" cy="33433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4" descr="Microsoft PowerPoint 365 Overview and Supported File Types">
            <a:extLst>
              <a:ext uri="{FF2B5EF4-FFF2-40B4-BE49-F238E27FC236}">
                <a16:creationId xmlns:a16="http://schemas.microsoft.com/office/drawing/2014/main" id="{D259F975-3B73-BC3A-B353-F3B57056CAFE}"/>
              </a:ext>
            </a:extLst>
          </p:cNvPr>
          <p:cNvPicPr>
            <a:picLocks noChangeAspect="1" noChangeArrowheads="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716536" y="3527233"/>
            <a:ext cx="328130" cy="10531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4" descr="Microsoft PowerPoint 365 Overview and Supported File Types">
            <a:extLst>
              <a:ext uri="{FF2B5EF4-FFF2-40B4-BE49-F238E27FC236}">
                <a16:creationId xmlns:a16="http://schemas.microsoft.com/office/drawing/2014/main" id="{C0490137-5992-062D-6D6B-7856F08EDE8C}"/>
              </a:ext>
            </a:extLst>
          </p:cNvPr>
          <p:cNvPicPr>
            <a:picLocks noChangeAspect="1" noChangeArrowheads="1"/>
          </p:cNvPicPr>
          <p:nvPr userDrawn="1"/>
        </p:nvPicPr>
        <p:blipFill rotWithShape="1">
          <a:blip r:embed="rId7" cstate="print">
            <a:extLst>
              <a:ext uri="{28A0092B-C50C-407E-A947-70E740481C1C}">
                <a14:useLocalDpi xmlns:a14="http://schemas.microsoft.com/office/drawing/2010/main"/>
              </a:ext>
            </a:extLst>
          </a:blip>
          <a:srcRect/>
          <a:stretch/>
        </p:blipFill>
        <p:spPr bwMode="auto">
          <a:xfrm>
            <a:off x="716536" y="4708556"/>
            <a:ext cx="256300" cy="10531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eader and Footer on slides - Microsoft PowerPoint 365">
            <a:extLst>
              <a:ext uri="{FF2B5EF4-FFF2-40B4-BE49-F238E27FC236}">
                <a16:creationId xmlns:a16="http://schemas.microsoft.com/office/drawing/2014/main" id="{514F44FF-F14B-3D48-E9D1-E7E8BB20F671}"/>
              </a:ext>
            </a:extLst>
          </p:cNvPr>
          <p:cNvPicPr>
            <a:picLocks noChangeAspect="1" noChangeArrowheads="1"/>
          </p:cNvPicPr>
          <p:nvPr userDrawn="1"/>
        </p:nvPicPr>
        <p:blipFill>
          <a:blip r:embed="rId8" cstate="print">
            <a:extLst>
              <a:ext uri="{28A0092B-C50C-407E-A947-70E740481C1C}">
                <a14:useLocalDpi xmlns:a14="http://schemas.microsoft.com/office/drawing/2010/main"/>
              </a:ext>
            </a:extLst>
          </a:blip>
          <a:srcRect/>
          <a:stretch>
            <a:fillRect/>
          </a:stretch>
        </p:blipFill>
        <p:spPr bwMode="auto">
          <a:xfrm>
            <a:off x="6062042" y="4075714"/>
            <a:ext cx="1493231" cy="1103568"/>
          </a:xfrm>
          <a:prstGeom prst="rect">
            <a:avLst/>
          </a:prstGeom>
          <a:noFill/>
          <a:extLst>
            <a:ext uri="{909E8E84-426E-40DD-AFC4-6F175D3DCCD1}">
              <a14:hiddenFill xmlns:a14="http://schemas.microsoft.com/office/drawing/2010/main">
                <a:solidFill>
                  <a:srgbClr val="FFFFFF"/>
                </a:solidFill>
              </a14:hiddenFill>
            </a:ext>
          </a:extLst>
        </p:spPr>
      </p:pic>
      <p:grpSp>
        <p:nvGrpSpPr>
          <p:cNvPr id="1125" name="Grupp 1124">
            <a:extLst>
              <a:ext uri="{FF2B5EF4-FFF2-40B4-BE49-F238E27FC236}">
                <a16:creationId xmlns:a16="http://schemas.microsoft.com/office/drawing/2014/main" id="{918579BF-BDEF-7B25-9DCA-62CC6D39793B}"/>
              </a:ext>
            </a:extLst>
          </p:cNvPr>
          <p:cNvGrpSpPr/>
          <p:nvPr userDrawn="1"/>
        </p:nvGrpSpPr>
        <p:grpSpPr>
          <a:xfrm>
            <a:off x="6063783" y="2031850"/>
            <a:ext cx="800155" cy="1688467"/>
            <a:chOff x="6063783" y="2031850"/>
            <a:chExt cx="1800691" cy="3799773"/>
          </a:xfrm>
        </p:grpSpPr>
        <p:pic>
          <p:nvPicPr>
            <p:cNvPr id="1030" name="Picture 6" descr="Hacking PowerPoint to create custom colors | BrightCarbon">
              <a:extLst>
                <a:ext uri="{FF2B5EF4-FFF2-40B4-BE49-F238E27FC236}">
                  <a16:creationId xmlns:a16="http://schemas.microsoft.com/office/drawing/2014/main" id="{1E944A0E-9B5A-F599-847C-0737479E7BC1}"/>
                </a:ext>
              </a:extLst>
            </p:cNvPr>
            <p:cNvPicPr>
              <a:picLocks noChangeAspect="1" noChangeArrowheads="1"/>
            </p:cNvPicPr>
            <p:nvPr userDrawn="1"/>
          </p:nvPicPr>
          <p:blipFill rotWithShape="1">
            <a:blip r:embed="rId9" cstate="print">
              <a:extLst>
                <a:ext uri="{28A0092B-C50C-407E-A947-70E740481C1C}">
                  <a14:useLocalDpi xmlns:a14="http://schemas.microsoft.com/office/drawing/2010/main"/>
                </a:ext>
              </a:extLst>
            </a:blip>
            <a:srcRect l="36641" r="36664"/>
            <a:stretch/>
          </p:blipFill>
          <p:spPr bwMode="auto">
            <a:xfrm>
              <a:off x="6063783" y="2031850"/>
              <a:ext cx="1800691" cy="3799773"/>
            </a:xfrm>
            <a:prstGeom prst="rect">
              <a:avLst/>
            </a:prstGeom>
            <a:noFill/>
            <a:extLst>
              <a:ext uri="{909E8E84-426E-40DD-AFC4-6F175D3DCCD1}">
                <a14:hiddenFill xmlns:a14="http://schemas.microsoft.com/office/drawing/2010/main">
                  <a:solidFill>
                    <a:srgbClr val="FFFFFF"/>
                  </a:solidFill>
                </a14:hiddenFill>
              </a:ext>
            </a:extLst>
          </p:spPr>
        </p:pic>
        <p:sp>
          <p:nvSpPr>
            <p:cNvPr id="1123" name="Rektangel 1122">
              <a:extLst>
                <a:ext uri="{FF2B5EF4-FFF2-40B4-BE49-F238E27FC236}">
                  <a16:creationId xmlns:a16="http://schemas.microsoft.com/office/drawing/2014/main" id="{1ED61660-0DB3-CEA4-C27E-195D3290C063}"/>
                </a:ext>
              </a:extLst>
            </p:cNvPr>
            <p:cNvSpPr/>
            <p:nvPr userDrawn="1"/>
          </p:nvSpPr>
          <p:spPr>
            <a:xfrm>
              <a:off x="6095206" y="3789106"/>
              <a:ext cx="1743870" cy="7370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4" name="Rektangel 1123">
              <a:extLst>
                <a:ext uri="{FF2B5EF4-FFF2-40B4-BE49-F238E27FC236}">
                  <a16:creationId xmlns:a16="http://schemas.microsoft.com/office/drawing/2014/main" id="{97E61731-FF1C-C73E-9B81-82B5C53D7931}"/>
                </a:ext>
              </a:extLst>
            </p:cNvPr>
            <p:cNvSpPr/>
            <p:nvPr userDrawn="1"/>
          </p:nvSpPr>
          <p:spPr>
            <a:xfrm>
              <a:off x="6451542" y="2363219"/>
              <a:ext cx="1378008" cy="9832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9" name="Rektangel 18">
              <a:extLst>
                <a:ext uri="{FF2B5EF4-FFF2-40B4-BE49-F238E27FC236}">
                  <a16:creationId xmlns:a16="http://schemas.microsoft.com/office/drawing/2014/main" id="{71A7971D-8FD8-6FAF-FBCA-543DAC638849}"/>
                </a:ext>
              </a:extLst>
            </p:cNvPr>
            <p:cNvSpPr/>
            <p:nvPr userDrawn="1"/>
          </p:nvSpPr>
          <p:spPr>
            <a:xfrm>
              <a:off x="6637090" y="2388295"/>
              <a:ext cx="126305" cy="12630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0" name="Rektangel 19">
              <a:extLst>
                <a:ext uri="{FF2B5EF4-FFF2-40B4-BE49-F238E27FC236}">
                  <a16:creationId xmlns:a16="http://schemas.microsoft.com/office/drawing/2014/main" id="{C9DDD11C-85E2-44BE-6A91-D72279994B26}"/>
                </a:ext>
              </a:extLst>
            </p:cNvPr>
            <p:cNvSpPr/>
            <p:nvPr userDrawn="1"/>
          </p:nvSpPr>
          <p:spPr>
            <a:xfrm>
              <a:off x="6812622" y="2388295"/>
              <a:ext cx="126305" cy="12630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2" name="Rektangel 21">
              <a:extLst>
                <a:ext uri="{FF2B5EF4-FFF2-40B4-BE49-F238E27FC236}">
                  <a16:creationId xmlns:a16="http://schemas.microsoft.com/office/drawing/2014/main" id="{A5F72BB2-8D37-F99C-624D-D6B83AEDB706}"/>
                </a:ext>
              </a:extLst>
            </p:cNvPr>
            <p:cNvSpPr/>
            <p:nvPr userDrawn="1"/>
          </p:nvSpPr>
          <p:spPr>
            <a:xfrm>
              <a:off x="6988154" y="23882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5" name="Rektangel 24">
              <a:extLst>
                <a:ext uri="{FF2B5EF4-FFF2-40B4-BE49-F238E27FC236}">
                  <a16:creationId xmlns:a16="http://schemas.microsoft.com/office/drawing/2014/main" id="{84DFF5F4-D1BE-880D-87D8-99BD8D5986B4}"/>
                </a:ext>
              </a:extLst>
            </p:cNvPr>
            <p:cNvSpPr/>
            <p:nvPr userDrawn="1"/>
          </p:nvSpPr>
          <p:spPr>
            <a:xfrm>
              <a:off x="7163686" y="23882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6" name="Rektangel 25">
              <a:extLst>
                <a:ext uri="{FF2B5EF4-FFF2-40B4-BE49-F238E27FC236}">
                  <a16:creationId xmlns:a16="http://schemas.microsoft.com/office/drawing/2014/main" id="{57799422-9E37-147F-C5EF-BD69600A0259}"/>
                </a:ext>
              </a:extLst>
            </p:cNvPr>
            <p:cNvSpPr/>
            <p:nvPr userDrawn="1"/>
          </p:nvSpPr>
          <p:spPr>
            <a:xfrm>
              <a:off x="7339218" y="23882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7" name="Rektangel 26">
              <a:extLst>
                <a:ext uri="{FF2B5EF4-FFF2-40B4-BE49-F238E27FC236}">
                  <a16:creationId xmlns:a16="http://schemas.microsoft.com/office/drawing/2014/main" id="{CF0BD3BD-CA59-5181-6A7D-85BA481CF469}"/>
                </a:ext>
              </a:extLst>
            </p:cNvPr>
            <p:cNvSpPr/>
            <p:nvPr userDrawn="1"/>
          </p:nvSpPr>
          <p:spPr>
            <a:xfrm>
              <a:off x="7514750" y="2388295"/>
              <a:ext cx="126305" cy="12630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8" name="Rektangel 27">
              <a:extLst>
                <a:ext uri="{FF2B5EF4-FFF2-40B4-BE49-F238E27FC236}">
                  <a16:creationId xmlns:a16="http://schemas.microsoft.com/office/drawing/2014/main" id="{AD483FB7-DFED-6269-FDB3-DA99BF8F1738}"/>
                </a:ext>
              </a:extLst>
            </p:cNvPr>
            <p:cNvSpPr/>
            <p:nvPr userDrawn="1"/>
          </p:nvSpPr>
          <p:spPr>
            <a:xfrm>
              <a:off x="7690282" y="23882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31" name="Rektangel 30">
              <a:extLst>
                <a:ext uri="{FF2B5EF4-FFF2-40B4-BE49-F238E27FC236}">
                  <a16:creationId xmlns:a16="http://schemas.microsoft.com/office/drawing/2014/main" id="{53C50CD2-78C6-259C-97BD-526C014CEC81}"/>
                </a:ext>
              </a:extLst>
            </p:cNvPr>
            <p:cNvSpPr/>
            <p:nvPr userDrawn="1"/>
          </p:nvSpPr>
          <p:spPr>
            <a:xfrm>
              <a:off x="6637090" y="2661345"/>
              <a:ext cx="126305" cy="13209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7" name="Rektangel 46">
              <a:extLst>
                <a:ext uri="{FF2B5EF4-FFF2-40B4-BE49-F238E27FC236}">
                  <a16:creationId xmlns:a16="http://schemas.microsoft.com/office/drawing/2014/main" id="{8C1EA23D-35AA-C628-1834-7EC9974FAFA4}"/>
                </a:ext>
              </a:extLst>
            </p:cNvPr>
            <p:cNvSpPr/>
            <p:nvPr userDrawn="1"/>
          </p:nvSpPr>
          <p:spPr>
            <a:xfrm>
              <a:off x="6637090" y="2794041"/>
              <a:ext cx="126305" cy="132095"/>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55" name="Rektangel 54">
              <a:extLst>
                <a:ext uri="{FF2B5EF4-FFF2-40B4-BE49-F238E27FC236}">
                  <a16:creationId xmlns:a16="http://schemas.microsoft.com/office/drawing/2014/main" id="{583F96BE-E130-3FDD-576F-874BDC4A6C90}"/>
                </a:ext>
              </a:extLst>
            </p:cNvPr>
            <p:cNvSpPr/>
            <p:nvPr userDrawn="1"/>
          </p:nvSpPr>
          <p:spPr>
            <a:xfrm>
              <a:off x="6637090" y="2926737"/>
              <a:ext cx="126305" cy="132095"/>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63" name="Rektangel 62">
              <a:extLst>
                <a:ext uri="{FF2B5EF4-FFF2-40B4-BE49-F238E27FC236}">
                  <a16:creationId xmlns:a16="http://schemas.microsoft.com/office/drawing/2014/main" id="{33F1335E-E254-7491-5F15-30754BBD151E}"/>
                </a:ext>
              </a:extLst>
            </p:cNvPr>
            <p:cNvSpPr/>
            <p:nvPr userDrawn="1"/>
          </p:nvSpPr>
          <p:spPr>
            <a:xfrm>
              <a:off x="6637090" y="3059433"/>
              <a:ext cx="126305" cy="132095"/>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33" name="Rektangel 1032">
              <a:extLst>
                <a:ext uri="{FF2B5EF4-FFF2-40B4-BE49-F238E27FC236}">
                  <a16:creationId xmlns:a16="http://schemas.microsoft.com/office/drawing/2014/main" id="{B691ED7D-5446-C50C-8BC0-D7AB6D614765}"/>
                </a:ext>
              </a:extLst>
            </p:cNvPr>
            <p:cNvSpPr/>
            <p:nvPr userDrawn="1"/>
          </p:nvSpPr>
          <p:spPr>
            <a:xfrm>
              <a:off x="6637090" y="3192130"/>
              <a:ext cx="126305" cy="132095"/>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2" name="Rektangel 1041">
              <a:extLst>
                <a:ext uri="{FF2B5EF4-FFF2-40B4-BE49-F238E27FC236}">
                  <a16:creationId xmlns:a16="http://schemas.microsoft.com/office/drawing/2014/main" id="{7F5FD652-25CD-24B4-271B-3CFC6E465C27}"/>
                </a:ext>
              </a:extLst>
            </p:cNvPr>
            <p:cNvSpPr/>
            <p:nvPr userDrawn="1"/>
          </p:nvSpPr>
          <p:spPr>
            <a:xfrm>
              <a:off x="6812622" y="2661345"/>
              <a:ext cx="126305" cy="13209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3" name="Rektangel 1042">
              <a:extLst>
                <a:ext uri="{FF2B5EF4-FFF2-40B4-BE49-F238E27FC236}">
                  <a16:creationId xmlns:a16="http://schemas.microsoft.com/office/drawing/2014/main" id="{46276B80-6A92-8513-3337-2E24980A3660}"/>
                </a:ext>
              </a:extLst>
            </p:cNvPr>
            <p:cNvSpPr/>
            <p:nvPr userDrawn="1"/>
          </p:nvSpPr>
          <p:spPr>
            <a:xfrm>
              <a:off x="6812622" y="2794041"/>
              <a:ext cx="126305" cy="13209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4" name="Rektangel 1043">
              <a:extLst>
                <a:ext uri="{FF2B5EF4-FFF2-40B4-BE49-F238E27FC236}">
                  <a16:creationId xmlns:a16="http://schemas.microsoft.com/office/drawing/2014/main" id="{DF08EB8B-05A1-5D1E-3453-E35F156EA44C}"/>
                </a:ext>
              </a:extLst>
            </p:cNvPr>
            <p:cNvSpPr/>
            <p:nvPr userDrawn="1"/>
          </p:nvSpPr>
          <p:spPr>
            <a:xfrm>
              <a:off x="6812622" y="2926737"/>
              <a:ext cx="126305" cy="13209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5" name="Rektangel 1044">
              <a:extLst>
                <a:ext uri="{FF2B5EF4-FFF2-40B4-BE49-F238E27FC236}">
                  <a16:creationId xmlns:a16="http://schemas.microsoft.com/office/drawing/2014/main" id="{73BCDEB0-F256-9D9A-1735-36C73E5A4254}"/>
                </a:ext>
              </a:extLst>
            </p:cNvPr>
            <p:cNvSpPr/>
            <p:nvPr userDrawn="1"/>
          </p:nvSpPr>
          <p:spPr>
            <a:xfrm>
              <a:off x="6812622" y="3059433"/>
              <a:ext cx="126305" cy="132095"/>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6" name="Rektangel 1045">
              <a:extLst>
                <a:ext uri="{FF2B5EF4-FFF2-40B4-BE49-F238E27FC236}">
                  <a16:creationId xmlns:a16="http://schemas.microsoft.com/office/drawing/2014/main" id="{8FB9E9DD-EB3E-746C-2937-90EBE84B3B2A}"/>
                </a:ext>
              </a:extLst>
            </p:cNvPr>
            <p:cNvSpPr/>
            <p:nvPr userDrawn="1"/>
          </p:nvSpPr>
          <p:spPr>
            <a:xfrm>
              <a:off x="6812622" y="3192130"/>
              <a:ext cx="126305" cy="13209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7" name="Rektangel 1046">
              <a:extLst>
                <a:ext uri="{FF2B5EF4-FFF2-40B4-BE49-F238E27FC236}">
                  <a16:creationId xmlns:a16="http://schemas.microsoft.com/office/drawing/2014/main" id="{BF36CC62-D665-E681-0504-9607980B29D1}"/>
                </a:ext>
              </a:extLst>
            </p:cNvPr>
            <p:cNvSpPr/>
            <p:nvPr userDrawn="1"/>
          </p:nvSpPr>
          <p:spPr>
            <a:xfrm>
              <a:off x="6988154" y="2661345"/>
              <a:ext cx="126305" cy="132095"/>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8" name="Rektangel 1047">
              <a:extLst>
                <a:ext uri="{FF2B5EF4-FFF2-40B4-BE49-F238E27FC236}">
                  <a16:creationId xmlns:a16="http://schemas.microsoft.com/office/drawing/2014/main" id="{2ED8E59C-4621-6900-D5FB-392B5F63EB15}"/>
                </a:ext>
              </a:extLst>
            </p:cNvPr>
            <p:cNvSpPr/>
            <p:nvPr userDrawn="1"/>
          </p:nvSpPr>
          <p:spPr>
            <a:xfrm>
              <a:off x="6988154" y="2794041"/>
              <a:ext cx="126305" cy="13209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9" name="Rektangel 1048">
              <a:extLst>
                <a:ext uri="{FF2B5EF4-FFF2-40B4-BE49-F238E27FC236}">
                  <a16:creationId xmlns:a16="http://schemas.microsoft.com/office/drawing/2014/main" id="{1D1DFB72-8F94-C092-AB42-28E3BBF12D65}"/>
                </a:ext>
              </a:extLst>
            </p:cNvPr>
            <p:cNvSpPr/>
            <p:nvPr userDrawn="1"/>
          </p:nvSpPr>
          <p:spPr>
            <a:xfrm>
              <a:off x="6988154" y="2926737"/>
              <a:ext cx="126305" cy="132095"/>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0" name="Rektangel 1049">
              <a:extLst>
                <a:ext uri="{FF2B5EF4-FFF2-40B4-BE49-F238E27FC236}">
                  <a16:creationId xmlns:a16="http://schemas.microsoft.com/office/drawing/2014/main" id="{9B388C52-8786-0F82-B433-3A79F1A4541A}"/>
                </a:ext>
              </a:extLst>
            </p:cNvPr>
            <p:cNvSpPr/>
            <p:nvPr userDrawn="1"/>
          </p:nvSpPr>
          <p:spPr>
            <a:xfrm>
              <a:off x="6988154" y="3059433"/>
              <a:ext cx="126305" cy="132095"/>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1" name="Rektangel 1050">
              <a:extLst>
                <a:ext uri="{FF2B5EF4-FFF2-40B4-BE49-F238E27FC236}">
                  <a16:creationId xmlns:a16="http://schemas.microsoft.com/office/drawing/2014/main" id="{D4A998FA-E595-5120-1049-A3CC1C33E72E}"/>
                </a:ext>
              </a:extLst>
            </p:cNvPr>
            <p:cNvSpPr/>
            <p:nvPr userDrawn="1"/>
          </p:nvSpPr>
          <p:spPr>
            <a:xfrm>
              <a:off x="6988154" y="3192130"/>
              <a:ext cx="126305" cy="132095"/>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2" name="Rektangel 1051">
              <a:extLst>
                <a:ext uri="{FF2B5EF4-FFF2-40B4-BE49-F238E27FC236}">
                  <a16:creationId xmlns:a16="http://schemas.microsoft.com/office/drawing/2014/main" id="{C8E27C97-6977-891F-B3C0-4CDE580AF57D}"/>
                </a:ext>
              </a:extLst>
            </p:cNvPr>
            <p:cNvSpPr/>
            <p:nvPr userDrawn="1"/>
          </p:nvSpPr>
          <p:spPr>
            <a:xfrm>
              <a:off x="7163686" y="2661345"/>
              <a:ext cx="126305" cy="132095"/>
            </a:xfrm>
            <a:prstGeom prst="rect">
              <a:avLst/>
            </a:prstGeom>
            <a:solidFill>
              <a:schemeClr val="accent3">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3" name="Rektangel 1052">
              <a:extLst>
                <a:ext uri="{FF2B5EF4-FFF2-40B4-BE49-F238E27FC236}">
                  <a16:creationId xmlns:a16="http://schemas.microsoft.com/office/drawing/2014/main" id="{19FB03B5-BA18-74B7-9DEB-889CA8566539}"/>
                </a:ext>
              </a:extLst>
            </p:cNvPr>
            <p:cNvSpPr/>
            <p:nvPr userDrawn="1"/>
          </p:nvSpPr>
          <p:spPr>
            <a:xfrm>
              <a:off x="7163686" y="2794041"/>
              <a:ext cx="126305" cy="132095"/>
            </a:xfrm>
            <a:prstGeom prst="rect">
              <a:avLst/>
            </a:prstGeom>
            <a:solidFill>
              <a:schemeClr val="accent3">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4" name="Rektangel 1053">
              <a:extLst>
                <a:ext uri="{FF2B5EF4-FFF2-40B4-BE49-F238E27FC236}">
                  <a16:creationId xmlns:a16="http://schemas.microsoft.com/office/drawing/2014/main" id="{57CEB0A0-35F5-997A-61EB-3E655B67D34B}"/>
                </a:ext>
              </a:extLst>
            </p:cNvPr>
            <p:cNvSpPr/>
            <p:nvPr userDrawn="1"/>
          </p:nvSpPr>
          <p:spPr>
            <a:xfrm>
              <a:off x="7163686" y="2926737"/>
              <a:ext cx="126305" cy="132095"/>
            </a:xfrm>
            <a:prstGeom prst="rect">
              <a:avLst/>
            </a:prstGeom>
            <a:solidFill>
              <a:schemeClr val="accent3">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5" name="Rektangel 1054">
              <a:extLst>
                <a:ext uri="{FF2B5EF4-FFF2-40B4-BE49-F238E27FC236}">
                  <a16:creationId xmlns:a16="http://schemas.microsoft.com/office/drawing/2014/main" id="{187C5504-CF38-10EF-6656-9D373F47022B}"/>
                </a:ext>
              </a:extLst>
            </p:cNvPr>
            <p:cNvSpPr/>
            <p:nvPr userDrawn="1"/>
          </p:nvSpPr>
          <p:spPr>
            <a:xfrm>
              <a:off x="7163686" y="3059433"/>
              <a:ext cx="126305" cy="132095"/>
            </a:xfrm>
            <a:prstGeom prst="rect">
              <a:avLst/>
            </a:prstGeom>
            <a:solidFill>
              <a:schemeClr val="accent3">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6" name="Rektangel 1055">
              <a:extLst>
                <a:ext uri="{FF2B5EF4-FFF2-40B4-BE49-F238E27FC236}">
                  <a16:creationId xmlns:a16="http://schemas.microsoft.com/office/drawing/2014/main" id="{00ECB6FD-B078-6ED8-3BF0-E6FFFB4125FF}"/>
                </a:ext>
              </a:extLst>
            </p:cNvPr>
            <p:cNvSpPr/>
            <p:nvPr userDrawn="1"/>
          </p:nvSpPr>
          <p:spPr>
            <a:xfrm>
              <a:off x="7163686" y="3192130"/>
              <a:ext cx="126305" cy="132095"/>
            </a:xfrm>
            <a:prstGeom prst="rect">
              <a:avLst/>
            </a:prstGeom>
            <a:solidFill>
              <a:schemeClr val="accent3">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7" name="Rektangel 1056">
              <a:extLst>
                <a:ext uri="{FF2B5EF4-FFF2-40B4-BE49-F238E27FC236}">
                  <a16:creationId xmlns:a16="http://schemas.microsoft.com/office/drawing/2014/main" id="{2A81D134-CDD5-3A11-68DD-9A7DA325C5E2}"/>
                </a:ext>
              </a:extLst>
            </p:cNvPr>
            <p:cNvSpPr/>
            <p:nvPr userDrawn="1"/>
          </p:nvSpPr>
          <p:spPr>
            <a:xfrm>
              <a:off x="7339331" y="2661345"/>
              <a:ext cx="126305" cy="132095"/>
            </a:xfrm>
            <a:prstGeom prst="rect">
              <a:avLst/>
            </a:prstGeom>
            <a:solidFill>
              <a:schemeClr val="accent4">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8" name="Rektangel 1057">
              <a:extLst>
                <a:ext uri="{FF2B5EF4-FFF2-40B4-BE49-F238E27FC236}">
                  <a16:creationId xmlns:a16="http://schemas.microsoft.com/office/drawing/2014/main" id="{A3E6B7BF-B8DF-4895-BFF7-E48F3EA56C3C}"/>
                </a:ext>
              </a:extLst>
            </p:cNvPr>
            <p:cNvSpPr/>
            <p:nvPr userDrawn="1"/>
          </p:nvSpPr>
          <p:spPr>
            <a:xfrm>
              <a:off x="7339331" y="2794041"/>
              <a:ext cx="126305" cy="132095"/>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9" name="Rektangel 1058">
              <a:extLst>
                <a:ext uri="{FF2B5EF4-FFF2-40B4-BE49-F238E27FC236}">
                  <a16:creationId xmlns:a16="http://schemas.microsoft.com/office/drawing/2014/main" id="{C9880F48-FE6A-D652-5F55-4BD96B03F4E4}"/>
                </a:ext>
              </a:extLst>
            </p:cNvPr>
            <p:cNvSpPr/>
            <p:nvPr userDrawn="1"/>
          </p:nvSpPr>
          <p:spPr>
            <a:xfrm>
              <a:off x="7339331" y="2926737"/>
              <a:ext cx="126305" cy="132095"/>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0" name="Rektangel 1059">
              <a:extLst>
                <a:ext uri="{FF2B5EF4-FFF2-40B4-BE49-F238E27FC236}">
                  <a16:creationId xmlns:a16="http://schemas.microsoft.com/office/drawing/2014/main" id="{3D6EF6E0-55EF-D427-7BD3-3F9C9599C746}"/>
                </a:ext>
              </a:extLst>
            </p:cNvPr>
            <p:cNvSpPr/>
            <p:nvPr userDrawn="1"/>
          </p:nvSpPr>
          <p:spPr>
            <a:xfrm>
              <a:off x="7339331" y="3059433"/>
              <a:ext cx="126305" cy="132095"/>
            </a:xfrm>
            <a:prstGeom prst="rect">
              <a:avLst/>
            </a:prstGeom>
            <a:solidFill>
              <a:schemeClr val="accent4">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1" name="Rektangel 1060">
              <a:extLst>
                <a:ext uri="{FF2B5EF4-FFF2-40B4-BE49-F238E27FC236}">
                  <a16:creationId xmlns:a16="http://schemas.microsoft.com/office/drawing/2014/main" id="{BB5DD28F-1631-1EC1-63A2-5C34A28B0C19}"/>
                </a:ext>
              </a:extLst>
            </p:cNvPr>
            <p:cNvSpPr/>
            <p:nvPr userDrawn="1"/>
          </p:nvSpPr>
          <p:spPr>
            <a:xfrm>
              <a:off x="7339331" y="3192130"/>
              <a:ext cx="126305" cy="132095"/>
            </a:xfrm>
            <a:prstGeom prst="rect">
              <a:avLst/>
            </a:prstGeom>
            <a:solidFill>
              <a:schemeClr val="accent4">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2" name="Rektangel 1061">
              <a:extLst>
                <a:ext uri="{FF2B5EF4-FFF2-40B4-BE49-F238E27FC236}">
                  <a16:creationId xmlns:a16="http://schemas.microsoft.com/office/drawing/2014/main" id="{C2846DE4-F371-1BF5-4167-59B95320B756}"/>
                </a:ext>
              </a:extLst>
            </p:cNvPr>
            <p:cNvSpPr/>
            <p:nvPr userDrawn="1"/>
          </p:nvSpPr>
          <p:spPr>
            <a:xfrm>
              <a:off x="7513832" y="2661345"/>
              <a:ext cx="126305" cy="132095"/>
            </a:xfrm>
            <a:prstGeom prst="rect">
              <a:avLst/>
            </a:prstGeom>
            <a:solidFill>
              <a:schemeClr val="accent5">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3" name="Rektangel 1062">
              <a:extLst>
                <a:ext uri="{FF2B5EF4-FFF2-40B4-BE49-F238E27FC236}">
                  <a16:creationId xmlns:a16="http://schemas.microsoft.com/office/drawing/2014/main" id="{D1FCE270-22E9-6108-5292-0A2E890C7042}"/>
                </a:ext>
              </a:extLst>
            </p:cNvPr>
            <p:cNvSpPr/>
            <p:nvPr userDrawn="1"/>
          </p:nvSpPr>
          <p:spPr>
            <a:xfrm>
              <a:off x="7513832" y="2794041"/>
              <a:ext cx="126305" cy="132095"/>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4" name="Rektangel 1063">
              <a:extLst>
                <a:ext uri="{FF2B5EF4-FFF2-40B4-BE49-F238E27FC236}">
                  <a16:creationId xmlns:a16="http://schemas.microsoft.com/office/drawing/2014/main" id="{E0AB0C3D-3E2C-BA8B-F8FF-D1BAE2FD78AB}"/>
                </a:ext>
              </a:extLst>
            </p:cNvPr>
            <p:cNvSpPr/>
            <p:nvPr userDrawn="1"/>
          </p:nvSpPr>
          <p:spPr>
            <a:xfrm>
              <a:off x="7513832" y="2926737"/>
              <a:ext cx="126305" cy="132095"/>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5" name="Rektangel 1064">
              <a:extLst>
                <a:ext uri="{FF2B5EF4-FFF2-40B4-BE49-F238E27FC236}">
                  <a16:creationId xmlns:a16="http://schemas.microsoft.com/office/drawing/2014/main" id="{A5B9B835-C0B3-CE1F-0F4F-E77B314EE265}"/>
                </a:ext>
              </a:extLst>
            </p:cNvPr>
            <p:cNvSpPr/>
            <p:nvPr userDrawn="1"/>
          </p:nvSpPr>
          <p:spPr>
            <a:xfrm>
              <a:off x="7513832" y="3059433"/>
              <a:ext cx="126305" cy="132095"/>
            </a:xfrm>
            <a:prstGeom prst="rect">
              <a:avLst/>
            </a:prstGeom>
            <a:solidFill>
              <a:schemeClr val="accent5">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6" name="Rektangel 1065">
              <a:extLst>
                <a:ext uri="{FF2B5EF4-FFF2-40B4-BE49-F238E27FC236}">
                  <a16:creationId xmlns:a16="http://schemas.microsoft.com/office/drawing/2014/main" id="{B6F46CE6-CCAF-9D3F-1627-61487FF99D45}"/>
                </a:ext>
              </a:extLst>
            </p:cNvPr>
            <p:cNvSpPr/>
            <p:nvPr userDrawn="1"/>
          </p:nvSpPr>
          <p:spPr>
            <a:xfrm>
              <a:off x="7513832" y="3192130"/>
              <a:ext cx="126305" cy="132095"/>
            </a:xfrm>
            <a:prstGeom prst="rect">
              <a:avLst/>
            </a:prstGeom>
            <a:solidFill>
              <a:schemeClr val="accent5">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7" name="Rektangel 1066">
              <a:extLst>
                <a:ext uri="{FF2B5EF4-FFF2-40B4-BE49-F238E27FC236}">
                  <a16:creationId xmlns:a16="http://schemas.microsoft.com/office/drawing/2014/main" id="{B0D96E62-E6D5-5382-108B-2D8B21B1C7C0}"/>
                </a:ext>
              </a:extLst>
            </p:cNvPr>
            <p:cNvSpPr/>
            <p:nvPr userDrawn="1"/>
          </p:nvSpPr>
          <p:spPr>
            <a:xfrm>
              <a:off x="7690674" y="2661345"/>
              <a:ext cx="126305" cy="132095"/>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8" name="Rektangel 1067">
              <a:extLst>
                <a:ext uri="{FF2B5EF4-FFF2-40B4-BE49-F238E27FC236}">
                  <a16:creationId xmlns:a16="http://schemas.microsoft.com/office/drawing/2014/main" id="{589AC037-F773-58BF-FA0E-B29A0BAE94D6}"/>
                </a:ext>
              </a:extLst>
            </p:cNvPr>
            <p:cNvSpPr/>
            <p:nvPr userDrawn="1"/>
          </p:nvSpPr>
          <p:spPr>
            <a:xfrm>
              <a:off x="7690674" y="2794041"/>
              <a:ext cx="126305" cy="132095"/>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9" name="Rektangel 1068">
              <a:extLst>
                <a:ext uri="{FF2B5EF4-FFF2-40B4-BE49-F238E27FC236}">
                  <a16:creationId xmlns:a16="http://schemas.microsoft.com/office/drawing/2014/main" id="{07045815-7B67-4A94-7C17-8D64E287040A}"/>
                </a:ext>
              </a:extLst>
            </p:cNvPr>
            <p:cNvSpPr/>
            <p:nvPr userDrawn="1"/>
          </p:nvSpPr>
          <p:spPr>
            <a:xfrm>
              <a:off x="7690674" y="2926737"/>
              <a:ext cx="126305" cy="132095"/>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0" name="Rektangel 1069">
              <a:extLst>
                <a:ext uri="{FF2B5EF4-FFF2-40B4-BE49-F238E27FC236}">
                  <a16:creationId xmlns:a16="http://schemas.microsoft.com/office/drawing/2014/main" id="{D85D7A99-C5CD-38F6-939F-A3EF9E12781C}"/>
                </a:ext>
              </a:extLst>
            </p:cNvPr>
            <p:cNvSpPr/>
            <p:nvPr userDrawn="1"/>
          </p:nvSpPr>
          <p:spPr>
            <a:xfrm>
              <a:off x="7690674" y="3059433"/>
              <a:ext cx="126305" cy="132095"/>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1" name="Rektangel 1070">
              <a:extLst>
                <a:ext uri="{FF2B5EF4-FFF2-40B4-BE49-F238E27FC236}">
                  <a16:creationId xmlns:a16="http://schemas.microsoft.com/office/drawing/2014/main" id="{32FB7A58-1D8F-5665-AC4F-BA2FE1869B27}"/>
                </a:ext>
              </a:extLst>
            </p:cNvPr>
            <p:cNvSpPr/>
            <p:nvPr userDrawn="1"/>
          </p:nvSpPr>
          <p:spPr>
            <a:xfrm>
              <a:off x="7690674" y="3192130"/>
              <a:ext cx="126305" cy="132095"/>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7" name="Rektangel 1076">
              <a:extLst>
                <a:ext uri="{FF2B5EF4-FFF2-40B4-BE49-F238E27FC236}">
                  <a16:creationId xmlns:a16="http://schemas.microsoft.com/office/drawing/2014/main" id="{5F9AF638-6FAD-3C50-00FA-ADD872158CE5}"/>
                </a:ext>
              </a:extLst>
            </p:cNvPr>
            <p:cNvSpPr/>
            <p:nvPr userDrawn="1"/>
          </p:nvSpPr>
          <p:spPr>
            <a:xfrm>
              <a:off x="6464595" y="23882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8" name="Rektangel 1077">
              <a:extLst>
                <a:ext uri="{FF2B5EF4-FFF2-40B4-BE49-F238E27FC236}">
                  <a16:creationId xmlns:a16="http://schemas.microsoft.com/office/drawing/2014/main" id="{C4749DD0-3DD2-A386-7BED-084BA84DBBE6}"/>
                </a:ext>
              </a:extLst>
            </p:cNvPr>
            <p:cNvSpPr/>
            <p:nvPr userDrawn="1"/>
          </p:nvSpPr>
          <p:spPr>
            <a:xfrm>
              <a:off x="6464595" y="2661345"/>
              <a:ext cx="126305" cy="132095"/>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9" name="Rektangel 1078">
              <a:extLst>
                <a:ext uri="{FF2B5EF4-FFF2-40B4-BE49-F238E27FC236}">
                  <a16:creationId xmlns:a16="http://schemas.microsoft.com/office/drawing/2014/main" id="{B4499066-323D-EE08-E5A2-F43B0807892C}"/>
                </a:ext>
              </a:extLst>
            </p:cNvPr>
            <p:cNvSpPr/>
            <p:nvPr userDrawn="1"/>
          </p:nvSpPr>
          <p:spPr>
            <a:xfrm>
              <a:off x="6464595" y="2794041"/>
              <a:ext cx="126305" cy="132095"/>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0" name="Rektangel 1079">
              <a:extLst>
                <a:ext uri="{FF2B5EF4-FFF2-40B4-BE49-F238E27FC236}">
                  <a16:creationId xmlns:a16="http://schemas.microsoft.com/office/drawing/2014/main" id="{1BBF49EA-C637-CAB3-6569-11A2CFD31079}"/>
                </a:ext>
              </a:extLst>
            </p:cNvPr>
            <p:cNvSpPr/>
            <p:nvPr userDrawn="1"/>
          </p:nvSpPr>
          <p:spPr>
            <a:xfrm>
              <a:off x="6464595" y="2926737"/>
              <a:ext cx="126305" cy="132095"/>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1" name="Rektangel 1080">
              <a:extLst>
                <a:ext uri="{FF2B5EF4-FFF2-40B4-BE49-F238E27FC236}">
                  <a16:creationId xmlns:a16="http://schemas.microsoft.com/office/drawing/2014/main" id="{1F27D949-C326-6486-1CD4-2B8AF35ADE78}"/>
                </a:ext>
              </a:extLst>
            </p:cNvPr>
            <p:cNvSpPr/>
            <p:nvPr userDrawn="1"/>
          </p:nvSpPr>
          <p:spPr>
            <a:xfrm>
              <a:off x="6464595" y="3059433"/>
              <a:ext cx="126305" cy="132095"/>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2" name="Rektangel 1081">
              <a:extLst>
                <a:ext uri="{FF2B5EF4-FFF2-40B4-BE49-F238E27FC236}">
                  <a16:creationId xmlns:a16="http://schemas.microsoft.com/office/drawing/2014/main" id="{F216B4A1-3944-F8CE-8C9B-FA88B4D03E26}"/>
                </a:ext>
              </a:extLst>
            </p:cNvPr>
            <p:cNvSpPr/>
            <p:nvPr userDrawn="1"/>
          </p:nvSpPr>
          <p:spPr>
            <a:xfrm>
              <a:off x="6464595" y="3192130"/>
              <a:ext cx="126305" cy="132095"/>
            </a:xfrm>
            <a:prstGeom prst="rect">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3" name="Rektangel 1082">
              <a:extLst>
                <a:ext uri="{FF2B5EF4-FFF2-40B4-BE49-F238E27FC236}">
                  <a16:creationId xmlns:a16="http://schemas.microsoft.com/office/drawing/2014/main" id="{5F4ADBA2-1A1B-A4CA-F30B-B0C82CEC3557}"/>
                </a:ext>
              </a:extLst>
            </p:cNvPr>
            <p:cNvSpPr/>
            <p:nvPr userDrawn="1"/>
          </p:nvSpPr>
          <p:spPr>
            <a:xfrm>
              <a:off x="6108995" y="38106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4" name="Rektangel 1083">
              <a:extLst>
                <a:ext uri="{FF2B5EF4-FFF2-40B4-BE49-F238E27FC236}">
                  <a16:creationId xmlns:a16="http://schemas.microsoft.com/office/drawing/2014/main" id="{374BD5DA-8482-21B6-9413-9B1A45CF76C1}"/>
                </a:ext>
              </a:extLst>
            </p:cNvPr>
            <p:cNvSpPr/>
            <p:nvPr userDrawn="1"/>
          </p:nvSpPr>
          <p:spPr>
            <a:xfrm>
              <a:off x="6108995" y="3986378"/>
              <a:ext cx="126305" cy="126305"/>
            </a:xfrm>
            <a:prstGeom prst="rect">
              <a:avLst/>
            </a:prstGeom>
            <a:solidFill>
              <a:srgbClr val="0D4A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5" name="Rektangel 1084">
              <a:extLst>
                <a:ext uri="{FF2B5EF4-FFF2-40B4-BE49-F238E27FC236}">
                  <a16:creationId xmlns:a16="http://schemas.microsoft.com/office/drawing/2014/main" id="{5F6020BD-6733-E876-2089-C3084AEA1A1C}"/>
                </a:ext>
              </a:extLst>
            </p:cNvPr>
            <p:cNvSpPr/>
            <p:nvPr userDrawn="1"/>
          </p:nvSpPr>
          <p:spPr>
            <a:xfrm>
              <a:off x="6108995" y="4162061"/>
              <a:ext cx="126305" cy="126305"/>
            </a:xfrm>
            <a:prstGeom prst="rect">
              <a:avLst/>
            </a:prstGeom>
            <a:solidFill>
              <a:srgbClr val="4DA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6" name="Rektangel 1085">
              <a:extLst>
                <a:ext uri="{FF2B5EF4-FFF2-40B4-BE49-F238E27FC236}">
                  <a16:creationId xmlns:a16="http://schemas.microsoft.com/office/drawing/2014/main" id="{C4348C5F-5E10-920F-C2FB-889532E2F622}"/>
                </a:ext>
              </a:extLst>
            </p:cNvPr>
            <p:cNvSpPr/>
            <p:nvPr userDrawn="1"/>
          </p:nvSpPr>
          <p:spPr>
            <a:xfrm>
              <a:off x="6108995" y="4337745"/>
              <a:ext cx="126305" cy="126305"/>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7" name="Rektangel 1086">
              <a:extLst>
                <a:ext uri="{FF2B5EF4-FFF2-40B4-BE49-F238E27FC236}">
                  <a16:creationId xmlns:a16="http://schemas.microsoft.com/office/drawing/2014/main" id="{D2D321FD-AE36-8DCA-8744-C0F46B88F58C}"/>
                </a:ext>
              </a:extLst>
            </p:cNvPr>
            <p:cNvSpPr/>
            <p:nvPr userDrawn="1"/>
          </p:nvSpPr>
          <p:spPr>
            <a:xfrm>
              <a:off x="6285031" y="3810695"/>
              <a:ext cx="126305" cy="12630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8" name="Rektangel 1087">
              <a:extLst>
                <a:ext uri="{FF2B5EF4-FFF2-40B4-BE49-F238E27FC236}">
                  <a16:creationId xmlns:a16="http://schemas.microsoft.com/office/drawing/2014/main" id="{A93DF2FE-61D7-AA01-C339-B2ECCF6D103B}"/>
                </a:ext>
              </a:extLst>
            </p:cNvPr>
            <p:cNvSpPr/>
            <p:nvPr userDrawn="1"/>
          </p:nvSpPr>
          <p:spPr>
            <a:xfrm>
              <a:off x="6285031" y="3986378"/>
              <a:ext cx="126305" cy="126305"/>
            </a:xfrm>
            <a:prstGeom prst="rect">
              <a:avLst/>
            </a:prstGeom>
            <a:solidFill>
              <a:srgbClr val="1C43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9" name="Rektangel 1088">
              <a:extLst>
                <a:ext uri="{FF2B5EF4-FFF2-40B4-BE49-F238E27FC236}">
                  <a16:creationId xmlns:a16="http://schemas.microsoft.com/office/drawing/2014/main" id="{89244240-2B76-F8CB-21C9-2B1FA90DD280}"/>
                </a:ext>
              </a:extLst>
            </p:cNvPr>
            <p:cNvSpPr/>
            <p:nvPr userDrawn="1"/>
          </p:nvSpPr>
          <p:spPr>
            <a:xfrm>
              <a:off x="6285031" y="4162061"/>
              <a:ext cx="126305" cy="126305"/>
            </a:xfrm>
            <a:prstGeom prst="rect">
              <a:avLst/>
            </a:prstGeom>
            <a:solidFill>
              <a:srgbClr val="339C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0" name="Rektangel 1089">
              <a:extLst>
                <a:ext uri="{FF2B5EF4-FFF2-40B4-BE49-F238E27FC236}">
                  <a16:creationId xmlns:a16="http://schemas.microsoft.com/office/drawing/2014/main" id="{33D9BE51-B8F2-F451-C1A3-3725C01F9D93}"/>
                </a:ext>
              </a:extLst>
            </p:cNvPr>
            <p:cNvSpPr/>
            <p:nvPr userDrawn="1"/>
          </p:nvSpPr>
          <p:spPr>
            <a:xfrm>
              <a:off x="6285031" y="4337745"/>
              <a:ext cx="126305" cy="126305"/>
            </a:xfrm>
            <a:prstGeom prst="rect">
              <a:avLst/>
            </a:prstGeom>
            <a:solidFill>
              <a:srgbClr val="B2E0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1" name="Rektangel 1090">
              <a:extLst>
                <a:ext uri="{FF2B5EF4-FFF2-40B4-BE49-F238E27FC236}">
                  <a16:creationId xmlns:a16="http://schemas.microsoft.com/office/drawing/2014/main" id="{ACA30911-7D60-921E-C70A-F693BE675834}"/>
                </a:ext>
              </a:extLst>
            </p:cNvPr>
            <p:cNvSpPr/>
            <p:nvPr userDrawn="1"/>
          </p:nvSpPr>
          <p:spPr>
            <a:xfrm>
              <a:off x="6461067" y="38106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2" name="Rektangel 1091">
              <a:extLst>
                <a:ext uri="{FF2B5EF4-FFF2-40B4-BE49-F238E27FC236}">
                  <a16:creationId xmlns:a16="http://schemas.microsoft.com/office/drawing/2014/main" id="{7C3A2D5F-4466-B210-4CF0-4DBBC6BB3BA6}"/>
                </a:ext>
              </a:extLst>
            </p:cNvPr>
            <p:cNvSpPr/>
            <p:nvPr userDrawn="1"/>
          </p:nvSpPr>
          <p:spPr>
            <a:xfrm>
              <a:off x="6461067" y="3986378"/>
              <a:ext cx="126305" cy="126305"/>
            </a:xfrm>
            <a:prstGeom prst="rect">
              <a:avLst/>
            </a:prstGeom>
            <a:solidFill>
              <a:srgbClr val="7800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3" name="Rektangel 1092">
              <a:extLst>
                <a:ext uri="{FF2B5EF4-FFF2-40B4-BE49-F238E27FC236}">
                  <a16:creationId xmlns:a16="http://schemas.microsoft.com/office/drawing/2014/main" id="{3DB1223D-C353-676D-5093-C19368A843EA}"/>
                </a:ext>
              </a:extLst>
            </p:cNvPr>
            <p:cNvSpPr/>
            <p:nvPr userDrawn="1"/>
          </p:nvSpPr>
          <p:spPr>
            <a:xfrm>
              <a:off x="6461067" y="4162061"/>
              <a:ext cx="126305" cy="126305"/>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4" name="Rektangel 1093">
              <a:extLst>
                <a:ext uri="{FF2B5EF4-FFF2-40B4-BE49-F238E27FC236}">
                  <a16:creationId xmlns:a16="http://schemas.microsoft.com/office/drawing/2014/main" id="{ECBE00DC-9A99-ED4F-7AB0-E71447F5BE95}"/>
                </a:ext>
              </a:extLst>
            </p:cNvPr>
            <p:cNvSpPr/>
            <p:nvPr userDrawn="1"/>
          </p:nvSpPr>
          <p:spPr>
            <a:xfrm>
              <a:off x="6461067" y="4337745"/>
              <a:ext cx="126305" cy="126305"/>
            </a:xfrm>
            <a:prstGeom prst="rect">
              <a:avLst/>
            </a:prstGeom>
            <a:solidFill>
              <a:srgbClr val="FFCC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5" name="Rektangel 1094">
              <a:extLst>
                <a:ext uri="{FF2B5EF4-FFF2-40B4-BE49-F238E27FC236}">
                  <a16:creationId xmlns:a16="http://schemas.microsoft.com/office/drawing/2014/main" id="{5BAC4B2F-5948-684F-53E5-17024EA24387}"/>
                </a:ext>
              </a:extLst>
            </p:cNvPr>
            <p:cNvSpPr/>
            <p:nvPr userDrawn="1"/>
          </p:nvSpPr>
          <p:spPr>
            <a:xfrm>
              <a:off x="6637103" y="38106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6" name="Rektangel 1095">
              <a:extLst>
                <a:ext uri="{FF2B5EF4-FFF2-40B4-BE49-F238E27FC236}">
                  <a16:creationId xmlns:a16="http://schemas.microsoft.com/office/drawing/2014/main" id="{9DED6478-BDF3-512F-58F3-E36C2B3C3BAA}"/>
                </a:ext>
              </a:extLst>
            </p:cNvPr>
            <p:cNvSpPr/>
            <p:nvPr userDrawn="1"/>
          </p:nvSpPr>
          <p:spPr>
            <a:xfrm>
              <a:off x="6637103" y="3986378"/>
              <a:ext cx="126305" cy="126305"/>
            </a:xfrm>
            <a:prstGeom prst="rect">
              <a:avLst/>
            </a:prstGeom>
            <a:solidFill>
              <a:srgbClr val="A65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7" name="Rektangel 1096">
              <a:extLst>
                <a:ext uri="{FF2B5EF4-FFF2-40B4-BE49-F238E27FC236}">
                  <a16:creationId xmlns:a16="http://schemas.microsoft.com/office/drawing/2014/main" id="{6D820422-D0D9-5ACE-DB5E-ACF44106A99E}"/>
                </a:ext>
              </a:extLst>
            </p:cNvPr>
            <p:cNvSpPr/>
            <p:nvPr userDrawn="1"/>
          </p:nvSpPr>
          <p:spPr>
            <a:xfrm>
              <a:off x="6637103" y="4162061"/>
              <a:ext cx="126305" cy="126305"/>
            </a:xfrm>
            <a:prstGeom prst="rect">
              <a:avLst/>
            </a:prstGeom>
            <a:solidFill>
              <a:srgbClr val="FFB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8" name="Rektangel 1097">
              <a:extLst>
                <a:ext uri="{FF2B5EF4-FFF2-40B4-BE49-F238E27FC236}">
                  <a16:creationId xmlns:a16="http://schemas.microsoft.com/office/drawing/2014/main" id="{8B60BAF5-04DE-84E4-664B-F75D369387BB}"/>
                </a:ext>
              </a:extLst>
            </p:cNvPr>
            <p:cNvSpPr/>
            <p:nvPr userDrawn="1"/>
          </p:nvSpPr>
          <p:spPr>
            <a:xfrm>
              <a:off x="6637103" y="4337745"/>
              <a:ext cx="126305" cy="126305"/>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9" name="Rektangel 1098">
              <a:extLst>
                <a:ext uri="{FF2B5EF4-FFF2-40B4-BE49-F238E27FC236}">
                  <a16:creationId xmlns:a16="http://schemas.microsoft.com/office/drawing/2014/main" id="{2E36144B-8356-508C-530F-E4563E893F8E}"/>
                </a:ext>
              </a:extLst>
            </p:cNvPr>
            <p:cNvSpPr/>
            <p:nvPr userDrawn="1"/>
          </p:nvSpPr>
          <p:spPr>
            <a:xfrm>
              <a:off x="6813139" y="38106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0" name="Rektangel 1099">
              <a:extLst>
                <a:ext uri="{FF2B5EF4-FFF2-40B4-BE49-F238E27FC236}">
                  <a16:creationId xmlns:a16="http://schemas.microsoft.com/office/drawing/2014/main" id="{4A6003A8-E644-C22A-594E-648C05A084B5}"/>
                </a:ext>
              </a:extLst>
            </p:cNvPr>
            <p:cNvSpPr/>
            <p:nvPr userDrawn="1"/>
          </p:nvSpPr>
          <p:spPr>
            <a:xfrm>
              <a:off x="6813139" y="3986378"/>
              <a:ext cx="126305" cy="126305"/>
            </a:xfrm>
            <a:prstGeom prst="rect">
              <a:avLst/>
            </a:prstGeom>
            <a:solidFill>
              <a:srgbClr val="3232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1" name="Rektangel 1100">
              <a:extLst>
                <a:ext uri="{FF2B5EF4-FFF2-40B4-BE49-F238E27FC236}">
                  <a16:creationId xmlns:a16="http://schemas.microsoft.com/office/drawing/2014/main" id="{71252218-348E-C0A3-6703-29BD88D5A17F}"/>
                </a:ext>
              </a:extLst>
            </p:cNvPr>
            <p:cNvSpPr/>
            <p:nvPr userDrawn="1"/>
          </p:nvSpPr>
          <p:spPr>
            <a:xfrm>
              <a:off x="6813139" y="4162061"/>
              <a:ext cx="126305" cy="126305"/>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2" name="Rektangel 1101">
              <a:extLst>
                <a:ext uri="{FF2B5EF4-FFF2-40B4-BE49-F238E27FC236}">
                  <a16:creationId xmlns:a16="http://schemas.microsoft.com/office/drawing/2014/main" id="{F40D39AB-38A0-8D9F-98CF-0849C6CB1A97}"/>
                </a:ext>
              </a:extLst>
            </p:cNvPr>
            <p:cNvSpPr/>
            <p:nvPr userDrawn="1"/>
          </p:nvSpPr>
          <p:spPr>
            <a:xfrm>
              <a:off x="6813139" y="4337745"/>
              <a:ext cx="126305" cy="126305"/>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3" name="Rektangel 1102">
              <a:extLst>
                <a:ext uri="{FF2B5EF4-FFF2-40B4-BE49-F238E27FC236}">
                  <a16:creationId xmlns:a16="http://schemas.microsoft.com/office/drawing/2014/main" id="{B0EEB85D-E1B5-BB7E-06F5-B7F663E237EA}"/>
                </a:ext>
              </a:extLst>
            </p:cNvPr>
            <p:cNvSpPr/>
            <p:nvPr userDrawn="1"/>
          </p:nvSpPr>
          <p:spPr>
            <a:xfrm>
              <a:off x="6989175" y="38106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4" name="Rektangel 1103">
              <a:extLst>
                <a:ext uri="{FF2B5EF4-FFF2-40B4-BE49-F238E27FC236}">
                  <a16:creationId xmlns:a16="http://schemas.microsoft.com/office/drawing/2014/main" id="{0C4BF3AC-6949-B173-1F6F-7ACF6CCCA68D}"/>
                </a:ext>
              </a:extLst>
            </p:cNvPr>
            <p:cNvSpPr/>
            <p:nvPr userDrawn="1"/>
          </p:nvSpPr>
          <p:spPr>
            <a:xfrm>
              <a:off x="6989175"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5" name="Rektangel 1104">
              <a:extLst>
                <a:ext uri="{FF2B5EF4-FFF2-40B4-BE49-F238E27FC236}">
                  <a16:creationId xmlns:a16="http://schemas.microsoft.com/office/drawing/2014/main" id="{5E724053-DDC1-BCE6-018B-3C13912CBCAA}"/>
                </a:ext>
              </a:extLst>
            </p:cNvPr>
            <p:cNvSpPr/>
            <p:nvPr userDrawn="1"/>
          </p:nvSpPr>
          <p:spPr>
            <a:xfrm>
              <a:off x="6989175"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7" name="Rektangel 1106">
              <a:extLst>
                <a:ext uri="{FF2B5EF4-FFF2-40B4-BE49-F238E27FC236}">
                  <a16:creationId xmlns:a16="http://schemas.microsoft.com/office/drawing/2014/main" id="{B89A7384-2EB1-E47E-4661-2C135E836BAB}"/>
                </a:ext>
              </a:extLst>
            </p:cNvPr>
            <p:cNvSpPr/>
            <p:nvPr userDrawn="1"/>
          </p:nvSpPr>
          <p:spPr>
            <a:xfrm>
              <a:off x="7165211"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8" name="Rektangel 1107">
              <a:extLst>
                <a:ext uri="{FF2B5EF4-FFF2-40B4-BE49-F238E27FC236}">
                  <a16:creationId xmlns:a16="http://schemas.microsoft.com/office/drawing/2014/main" id="{64053484-E065-730D-63D9-F3F09E971CEC}"/>
                </a:ext>
              </a:extLst>
            </p:cNvPr>
            <p:cNvSpPr/>
            <p:nvPr userDrawn="1"/>
          </p:nvSpPr>
          <p:spPr>
            <a:xfrm>
              <a:off x="7165211"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9" name="Rektangel 1108">
              <a:extLst>
                <a:ext uri="{FF2B5EF4-FFF2-40B4-BE49-F238E27FC236}">
                  <a16:creationId xmlns:a16="http://schemas.microsoft.com/office/drawing/2014/main" id="{E5345871-5F8B-2377-CAC8-6913E51EB927}"/>
                </a:ext>
              </a:extLst>
            </p:cNvPr>
            <p:cNvSpPr/>
            <p:nvPr userDrawn="1"/>
          </p:nvSpPr>
          <p:spPr>
            <a:xfrm>
              <a:off x="7165211"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1" name="Rektangel 1110">
              <a:extLst>
                <a:ext uri="{FF2B5EF4-FFF2-40B4-BE49-F238E27FC236}">
                  <a16:creationId xmlns:a16="http://schemas.microsoft.com/office/drawing/2014/main" id="{15038F50-63E9-76D9-070D-599071F6D0B1}"/>
                </a:ext>
              </a:extLst>
            </p:cNvPr>
            <p:cNvSpPr/>
            <p:nvPr userDrawn="1"/>
          </p:nvSpPr>
          <p:spPr>
            <a:xfrm>
              <a:off x="7341247"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2" name="Rektangel 1111">
              <a:extLst>
                <a:ext uri="{FF2B5EF4-FFF2-40B4-BE49-F238E27FC236}">
                  <a16:creationId xmlns:a16="http://schemas.microsoft.com/office/drawing/2014/main" id="{062851F2-FDB2-63C5-B741-C1CAD1FE3211}"/>
                </a:ext>
              </a:extLst>
            </p:cNvPr>
            <p:cNvSpPr/>
            <p:nvPr userDrawn="1"/>
          </p:nvSpPr>
          <p:spPr>
            <a:xfrm>
              <a:off x="7341247"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3" name="Rektangel 1112">
              <a:extLst>
                <a:ext uri="{FF2B5EF4-FFF2-40B4-BE49-F238E27FC236}">
                  <a16:creationId xmlns:a16="http://schemas.microsoft.com/office/drawing/2014/main" id="{DE4F3BAC-C90D-4B77-27FF-4CD535F909E2}"/>
                </a:ext>
              </a:extLst>
            </p:cNvPr>
            <p:cNvSpPr/>
            <p:nvPr userDrawn="1"/>
          </p:nvSpPr>
          <p:spPr>
            <a:xfrm>
              <a:off x="7341247"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5" name="Rektangel 1114">
              <a:extLst>
                <a:ext uri="{FF2B5EF4-FFF2-40B4-BE49-F238E27FC236}">
                  <a16:creationId xmlns:a16="http://schemas.microsoft.com/office/drawing/2014/main" id="{6625D88E-960F-4248-3CEB-C2E5020321B6}"/>
                </a:ext>
              </a:extLst>
            </p:cNvPr>
            <p:cNvSpPr/>
            <p:nvPr userDrawn="1"/>
          </p:nvSpPr>
          <p:spPr>
            <a:xfrm>
              <a:off x="7517283"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6" name="Rektangel 1115">
              <a:extLst>
                <a:ext uri="{FF2B5EF4-FFF2-40B4-BE49-F238E27FC236}">
                  <a16:creationId xmlns:a16="http://schemas.microsoft.com/office/drawing/2014/main" id="{C10CFB8F-8E16-B335-A926-3A4BAA2E78D5}"/>
                </a:ext>
              </a:extLst>
            </p:cNvPr>
            <p:cNvSpPr/>
            <p:nvPr userDrawn="1"/>
          </p:nvSpPr>
          <p:spPr>
            <a:xfrm>
              <a:off x="7517283"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7" name="Rektangel 1116">
              <a:extLst>
                <a:ext uri="{FF2B5EF4-FFF2-40B4-BE49-F238E27FC236}">
                  <a16:creationId xmlns:a16="http://schemas.microsoft.com/office/drawing/2014/main" id="{1BAFE015-800E-787E-0572-90F6C0823C14}"/>
                </a:ext>
              </a:extLst>
            </p:cNvPr>
            <p:cNvSpPr/>
            <p:nvPr userDrawn="1"/>
          </p:nvSpPr>
          <p:spPr>
            <a:xfrm>
              <a:off x="7517283"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9" name="Rektangel 1118">
              <a:extLst>
                <a:ext uri="{FF2B5EF4-FFF2-40B4-BE49-F238E27FC236}">
                  <a16:creationId xmlns:a16="http://schemas.microsoft.com/office/drawing/2014/main" id="{4A97B2EF-9E28-C94C-6879-E7C073C12C39}"/>
                </a:ext>
              </a:extLst>
            </p:cNvPr>
            <p:cNvSpPr/>
            <p:nvPr userDrawn="1"/>
          </p:nvSpPr>
          <p:spPr>
            <a:xfrm>
              <a:off x="7693320"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0" name="Rektangel 1119">
              <a:extLst>
                <a:ext uri="{FF2B5EF4-FFF2-40B4-BE49-F238E27FC236}">
                  <a16:creationId xmlns:a16="http://schemas.microsoft.com/office/drawing/2014/main" id="{0046F9B6-9CA1-5B09-D162-A1A23AA1E72E}"/>
                </a:ext>
              </a:extLst>
            </p:cNvPr>
            <p:cNvSpPr/>
            <p:nvPr userDrawn="1"/>
          </p:nvSpPr>
          <p:spPr>
            <a:xfrm>
              <a:off x="7693320"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1" name="Rektangel 1120">
              <a:extLst>
                <a:ext uri="{FF2B5EF4-FFF2-40B4-BE49-F238E27FC236}">
                  <a16:creationId xmlns:a16="http://schemas.microsoft.com/office/drawing/2014/main" id="{555E2503-2C99-3601-4234-B5374905D676}"/>
                </a:ext>
              </a:extLst>
            </p:cNvPr>
            <p:cNvSpPr/>
            <p:nvPr userDrawn="1"/>
          </p:nvSpPr>
          <p:spPr>
            <a:xfrm>
              <a:off x="7693320"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grpSp>
      <p:sp>
        <p:nvSpPr>
          <p:cNvPr id="11" name="Rektangel med rundade hörn 10">
            <a:extLst>
              <a:ext uri="{FF2B5EF4-FFF2-40B4-BE49-F238E27FC236}">
                <a16:creationId xmlns:a16="http://schemas.microsoft.com/office/drawing/2014/main" id="{636AEB1C-664E-B3BB-DB73-01E07A3BF846}"/>
              </a:ext>
            </a:extLst>
          </p:cNvPr>
          <p:cNvSpPr/>
          <p:nvPr userDrawn="1"/>
        </p:nvSpPr>
        <p:spPr>
          <a:xfrm>
            <a:off x="6062449" y="2168771"/>
            <a:ext cx="800154" cy="97738"/>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26" name="Rektangel med rundade hörn 1125">
            <a:extLst>
              <a:ext uri="{FF2B5EF4-FFF2-40B4-BE49-F238E27FC236}">
                <a16:creationId xmlns:a16="http://schemas.microsoft.com/office/drawing/2014/main" id="{F5D2D686-1879-1B11-9682-DCB8A43C167A}"/>
              </a:ext>
            </a:extLst>
          </p:cNvPr>
          <p:cNvSpPr/>
          <p:nvPr userDrawn="1"/>
        </p:nvSpPr>
        <p:spPr>
          <a:xfrm>
            <a:off x="6062449" y="2800595"/>
            <a:ext cx="800154" cy="331200"/>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38" name="Grupp 37">
            <a:extLst>
              <a:ext uri="{FF2B5EF4-FFF2-40B4-BE49-F238E27FC236}">
                <a16:creationId xmlns:a16="http://schemas.microsoft.com/office/drawing/2014/main" id="{6F818A9C-F465-3CE9-20FA-7BDEA4C864A3}"/>
              </a:ext>
            </a:extLst>
          </p:cNvPr>
          <p:cNvGrpSpPr/>
          <p:nvPr userDrawn="1"/>
        </p:nvGrpSpPr>
        <p:grpSpPr>
          <a:xfrm>
            <a:off x="6074571" y="3306851"/>
            <a:ext cx="781200" cy="90681"/>
            <a:chOff x="6511014" y="2308965"/>
            <a:chExt cx="602272" cy="346936"/>
          </a:xfrm>
        </p:grpSpPr>
        <p:sp>
          <p:nvSpPr>
            <p:cNvPr id="39" name="Rektangel med rundade hörn 38">
              <a:extLst>
                <a:ext uri="{FF2B5EF4-FFF2-40B4-BE49-F238E27FC236}">
                  <a16:creationId xmlns:a16="http://schemas.microsoft.com/office/drawing/2014/main" id="{341D2BCA-FEB1-3F16-2075-DBBCEE121133}"/>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40" name="Rak 39">
              <a:extLst>
                <a:ext uri="{FF2B5EF4-FFF2-40B4-BE49-F238E27FC236}">
                  <a16:creationId xmlns:a16="http://schemas.microsoft.com/office/drawing/2014/main" id="{245C22F3-BAE7-75A9-96B0-E39BB2EFEC22}"/>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41" name="Rak 40">
              <a:extLst>
                <a:ext uri="{FF2B5EF4-FFF2-40B4-BE49-F238E27FC236}">
                  <a16:creationId xmlns:a16="http://schemas.microsoft.com/office/drawing/2014/main" id="{1947DE09-EBCF-E910-33E6-512123ADAAFA}"/>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grpSp>
        <p:nvGrpSpPr>
          <p:cNvPr id="1127" name="Grupp 1126">
            <a:extLst>
              <a:ext uri="{FF2B5EF4-FFF2-40B4-BE49-F238E27FC236}">
                <a16:creationId xmlns:a16="http://schemas.microsoft.com/office/drawing/2014/main" id="{5E961FC3-B409-F6A8-2D6C-145379049C89}"/>
              </a:ext>
            </a:extLst>
          </p:cNvPr>
          <p:cNvGrpSpPr/>
          <p:nvPr userDrawn="1"/>
        </p:nvGrpSpPr>
        <p:grpSpPr>
          <a:xfrm>
            <a:off x="6074571" y="2295574"/>
            <a:ext cx="781200" cy="324083"/>
            <a:chOff x="6511014" y="2308965"/>
            <a:chExt cx="602272" cy="346936"/>
          </a:xfrm>
        </p:grpSpPr>
        <p:sp>
          <p:nvSpPr>
            <p:cNvPr id="1128" name="Rektangel med rundade hörn 1127">
              <a:extLst>
                <a:ext uri="{FF2B5EF4-FFF2-40B4-BE49-F238E27FC236}">
                  <a16:creationId xmlns:a16="http://schemas.microsoft.com/office/drawing/2014/main" id="{2B5BA7A3-F734-9E73-0F7B-B2A14C010F59}"/>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1129" name="Rak 1128">
              <a:extLst>
                <a:ext uri="{FF2B5EF4-FFF2-40B4-BE49-F238E27FC236}">
                  <a16:creationId xmlns:a16="http://schemas.microsoft.com/office/drawing/2014/main" id="{23AB9D37-FDD0-9B73-576D-D72C040BD7D8}"/>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1130" name="Rak 1129">
              <a:extLst>
                <a:ext uri="{FF2B5EF4-FFF2-40B4-BE49-F238E27FC236}">
                  <a16:creationId xmlns:a16="http://schemas.microsoft.com/office/drawing/2014/main" id="{3A5FBCF0-695B-2C2E-D769-6AEE9E5D9CA6}"/>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2272421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ccessibility Office 2013/2016">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120FD48D-1F42-B341-AF85-AE480DB64991}" type="datetime1">
              <a:rPr lang="sv-SE" smtClean="0"/>
              <a:t>2025-12-03</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2" name="textruta 1">
            <a:extLst>
              <a:ext uri="{FF2B5EF4-FFF2-40B4-BE49-F238E27FC236}">
                <a16:creationId xmlns:a16="http://schemas.microsoft.com/office/drawing/2014/main" id="{1A0056A6-C8C3-8E39-A19D-E42D44FC04A1}"/>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2013/2016.</a:t>
            </a:r>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Set reading order</a:t>
            </a: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3216265"/>
          </a:xfrm>
          <a:prstGeom prst="rect">
            <a:avLst/>
          </a:prstGeom>
          <a:noFill/>
        </p:spPr>
        <p:txBody>
          <a:bodyPr wrap="square" rtlCol="0">
            <a:spAutoFit/>
          </a:bodyPr>
          <a:lstStyle/>
          <a:p>
            <a:pPr>
              <a:spcAft>
                <a:spcPts val="600"/>
              </a:spcAft>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latin typeface="+mj-lt"/>
              </a:rPr>
              <a:t>You can control the reading order by:</a:t>
            </a:r>
          </a:p>
          <a:p>
            <a:pPr marL="228600" indent="-228600">
              <a:spcAft>
                <a:spcPts val="600"/>
              </a:spcAft>
              <a:buClr>
                <a:schemeClr val="accent1"/>
              </a:buClr>
              <a:buFont typeface="+mj-lt"/>
              <a:buAutoNum type="arabicPeriod"/>
            </a:pPr>
            <a:r>
              <a:rPr lang="en-US" sz="1200" dirty="0"/>
              <a:t>Selecting an object in the file.</a:t>
            </a:r>
          </a:p>
          <a:p>
            <a:pPr marL="228600" indent="-228600">
              <a:spcAft>
                <a:spcPts val="600"/>
              </a:spcAft>
              <a:buClr>
                <a:schemeClr val="accent1"/>
              </a:buClr>
              <a:buFont typeface="+mj-lt"/>
              <a:buAutoNum type="arabicPeriod"/>
            </a:pPr>
            <a:r>
              <a:rPr lang="en-US" sz="1200" dirty="0"/>
              <a:t>Choosing the "Format" tab that appears on the right side of the ribbon.</a:t>
            </a:r>
          </a:p>
          <a:p>
            <a:pPr marL="228600" indent="-228600">
              <a:spcAft>
                <a:spcPts val="600"/>
              </a:spcAft>
              <a:buClr>
                <a:schemeClr val="accent1"/>
              </a:buClr>
              <a:buFont typeface="+mj-lt"/>
              <a:buAutoNum type="arabicPeriod"/>
            </a:pPr>
            <a:r>
              <a:rPr lang="en-US" sz="1200" dirty="0"/>
              <a:t>Selecting "Selection Pane" in the "Arrange" group.</a:t>
            </a:r>
          </a:p>
          <a:p>
            <a:pPr marL="228600" indent="-228600">
              <a:spcAft>
                <a:spcPts val="600"/>
              </a:spcAft>
              <a:buClr>
                <a:schemeClr val="accent1"/>
              </a:buClr>
              <a:buFont typeface="+mj-lt"/>
              <a:buAutoNum type="arabicPeriod"/>
            </a:pPr>
            <a:r>
              <a:rPr lang="en-US" sz="1200" dirty="0"/>
              <a:t>Selecting one or more objects in the list.</a:t>
            </a:r>
          </a:p>
          <a:p>
            <a:pPr marL="228600" indent="-228600">
              <a:spcAft>
                <a:spcPts val="600"/>
              </a:spcAft>
              <a:buClr>
                <a:schemeClr val="accent1"/>
              </a:buClr>
              <a:buFont typeface="+mj-lt"/>
              <a:buAutoNum type="arabicPeriod"/>
            </a:pPr>
            <a:r>
              <a:rPr lang="en-US" sz="1200" dirty="0"/>
              <a:t>Dragging the selection upward or downward, or clicking the "Up" button.</a:t>
            </a:r>
          </a:p>
          <a:p>
            <a:pPr marL="228600" indent="-228600">
              <a:spcAft>
                <a:spcPts val="600"/>
              </a:spcAft>
              <a:buClr>
                <a:schemeClr val="accent1"/>
              </a:buClr>
              <a:buFont typeface="+mj-lt"/>
              <a:buAutoNum type="arabicPeriod"/>
            </a:pPr>
            <a:r>
              <a:rPr lang="en-US" sz="1200" dirty="0"/>
              <a:t>Dragging the objects until they have the desired order. This will not affect the layout on the page, only the order in which they are read by screen readers.</a:t>
            </a:r>
          </a:p>
        </p:txBody>
      </p:sp>
    </p:spTree>
    <p:extLst>
      <p:ext uri="{BB962C8B-B14F-4D97-AF65-F5344CB8AC3E}">
        <p14:creationId xmlns:p14="http://schemas.microsoft.com/office/powerpoint/2010/main" val="46074038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ccessibility Office 365/2019">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45830D3C-297D-AF4B-BF84-42155CB091D6}" type="datetime1">
              <a:rPr lang="sv-SE" smtClean="0"/>
              <a:t>2025-12-03</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Set reading order</a:t>
            </a: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2246769"/>
          </a:xfrm>
          <a:prstGeom prst="rect">
            <a:avLst/>
          </a:prstGeom>
          <a:noFill/>
        </p:spPr>
        <p:txBody>
          <a:bodyPr wrap="square" rtlCol="0">
            <a:spAutoFit/>
          </a:bodyPr>
          <a:lstStyle/>
          <a:p>
            <a:pPr marL="0" indent="0">
              <a:spcAft>
                <a:spcPts val="600"/>
              </a:spcAft>
              <a:buNone/>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rPr>
              <a:t>You can control the reading order by:</a:t>
            </a:r>
          </a:p>
          <a:p>
            <a:pPr marL="228600" indent="-228600">
              <a:spcAft>
                <a:spcPts val="600"/>
              </a:spcAft>
              <a:buClr>
                <a:schemeClr val="accent1"/>
              </a:buClr>
              <a:buFont typeface="+mj-lt"/>
              <a:buAutoNum type="arabicPeriod"/>
            </a:pPr>
            <a:r>
              <a:rPr lang="en-US" sz="1200" dirty="0"/>
              <a:t>On the </a:t>
            </a:r>
            <a:r>
              <a:rPr lang="en-US" sz="1200" i="1" dirty="0"/>
              <a:t>Home</a:t>
            </a:r>
            <a:r>
              <a:rPr lang="en-US" sz="1200" dirty="0"/>
              <a:t> tab, select </a:t>
            </a:r>
            <a:r>
              <a:rPr lang="en-US" sz="1200" i="1" dirty="0"/>
              <a:t>Arrange</a:t>
            </a:r>
          </a:p>
          <a:p>
            <a:pPr marL="228600" indent="-228600">
              <a:spcAft>
                <a:spcPts val="600"/>
              </a:spcAft>
              <a:buClr>
                <a:schemeClr val="accent1"/>
              </a:buClr>
              <a:buFont typeface="+mj-lt"/>
              <a:buAutoNum type="arabicPeriod"/>
            </a:pPr>
            <a:r>
              <a:rPr lang="en-US" sz="1200" dirty="0"/>
              <a:t>From the </a:t>
            </a:r>
            <a:r>
              <a:rPr lang="en-US" sz="1200" i="1" dirty="0"/>
              <a:t>Arrange </a:t>
            </a:r>
            <a:r>
              <a:rPr lang="en-US" sz="1200" dirty="0"/>
              <a:t>menu, choose "Selection Pane.“</a:t>
            </a:r>
          </a:p>
          <a:p>
            <a:pPr marL="228600" indent="-228600">
              <a:spcAft>
                <a:spcPts val="600"/>
              </a:spcAft>
              <a:buClr>
                <a:schemeClr val="accent1"/>
              </a:buClr>
              <a:buFont typeface="+mj-lt"/>
              <a:buAutoNum type="arabicPeriod"/>
            </a:pPr>
            <a:r>
              <a:rPr lang="en-US" sz="1200" dirty="0"/>
              <a:t>A tab will open on the right side of the window. Drag the objects until they have the desired order. This will not affect the layout on the page, only the order in which they are read by screen readers.</a:t>
            </a:r>
          </a:p>
        </p:txBody>
      </p:sp>
      <p:sp>
        <p:nvSpPr>
          <p:cNvPr id="6" name="textruta 5">
            <a:extLst>
              <a:ext uri="{FF2B5EF4-FFF2-40B4-BE49-F238E27FC236}">
                <a16:creationId xmlns:a16="http://schemas.microsoft.com/office/drawing/2014/main" id="{60BCB9D5-FB2E-F01B-B2C5-5BFB4C55D46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8" name="textruta 7">
            <a:extLst>
              <a:ext uri="{FF2B5EF4-FFF2-40B4-BE49-F238E27FC236}">
                <a16:creationId xmlns:a16="http://schemas.microsoft.com/office/drawing/2014/main" id="{83F6329C-964B-2CDD-13A7-0D9A1FF8FB4F}"/>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365 or Office 2019.</a:t>
            </a:r>
          </a:p>
        </p:txBody>
      </p:sp>
    </p:spTree>
    <p:extLst>
      <p:ext uri="{BB962C8B-B14F-4D97-AF65-F5344CB8AC3E}">
        <p14:creationId xmlns:p14="http://schemas.microsoft.com/office/powerpoint/2010/main" val="78837107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image" Target="../media/image2.sv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220414E7-5508-776E-6BBC-4EE50480958F}"/>
              </a:ext>
            </a:extLst>
          </p:cNvPr>
          <p:cNvSpPr>
            <a:spLocks noGrp="1"/>
          </p:cNvSpPr>
          <p:nvPr>
            <p:ph type="title"/>
          </p:nvPr>
        </p:nvSpPr>
        <p:spPr>
          <a:xfrm>
            <a:off x="600075" y="1095632"/>
            <a:ext cx="10990263" cy="568412"/>
          </a:xfrm>
          <a:prstGeom prst="rect">
            <a:avLst/>
          </a:prstGeom>
        </p:spPr>
        <p:txBody>
          <a:bodyPr vert="horz" lIns="91440" tIns="108000" rIns="91440" bIns="45720" rtlCol="0" anchor="t">
            <a:noAutofit/>
          </a:bodyPr>
          <a:lstStyle/>
          <a:p>
            <a:r>
              <a:rPr lang="sv-SE" dirty="0"/>
              <a:t>Klicka här för att ändra mall för rubrikformat</a:t>
            </a:r>
          </a:p>
        </p:txBody>
      </p:sp>
      <p:sp>
        <p:nvSpPr>
          <p:cNvPr id="3" name="Platshållare för text 2">
            <a:extLst>
              <a:ext uri="{FF2B5EF4-FFF2-40B4-BE49-F238E27FC236}">
                <a16:creationId xmlns:a16="http://schemas.microsoft.com/office/drawing/2014/main" id="{2006EF76-9662-2CD9-346E-23511E804736}"/>
              </a:ext>
            </a:extLst>
          </p:cNvPr>
          <p:cNvSpPr>
            <a:spLocks noGrp="1"/>
          </p:cNvSpPr>
          <p:nvPr>
            <p:ph type="body" idx="1"/>
          </p:nvPr>
        </p:nvSpPr>
        <p:spPr>
          <a:xfrm>
            <a:off x="600075" y="1872344"/>
            <a:ext cx="10990263" cy="4453808"/>
          </a:xfrm>
          <a:prstGeom prst="rect">
            <a:avLst/>
          </a:prstGeom>
        </p:spPr>
        <p:txBody>
          <a:bodyPr vert="horz" lIns="91440" tIns="45720" rIns="91440" bIns="45720" rtlCol="0">
            <a:noAutofit/>
          </a:body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4" name="Platshållare för datum 3">
            <a:extLst>
              <a:ext uri="{FF2B5EF4-FFF2-40B4-BE49-F238E27FC236}">
                <a16:creationId xmlns:a16="http://schemas.microsoft.com/office/drawing/2014/main" id="{5E3A2378-EA0B-2CB0-A3C0-B0181DFC31CC}"/>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a:solidFill>
                  <a:schemeClr val="accent2"/>
                </a:solidFill>
              </a:defRPr>
            </a:lvl1pPr>
          </a:lstStyle>
          <a:p>
            <a:fld id="{888E4D63-BE2C-4D4B-BBD2-256262659A9F}" type="datetime1">
              <a:rPr lang="sv-SE" smtClean="0"/>
              <a:t>2025-12-03</a:t>
            </a:fld>
            <a:endParaRPr lang="sv-SE" dirty="0"/>
          </a:p>
        </p:txBody>
      </p:sp>
      <p:sp>
        <p:nvSpPr>
          <p:cNvPr id="5" name="Platshållare för sidfot 4">
            <a:extLst>
              <a:ext uri="{FF2B5EF4-FFF2-40B4-BE49-F238E27FC236}">
                <a16:creationId xmlns:a16="http://schemas.microsoft.com/office/drawing/2014/main" id="{24CA2E8D-AD94-B894-C4F1-B88C763BA32D}"/>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a:solidFill>
                  <a:schemeClr val="accent2"/>
                </a:solidFill>
              </a:defRPr>
            </a:lvl1pPr>
          </a:lstStyle>
          <a:p>
            <a:r>
              <a:rPr lang="sv-SE"/>
              <a:t>Presentation footer</a:t>
            </a:r>
            <a:endParaRPr lang="sv-SE" dirty="0"/>
          </a:p>
        </p:txBody>
      </p:sp>
      <p:sp>
        <p:nvSpPr>
          <p:cNvPr id="6" name="Platshållare för bildnummer 5">
            <a:extLst>
              <a:ext uri="{FF2B5EF4-FFF2-40B4-BE49-F238E27FC236}">
                <a16:creationId xmlns:a16="http://schemas.microsoft.com/office/drawing/2014/main" id="{045617BD-973D-B163-E4ED-D245FDF0BDFC}"/>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a:solidFill>
                  <a:schemeClr val="accent2"/>
                </a:solidFill>
              </a:defRPr>
            </a:lvl1pPr>
          </a:lstStyle>
          <a:p>
            <a:fld id="{B716C8F4-20CD-364A-8A8E-DE130115B178}" type="slidenum">
              <a:rPr lang="sv-SE" smtClean="0"/>
              <a:pPr/>
              <a:t>‹#›</a:t>
            </a:fld>
            <a:endParaRPr lang="sv-SE" dirty="0"/>
          </a:p>
        </p:txBody>
      </p:sp>
      <p:pic>
        <p:nvPicPr>
          <p:cNvPr id="11" name="Bild 10">
            <a:extLst>
              <a:ext uri="{FF2B5EF4-FFF2-40B4-BE49-F238E27FC236}">
                <a16:creationId xmlns:a16="http://schemas.microsoft.com/office/drawing/2014/main" id="{57E3D58E-4C99-E6D1-B925-E182668FA2E3}"/>
              </a:ext>
            </a:extLst>
          </p:cNvPr>
          <p:cNvPicPr>
            <a:picLocks noChangeAspect="1"/>
          </p:cNvPicPr>
          <p:nvPr userDrawn="1"/>
        </p:nvPicPr>
        <p:blipFill>
          <a:blip r:embed="rId49" cstate="print">
            <a:extLst>
              <a:ext uri="{28A0092B-C50C-407E-A947-70E740481C1C}">
                <a14:useLocalDpi xmlns:a14="http://schemas.microsoft.com/office/drawing/2010/main"/>
              </a:ext>
              <a:ext uri="{96DAC541-7B7A-43D3-8B79-37D633B846F1}">
                <asvg:svgBlip xmlns:asvg="http://schemas.microsoft.com/office/drawing/2016/SVG/main" r:embed="rId50"/>
              </a:ext>
            </a:extLst>
          </a:blip>
          <a:stretch>
            <a:fillRect/>
          </a:stretch>
        </p:blipFill>
        <p:spPr>
          <a:xfrm>
            <a:off x="193566" y="164552"/>
            <a:ext cx="714243" cy="799273"/>
          </a:xfrm>
          <a:prstGeom prst="rect">
            <a:avLst/>
          </a:prstGeom>
        </p:spPr>
      </p:pic>
    </p:spTree>
    <p:extLst>
      <p:ext uri="{BB962C8B-B14F-4D97-AF65-F5344CB8AC3E}">
        <p14:creationId xmlns:p14="http://schemas.microsoft.com/office/powerpoint/2010/main" val="118368451"/>
      </p:ext>
    </p:extLst>
  </p:cSld>
  <p:clrMap bg1="lt1" tx1="dk1" bg2="lt2" tx2="dk2" accent1="accent1" accent2="accent2" accent3="accent3" accent4="accent4" accent5="accent5" accent6="accent6" hlink="hlink" folHlink="folHlink"/>
  <p:sldLayoutIdLst>
    <p:sldLayoutId id="2147483649" r:id="rId1"/>
    <p:sldLayoutId id="2147483679" r:id="rId2"/>
    <p:sldLayoutId id="2147483659" r:id="rId3"/>
    <p:sldLayoutId id="2147483651" r:id="rId4"/>
    <p:sldLayoutId id="2147483670" r:id="rId5"/>
    <p:sldLayoutId id="2147483660" r:id="rId6"/>
    <p:sldLayoutId id="2147483671" r:id="rId7"/>
    <p:sldLayoutId id="2147483661" r:id="rId8"/>
    <p:sldLayoutId id="2147483672" r:id="rId9"/>
    <p:sldLayoutId id="2147483662" r:id="rId10"/>
    <p:sldLayoutId id="2147483673" r:id="rId11"/>
    <p:sldLayoutId id="2147483650" r:id="rId12"/>
    <p:sldLayoutId id="2147483685" r:id="rId13"/>
    <p:sldLayoutId id="2147483688" r:id="rId14"/>
    <p:sldLayoutId id="2147483686" r:id="rId15"/>
    <p:sldLayoutId id="2147483687" r:id="rId16"/>
    <p:sldLayoutId id="2147483652" r:id="rId17"/>
    <p:sldLayoutId id="2147483653" r:id="rId18"/>
    <p:sldLayoutId id="2147483656" r:id="rId19"/>
    <p:sldLayoutId id="2147483657" r:id="rId20"/>
    <p:sldLayoutId id="2147483663" r:id="rId21"/>
    <p:sldLayoutId id="2147483694" r:id="rId22"/>
    <p:sldLayoutId id="2147483693" r:id="rId23"/>
    <p:sldLayoutId id="2147483684" r:id="rId24"/>
    <p:sldLayoutId id="2147483683" r:id="rId25"/>
    <p:sldLayoutId id="2147483681" r:id="rId26"/>
    <p:sldLayoutId id="2147483682" r:id="rId27"/>
    <p:sldLayoutId id="2147483676" r:id="rId28"/>
    <p:sldLayoutId id="2147483677" r:id="rId29"/>
    <p:sldLayoutId id="2147483678" r:id="rId30"/>
    <p:sldLayoutId id="2147483654" r:id="rId31"/>
    <p:sldLayoutId id="2147483668" r:id="rId32"/>
    <p:sldLayoutId id="2147483667" r:id="rId33"/>
    <p:sldLayoutId id="2147483669" r:id="rId34"/>
    <p:sldLayoutId id="2147483666" r:id="rId35"/>
    <p:sldLayoutId id="2147483689" r:id="rId36"/>
    <p:sldLayoutId id="2147483690" r:id="rId37"/>
    <p:sldLayoutId id="2147483691" r:id="rId38"/>
    <p:sldLayoutId id="2147483692" r:id="rId39"/>
    <p:sldLayoutId id="2147483655" r:id="rId40"/>
    <p:sldLayoutId id="2147483696" r:id="rId41"/>
    <p:sldLayoutId id="2147483697" r:id="rId42"/>
    <p:sldLayoutId id="2147483664" r:id="rId43"/>
    <p:sldLayoutId id="2147483695" r:id="rId44"/>
    <p:sldLayoutId id="2147483658" r:id="rId45"/>
    <p:sldLayoutId id="2147483674" r:id="rId46"/>
    <p:sldLayoutId id="2147483675" r:id="rId47"/>
  </p:sldLayoutIdLst>
  <p:hf sldNum="0" hdr="0" ftr="0" dt="0"/>
  <p:txStyles>
    <p:title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378" userDrawn="1">
          <p15:clr>
            <a:srgbClr val="F26B43"/>
          </p15:clr>
        </p15:guide>
        <p15:guide id="4" pos="1343" userDrawn="1">
          <p15:clr>
            <a:srgbClr val="F26B43"/>
          </p15:clr>
        </p15:guide>
        <p15:guide id="5" pos="1570" userDrawn="1">
          <p15:clr>
            <a:srgbClr val="F26B43"/>
          </p15:clr>
        </p15:guide>
        <p15:guide id="6" pos="2535" userDrawn="1">
          <p15:clr>
            <a:srgbClr val="F26B43"/>
          </p15:clr>
        </p15:guide>
        <p15:guide id="7" pos="2761" userDrawn="1">
          <p15:clr>
            <a:srgbClr val="F26B43"/>
          </p15:clr>
        </p15:guide>
        <p15:guide id="8" pos="3726" userDrawn="1">
          <p15:clr>
            <a:srgbClr val="F26B43"/>
          </p15:clr>
        </p15:guide>
        <p15:guide id="9" pos="3953" userDrawn="1">
          <p15:clr>
            <a:srgbClr val="F26B43"/>
          </p15:clr>
        </p15:guide>
        <p15:guide id="10" pos="4918" userDrawn="1">
          <p15:clr>
            <a:srgbClr val="F26B43"/>
          </p15:clr>
        </p15:guide>
        <p15:guide id="11" pos="5144" userDrawn="1">
          <p15:clr>
            <a:srgbClr val="F26B43"/>
          </p15:clr>
        </p15:guide>
        <p15:guide id="12" pos="6109" userDrawn="1">
          <p15:clr>
            <a:srgbClr val="F26B43"/>
          </p15:clr>
        </p15:guide>
        <p15:guide id="13" pos="6336" userDrawn="1">
          <p15:clr>
            <a:srgbClr val="F26B43"/>
          </p15:clr>
        </p15:guide>
        <p15:guide id="14" pos="7301" userDrawn="1">
          <p15:clr>
            <a:srgbClr val="F26B43"/>
          </p15:clr>
        </p15:guide>
        <p15:guide id="15" orient="horz" userDrawn="1">
          <p15:clr>
            <a:srgbClr val="F26B43"/>
          </p15:clr>
        </p15:guide>
        <p15:guide id="16" orient="horz" pos="4320" userDrawn="1">
          <p15:clr>
            <a:srgbClr val="F26B43"/>
          </p15:clr>
        </p15:guide>
        <p15:guide id="17" orient="horz" pos="514" userDrawn="1">
          <p15:clr>
            <a:srgbClr val="F26B43"/>
          </p15:clr>
        </p15:guide>
        <p15:guide id="18" orient="horz" pos="861" userDrawn="1">
          <p15:clr>
            <a:srgbClr val="F26B43"/>
          </p15:clr>
        </p15:guide>
        <p15:guide id="19" orient="horz" pos="1209" userDrawn="1">
          <p15:clr>
            <a:srgbClr val="F26B43"/>
          </p15:clr>
        </p15:guide>
        <p15:guide id="20" orient="horz" pos="1570" userDrawn="1">
          <p15:clr>
            <a:srgbClr val="F26B43"/>
          </p15:clr>
        </p15:guide>
        <p15:guide id="21" orient="horz" pos="1903" userDrawn="1">
          <p15:clr>
            <a:srgbClr val="F26B43"/>
          </p15:clr>
        </p15:guide>
        <p15:guide id="22" orient="horz" pos="2250" userDrawn="1">
          <p15:clr>
            <a:srgbClr val="F26B43"/>
          </p15:clr>
        </p15:guide>
        <p15:guide id="23" orient="horz" pos="2597" userDrawn="1">
          <p15:clr>
            <a:srgbClr val="F26B43"/>
          </p15:clr>
        </p15:guide>
        <p15:guide id="24" orient="horz" pos="2945" userDrawn="1">
          <p15:clr>
            <a:srgbClr val="F26B43"/>
          </p15:clr>
        </p15:guide>
        <p15:guide id="25" orient="horz" pos="3292" userDrawn="1">
          <p15:clr>
            <a:srgbClr val="F26B43"/>
          </p15:clr>
        </p15:guide>
        <p15:guide id="26" orient="horz" pos="3639" userDrawn="1">
          <p15:clr>
            <a:srgbClr val="F26B43"/>
          </p15:clr>
        </p15:guide>
        <p15:guide id="27" orient="horz" pos="3986" userDrawn="1">
          <p15:clr>
            <a:srgbClr val="F26B43"/>
          </p15:clr>
        </p15:guide>
      </p15:sldGuideLst>
    </p:ext>
  </p:extLst>
</p:sldMaster>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S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image" Target="../media/abb_yumi_ge_healthcare.png"/><Relationship Id="rId3" Type="http://schemas.openxmlformats.org/officeDocument/2006/relationships/notesSlide" Target="../notesSlides/notesSlideS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S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image" Target="../media/fig_prog_1.png"/><Relationship Id="rId3" Type="http://schemas.openxmlformats.org/officeDocument/2006/relationships/image" Target="../media/fig_prog_2.png"/><Relationship Id="rId4" Type="http://schemas.openxmlformats.org/officeDocument/2006/relationships/image" Target="../media/fig_prog_3.png"/><Relationship Id="rId5" Type="http://schemas.openxmlformats.org/officeDocument/2006/relationships/notesSlide" Target="../notesSlides/notesSlideS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image" Target="../media/fig_requirements_slide.png"/><Relationship Id="rId3" Type="http://schemas.openxmlformats.org/officeDocument/2006/relationships/notesSlide" Target="../notesSlides/notesSlideS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image" Target="../media/fig_motivation_gap.png"/><Relationship Id="rId3" Type="http://schemas.openxmlformats.org/officeDocument/2006/relationships/notesSlide" Target="../notesSlides/notesSlideS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S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S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S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image" Target="../media/eq_bond.png"/><Relationship Id="rId3" Type="http://schemas.openxmlformats.org/officeDocument/2006/relationships/notesSlide" Target="../notesSlides/notesSlideS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image" Target="../media/eq_robustness.png"/><Relationship Id="rId3" Type="http://schemas.openxmlformats.org/officeDocument/2006/relationships/image" Target="../media/eq_soundness.png"/><Relationship Id="rId4" Type="http://schemas.openxmlformats.org/officeDocument/2006/relationships/image" Target="../media/eq_smooth.png"/><Relationship Id="rId5" Type="http://schemas.openxmlformats.org/officeDocument/2006/relationships/image" Target="../media/fig_robustness_1d.png"/><Relationship Id="rId6" Type="http://schemas.openxmlformats.org/officeDocument/2006/relationships/notesSlide" Target="../notesSlides/notesSlideS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S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video" Target="../media/fig_transport_anim.mp4"/><Relationship Id="rId3" Type="http://schemas.microsoft.com/office/2007/relationships/media" Target="../media/fig_transport_anim.mp4"/><Relationship Id="rId4" Type="http://schemas.openxmlformats.org/officeDocument/2006/relationships/image" Target="../media/fig_transport_anim_poster.png"/><Relationship Id="rId5" Type="http://schemas.openxmlformats.org/officeDocument/2006/relationships/image" Target="../media/eq_fm_loss.png"/><Relationship Id="rId6" Type="http://schemas.openxmlformats.org/officeDocument/2006/relationships/image" Target="../media/eq_fm_ode.png"/><Relationship Id="rId7" Type="http://schemas.openxmlformats.org/officeDocument/2006/relationships/notesSlide" Target="../notesSlides/notesSlideS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video" Target="../media/diffusion_clip.mp4"/><Relationship Id="rId3" Type="http://schemas.microsoft.com/office/2007/relationships/media" Target="../media/diffusion_clip.mp4"/><Relationship Id="rId4" Type="http://schemas.openxmlformats.org/officeDocument/2006/relationships/image" Target="../media/diffusion_clip_poster.png"/><Relationship Id="rId5" Type="http://schemas.openxmlformats.org/officeDocument/2006/relationships/notesSlide" Target="../notesSlides/notesSlideS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image" Target="../media/rw_telograf.png"/><Relationship Id="rId3" Type="http://schemas.openxmlformats.org/officeDocument/2006/relationships/image" Target="../media/rw_zstp.png"/><Relationship Id="rId4" Type="http://schemas.openxmlformats.org/officeDocument/2006/relationships/image" Target="../media/rw_kurtz.png"/><Relationship Id="rId5" Type="http://schemas.openxmlformats.org/officeDocument/2006/relationships/image" Target="../media/rw_safediffuser.png"/><Relationship Id="rId6" Type="http://schemas.openxmlformats.org/officeDocument/2006/relationships/image" Target="../media/rw_ctg.png"/><Relationship Id="rId7" Type="http://schemas.openxmlformats.org/officeDocument/2006/relationships/notesSlide" Target="../notesSlides/notesSlideS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S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S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image" Target="../media/eq_guided.png"/><Relationship Id="rId3" Type="http://schemas.openxmlformats.org/officeDocument/2006/relationships/image" Target="../media/eq_conditioning.png"/><Relationship Id="rId4" Type="http://schemas.openxmlformats.org/officeDocument/2006/relationships/notesSlide" Target="../notesSlides/notesSlideS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image" Target="../media/eq_step.png"/><Relationship Id="rId3" Type="http://schemas.openxmlformats.org/officeDocument/2006/relationships/notesSlide" Target="../notesSlides/notesSlideS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S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image" Target="../media/scene_arena.png"/><Relationship Id="rId3" Type="http://schemas.openxmlformats.org/officeDocument/2006/relationships/image" Target="../media/scene_cube.png"/><Relationship Id="rId4" Type="http://schemas.openxmlformats.org/officeDocument/2006/relationships/notesSlide" Target="../notesSlides/notesSlideS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image" Target="../media/eq_nav_reach.png"/><Relationship Id="rId3" Type="http://schemas.openxmlformats.org/officeDocument/2006/relationships/image" Target="../media/openloop_reach_guided.png"/><Relationship Id="rId4" Type="http://schemas.openxmlformats.org/officeDocument/2006/relationships/image" Target="../media/openloop_reach_stlonly.png"/><Relationship Id="rId5" Type="http://schemas.openxmlformats.org/officeDocument/2006/relationships/image" Target="../media/eq_nav_nested.png"/><Relationship Id="rId6" Type="http://schemas.openxmlformats.org/officeDocument/2006/relationships/image" Target="../media/openloop_nested_guided.png"/><Relationship Id="rId7" Type="http://schemas.openxmlformats.org/officeDocument/2006/relationships/image" Target="../media/openloop_nested_stlonly.png"/><Relationship Id="rId8" Type="http://schemas.openxmlformats.org/officeDocument/2006/relationships/image" Target="../media/eq_nav_recurrence.png"/><Relationship Id="rId9" Type="http://schemas.openxmlformats.org/officeDocument/2006/relationships/image" Target="../media/openloop_recurrence_guided.png"/><Relationship Id="rId10" Type="http://schemas.openxmlformats.org/officeDocument/2006/relationships/image" Target="../media/openloop_recurrence_stlonly.png"/><Relationship Id="rId11" Type="http://schemas.openxmlformats.org/officeDocument/2006/relationships/image" Target="../media/eq_nav_sequence.png"/><Relationship Id="rId12" Type="http://schemas.openxmlformats.org/officeDocument/2006/relationships/image" Target="../media/openloop_sequence_guided.png"/><Relationship Id="rId13" Type="http://schemas.openxmlformats.org/officeDocument/2006/relationships/image" Target="../media/openloop_sequence_stlonly.png"/><Relationship Id="rId14" Type="http://schemas.openxmlformats.org/officeDocument/2006/relationships/image" Target="../media/eq_nav_seqavoid.png"/><Relationship Id="rId15" Type="http://schemas.openxmlformats.org/officeDocument/2006/relationships/image" Target="../media/openloop_seqavoid_guided.png"/><Relationship Id="rId16" Type="http://schemas.openxmlformats.org/officeDocument/2006/relationships/image" Target="../media/openloop_seqavoid_stlonly.png"/><Relationship Id="rId17" Type="http://schemas.openxmlformats.org/officeDocument/2006/relationships/image" Target="../media/eq_nav_composite.png"/><Relationship Id="rId18" Type="http://schemas.openxmlformats.org/officeDocument/2006/relationships/image" Target="../media/openloop_composite_guided.png"/><Relationship Id="rId19" Type="http://schemas.openxmlformats.org/officeDocument/2006/relationships/image" Target="../media/openloop_composite_stlonly.png"/><Relationship Id="rId20" Type="http://schemas.openxmlformats.org/officeDocument/2006/relationships/notesSlide" Target="../notesSlides/notesSlideS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image" Target="../media/fig_nav_satisfaction.png"/><Relationship Id="rId3" Type="http://schemas.openxmlformats.org/officeDocument/2006/relationships/image" Target="../media/fig_time_budget.png"/><Relationship Id="rId4" Type="http://schemas.openxmlformats.org/officeDocument/2006/relationships/notesSlide" Target="../notesSlides/notesSlideS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image" Target="../media/openloop_seqavoid_stlonly.png"/><Relationship Id="rId3" Type="http://schemas.openxmlformats.org/officeDocument/2006/relationships/image" Target="../media/openloop_seqavoid_guided.png"/><Relationship Id="rId4" Type="http://schemas.openxmlformats.org/officeDocument/2006/relationships/notesSlide" Target="../notesSlides/notesSlideS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image" Target="../media/fig_sparse_unbounded.png"/><Relationship Id="rId3" Type="http://schemas.openxmlformats.org/officeDocument/2006/relationships/notesSlide" Target="../notesSlides/notesSlideS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image" Target="../media/eq_cube.png"/><Relationship Id="rId3" Type="http://schemas.openxmlformats.org/officeDocument/2006/relationships/video" Target="../media/cube_stlfm_june.mp4"/><Relationship Id="rId4" Type="http://schemas.microsoft.com/office/2007/relationships/media" Target="../media/cube_stlfm_june.mp4"/><Relationship Id="rId5" Type="http://schemas.openxmlformats.org/officeDocument/2006/relationships/image" Target="../media/cube_stlfm_june_poster.png"/><Relationship Id="rId6" Type="http://schemas.openxmlformats.org/officeDocument/2006/relationships/notesSlide" Target="../notesSlides/notesSlideS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image" Target="../media/fig_cube_logic_task.png"/><Relationship Id="rId3" Type="http://schemas.openxmlformats.org/officeDocument/2006/relationships/notesSlide" Target="../notesSlides/notesSlideS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S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image" Target="../media/kitchen_planned_vs_executed.png"/><Relationship Id="rId3" Type="http://schemas.openxmlformats.org/officeDocument/2006/relationships/notesSlide" Target="../notesSlides/notesSlideS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image" Target="../media/fig_motivation_plausible.png"/><Relationship Id="rId3" Type="http://schemas.openxmlformats.org/officeDocument/2006/relationships/notesSlide" Target="../notesSlides/notesSlideS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image" Target="../media/eq_witness.png"/><Relationship Id="rId3" Type="http://schemas.openxmlformats.org/officeDocument/2006/relationships/notesSlide" Target="../notesSlides/notesSlideS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image" Target="../media/eq_sparse.png"/><Relationship Id="rId3" Type="http://schemas.openxmlformats.org/officeDocument/2006/relationships/notesSlide" Target="../notesSlides/notesSlideS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image" Target="../media/eq_spurious.png"/><Relationship Id="rId3" Type="http://schemas.openxmlformats.org/officeDocument/2006/relationships/notesSlide" Target="../notesSlides/notesSlideS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image" Target="../media/eq_nomax.png"/><Relationship Id="rId3" Type="http://schemas.openxmlformats.org/officeDocument/2006/relationships/notesSlide" Target="../notesSlides/notesSlideS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image" Target="../media/eq_constrained.png"/><Relationship Id="rId3" Type="http://schemas.openxmlformats.org/officeDocument/2006/relationships/notesSlide" Target="../notesSlides/notesSlideS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image" Target="../media/eq_bounded.png"/><Relationship Id="rId3" Type="http://schemas.openxmlformats.org/officeDocument/2006/relationships/notesSlide" Target="../notesSlides/notesSlideS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image" Target="../media/eq_smoothing_bias.png"/><Relationship Id="rId3" Type="http://schemas.openxmlformats.org/officeDocument/2006/relationships/notesSlide" Target="../notesSlides/notesSlideS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image" Target="../media/eq_sampler.png"/><Relationship Id="rId3" Type="http://schemas.openxmlformats.org/officeDocument/2006/relationships/notesSlide" Target="../notesSlides/notesSlideS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S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image" Target="../media/bk_tab_openloop.png"/><Relationship Id="rId3" Type="http://schemas.openxmlformats.org/officeDocument/2006/relationships/image" Target="../media/bk_tab_anytime.png"/><Relationship Id="rId4" Type="http://schemas.openxmlformats.org/officeDocument/2006/relationships/notesSlide" Target="../notesSlides/notesSlideS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image" Target="../media/openloop_choice_guided.png"/><Relationship Id="rId3" Type="http://schemas.openxmlformats.org/officeDocument/2006/relationships/image" Target="../media/openloop_choiceseq_guided.png"/><Relationship Id="rId4" Type="http://schemas.openxmlformats.org/officeDocument/2006/relationships/image" Target="../media/openloop_ordered_guided.png"/><Relationship Id="rId5" Type="http://schemas.openxmlformats.org/officeDocument/2006/relationships/image" Target="../media/openloop_avoiduntil_guided.png"/><Relationship Id="rId6" Type="http://schemas.openxmlformats.org/officeDocument/2006/relationships/notesSlide" Target="../notesSlides/notesSlideS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image" Target="../media/anytime_reach.png"/><Relationship Id="rId3" Type="http://schemas.openxmlformats.org/officeDocument/2006/relationships/image" Target="../media/anytime_nested.png"/><Relationship Id="rId4" Type="http://schemas.openxmlformats.org/officeDocument/2006/relationships/image" Target="../media/anytime_recurrence.png"/><Relationship Id="rId5" Type="http://schemas.openxmlformats.org/officeDocument/2006/relationships/image" Target="../media/anytime_sequence.png"/><Relationship Id="rId6" Type="http://schemas.openxmlformats.org/officeDocument/2006/relationships/image" Target="../media/anytime_seqavoid.png"/><Relationship Id="rId7" Type="http://schemas.openxmlformats.org/officeDocument/2006/relationships/image" Target="../media/anytime_composite.png"/><Relationship Id="rId8" Type="http://schemas.openxmlformats.org/officeDocument/2006/relationships/notesSlide" Target="../notesSlides/notesSlideS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image" Target="../media/bk_tab_closedloop.png"/><Relationship Id="rId3" Type="http://schemas.openxmlformats.org/officeDocument/2006/relationships/notesSlide" Target="../notesSlides/notesSlideS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image" Target="../media/kitchen_planned_vs_executed.png"/><Relationship Id="rId3" Type="http://schemas.openxmlformats.org/officeDocument/2006/relationships/image" Target="../media/eq_kitchen.png"/><Relationship Id="rId4" Type="http://schemas.openxmlformats.org/officeDocument/2006/relationships/image" Target="../media/scene_kitchen.png"/><Relationship Id="rId5" Type="http://schemas.openxmlformats.org/officeDocument/2006/relationships/notesSlide" Target="../notesSlides/notesSlideS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image" Target="../media/gofa_cell_wide.png"/><Relationship Id="rId3" Type="http://schemas.openxmlformats.org/officeDocument/2006/relationships/image" Target="../media/eq_gofa.png"/><Relationship Id="rId4" Type="http://schemas.openxmlformats.org/officeDocument/2006/relationships/image" Target="../media/gofa_prior_vs_demo.png"/><Relationship Id="rId5" Type="http://schemas.openxmlformats.org/officeDocument/2006/relationships/notesSlide" Target="../notesSlides/notesSlideS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S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S52.xml"/></Relationships>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ctrTitle"/>
          </p:nvPr>
        </p:nvSpPr>
        <p:spPr>
          <a:xfrm>
            <a:off x="914400" y="3063240"/>
            <a:ext cx="10360152" cy="1143000"/>
          </a:xfrm>
        </p:spPr>
        <p:txBody>
          <a:bodyPr/>
          <a:lstStyle/>
          <a:p>
            <a:r>
              <a:rPr lang="en-GB" sz="3200" dirty="0"/>
              <a:t>STL-FM: Trajectory Planning Through STL-Guided Flow Matching</a:t>
            </a:r>
          </a:p>
        </p:txBody>
      </p:sp>
      <p:sp>
        <p:nvSpPr>
          <p:cNvPr id="12" name="Thesis subtitle"/>
          <p:cNvSpPr txBox="1"/>
          <p:nvPr/>
        </p:nvSpPr>
        <p:spPr>
          <a:xfrm>
            <a:off x="914400" y="4224528"/>
            <a:ext cx="10360152" cy="365760"/>
          </a:xfrm>
          <a:prstGeom prst="rect">
            <a:avLst/>
          </a:prstGeom>
          <a:noFill/>
        </p:spPr>
        <p:txBody>
          <a:bodyPr wrap="square" lIns="45720" tIns="0" rIns="45720" bIns="0" anchor="t">
            <a:noAutofit/>
          </a:bodyPr>
          <a:lstStyle/>
          <a:p>
            <a:pPr algn="ctr"/>
            <a:r>
              <a:rPr lang="en-GB" sz="1900" dirty="0">
                <a:solidFill>
                  <a:srgbClr val="DEF0FF"/>
                </a:solidFill>
              </a:rPr>
              <a:t>Imposing temporal requirements on a generative motion prior at inference time</a:t>
            </a:r>
          </a:p>
        </p:txBody>
      </p:sp>
      <p:sp>
        <p:nvSpPr>
          <p:cNvPr id="13" name="Subtitle"/>
          <p:cNvSpPr>
            <a:spLocks noGrp="1"/>
          </p:cNvSpPr>
          <p:nvPr>
            <p:ph type="subTitle" idx="1"/>
          </p:nvPr>
        </p:nvSpPr>
        <p:spPr>
          <a:xfrm>
            <a:off x="2130552" y="4754880"/>
            <a:ext cx="7927848" cy="384048"/>
          </a:xfrm>
        </p:spPr>
        <p:txBody>
          <a:bodyPr/>
          <a:lstStyle/>
          <a:p>
            <a:r>
              <a:rPr lang="en-GB" sz="2000" dirty="0"/>
              <a:t>Gawtam Chithra Ramesh</a:t>
            </a:r>
          </a:p>
        </p:txBody>
      </p:sp>
      <p:sp>
        <p:nvSpPr>
          <p:cNvPr id="14" name="Credits"/>
          <p:cNvSpPr txBox="1"/>
          <p:nvPr/>
        </p:nvSpPr>
        <p:spPr>
          <a:xfrm>
            <a:off x="2130552" y="5230368"/>
            <a:ext cx="7927848" cy="1005840"/>
          </a:xfrm>
          <a:prstGeom prst="rect">
            <a:avLst/>
          </a:prstGeom>
          <a:noFill/>
        </p:spPr>
        <p:txBody>
          <a:bodyPr wrap="square" lIns="45720" tIns="0" rIns="45720" bIns="0" anchor="t">
            <a:noAutofit/>
          </a:bodyPr>
          <a:lstStyle/>
          <a:p>
            <a:pPr algn="ctr"/>
            <a:r>
              <a:rPr lang="en-GB" sz="1300" dirty="0">
                <a:solidFill>
                  <a:srgbClr val="FFFFFF"/>
                </a:solidFill>
              </a:rPr>
              <a:t>Master’s thesis defence, carried out at ABB Robotics</a:t>
            </a:r>
          </a:p>
          <a:p>
            <a:pPr algn="ctr"/>
            <a:r>
              <a:rPr lang="en-GB" sz="1300" dirty="0">
                <a:solidFill>
                  <a:srgbClr val="FFFFFF"/>
                </a:solidFill>
              </a:rPr>
              <a:t>Examiner: Dimos V. Dimarogonas</a:t>
            </a:r>
          </a:p>
          <a:p>
            <a:pPr algn="ctr"/>
            <a:r>
              <a:rPr lang="en-GB" sz="1300" dirty="0">
                <a:solidFill>
                  <a:srgbClr val="FFFFFF"/>
                </a:solidFill>
              </a:rPr>
              <a:t>Supervisors: Luzia Knödler, Shaohang Han, Matthew Lock and Jonathan Styrud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Adhesive bonding with an ABB YuMi</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b="1" dirty="0">
                <a:solidFill>
                  <a:srgbClr val="004791"/>
                </a:solidFill>
              </a:rPr>
              <a:t>Motivation</a:t>
            </a:r>
            <a:r>
              <a:rPr lang="en-GB" sz="1300" dirty="0">
                <a:solidFill>
                  <a:srgbClr val="A5A5A5"/>
                </a:solidFill>
              </a:rPr>
              <a:t>    →    </a:t>
            </a:r>
            <a:r>
              <a:rPr lang="en-GB" sz="1300" dirty="0">
                <a:solidFill>
                  <a:srgbClr val="A5A5A5"/>
                </a:solidFill>
              </a:rPr>
              <a:t>Background</a:t>
            </a:r>
            <a:r>
              <a:rPr lang="en-GB" sz="1300" dirty="0">
                <a:solidFill>
                  <a:srgbClr val="A5A5A5"/>
                </a:solidFill>
              </a:rPr>
              <a:t>    →    </a:t>
            </a:r>
            <a:r>
              <a:rPr lang="en-GB" sz="1300" dirty="0">
                <a:solidFill>
                  <a:srgbClr val="A5A5A5"/>
                </a:solidFill>
              </a:rPr>
              <a:t>Method</a:t>
            </a:r>
            <a:r>
              <a:rPr lang="en-GB" sz="1300" dirty="0">
                <a:solidFill>
                  <a:srgbClr val="A5A5A5"/>
                </a:solidFill>
              </a:rPr>
              <a:t>    →    </a:t>
            </a:r>
            <a:r>
              <a:rPr lang="en-GB" sz="1300" dirty="0">
                <a:solidFill>
                  <a:srgbClr val="A5A5A5"/>
                </a:solidFill>
              </a:rPr>
              <a:t>Results</a:t>
            </a:r>
            <a:r>
              <a:rPr lang="en-GB" sz="1300" dirty="0">
                <a:solidFill>
                  <a:srgbClr val="A5A5A5"/>
                </a:solidFill>
              </a:rPr>
              <a:t>    →    </a:t>
            </a:r>
            <a:r>
              <a:rPr lang="en-GB" sz="1300" dirty="0">
                <a:solidFill>
                  <a:srgbClr val="A5A5A5"/>
                </a:solidFill>
              </a:rPr>
              <a:t>Conclusions</a:t>
            </a:r>
          </a:p>
        </p:txBody>
      </p:sp>
      <p:sp>
        <p:nvSpPr>
          <p:cNvPr id="13" name="Slide Number"/>
          <p:cNvSpPr>
            <a:spLocks noGrp="1"/>
          </p:cNvSpPr>
          <p:nvPr>
            <p:ph type="sldNum" sz="quarter" idx="12"/>
          </p:nvPr>
        </p:nvSpPr>
        <p:spPr/>
        <p:txBody>
          <a:bodyPr/>
          <a:lstStyle/>
          <a:p>
            <a:fld id="{619F89D8-7AE3-494A-97F3-03D680869632}" type="slidenum">
              <a:rPr lang="en-GB"/>
              <a:t>1</a:t>
            </a:fld>
            <a:endParaRPr lang="en-GB"/>
          </a:p>
        </p:txBody>
      </p:sp>
      <p:pic>
        <p:nvPicPr>
          <p:cNvPr id="14" name="Figure" descr="Single-arm YuMi holding a part under a glue dispenser"/>
          <p:cNvPicPr>
            <a:picLocks noChangeAspect="1"/>
          </p:cNvPicPr>
          <p:nvPr/>
        </p:nvPicPr>
        <p:blipFill>
          <a:blip r:embed="rId2"/>
          <a:stretch>
            <a:fillRect/>
          </a:stretch>
        </p:blipFill>
        <p:spPr>
          <a:xfrm>
            <a:off x="8555029" y="1874520"/>
            <a:ext cx="2714134" cy="4069080"/>
          </a:xfrm>
          <a:prstGeom prst="rect">
            <a:avLst/>
          </a:prstGeom>
        </p:spPr>
      </p:pic>
      <p:sp>
        <p:nvSpPr>
          <p:cNvPr id="15" name="Label"/>
          <p:cNvSpPr txBox="1"/>
          <p:nvPr/>
        </p:nvSpPr>
        <p:spPr>
          <a:xfrm>
            <a:off x="8280709" y="5998464"/>
            <a:ext cx="3262774" cy="365760"/>
          </a:xfrm>
          <a:prstGeom prst="rect">
            <a:avLst/>
          </a:prstGeom>
          <a:noFill/>
        </p:spPr>
        <p:txBody>
          <a:bodyPr wrap="square" lIns="45720" tIns="0" rIns="45720" bIns="0" anchor="t">
            <a:noAutofit/>
          </a:bodyPr>
          <a:lstStyle/>
          <a:p>
            <a:pPr algn="ctr"/>
            <a:r>
              <a:rPr lang="en-GB" sz="1100" dirty="0">
                <a:solidFill>
                  <a:srgbClr val="6E6E6E"/>
                </a:solidFill>
              </a:rPr>
              <a:t>Photo and quote: ABB customer story,</a:t>
            </a:r>
          </a:p>
          <a:p>
            <a:pPr algn="ctr"/>
            <a:r>
              <a:rPr lang="en-GB" sz="1100" dirty="0">
                <a:solidFill>
                  <a:srgbClr val="6E6E6E"/>
                </a:solidFill>
              </a:rPr>
              <a:t>GE Healthcare, Helsinki</a:t>
            </a:r>
          </a:p>
        </p:txBody>
      </p:sp>
      <p:sp>
        <p:nvSpPr>
          <p:cNvPr id="16" name="Label"/>
          <p:cNvSpPr txBox="1"/>
          <p:nvPr/>
        </p:nvSpPr>
        <p:spPr>
          <a:xfrm>
            <a:off x="603504" y="2103120"/>
            <a:ext cx="7315200" cy="868680"/>
          </a:xfrm>
          <a:prstGeom prst="rect">
            <a:avLst/>
          </a:prstGeom>
          <a:noFill/>
        </p:spPr>
        <p:txBody>
          <a:bodyPr wrap="square" lIns="45720" tIns="0" rIns="45720" bIns="0" anchor="t">
            <a:noAutofit/>
          </a:bodyPr>
          <a:lstStyle/>
          <a:p>
            <a:pPr algn="l"/>
            <a:r>
              <a:rPr lang="en-GB" sz="2000" dirty="0">
                <a:solidFill>
                  <a:srgbClr val="262626"/>
                </a:solidFill>
              </a:rPr>
              <a:t>A single-arm YuMi applies a bead of fast-setting glue</a:t>
            </a:r>
          </a:p>
          <a:p>
            <a:pPr algn="l"/>
            <a:r>
              <a:rPr lang="en-GB" sz="2000" dirty="0">
                <a:solidFill>
                  <a:srgbClr val="262626"/>
                </a:solidFill>
              </a:rPr>
              <a:t>to a prototype part.</a:t>
            </a:r>
          </a:p>
        </p:txBody>
      </p:sp>
      <p:sp>
        <p:nvSpPr>
          <p:cNvPr id="17" name="Label"/>
          <p:cNvSpPr txBox="1"/>
          <p:nvPr/>
        </p:nvSpPr>
        <p:spPr>
          <a:xfrm>
            <a:off x="603504" y="3108960"/>
            <a:ext cx="7315200" cy="868680"/>
          </a:xfrm>
          <a:prstGeom prst="rect">
            <a:avLst/>
          </a:prstGeom>
          <a:noFill/>
        </p:spPr>
        <p:txBody>
          <a:bodyPr wrap="square" lIns="45720" tIns="0" rIns="45720" bIns="0" anchor="t">
            <a:noAutofit/>
          </a:bodyPr>
          <a:lstStyle/>
          <a:p>
            <a:pPr algn="l"/>
            <a:r>
              <a:rPr lang="en-GB" sz="2000" dirty="0">
                <a:solidFill>
                  <a:srgbClr val="262626"/>
                </a:solidFill>
              </a:rPr>
              <a:t>The part changes on a rapid schedule,</a:t>
            </a:r>
          </a:p>
          <a:p>
            <a:pPr algn="l"/>
            <a:r>
              <a:rPr lang="en-GB" sz="2000" dirty="0">
                <a:solidFill>
                  <a:srgbClr val="262626"/>
                </a:solidFill>
              </a:rPr>
              <a:t>so the program changes with it.</a:t>
            </a:r>
          </a:p>
        </p:txBody>
      </p:sp>
      <p:sp>
        <p:nvSpPr>
          <p:cNvPr id="18" name="Label"/>
          <p:cNvSpPr txBox="1"/>
          <p:nvPr/>
        </p:nvSpPr>
        <p:spPr>
          <a:xfrm>
            <a:off x="603504" y="4297680"/>
            <a:ext cx="7315200" cy="868680"/>
          </a:xfrm>
          <a:prstGeom prst="rect">
            <a:avLst/>
          </a:prstGeom>
          <a:noFill/>
        </p:spPr>
        <p:txBody>
          <a:bodyPr wrap="square" lIns="45720" tIns="0" rIns="45720" bIns="0" anchor="t">
            <a:noAutofit/>
          </a:bodyPr>
          <a:lstStyle/>
          <a:p>
            <a:pPr algn="l"/>
            <a:r>
              <a:rPr lang="en-GB" sz="2000" i="1" dirty="0">
                <a:solidFill>
                  <a:srgbClr val="63666A"/>
                </a:solidFill>
              </a:rPr>
              <a:t>“Even in half an hour, we can get some major changes done to the code.”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Current practice</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b="1" dirty="0">
                <a:solidFill>
                  <a:srgbClr val="004791"/>
                </a:solidFill>
              </a:rPr>
              <a:t>Motivation</a:t>
            </a:r>
            <a:r>
              <a:rPr lang="en-GB" sz="1300" dirty="0">
                <a:solidFill>
                  <a:srgbClr val="A5A5A5"/>
                </a:solidFill>
              </a:rPr>
              <a:t>    →    </a:t>
            </a:r>
            <a:r>
              <a:rPr lang="en-GB" sz="1300" dirty="0">
                <a:solidFill>
                  <a:srgbClr val="A5A5A5"/>
                </a:solidFill>
              </a:rPr>
              <a:t>Background</a:t>
            </a:r>
            <a:r>
              <a:rPr lang="en-GB" sz="1300" dirty="0">
                <a:solidFill>
                  <a:srgbClr val="A5A5A5"/>
                </a:solidFill>
              </a:rPr>
              <a:t>    →    </a:t>
            </a:r>
            <a:r>
              <a:rPr lang="en-GB" sz="1300" dirty="0">
                <a:solidFill>
                  <a:srgbClr val="A5A5A5"/>
                </a:solidFill>
              </a:rPr>
              <a:t>Method</a:t>
            </a:r>
            <a:r>
              <a:rPr lang="en-GB" sz="1300" dirty="0">
                <a:solidFill>
                  <a:srgbClr val="A5A5A5"/>
                </a:solidFill>
              </a:rPr>
              <a:t>    →    </a:t>
            </a:r>
            <a:r>
              <a:rPr lang="en-GB" sz="1300" dirty="0">
                <a:solidFill>
                  <a:srgbClr val="A5A5A5"/>
                </a:solidFill>
              </a:rPr>
              <a:t>Results</a:t>
            </a:r>
            <a:r>
              <a:rPr lang="en-GB" sz="1300" dirty="0">
                <a:solidFill>
                  <a:srgbClr val="A5A5A5"/>
                </a:solidFill>
              </a:rPr>
              <a:t>    →    </a:t>
            </a:r>
            <a:r>
              <a:rPr lang="en-GB" sz="1300" dirty="0">
                <a:solidFill>
                  <a:srgbClr val="A5A5A5"/>
                </a:solidFill>
              </a:rPr>
              <a:t>Conclusions</a:t>
            </a:r>
          </a:p>
        </p:txBody>
      </p:sp>
      <p:sp>
        <p:nvSpPr>
          <p:cNvPr id="13" name="Slide Number"/>
          <p:cNvSpPr>
            <a:spLocks noGrp="1"/>
          </p:cNvSpPr>
          <p:nvPr>
            <p:ph type="sldNum" sz="quarter" idx="12"/>
          </p:nvPr>
        </p:nvSpPr>
        <p:spPr/>
        <p:txBody>
          <a:bodyPr/>
          <a:lstStyle/>
          <a:p>
            <a:fld id="{619F89D8-7AE3-494A-97F3-03D680869632}" type="slidenum">
              <a:rPr lang="en-GB"/>
              <a:t>1</a:t>
            </a:fld>
            <a:endParaRPr lang="en-GB"/>
          </a:p>
        </p:txBody>
      </p:sp>
      <p:sp>
        <p:nvSpPr>
          <p:cNvPr id="14" name="Label"/>
          <p:cNvSpPr txBox="1"/>
          <p:nvPr/>
        </p:nvSpPr>
        <p:spPr>
          <a:xfrm>
            <a:off x="603504" y="1984248"/>
            <a:ext cx="3520440" cy="310896"/>
          </a:xfrm>
          <a:prstGeom prst="rect">
            <a:avLst/>
          </a:prstGeom>
          <a:noFill/>
        </p:spPr>
        <p:txBody>
          <a:bodyPr wrap="square" lIns="45720" tIns="0" rIns="45720" bIns="0" anchor="t">
            <a:noAutofit/>
          </a:bodyPr>
          <a:lstStyle/>
          <a:p>
            <a:pPr algn="l"/>
            <a:r>
              <a:rPr lang="en-GB" sz="1700" b="1" dirty="0">
                <a:solidFill>
                  <a:srgbClr val="262626"/>
                </a:solidFill>
              </a:rPr>
              <a:t>Adhesive A</a:t>
            </a:r>
          </a:p>
        </p:txBody>
      </p:sp>
      <p:sp>
        <p:nvSpPr>
          <p:cNvPr id="15" name="Label"/>
          <p:cNvSpPr txBox="1"/>
          <p:nvPr/>
        </p:nvSpPr>
        <p:spPr>
          <a:xfrm>
            <a:off x="603504" y="2295144"/>
            <a:ext cx="3520440" cy="274320"/>
          </a:xfrm>
          <a:prstGeom prst="rect">
            <a:avLst/>
          </a:prstGeom>
          <a:noFill/>
        </p:spPr>
        <p:txBody>
          <a:bodyPr wrap="square" lIns="45720" tIns="0" rIns="45720" bIns="0" anchor="t">
            <a:noAutofit/>
          </a:bodyPr>
          <a:lstStyle/>
          <a:p>
            <a:pPr algn="l"/>
            <a:r>
              <a:rPr lang="en-GB" sz="1300" dirty="0">
                <a:solidFill>
                  <a:srgbClr val="6E6E6E"/>
                </a:solidFill>
              </a:rPr>
              <a:t>taught once, then replayed</a:t>
            </a:r>
          </a:p>
        </p:txBody>
      </p:sp>
      <p:cxnSp>
        <p:nvCxnSpPr>
          <p:cNvPr id="16" name="Arrow"/>
          <p:cNvCxnSpPr/>
          <p:nvPr/>
        </p:nvCxnSpPr>
        <p:spPr>
          <a:xfrm>
            <a:off x="603504" y="4846320"/>
            <a:ext cx="3429000" cy="0"/>
          </a:xfrm>
          <a:prstGeom prst="straightConnector1">
            <a:avLst/>
          </a:prstGeom>
          <a:ln w="15875">
            <a:solidFill>
              <a:srgbClr val="63666A"/>
            </a:solidFill>
            <a:tailEnd type="triangle" w="med" len="med"/>
          </a:ln>
        </p:spPr>
      </p:cxnSp>
      <p:sp>
        <p:nvSpPr>
          <p:cNvPr id="17" name="Label"/>
          <p:cNvSpPr txBox="1"/>
          <p:nvPr/>
        </p:nvSpPr>
        <p:spPr>
          <a:xfrm>
            <a:off x="3118104" y="4892040"/>
            <a:ext cx="914400" cy="256032"/>
          </a:xfrm>
          <a:prstGeom prst="rect">
            <a:avLst/>
          </a:prstGeom>
          <a:noFill/>
        </p:spPr>
        <p:txBody>
          <a:bodyPr wrap="square" lIns="45720" tIns="0" rIns="45720" bIns="0" anchor="t">
            <a:noAutofit/>
          </a:bodyPr>
          <a:lstStyle/>
          <a:p>
            <a:pPr algn="r"/>
            <a:r>
              <a:rPr lang="en-GB" sz="1200" dirty="0">
                <a:solidFill>
                  <a:srgbClr val="6E6E6E"/>
                </a:solidFill>
              </a:rPr>
              <a:t>time</a:t>
            </a:r>
          </a:p>
        </p:txBody>
      </p:sp>
      <p:sp>
        <p:nvSpPr>
          <p:cNvPr id="18" name="Band"/>
          <p:cNvSpPr/>
          <p:nvPr/>
        </p:nvSpPr>
        <p:spPr>
          <a:xfrm>
            <a:off x="1609344" y="2880360"/>
            <a:ext cx="731520" cy="1920240"/>
          </a:xfrm>
          <a:prstGeom prst="roundRect">
            <a:avLst>
              <a:gd name="adj" fmla="val 0"/>
            </a:avLst>
          </a:prstGeom>
          <a:solidFill>
            <a:srgbClr val="CFEAF6"/>
          </a:solidFill>
          <a:ln>
            <a:noFill/>
          </a:ln>
        </p:spPr>
        <p:txBody>
          <a:bodyPr wrap="square" lIns="64008" tIns="27432" rIns="64008" bIns="27432" anchor="ctr">
            <a:noAutofit/>
          </a:bodyPr>
          <a:lstStyle/>
          <a:p>
            <a:pPr algn="ctr"/>
            <a:r>
              <a:rPr lang="en-GB" sz="1600" dirty="0">
                <a:solidFill>
                  <a:srgbClr val="262626"/>
                </a:solidFill>
              </a:rPr>
              <a:t/>
            </a:r>
          </a:p>
        </p:txBody>
      </p:sp>
      <p:sp>
        <p:nvSpPr>
          <p:cNvPr id="19" name="Label"/>
          <p:cNvSpPr txBox="1"/>
          <p:nvPr/>
        </p:nvSpPr>
        <p:spPr>
          <a:xfrm>
            <a:off x="1335024" y="2624328"/>
            <a:ext cx="1280160" cy="237744"/>
          </a:xfrm>
          <a:prstGeom prst="rect">
            <a:avLst/>
          </a:prstGeom>
          <a:noFill/>
        </p:spPr>
        <p:txBody>
          <a:bodyPr wrap="square" lIns="45720" tIns="0" rIns="45720" bIns="0" anchor="t">
            <a:noAutofit/>
          </a:bodyPr>
          <a:lstStyle/>
          <a:p>
            <a:pPr algn="ctr"/>
            <a:r>
              <a:rPr lang="en-GB" sz="1100" dirty="0">
                <a:solidFill>
                  <a:srgbClr val="24A0D8"/>
                </a:solidFill>
              </a:rPr>
              <a:t>open time</a:t>
            </a:r>
          </a:p>
        </p:txBody>
      </p:sp>
      <p:cxnSp>
        <p:nvCxnSpPr>
          <p:cNvPr id="20" name="Arrow"/>
          <p:cNvCxnSpPr/>
          <p:nvPr/>
        </p:nvCxnSpPr>
        <p:spPr>
          <a:xfrm>
            <a:off x="603504" y="3017520"/>
            <a:ext cx="3246120" cy="0"/>
          </a:xfrm>
          <a:prstGeom prst="straightConnector1">
            <a:avLst/>
          </a:prstGeom>
          <a:ln w="9525">
            <a:solidFill>
              <a:srgbClr val="D2D2D2"/>
            </a:solidFill>
          </a:ln>
        </p:spPr>
      </p:cxnSp>
      <p:sp>
        <p:nvSpPr>
          <p:cNvPr id="21" name="Bar"/>
          <p:cNvSpPr/>
          <p:nvPr/>
        </p:nvSpPr>
        <p:spPr>
          <a:xfrm>
            <a:off x="1883664" y="2935224"/>
            <a:ext cx="1463040" cy="164592"/>
          </a:xfrm>
          <a:prstGeom prst="roundRect">
            <a:avLst>
              <a:gd name="adj" fmla="val 50000"/>
            </a:avLst>
          </a:prstGeom>
          <a:solidFill>
            <a:srgbClr val="7B8D1E"/>
          </a:solidFill>
          <a:ln>
            <a:noFill/>
          </a:ln>
        </p:spPr>
        <p:txBody>
          <a:bodyPr wrap="square" lIns="64008" tIns="27432" rIns="64008" bIns="27432" anchor="ctr">
            <a:noAutofit/>
          </a:bodyPr>
          <a:lstStyle/>
          <a:p>
            <a:pPr algn="ctr"/>
            <a:r>
              <a:rPr lang="en-GB" sz="1600" dirty="0">
                <a:solidFill>
                  <a:srgbClr val="262626"/>
                </a:solidFill>
              </a:rPr>
              <a:t/>
            </a:r>
          </a:p>
        </p:txBody>
      </p:sp>
      <p:sp>
        <p:nvSpPr>
          <p:cNvPr id="22" name="Label"/>
          <p:cNvSpPr txBox="1"/>
          <p:nvPr/>
        </p:nvSpPr>
        <p:spPr>
          <a:xfrm>
            <a:off x="3803904" y="2834640"/>
            <a:ext cx="365760" cy="365760"/>
          </a:xfrm>
          <a:prstGeom prst="rect">
            <a:avLst/>
          </a:prstGeom>
          <a:noFill/>
        </p:spPr>
        <p:txBody>
          <a:bodyPr wrap="square" lIns="45720" tIns="0" rIns="45720" bIns="0" anchor="ctr">
            <a:noAutofit/>
          </a:bodyPr>
          <a:lstStyle/>
          <a:p>
            <a:pPr algn="ctr"/>
            <a:r>
              <a:rPr lang="en-GB" sz="1600" dirty="0">
                <a:solidFill>
                  <a:srgbClr val="7B8D1E"/>
                </a:solidFill>
              </a:rPr>
              <a:t>✓</a:t>
            </a:r>
          </a:p>
        </p:txBody>
      </p:sp>
      <p:sp>
        <p:nvSpPr>
          <p:cNvPr id="23" name="Label"/>
          <p:cNvSpPr txBox="1"/>
          <p:nvPr/>
        </p:nvSpPr>
        <p:spPr>
          <a:xfrm>
            <a:off x="603504" y="3127248"/>
            <a:ext cx="3200400" cy="256032"/>
          </a:xfrm>
          <a:prstGeom prst="rect">
            <a:avLst/>
          </a:prstGeom>
          <a:noFill/>
        </p:spPr>
        <p:txBody>
          <a:bodyPr wrap="square" lIns="45720" tIns="0" rIns="45720" bIns="0" anchor="t">
            <a:noAutofit/>
          </a:bodyPr>
          <a:lstStyle/>
          <a:p>
            <a:pPr algn="l"/>
            <a:r>
              <a:rPr lang="en-GB" sz="1200" dirty="0">
                <a:solidFill>
                  <a:srgbClr val="7B8D1E"/>
                </a:solidFill>
              </a:rPr>
              <a:t>run 1</a:t>
            </a:r>
          </a:p>
        </p:txBody>
      </p:sp>
      <p:cxnSp>
        <p:nvCxnSpPr>
          <p:cNvPr id="24" name="Arrow"/>
          <p:cNvCxnSpPr/>
          <p:nvPr/>
        </p:nvCxnSpPr>
        <p:spPr>
          <a:xfrm>
            <a:off x="603504" y="3657600"/>
            <a:ext cx="3246120" cy="0"/>
          </a:xfrm>
          <a:prstGeom prst="straightConnector1">
            <a:avLst/>
          </a:prstGeom>
          <a:ln w="9525">
            <a:solidFill>
              <a:srgbClr val="D2D2D2"/>
            </a:solidFill>
          </a:ln>
        </p:spPr>
      </p:cxnSp>
      <p:sp>
        <p:nvSpPr>
          <p:cNvPr id="25" name="Bar"/>
          <p:cNvSpPr/>
          <p:nvPr/>
        </p:nvSpPr>
        <p:spPr>
          <a:xfrm>
            <a:off x="1883664" y="3575304"/>
            <a:ext cx="1463040" cy="164592"/>
          </a:xfrm>
          <a:prstGeom prst="roundRect">
            <a:avLst>
              <a:gd name="adj" fmla="val 50000"/>
            </a:avLst>
          </a:prstGeom>
          <a:solidFill>
            <a:srgbClr val="7B8D1E"/>
          </a:solidFill>
          <a:ln>
            <a:noFill/>
          </a:ln>
        </p:spPr>
        <p:txBody>
          <a:bodyPr wrap="square" lIns="64008" tIns="27432" rIns="64008" bIns="27432" anchor="ctr">
            <a:noAutofit/>
          </a:bodyPr>
          <a:lstStyle/>
          <a:p>
            <a:pPr algn="ctr"/>
            <a:r>
              <a:rPr lang="en-GB" sz="1600" dirty="0">
                <a:solidFill>
                  <a:srgbClr val="262626"/>
                </a:solidFill>
              </a:rPr>
              <a:t/>
            </a:r>
          </a:p>
        </p:txBody>
      </p:sp>
      <p:sp>
        <p:nvSpPr>
          <p:cNvPr id="26" name="Label"/>
          <p:cNvSpPr txBox="1"/>
          <p:nvPr/>
        </p:nvSpPr>
        <p:spPr>
          <a:xfrm>
            <a:off x="3803904" y="3474720"/>
            <a:ext cx="365760" cy="365760"/>
          </a:xfrm>
          <a:prstGeom prst="rect">
            <a:avLst/>
          </a:prstGeom>
          <a:noFill/>
        </p:spPr>
        <p:txBody>
          <a:bodyPr wrap="square" lIns="45720" tIns="0" rIns="45720" bIns="0" anchor="ctr">
            <a:noAutofit/>
          </a:bodyPr>
          <a:lstStyle/>
          <a:p>
            <a:pPr algn="ctr"/>
            <a:r>
              <a:rPr lang="en-GB" sz="1600" dirty="0">
                <a:solidFill>
                  <a:srgbClr val="7B8D1E"/>
                </a:solidFill>
              </a:rPr>
              <a:t>✓</a:t>
            </a:r>
          </a:p>
        </p:txBody>
      </p:sp>
      <p:sp>
        <p:nvSpPr>
          <p:cNvPr id="27" name="Label"/>
          <p:cNvSpPr txBox="1"/>
          <p:nvPr/>
        </p:nvSpPr>
        <p:spPr>
          <a:xfrm>
            <a:off x="603504" y="3767328"/>
            <a:ext cx="3200400" cy="256032"/>
          </a:xfrm>
          <a:prstGeom prst="rect">
            <a:avLst/>
          </a:prstGeom>
          <a:noFill/>
        </p:spPr>
        <p:txBody>
          <a:bodyPr wrap="square" lIns="45720" tIns="0" rIns="45720" bIns="0" anchor="t">
            <a:noAutofit/>
          </a:bodyPr>
          <a:lstStyle/>
          <a:p>
            <a:pPr algn="l"/>
            <a:r>
              <a:rPr lang="en-GB" sz="1200" dirty="0">
                <a:solidFill>
                  <a:srgbClr val="7B8D1E"/>
                </a:solidFill>
              </a:rPr>
              <a:t>run 2, identical</a:t>
            </a:r>
          </a:p>
        </p:txBody>
      </p:sp>
      <p:cxnSp>
        <p:nvCxnSpPr>
          <p:cNvPr id="28" name="Arrow"/>
          <p:cNvCxnSpPr/>
          <p:nvPr/>
        </p:nvCxnSpPr>
        <p:spPr>
          <a:xfrm>
            <a:off x="603504" y="4297680"/>
            <a:ext cx="3246120" cy="0"/>
          </a:xfrm>
          <a:prstGeom prst="straightConnector1">
            <a:avLst/>
          </a:prstGeom>
          <a:ln w="9525">
            <a:solidFill>
              <a:srgbClr val="D2D2D2"/>
            </a:solidFill>
          </a:ln>
        </p:spPr>
      </p:cxnSp>
      <p:sp>
        <p:nvSpPr>
          <p:cNvPr id="29" name="Bar"/>
          <p:cNvSpPr/>
          <p:nvPr/>
        </p:nvSpPr>
        <p:spPr>
          <a:xfrm>
            <a:off x="1883664" y="4215384"/>
            <a:ext cx="1463040" cy="164592"/>
          </a:xfrm>
          <a:prstGeom prst="roundRect">
            <a:avLst>
              <a:gd name="adj" fmla="val 50000"/>
            </a:avLst>
          </a:prstGeom>
          <a:solidFill>
            <a:srgbClr val="7B8D1E"/>
          </a:solidFill>
          <a:ln>
            <a:noFill/>
          </a:ln>
        </p:spPr>
        <p:txBody>
          <a:bodyPr wrap="square" lIns="64008" tIns="27432" rIns="64008" bIns="27432" anchor="ctr">
            <a:noAutofit/>
          </a:bodyPr>
          <a:lstStyle/>
          <a:p>
            <a:pPr algn="ctr"/>
            <a:r>
              <a:rPr lang="en-GB" sz="1600" dirty="0">
                <a:solidFill>
                  <a:srgbClr val="262626"/>
                </a:solidFill>
              </a:rPr>
              <a:t/>
            </a:r>
          </a:p>
        </p:txBody>
      </p:sp>
      <p:sp>
        <p:nvSpPr>
          <p:cNvPr id="30" name="Label"/>
          <p:cNvSpPr txBox="1"/>
          <p:nvPr/>
        </p:nvSpPr>
        <p:spPr>
          <a:xfrm>
            <a:off x="3803904" y="4114800"/>
            <a:ext cx="365760" cy="365760"/>
          </a:xfrm>
          <a:prstGeom prst="rect">
            <a:avLst/>
          </a:prstGeom>
          <a:noFill/>
        </p:spPr>
        <p:txBody>
          <a:bodyPr wrap="square" lIns="45720" tIns="0" rIns="45720" bIns="0" anchor="ctr">
            <a:noAutofit/>
          </a:bodyPr>
          <a:lstStyle/>
          <a:p>
            <a:pPr algn="ctr"/>
            <a:r>
              <a:rPr lang="en-GB" sz="1600" dirty="0">
                <a:solidFill>
                  <a:srgbClr val="7B8D1E"/>
                </a:solidFill>
              </a:rPr>
              <a:t>✓</a:t>
            </a:r>
          </a:p>
        </p:txBody>
      </p:sp>
      <p:sp>
        <p:nvSpPr>
          <p:cNvPr id="31" name="Label"/>
          <p:cNvSpPr txBox="1"/>
          <p:nvPr/>
        </p:nvSpPr>
        <p:spPr>
          <a:xfrm>
            <a:off x="603504" y="4407408"/>
            <a:ext cx="3200400" cy="256032"/>
          </a:xfrm>
          <a:prstGeom prst="rect">
            <a:avLst/>
          </a:prstGeom>
          <a:noFill/>
        </p:spPr>
        <p:txBody>
          <a:bodyPr wrap="square" lIns="45720" tIns="0" rIns="45720" bIns="0" anchor="t">
            <a:noAutofit/>
          </a:bodyPr>
          <a:lstStyle/>
          <a:p>
            <a:pPr algn="l"/>
            <a:r>
              <a:rPr lang="en-GB" sz="1200" dirty="0">
                <a:solidFill>
                  <a:srgbClr val="7B8D1E"/>
                </a:solidFill>
              </a:rPr>
              <a:t>run 3, identical</a:t>
            </a:r>
          </a:p>
        </p:txBody>
      </p:sp>
      <p:sp>
        <p:nvSpPr>
          <p:cNvPr id="32" name="Label"/>
          <p:cNvSpPr txBox="1"/>
          <p:nvPr/>
        </p:nvSpPr>
        <p:spPr>
          <a:xfrm>
            <a:off x="4370832" y="1984248"/>
            <a:ext cx="3520440" cy="310896"/>
          </a:xfrm>
          <a:prstGeom prst="rect">
            <a:avLst/>
          </a:prstGeom>
          <a:noFill/>
        </p:spPr>
        <p:txBody>
          <a:bodyPr wrap="square" lIns="45720" tIns="0" rIns="45720" bIns="0" anchor="t">
            <a:noAutofit/>
          </a:bodyPr>
          <a:lstStyle/>
          <a:p>
            <a:pPr algn="l"/>
            <a:r>
              <a:rPr lang="en-GB" sz="1700" b="1" dirty="0">
                <a:solidFill>
                  <a:srgbClr val="262626"/>
                </a:solidFill>
              </a:rPr>
              <a:t>Adhesive B, faster curing</a:t>
            </a:r>
          </a:p>
        </p:txBody>
      </p:sp>
      <p:sp>
        <p:nvSpPr>
          <p:cNvPr id="33" name="Label"/>
          <p:cNvSpPr txBox="1"/>
          <p:nvPr/>
        </p:nvSpPr>
        <p:spPr>
          <a:xfrm>
            <a:off x="4370832" y="2295144"/>
            <a:ext cx="3520440" cy="274320"/>
          </a:xfrm>
          <a:prstGeom prst="rect">
            <a:avLst/>
          </a:prstGeom>
          <a:noFill/>
        </p:spPr>
        <p:txBody>
          <a:bodyPr wrap="square" lIns="45720" tIns="0" rIns="45720" bIns="0" anchor="t">
            <a:noAutofit/>
          </a:bodyPr>
          <a:lstStyle/>
          <a:p>
            <a:pPr algn="l"/>
            <a:r>
              <a:rPr lang="en-GB" sz="1300" dirty="0">
                <a:solidFill>
                  <a:srgbClr val="6E6E6E"/>
                </a:solidFill>
              </a:rPr>
              <a:t>same program</a:t>
            </a:r>
          </a:p>
        </p:txBody>
      </p:sp>
      <p:cxnSp>
        <p:nvCxnSpPr>
          <p:cNvPr id="34" name="Arrow"/>
          <p:cNvCxnSpPr/>
          <p:nvPr/>
        </p:nvCxnSpPr>
        <p:spPr>
          <a:xfrm>
            <a:off x="4370832" y="4846320"/>
            <a:ext cx="3429000" cy="0"/>
          </a:xfrm>
          <a:prstGeom prst="straightConnector1">
            <a:avLst/>
          </a:prstGeom>
          <a:ln w="15875">
            <a:solidFill>
              <a:srgbClr val="63666A"/>
            </a:solidFill>
            <a:tailEnd type="triangle" w="med" len="med"/>
          </a:ln>
        </p:spPr>
      </p:cxnSp>
      <p:sp>
        <p:nvSpPr>
          <p:cNvPr id="35" name="Label"/>
          <p:cNvSpPr txBox="1"/>
          <p:nvPr/>
        </p:nvSpPr>
        <p:spPr>
          <a:xfrm>
            <a:off x="6885432" y="4892040"/>
            <a:ext cx="914400" cy="256032"/>
          </a:xfrm>
          <a:prstGeom prst="rect">
            <a:avLst/>
          </a:prstGeom>
          <a:noFill/>
        </p:spPr>
        <p:txBody>
          <a:bodyPr wrap="square" lIns="45720" tIns="0" rIns="45720" bIns="0" anchor="t">
            <a:noAutofit/>
          </a:bodyPr>
          <a:lstStyle/>
          <a:p>
            <a:pPr algn="r"/>
            <a:r>
              <a:rPr lang="en-GB" sz="1200" dirty="0">
                <a:solidFill>
                  <a:srgbClr val="6E6E6E"/>
                </a:solidFill>
              </a:rPr>
              <a:t>time</a:t>
            </a:r>
          </a:p>
        </p:txBody>
      </p:sp>
      <p:sp>
        <p:nvSpPr>
          <p:cNvPr id="36" name="Band"/>
          <p:cNvSpPr/>
          <p:nvPr/>
        </p:nvSpPr>
        <p:spPr>
          <a:xfrm>
            <a:off x="4782312" y="2880360"/>
            <a:ext cx="548640" cy="1920240"/>
          </a:xfrm>
          <a:prstGeom prst="roundRect">
            <a:avLst>
              <a:gd name="adj" fmla="val 0"/>
            </a:avLst>
          </a:prstGeom>
          <a:solidFill>
            <a:srgbClr val="CFEAF6"/>
          </a:solidFill>
          <a:ln>
            <a:noFill/>
          </a:ln>
        </p:spPr>
        <p:txBody>
          <a:bodyPr wrap="square" lIns="64008" tIns="27432" rIns="64008" bIns="27432" anchor="ctr">
            <a:noAutofit/>
          </a:bodyPr>
          <a:lstStyle/>
          <a:p>
            <a:pPr algn="ctr"/>
            <a:r>
              <a:rPr lang="en-GB" sz="1600" dirty="0">
                <a:solidFill>
                  <a:srgbClr val="262626"/>
                </a:solidFill>
              </a:rPr>
              <a:t/>
            </a:r>
          </a:p>
        </p:txBody>
      </p:sp>
      <p:sp>
        <p:nvSpPr>
          <p:cNvPr id="37" name="Label"/>
          <p:cNvSpPr txBox="1"/>
          <p:nvPr/>
        </p:nvSpPr>
        <p:spPr>
          <a:xfrm>
            <a:off x="4507992" y="2624328"/>
            <a:ext cx="1097280" cy="237744"/>
          </a:xfrm>
          <a:prstGeom prst="rect">
            <a:avLst/>
          </a:prstGeom>
          <a:noFill/>
        </p:spPr>
        <p:txBody>
          <a:bodyPr wrap="square" lIns="45720" tIns="0" rIns="45720" bIns="0" anchor="t">
            <a:noAutofit/>
          </a:bodyPr>
          <a:lstStyle/>
          <a:p>
            <a:pPr algn="ctr"/>
            <a:r>
              <a:rPr lang="en-GB" sz="1100" dirty="0">
                <a:solidFill>
                  <a:srgbClr val="24A0D8"/>
                </a:solidFill>
              </a:rPr>
              <a:t>open time</a:t>
            </a:r>
          </a:p>
        </p:txBody>
      </p:sp>
      <p:cxnSp>
        <p:nvCxnSpPr>
          <p:cNvPr id="38" name="Arrow"/>
          <p:cNvCxnSpPr/>
          <p:nvPr/>
        </p:nvCxnSpPr>
        <p:spPr>
          <a:xfrm>
            <a:off x="4370832" y="3017520"/>
            <a:ext cx="3246120" cy="0"/>
          </a:xfrm>
          <a:prstGeom prst="straightConnector1">
            <a:avLst/>
          </a:prstGeom>
          <a:ln w="9525">
            <a:solidFill>
              <a:srgbClr val="D2D2D2"/>
            </a:solidFill>
          </a:ln>
        </p:spPr>
      </p:cxnSp>
      <p:sp>
        <p:nvSpPr>
          <p:cNvPr id="39" name="Bar"/>
          <p:cNvSpPr/>
          <p:nvPr/>
        </p:nvSpPr>
        <p:spPr>
          <a:xfrm>
            <a:off x="5650992" y="2935224"/>
            <a:ext cx="1463040" cy="164592"/>
          </a:xfrm>
          <a:prstGeom prst="roundRect">
            <a:avLst>
              <a:gd name="adj" fmla="val 50000"/>
            </a:avLst>
          </a:prstGeom>
          <a:solidFill>
            <a:srgbClr val="D85497"/>
          </a:solidFill>
          <a:ln>
            <a:noFill/>
          </a:ln>
        </p:spPr>
        <p:txBody>
          <a:bodyPr wrap="square" lIns="64008" tIns="27432" rIns="64008" bIns="27432" anchor="ctr">
            <a:noAutofit/>
          </a:bodyPr>
          <a:lstStyle/>
          <a:p>
            <a:pPr algn="ctr"/>
            <a:r>
              <a:rPr lang="en-GB" sz="1600" dirty="0">
                <a:solidFill>
                  <a:srgbClr val="262626"/>
                </a:solidFill>
              </a:rPr>
              <a:t/>
            </a:r>
          </a:p>
        </p:txBody>
      </p:sp>
      <p:sp>
        <p:nvSpPr>
          <p:cNvPr id="40" name="Label"/>
          <p:cNvSpPr txBox="1"/>
          <p:nvPr/>
        </p:nvSpPr>
        <p:spPr>
          <a:xfrm>
            <a:off x="7571232" y="2834640"/>
            <a:ext cx="365760" cy="365760"/>
          </a:xfrm>
          <a:prstGeom prst="rect">
            <a:avLst/>
          </a:prstGeom>
          <a:noFill/>
        </p:spPr>
        <p:txBody>
          <a:bodyPr wrap="square" lIns="45720" tIns="0" rIns="45720" bIns="0" anchor="ctr">
            <a:noAutofit/>
          </a:bodyPr>
          <a:lstStyle/>
          <a:p>
            <a:pPr algn="ctr"/>
            <a:r>
              <a:rPr lang="en-GB" sz="1600" dirty="0">
                <a:solidFill>
                  <a:srgbClr val="D85497"/>
                </a:solidFill>
              </a:rPr>
              <a:t>✗</a:t>
            </a:r>
          </a:p>
        </p:txBody>
      </p:sp>
      <p:sp>
        <p:nvSpPr>
          <p:cNvPr id="41" name="Label"/>
          <p:cNvSpPr txBox="1"/>
          <p:nvPr/>
        </p:nvSpPr>
        <p:spPr>
          <a:xfrm>
            <a:off x="4370832" y="3127248"/>
            <a:ext cx="3200400" cy="256032"/>
          </a:xfrm>
          <a:prstGeom prst="rect">
            <a:avLst/>
          </a:prstGeom>
          <a:noFill/>
        </p:spPr>
        <p:txBody>
          <a:bodyPr wrap="square" lIns="45720" tIns="0" rIns="45720" bIns="0" anchor="t">
            <a:noAutofit/>
          </a:bodyPr>
          <a:lstStyle/>
          <a:p>
            <a:pPr algn="l"/>
            <a:r>
              <a:rPr lang="en-GB" sz="1200" dirty="0">
                <a:solidFill>
                  <a:srgbClr val="D85497"/>
                </a:solidFill>
              </a:rPr>
              <a:t>seated too late</a:t>
            </a:r>
          </a:p>
        </p:txBody>
      </p:sp>
      <p:cxnSp>
        <p:nvCxnSpPr>
          <p:cNvPr id="42" name="Arrow"/>
          <p:cNvCxnSpPr/>
          <p:nvPr/>
        </p:nvCxnSpPr>
        <p:spPr>
          <a:xfrm>
            <a:off x="4370832" y="3749040"/>
            <a:ext cx="3246120" cy="0"/>
          </a:xfrm>
          <a:prstGeom prst="straightConnector1">
            <a:avLst/>
          </a:prstGeom>
          <a:ln w="9525">
            <a:solidFill>
              <a:srgbClr val="D2D2D2"/>
            </a:solidFill>
          </a:ln>
        </p:spPr>
      </p:cxnSp>
      <p:sp>
        <p:nvSpPr>
          <p:cNvPr id="43" name="Bar"/>
          <p:cNvSpPr/>
          <p:nvPr/>
        </p:nvSpPr>
        <p:spPr>
          <a:xfrm>
            <a:off x="4919472" y="3666744"/>
            <a:ext cx="1463040" cy="164592"/>
          </a:xfrm>
          <a:prstGeom prst="roundRect">
            <a:avLst>
              <a:gd name="adj" fmla="val 50000"/>
            </a:avLst>
          </a:prstGeom>
          <a:solidFill>
            <a:srgbClr val="7B8D1E"/>
          </a:solidFill>
          <a:ln>
            <a:noFill/>
          </a:ln>
        </p:spPr>
        <p:txBody>
          <a:bodyPr wrap="square" lIns="64008" tIns="27432" rIns="64008" bIns="27432" anchor="ctr">
            <a:noAutofit/>
          </a:bodyPr>
          <a:lstStyle/>
          <a:p>
            <a:pPr algn="ctr"/>
            <a:r>
              <a:rPr lang="en-GB" sz="1600" dirty="0">
                <a:solidFill>
                  <a:srgbClr val="262626"/>
                </a:solidFill>
              </a:rPr>
              <a:t/>
            </a:r>
          </a:p>
        </p:txBody>
      </p:sp>
      <p:sp>
        <p:nvSpPr>
          <p:cNvPr id="44" name="Label"/>
          <p:cNvSpPr txBox="1"/>
          <p:nvPr/>
        </p:nvSpPr>
        <p:spPr>
          <a:xfrm>
            <a:off x="7571232" y="3566160"/>
            <a:ext cx="365760" cy="365760"/>
          </a:xfrm>
          <a:prstGeom prst="rect">
            <a:avLst/>
          </a:prstGeom>
          <a:noFill/>
        </p:spPr>
        <p:txBody>
          <a:bodyPr wrap="square" lIns="45720" tIns="0" rIns="45720" bIns="0" anchor="ctr">
            <a:noAutofit/>
          </a:bodyPr>
          <a:lstStyle/>
          <a:p>
            <a:pPr algn="ctr"/>
            <a:r>
              <a:rPr lang="en-GB" sz="1600" dirty="0">
                <a:solidFill>
                  <a:srgbClr val="7B8D1E"/>
                </a:solidFill>
              </a:rPr>
              <a:t>✓</a:t>
            </a:r>
          </a:p>
        </p:txBody>
      </p:sp>
      <p:sp>
        <p:nvSpPr>
          <p:cNvPr id="45" name="Label"/>
          <p:cNvSpPr txBox="1"/>
          <p:nvPr/>
        </p:nvSpPr>
        <p:spPr>
          <a:xfrm>
            <a:off x="4370832" y="3858768"/>
            <a:ext cx="3200400" cy="256032"/>
          </a:xfrm>
          <a:prstGeom prst="rect">
            <a:avLst/>
          </a:prstGeom>
          <a:noFill/>
        </p:spPr>
        <p:txBody>
          <a:bodyPr wrap="square" lIns="45720" tIns="0" rIns="45720" bIns="0" anchor="t">
            <a:noAutofit/>
          </a:bodyPr>
          <a:lstStyle/>
          <a:p>
            <a:pPr algn="l"/>
            <a:r>
              <a:rPr lang="en-GB" sz="1200" dirty="0">
                <a:solidFill>
                  <a:srgbClr val="7B8D1E"/>
                </a:solidFill>
              </a:rPr>
              <a:t>timing reprogrammed</a:t>
            </a:r>
          </a:p>
        </p:txBody>
      </p:sp>
      <p:sp>
        <p:nvSpPr>
          <p:cNvPr id="46" name="Label"/>
          <p:cNvSpPr txBox="1"/>
          <p:nvPr/>
        </p:nvSpPr>
        <p:spPr>
          <a:xfrm>
            <a:off x="8138160" y="1984248"/>
            <a:ext cx="3520440" cy="310896"/>
          </a:xfrm>
          <a:prstGeom prst="rect">
            <a:avLst/>
          </a:prstGeom>
          <a:noFill/>
        </p:spPr>
        <p:txBody>
          <a:bodyPr wrap="square" lIns="45720" tIns="0" rIns="45720" bIns="0" anchor="t">
            <a:noAutofit/>
          </a:bodyPr>
          <a:lstStyle/>
          <a:p>
            <a:pPr algn="l"/>
            <a:r>
              <a:rPr lang="en-GB" sz="1700" b="1" dirty="0">
                <a:solidFill>
                  <a:srgbClr val="262626"/>
                </a:solidFill>
              </a:rPr>
              <a:t>Bead moved</a:t>
            </a:r>
          </a:p>
        </p:txBody>
      </p:sp>
      <p:sp>
        <p:nvSpPr>
          <p:cNvPr id="47" name="Label"/>
          <p:cNvSpPr txBox="1"/>
          <p:nvPr/>
        </p:nvSpPr>
        <p:spPr>
          <a:xfrm>
            <a:off x="8138160" y="2295144"/>
            <a:ext cx="3520440" cy="274320"/>
          </a:xfrm>
          <a:prstGeom prst="rect">
            <a:avLst/>
          </a:prstGeom>
          <a:noFill/>
        </p:spPr>
        <p:txBody>
          <a:bodyPr wrap="square" lIns="45720" tIns="0" rIns="45720" bIns="0" anchor="t">
            <a:noAutofit/>
          </a:bodyPr>
          <a:lstStyle/>
          <a:p>
            <a:pPr algn="l"/>
            <a:r>
              <a:rPr lang="en-GB" sz="1300" dirty="0">
                <a:solidFill>
                  <a:srgbClr val="6E6E6E"/>
                </a:solidFill>
              </a:rPr>
              <a:t>same program</a:t>
            </a:r>
          </a:p>
        </p:txBody>
      </p:sp>
      <p:cxnSp>
        <p:nvCxnSpPr>
          <p:cNvPr id="48" name="Arrow"/>
          <p:cNvCxnSpPr/>
          <p:nvPr/>
        </p:nvCxnSpPr>
        <p:spPr>
          <a:xfrm>
            <a:off x="8138160" y="4846320"/>
            <a:ext cx="3429000" cy="0"/>
          </a:xfrm>
          <a:prstGeom prst="straightConnector1">
            <a:avLst/>
          </a:prstGeom>
          <a:ln w="15875">
            <a:solidFill>
              <a:srgbClr val="63666A"/>
            </a:solidFill>
            <a:tailEnd type="triangle" w="med" len="med"/>
          </a:ln>
        </p:spPr>
      </p:cxnSp>
      <p:sp>
        <p:nvSpPr>
          <p:cNvPr id="49" name="Label"/>
          <p:cNvSpPr txBox="1"/>
          <p:nvPr/>
        </p:nvSpPr>
        <p:spPr>
          <a:xfrm>
            <a:off x="10652760" y="4892040"/>
            <a:ext cx="914400" cy="256032"/>
          </a:xfrm>
          <a:prstGeom prst="rect">
            <a:avLst/>
          </a:prstGeom>
          <a:noFill/>
        </p:spPr>
        <p:txBody>
          <a:bodyPr wrap="square" lIns="45720" tIns="0" rIns="45720" bIns="0" anchor="t">
            <a:noAutofit/>
          </a:bodyPr>
          <a:lstStyle/>
          <a:p>
            <a:pPr algn="r"/>
            <a:r>
              <a:rPr lang="en-GB" sz="1200" dirty="0">
                <a:solidFill>
                  <a:srgbClr val="6E6E6E"/>
                </a:solidFill>
              </a:rPr>
              <a:t>position</a:t>
            </a:r>
          </a:p>
        </p:txBody>
      </p:sp>
      <p:sp>
        <p:nvSpPr>
          <p:cNvPr id="50" name="Band"/>
          <p:cNvSpPr/>
          <p:nvPr/>
        </p:nvSpPr>
        <p:spPr>
          <a:xfrm>
            <a:off x="9646920" y="2880360"/>
            <a:ext cx="457200" cy="1920240"/>
          </a:xfrm>
          <a:prstGeom prst="roundRect">
            <a:avLst>
              <a:gd name="adj" fmla="val 0"/>
            </a:avLst>
          </a:prstGeom>
          <a:noFill/>
          <a:ln w="12700">
            <a:solidFill>
              <a:srgbClr val="63666A"/>
            </a:solidFill>
            <a:prstDash val="dash"/>
          </a:ln>
        </p:spPr>
        <p:txBody>
          <a:bodyPr wrap="square" lIns="64008" tIns="27432" rIns="64008" bIns="27432" anchor="ctr">
            <a:noAutofit/>
          </a:bodyPr>
          <a:lstStyle/>
          <a:p>
            <a:pPr algn="ctr"/>
            <a:r>
              <a:rPr lang="en-GB" sz="1600" dirty="0">
                <a:solidFill>
                  <a:srgbClr val="262626"/>
                </a:solidFill>
              </a:rPr>
              <a:t/>
            </a:r>
          </a:p>
        </p:txBody>
      </p:sp>
      <p:sp>
        <p:nvSpPr>
          <p:cNvPr id="51" name="Label"/>
          <p:cNvSpPr txBox="1"/>
          <p:nvPr/>
        </p:nvSpPr>
        <p:spPr>
          <a:xfrm>
            <a:off x="9372600" y="2624328"/>
            <a:ext cx="1005840" cy="237744"/>
          </a:xfrm>
          <a:prstGeom prst="rect">
            <a:avLst/>
          </a:prstGeom>
          <a:noFill/>
        </p:spPr>
        <p:txBody>
          <a:bodyPr wrap="square" lIns="45720" tIns="0" rIns="45720" bIns="0" anchor="t">
            <a:noAutofit/>
          </a:bodyPr>
          <a:lstStyle/>
          <a:p>
            <a:pPr algn="ctr"/>
            <a:r>
              <a:rPr lang="en-GB" sz="1100" dirty="0">
                <a:solidFill>
                  <a:srgbClr val="63666A"/>
                </a:solidFill>
              </a:rPr>
              <a:t>taught bead</a:t>
            </a:r>
          </a:p>
        </p:txBody>
      </p:sp>
      <p:sp>
        <p:nvSpPr>
          <p:cNvPr id="52" name="Band"/>
          <p:cNvSpPr/>
          <p:nvPr/>
        </p:nvSpPr>
        <p:spPr>
          <a:xfrm>
            <a:off x="10561320" y="2880360"/>
            <a:ext cx="457200" cy="1920240"/>
          </a:xfrm>
          <a:prstGeom prst="roundRect">
            <a:avLst>
              <a:gd name="adj" fmla="val 0"/>
            </a:avLst>
          </a:prstGeom>
          <a:solidFill>
            <a:srgbClr val="F8E2C7"/>
          </a:solidFill>
          <a:ln>
            <a:noFill/>
          </a:ln>
        </p:spPr>
        <p:txBody>
          <a:bodyPr wrap="square" lIns="64008" tIns="27432" rIns="64008" bIns="27432" anchor="ctr">
            <a:noAutofit/>
          </a:bodyPr>
          <a:lstStyle/>
          <a:p>
            <a:pPr algn="ctr"/>
            <a:r>
              <a:rPr lang="en-GB" sz="1600" dirty="0">
                <a:solidFill>
                  <a:srgbClr val="262626"/>
                </a:solidFill>
              </a:rPr>
              <a:t/>
            </a:r>
          </a:p>
        </p:txBody>
      </p:sp>
      <p:sp>
        <p:nvSpPr>
          <p:cNvPr id="53" name="Label"/>
          <p:cNvSpPr txBox="1"/>
          <p:nvPr/>
        </p:nvSpPr>
        <p:spPr>
          <a:xfrm>
            <a:off x="10287000" y="2624328"/>
            <a:ext cx="1005840" cy="237744"/>
          </a:xfrm>
          <a:prstGeom prst="rect">
            <a:avLst/>
          </a:prstGeom>
          <a:noFill/>
        </p:spPr>
        <p:txBody>
          <a:bodyPr wrap="square" lIns="45720" tIns="0" rIns="45720" bIns="0" anchor="t">
            <a:noAutofit/>
          </a:bodyPr>
          <a:lstStyle/>
          <a:p>
            <a:pPr algn="ctr"/>
            <a:r>
              <a:rPr lang="en-GB" sz="1100" dirty="0">
                <a:solidFill>
                  <a:srgbClr val="E07B00"/>
                </a:solidFill>
              </a:rPr>
              <a:t>bead now</a:t>
            </a:r>
          </a:p>
        </p:txBody>
      </p:sp>
      <p:cxnSp>
        <p:nvCxnSpPr>
          <p:cNvPr id="54" name="Arrow"/>
          <p:cNvCxnSpPr/>
          <p:nvPr/>
        </p:nvCxnSpPr>
        <p:spPr>
          <a:xfrm>
            <a:off x="8138160" y="3017520"/>
            <a:ext cx="3246120" cy="0"/>
          </a:xfrm>
          <a:prstGeom prst="straightConnector1">
            <a:avLst/>
          </a:prstGeom>
          <a:ln w="9525">
            <a:solidFill>
              <a:srgbClr val="D2D2D2"/>
            </a:solidFill>
          </a:ln>
        </p:spPr>
      </p:cxnSp>
      <p:sp>
        <p:nvSpPr>
          <p:cNvPr id="55" name="Bar"/>
          <p:cNvSpPr/>
          <p:nvPr/>
        </p:nvSpPr>
        <p:spPr>
          <a:xfrm>
            <a:off x="9710928" y="2935224"/>
            <a:ext cx="329184" cy="164592"/>
          </a:xfrm>
          <a:prstGeom prst="roundRect">
            <a:avLst>
              <a:gd name="adj" fmla="val 50000"/>
            </a:avLst>
          </a:prstGeom>
          <a:solidFill>
            <a:srgbClr val="D85497"/>
          </a:solidFill>
          <a:ln>
            <a:noFill/>
          </a:ln>
        </p:spPr>
        <p:txBody>
          <a:bodyPr wrap="square" lIns="64008" tIns="27432" rIns="64008" bIns="27432" anchor="ctr">
            <a:noAutofit/>
          </a:bodyPr>
          <a:lstStyle/>
          <a:p>
            <a:pPr algn="ctr"/>
            <a:r>
              <a:rPr lang="en-GB" sz="1600" dirty="0">
                <a:solidFill>
                  <a:srgbClr val="262626"/>
                </a:solidFill>
              </a:rPr>
              <a:t/>
            </a:r>
          </a:p>
        </p:txBody>
      </p:sp>
      <p:sp>
        <p:nvSpPr>
          <p:cNvPr id="56" name="Label"/>
          <p:cNvSpPr txBox="1"/>
          <p:nvPr/>
        </p:nvSpPr>
        <p:spPr>
          <a:xfrm>
            <a:off x="11338560" y="2834640"/>
            <a:ext cx="365760" cy="365760"/>
          </a:xfrm>
          <a:prstGeom prst="rect">
            <a:avLst/>
          </a:prstGeom>
          <a:noFill/>
        </p:spPr>
        <p:txBody>
          <a:bodyPr wrap="square" lIns="45720" tIns="0" rIns="45720" bIns="0" anchor="ctr">
            <a:noAutofit/>
          </a:bodyPr>
          <a:lstStyle/>
          <a:p>
            <a:pPr algn="ctr"/>
            <a:r>
              <a:rPr lang="en-GB" sz="1600" dirty="0">
                <a:solidFill>
                  <a:srgbClr val="D85497"/>
                </a:solidFill>
              </a:rPr>
              <a:t>✗</a:t>
            </a:r>
          </a:p>
        </p:txBody>
      </p:sp>
      <p:sp>
        <p:nvSpPr>
          <p:cNvPr id="57" name="Label"/>
          <p:cNvSpPr txBox="1"/>
          <p:nvPr/>
        </p:nvSpPr>
        <p:spPr>
          <a:xfrm>
            <a:off x="8138160" y="3127248"/>
            <a:ext cx="3200400" cy="256032"/>
          </a:xfrm>
          <a:prstGeom prst="rect">
            <a:avLst/>
          </a:prstGeom>
          <a:noFill/>
        </p:spPr>
        <p:txBody>
          <a:bodyPr wrap="square" lIns="45720" tIns="0" rIns="45720" bIns="0" anchor="t">
            <a:noAutofit/>
          </a:bodyPr>
          <a:lstStyle/>
          <a:p>
            <a:pPr algn="l"/>
            <a:r>
              <a:rPr lang="en-GB" sz="1200" dirty="0">
                <a:solidFill>
                  <a:srgbClr val="D85497"/>
                </a:solidFill>
              </a:rPr>
              <a:t>placed off the bead</a:t>
            </a:r>
          </a:p>
        </p:txBody>
      </p:sp>
      <p:cxnSp>
        <p:nvCxnSpPr>
          <p:cNvPr id="58" name="Arrow"/>
          <p:cNvCxnSpPr/>
          <p:nvPr/>
        </p:nvCxnSpPr>
        <p:spPr>
          <a:xfrm>
            <a:off x="8138160" y="3749040"/>
            <a:ext cx="3246120" cy="0"/>
          </a:xfrm>
          <a:prstGeom prst="straightConnector1">
            <a:avLst/>
          </a:prstGeom>
          <a:ln w="9525">
            <a:solidFill>
              <a:srgbClr val="D2D2D2"/>
            </a:solidFill>
          </a:ln>
        </p:spPr>
      </p:cxnSp>
      <p:sp>
        <p:nvSpPr>
          <p:cNvPr id="59" name="Bar"/>
          <p:cNvSpPr/>
          <p:nvPr/>
        </p:nvSpPr>
        <p:spPr>
          <a:xfrm>
            <a:off x="10625328" y="3666744"/>
            <a:ext cx="329184" cy="164592"/>
          </a:xfrm>
          <a:prstGeom prst="roundRect">
            <a:avLst>
              <a:gd name="adj" fmla="val 50000"/>
            </a:avLst>
          </a:prstGeom>
          <a:solidFill>
            <a:srgbClr val="7B8D1E"/>
          </a:solidFill>
          <a:ln>
            <a:noFill/>
          </a:ln>
        </p:spPr>
        <p:txBody>
          <a:bodyPr wrap="square" lIns="64008" tIns="27432" rIns="64008" bIns="27432" anchor="ctr">
            <a:noAutofit/>
          </a:bodyPr>
          <a:lstStyle/>
          <a:p>
            <a:pPr algn="ctr"/>
            <a:r>
              <a:rPr lang="en-GB" sz="1600" dirty="0">
                <a:solidFill>
                  <a:srgbClr val="262626"/>
                </a:solidFill>
              </a:rPr>
              <a:t/>
            </a:r>
          </a:p>
        </p:txBody>
      </p:sp>
      <p:sp>
        <p:nvSpPr>
          <p:cNvPr id="60" name="Label"/>
          <p:cNvSpPr txBox="1"/>
          <p:nvPr/>
        </p:nvSpPr>
        <p:spPr>
          <a:xfrm>
            <a:off x="11338560" y="3566160"/>
            <a:ext cx="365760" cy="365760"/>
          </a:xfrm>
          <a:prstGeom prst="rect">
            <a:avLst/>
          </a:prstGeom>
          <a:noFill/>
        </p:spPr>
        <p:txBody>
          <a:bodyPr wrap="square" lIns="45720" tIns="0" rIns="45720" bIns="0" anchor="ctr">
            <a:noAutofit/>
          </a:bodyPr>
          <a:lstStyle/>
          <a:p>
            <a:pPr algn="ctr"/>
            <a:r>
              <a:rPr lang="en-GB" sz="1600" dirty="0">
                <a:solidFill>
                  <a:srgbClr val="7B8D1E"/>
                </a:solidFill>
              </a:rPr>
              <a:t>✓</a:t>
            </a:r>
          </a:p>
        </p:txBody>
      </p:sp>
      <p:sp>
        <p:nvSpPr>
          <p:cNvPr id="61" name="Label"/>
          <p:cNvSpPr txBox="1"/>
          <p:nvPr/>
        </p:nvSpPr>
        <p:spPr>
          <a:xfrm>
            <a:off x="8138160" y="3858768"/>
            <a:ext cx="3200400" cy="256032"/>
          </a:xfrm>
          <a:prstGeom prst="rect">
            <a:avLst/>
          </a:prstGeom>
          <a:noFill/>
        </p:spPr>
        <p:txBody>
          <a:bodyPr wrap="square" lIns="45720" tIns="0" rIns="45720" bIns="0" anchor="t">
            <a:noAutofit/>
          </a:bodyPr>
          <a:lstStyle/>
          <a:p>
            <a:pPr algn="l"/>
            <a:r>
              <a:rPr lang="en-GB" sz="1200" dirty="0">
                <a:solidFill>
                  <a:srgbClr val="7B8D1E"/>
                </a:solidFill>
              </a:rPr>
              <a:t>path reprogrammed</a:t>
            </a:r>
          </a:p>
        </p:txBody>
      </p:sp>
      <p:sp>
        <p:nvSpPr>
          <p:cNvPr id="62" name="Label"/>
          <p:cNvSpPr txBox="1"/>
          <p:nvPr/>
        </p:nvSpPr>
        <p:spPr>
          <a:xfrm>
            <a:off x="603504" y="5349240"/>
            <a:ext cx="10991088" cy="365760"/>
          </a:xfrm>
          <a:prstGeom prst="rect">
            <a:avLst/>
          </a:prstGeom>
          <a:noFill/>
        </p:spPr>
        <p:txBody>
          <a:bodyPr wrap="square" lIns="45720" tIns="0" rIns="45720" bIns="0" anchor="t">
            <a:noAutofit/>
          </a:bodyPr>
          <a:lstStyle/>
          <a:p>
            <a:pPr algn="ctr"/>
            <a:r>
              <a:rPr lang="en-GB" sz="1900" dirty="0">
                <a:solidFill>
                  <a:srgbClr val="262626"/>
                </a:solidFill>
              </a:rPr>
              <a:t>Each change in the product or the process requires a change in the code</a:t>
            </a:r>
          </a:p>
        </p:txBody>
      </p:sp>
      <p:sp>
        <p:nvSpPr>
          <p:cNvPr id="63" name="Label"/>
          <p:cNvSpPr txBox="1"/>
          <p:nvPr/>
        </p:nvSpPr>
        <p:spPr>
          <a:xfrm>
            <a:off x="603504" y="5760720"/>
            <a:ext cx="10991088" cy="329184"/>
          </a:xfrm>
          <a:prstGeom prst="rect">
            <a:avLst/>
          </a:prstGeom>
          <a:noFill/>
        </p:spPr>
        <p:txBody>
          <a:bodyPr wrap="square" lIns="45720" tIns="0" rIns="45720" bIns="0" anchor="t">
            <a:noAutofit/>
          </a:bodyPr>
          <a:lstStyle/>
          <a:p>
            <a:pPr algn="ctr"/>
            <a:r>
              <a:rPr lang="en-GB" sz="1500" dirty="0">
                <a:solidFill>
                  <a:srgbClr val="6E6E6E"/>
                </a:solidFill>
              </a:rPr>
              <a:t>The timing and the position are not stated explicitly, and the program encodes them only implicitly</a:t>
            </a:r>
          </a:p>
        </p:txBody>
      </p:sp>
    </p:spTree>
  </p:cSld>
  <p:clrMapOvr>
    <a:masterClrMapping/>
  </p:clrMapOvr>
  <p:timing>
    <p:tnLst>
      <p:par>
        <p:cTn id="1" dur="indefinite" restart="never" nodeType="tmRoot">
          <p:childTnLst>
            <p:seq concurrent="1" nextAc="seek">
              <p:cTn id="2" dur="indefinite" nodeType="mainSeq">
                <p:childTnLst>
                  <p:par>
                    <p:cTn id="19" fill="hold">
                      <p:stCondLst>
                        <p:cond delay="indefinite"/>
                      </p:stCondLst>
                      <p:childTnLst>
                        <p:par>
                          <p:cTn id="20"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24"/>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2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5"/>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6"/>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7"/>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8"/>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9"/>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50"/>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51"/>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52"/>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53"/>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54"/>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55"/>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56"/>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57"/>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58"/>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59"/>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60"/>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61"/>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62"/>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p:bldP spid="27" grpId="0"/>
      <p:bldP spid="29" grpId="0"/>
      <p:bldP spid="30" grpId="0"/>
      <p:bldP spid="31" grpId="0"/>
      <p:bldP spid="32" grpId="0"/>
      <p:bldP spid="33" grpId="0"/>
      <p:bldP spid="35" grpId="0"/>
      <p:bldP spid="36" grpId="0"/>
      <p:bldP spid="37" grpId="0"/>
      <p:bldP spid="39" grpId="0"/>
      <p:bldP spid="40" grpId="0"/>
      <p:bldP spid="41" grpId="0"/>
      <p:bldP spid="43" grpId="0"/>
      <p:bldP spid="44" grpId="0"/>
      <p:bldP spid="45" grpId="0"/>
      <p:bldP spid="46" grpId="0"/>
      <p:bldP spid="47" grpId="0"/>
      <p:bldP spid="49" grpId="0"/>
      <p:bldP spid="50" grpId="0"/>
      <p:bldP spid="51" grpId="0"/>
      <p:bldP spid="52" grpId="0"/>
      <p:bldP spid="53" grpId="0"/>
      <p:bldP spid="55" grpId="0"/>
      <p:bldP spid="56" grpId="0"/>
      <p:bldP spid="57" grpId="0"/>
      <p:bldP spid="59" grpId="0"/>
      <p:bldP spid="60" grpId="0"/>
      <p:bldP spid="61" grpId="0"/>
      <p:bldP spid="62" grpId="0"/>
      <p:bldP spid="6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From programming to generation</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b="1" dirty="0">
                <a:solidFill>
                  <a:srgbClr val="004791"/>
                </a:solidFill>
              </a:rPr>
              <a:t>Motivation</a:t>
            </a:r>
            <a:r>
              <a:rPr lang="en-GB" sz="1300" dirty="0">
                <a:solidFill>
                  <a:srgbClr val="A5A5A5"/>
                </a:solidFill>
              </a:rPr>
              <a:t>    →    </a:t>
            </a:r>
            <a:r>
              <a:rPr lang="en-GB" sz="1300" dirty="0">
                <a:solidFill>
                  <a:srgbClr val="A5A5A5"/>
                </a:solidFill>
              </a:rPr>
              <a:t>Background</a:t>
            </a:r>
            <a:r>
              <a:rPr lang="en-GB" sz="1300" dirty="0">
                <a:solidFill>
                  <a:srgbClr val="A5A5A5"/>
                </a:solidFill>
              </a:rPr>
              <a:t>    →    </a:t>
            </a:r>
            <a:r>
              <a:rPr lang="en-GB" sz="1300" dirty="0">
                <a:solidFill>
                  <a:srgbClr val="A5A5A5"/>
                </a:solidFill>
              </a:rPr>
              <a:t>Method</a:t>
            </a:r>
            <a:r>
              <a:rPr lang="en-GB" sz="1300" dirty="0">
                <a:solidFill>
                  <a:srgbClr val="A5A5A5"/>
                </a:solidFill>
              </a:rPr>
              <a:t>    →    </a:t>
            </a:r>
            <a:r>
              <a:rPr lang="en-GB" sz="1300" dirty="0">
                <a:solidFill>
                  <a:srgbClr val="A5A5A5"/>
                </a:solidFill>
              </a:rPr>
              <a:t>Results</a:t>
            </a:r>
            <a:r>
              <a:rPr lang="en-GB" sz="1300" dirty="0">
                <a:solidFill>
                  <a:srgbClr val="A5A5A5"/>
                </a:solidFill>
              </a:rPr>
              <a:t>    →    </a:t>
            </a:r>
            <a:r>
              <a:rPr lang="en-GB" sz="1300" dirty="0">
                <a:solidFill>
                  <a:srgbClr val="A5A5A5"/>
                </a:solidFill>
              </a:rPr>
              <a:t>Conclusions</a:t>
            </a:r>
          </a:p>
        </p:txBody>
      </p:sp>
      <p:sp>
        <p:nvSpPr>
          <p:cNvPr id="13" name="Slide Number"/>
          <p:cNvSpPr>
            <a:spLocks noGrp="1"/>
          </p:cNvSpPr>
          <p:nvPr>
            <p:ph type="sldNum" sz="quarter" idx="12"/>
          </p:nvPr>
        </p:nvSpPr>
        <p:spPr/>
        <p:txBody>
          <a:bodyPr/>
          <a:lstStyle/>
          <a:p>
            <a:fld id="{619F89D8-7AE3-494A-97F3-03D680869632}" type="slidenum">
              <a:rPr lang="en-GB"/>
              <a:t>1</a:t>
            </a:fld>
            <a:endParaRPr lang="en-GB"/>
          </a:p>
        </p:txBody>
      </p:sp>
      <p:sp>
        <p:nvSpPr>
          <p:cNvPr id="14" name="Label"/>
          <p:cNvSpPr txBox="1"/>
          <p:nvPr/>
        </p:nvSpPr>
        <p:spPr>
          <a:xfrm>
            <a:off x="603504" y="1938528"/>
            <a:ext cx="3520440" cy="347472"/>
          </a:xfrm>
          <a:prstGeom prst="rect">
            <a:avLst/>
          </a:prstGeom>
          <a:noFill/>
        </p:spPr>
        <p:txBody>
          <a:bodyPr wrap="square" lIns="45720" tIns="0" rIns="45720" bIns="0" anchor="ctr">
            <a:noAutofit/>
          </a:bodyPr>
          <a:lstStyle/>
          <a:p>
            <a:pPr algn="l"/>
            <a:r>
              <a:rPr lang="en-GB" sz="1900" b="1" dirty="0">
                <a:solidFill>
                  <a:srgbClr val="262626"/>
                </a:solidFill>
              </a:rPr>
              <a:t>Program</a:t>
            </a:r>
          </a:p>
        </p:txBody>
      </p:sp>
      <p:pic>
        <p:nvPicPr>
          <p:cNvPr id="15" name="Figure" descr="Program: One motion, coded by hand"/>
          <p:cNvPicPr>
            <a:picLocks noChangeAspect="1"/>
          </p:cNvPicPr>
          <p:nvPr/>
        </p:nvPicPr>
        <p:blipFill>
          <a:blip r:embed="rId2"/>
          <a:stretch>
            <a:fillRect/>
          </a:stretch>
        </p:blipFill>
        <p:spPr>
          <a:xfrm>
            <a:off x="603504" y="2379726"/>
            <a:ext cx="3520440" cy="2464308"/>
          </a:xfrm>
          <a:prstGeom prst="rect">
            <a:avLst/>
          </a:prstGeom>
        </p:spPr>
      </p:pic>
      <p:sp>
        <p:nvSpPr>
          <p:cNvPr id="16" name="Label"/>
          <p:cNvSpPr txBox="1"/>
          <p:nvPr/>
        </p:nvSpPr>
        <p:spPr>
          <a:xfrm>
            <a:off x="603504" y="4983480"/>
            <a:ext cx="3520440" cy="731520"/>
          </a:xfrm>
          <a:prstGeom prst="rect">
            <a:avLst/>
          </a:prstGeom>
          <a:noFill/>
        </p:spPr>
        <p:txBody>
          <a:bodyPr wrap="square" lIns="45720" tIns="0" rIns="45720" bIns="0" anchor="t">
            <a:noAutofit/>
          </a:bodyPr>
          <a:lstStyle/>
          <a:p>
            <a:pPr algn="l"/>
            <a:r>
              <a:rPr lang="en-GB" sz="1500" dirty="0">
                <a:solidFill>
                  <a:srgbClr val="262626"/>
                </a:solidFill>
              </a:rPr>
              <a:t>One motion, coded by hand</a:t>
            </a:r>
          </a:p>
        </p:txBody>
      </p:sp>
      <p:sp>
        <p:nvSpPr>
          <p:cNvPr id="17" name="Label"/>
          <p:cNvSpPr txBox="1"/>
          <p:nvPr/>
        </p:nvSpPr>
        <p:spPr>
          <a:xfrm>
            <a:off x="4370832" y="1938528"/>
            <a:ext cx="3520440" cy="347472"/>
          </a:xfrm>
          <a:prstGeom prst="rect">
            <a:avLst/>
          </a:prstGeom>
          <a:noFill/>
        </p:spPr>
        <p:txBody>
          <a:bodyPr wrap="square" lIns="45720" tIns="0" rIns="45720" bIns="0" anchor="ctr">
            <a:noAutofit/>
          </a:bodyPr>
          <a:lstStyle/>
          <a:p>
            <a:pPr algn="l"/>
            <a:r>
              <a:rPr lang="en-GB" sz="1900" b="1" dirty="0">
                <a:solidFill>
                  <a:srgbClr val="262626"/>
                </a:solidFill>
              </a:rPr>
              <a:t>Imitate</a:t>
            </a:r>
          </a:p>
        </p:txBody>
      </p:sp>
      <p:pic>
        <p:nvPicPr>
          <p:cNvPr id="18" name="Figure" descr="Imitate: One predicted motion for each state"/>
          <p:cNvPicPr>
            <a:picLocks noChangeAspect="1"/>
          </p:cNvPicPr>
          <p:nvPr/>
        </p:nvPicPr>
        <p:blipFill>
          <a:blip r:embed="rId3"/>
          <a:stretch>
            <a:fillRect/>
          </a:stretch>
        </p:blipFill>
        <p:spPr>
          <a:xfrm>
            <a:off x="4370832" y="2379726"/>
            <a:ext cx="3520440" cy="2464308"/>
          </a:xfrm>
          <a:prstGeom prst="rect">
            <a:avLst/>
          </a:prstGeom>
        </p:spPr>
      </p:pic>
      <p:sp>
        <p:nvSpPr>
          <p:cNvPr id="19" name="Label"/>
          <p:cNvSpPr txBox="1"/>
          <p:nvPr/>
        </p:nvSpPr>
        <p:spPr>
          <a:xfrm>
            <a:off x="4370832" y="4983480"/>
            <a:ext cx="3520440" cy="731520"/>
          </a:xfrm>
          <a:prstGeom prst="rect">
            <a:avLst/>
          </a:prstGeom>
          <a:noFill/>
        </p:spPr>
        <p:txBody>
          <a:bodyPr wrap="square" lIns="45720" tIns="0" rIns="45720" bIns="0" anchor="t">
            <a:noAutofit/>
          </a:bodyPr>
          <a:lstStyle/>
          <a:p>
            <a:pPr algn="l"/>
            <a:r>
              <a:rPr lang="en-GB" sz="1500" dirty="0">
                <a:solidFill>
                  <a:srgbClr val="262626"/>
                </a:solidFill>
              </a:rPr>
              <a:t>One predicted motion for each state</a:t>
            </a:r>
          </a:p>
        </p:txBody>
      </p:sp>
      <p:cxnSp>
        <p:nvCxnSpPr>
          <p:cNvPr id="20" name="Arrow"/>
          <p:cNvCxnSpPr/>
          <p:nvPr/>
        </p:nvCxnSpPr>
        <p:spPr>
          <a:xfrm>
            <a:off x="4142232" y="3611880"/>
            <a:ext cx="201168" cy="0"/>
          </a:xfrm>
          <a:prstGeom prst="straightConnector1">
            <a:avLst/>
          </a:prstGeom>
          <a:ln w="25400">
            <a:solidFill>
              <a:srgbClr val="63666A"/>
            </a:solidFill>
            <a:tailEnd type="triangle" w="med" len="med"/>
          </a:ln>
        </p:spPr>
      </p:cxnSp>
      <p:sp>
        <p:nvSpPr>
          <p:cNvPr id="21" name="Label"/>
          <p:cNvSpPr txBox="1"/>
          <p:nvPr/>
        </p:nvSpPr>
        <p:spPr>
          <a:xfrm>
            <a:off x="8138160" y="1938528"/>
            <a:ext cx="3520440" cy="347472"/>
          </a:xfrm>
          <a:prstGeom prst="rect">
            <a:avLst/>
          </a:prstGeom>
          <a:noFill/>
        </p:spPr>
        <p:txBody>
          <a:bodyPr wrap="square" lIns="45720" tIns="0" rIns="45720" bIns="0" anchor="ctr">
            <a:noAutofit/>
          </a:bodyPr>
          <a:lstStyle/>
          <a:p>
            <a:pPr algn="l"/>
            <a:r>
              <a:rPr lang="en-GB" sz="1900" b="1" dirty="0">
                <a:solidFill>
                  <a:srgbClr val="262626"/>
                </a:solidFill>
              </a:rPr>
              <a:t>Generate</a:t>
            </a:r>
          </a:p>
        </p:txBody>
      </p:sp>
      <p:pic>
        <p:nvPicPr>
          <p:cNvPr id="22" name="Figure" descr="Generate: Plausible samples, which a requirement stated after training accepts or rejects"/>
          <p:cNvPicPr>
            <a:picLocks noChangeAspect="1"/>
          </p:cNvPicPr>
          <p:nvPr/>
        </p:nvPicPr>
        <p:blipFill>
          <a:blip r:embed="rId4"/>
          <a:stretch>
            <a:fillRect/>
          </a:stretch>
        </p:blipFill>
        <p:spPr>
          <a:xfrm>
            <a:off x="8138160" y="2379726"/>
            <a:ext cx="3520440" cy="2464308"/>
          </a:xfrm>
          <a:prstGeom prst="rect">
            <a:avLst/>
          </a:prstGeom>
        </p:spPr>
      </p:pic>
      <p:sp>
        <p:nvSpPr>
          <p:cNvPr id="23" name="Label"/>
          <p:cNvSpPr txBox="1"/>
          <p:nvPr/>
        </p:nvSpPr>
        <p:spPr>
          <a:xfrm>
            <a:off x="8138160" y="4983480"/>
            <a:ext cx="3520440" cy="731520"/>
          </a:xfrm>
          <a:prstGeom prst="rect">
            <a:avLst/>
          </a:prstGeom>
          <a:noFill/>
        </p:spPr>
        <p:txBody>
          <a:bodyPr wrap="square" lIns="45720" tIns="0" rIns="45720" bIns="0" anchor="t">
            <a:noAutofit/>
          </a:bodyPr>
          <a:lstStyle/>
          <a:p>
            <a:pPr algn="l"/>
            <a:r>
              <a:rPr lang="en-GB" sz="1500" dirty="0">
                <a:solidFill>
                  <a:srgbClr val="262626"/>
                </a:solidFill>
              </a:rPr>
              <a:t>Plausible samples, which a requirement stated after training accepts or rejects</a:t>
            </a:r>
          </a:p>
        </p:txBody>
      </p:sp>
      <p:sp>
        <p:nvSpPr>
          <p:cNvPr id="24" name="Label"/>
          <p:cNvSpPr txBox="1"/>
          <p:nvPr/>
        </p:nvSpPr>
        <p:spPr>
          <a:xfrm>
            <a:off x="9692640" y="4526280"/>
            <a:ext cx="1920240" cy="256032"/>
          </a:xfrm>
          <a:prstGeom prst="rect">
            <a:avLst/>
          </a:prstGeom>
          <a:noFill/>
        </p:spPr>
        <p:txBody>
          <a:bodyPr wrap="square" lIns="45720" tIns="0" rIns="45720" bIns="0" anchor="t">
            <a:noAutofit/>
          </a:bodyPr>
          <a:lstStyle/>
          <a:p>
            <a:pPr algn="r"/>
            <a:r>
              <a:rPr lang="en-GB" sz="1100" dirty="0">
                <a:solidFill>
                  <a:srgbClr val="D85497"/>
                </a:solidFill>
              </a:rPr>
              <a:t>zone stated after training</a:t>
            </a:r>
          </a:p>
        </p:txBody>
      </p:sp>
      <p:cxnSp>
        <p:nvCxnSpPr>
          <p:cNvPr id="25" name="Arrow"/>
          <p:cNvCxnSpPr/>
          <p:nvPr/>
        </p:nvCxnSpPr>
        <p:spPr>
          <a:xfrm>
            <a:off x="7909560" y="3611880"/>
            <a:ext cx="201168" cy="0"/>
          </a:xfrm>
          <a:prstGeom prst="straightConnector1">
            <a:avLst/>
          </a:prstGeom>
          <a:ln w="25400">
            <a:solidFill>
              <a:srgbClr val="63666A"/>
            </a:solidFill>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11" fill="hold">
                      <p:stCondLst>
                        <p:cond delay="indefinite"/>
                      </p:stCondLst>
                      <p:childTnLst>
                        <p:par>
                          <p:cTn id="12"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17"/>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9" grpId="0"/>
      <p:bldP spid="21" grpId="0"/>
      <p:bldP spid="23" grpId="0"/>
      <p:bldP spid="2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Requirements that change after training</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b="1" dirty="0">
                <a:solidFill>
                  <a:srgbClr val="004791"/>
                </a:solidFill>
              </a:rPr>
              <a:t>Motivation</a:t>
            </a:r>
            <a:r>
              <a:rPr lang="en-GB" sz="1300" dirty="0">
                <a:solidFill>
                  <a:srgbClr val="A5A5A5"/>
                </a:solidFill>
              </a:rPr>
              <a:t>    →    </a:t>
            </a:r>
            <a:r>
              <a:rPr lang="en-GB" sz="1300" dirty="0">
                <a:solidFill>
                  <a:srgbClr val="A5A5A5"/>
                </a:solidFill>
              </a:rPr>
              <a:t>Background</a:t>
            </a:r>
            <a:r>
              <a:rPr lang="en-GB" sz="1300" dirty="0">
                <a:solidFill>
                  <a:srgbClr val="A5A5A5"/>
                </a:solidFill>
              </a:rPr>
              <a:t>    →    </a:t>
            </a:r>
            <a:r>
              <a:rPr lang="en-GB" sz="1300" dirty="0">
                <a:solidFill>
                  <a:srgbClr val="A5A5A5"/>
                </a:solidFill>
              </a:rPr>
              <a:t>Method</a:t>
            </a:r>
            <a:r>
              <a:rPr lang="en-GB" sz="1300" dirty="0">
                <a:solidFill>
                  <a:srgbClr val="A5A5A5"/>
                </a:solidFill>
              </a:rPr>
              <a:t>    →    </a:t>
            </a:r>
            <a:r>
              <a:rPr lang="en-GB" sz="1300" dirty="0">
                <a:solidFill>
                  <a:srgbClr val="A5A5A5"/>
                </a:solidFill>
              </a:rPr>
              <a:t>Results</a:t>
            </a:r>
            <a:r>
              <a:rPr lang="en-GB" sz="1300" dirty="0">
                <a:solidFill>
                  <a:srgbClr val="A5A5A5"/>
                </a:solidFill>
              </a:rPr>
              <a:t>    →    </a:t>
            </a:r>
            <a:r>
              <a:rPr lang="en-GB" sz="1300" dirty="0">
                <a:solidFill>
                  <a:srgbClr val="A5A5A5"/>
                </a:solidFill>
              </a:rPr>
              <a:t>Conclusions</a:t>
            </a:r>
          </a:p>
        </p:txBody>
      </p:sp>
      <p:sp>
        <p:nvSpPr>
          <p:cNvPr id="13" name="Slide Number"/>
          <p:cNvSpPr>
            <a:spLocks noGrp="1"/>
          </p:cNvSpPr>
          <p:nvPr>
            <p:ph type="sldNum" sz="quarter" idx="12"/>
          </p:nvPr>
        </p:nvSpPr>
        <p:spPr/>
        <p:txBody>
          <a:bodyPr/>
          <a:lstStyle/>
          <a:p>
            <a:fld id="{619F89D8-7AE3-494A-97F3-03D680869632}" type="slidenum">
              <a:rPr lang="en-GB"/>
              <a:t>1</a:t>
            </a:fld>
            <a:endParaRPr lang="en-GB"/>
          </a:p>
        </p:txBody>
      </p:sp>
      <p:pic>
        <p:nvPicPr>
          <p:cNvPr id="14" name="Figure" descr="The same samples of the learned prior, accepted or rejected differently by a fast-curing and a slow-curing adhesive"/>
          <p:cNvPicPr>
            <a:picLocks noChangeAspect="1"/>
          </p:cNvPicPr>
          <p:nvPr/>
        </p:nvPicPr>
        <p:blipFill>
          <a:blip r:embed="rId2"/>
          <a:stretch>
            <a:fillRect/>
          </a:stretch>
        </p:blipFill>
        <p:spPr>
          <a:xfrm>
            <a:off x="603504" y="1907411"/>
            <a:ext cx="10991088" cy="436905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Problem</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b="1" dirty="0">
                <a:solidFill>
                  <a:srgbClr val="004791"/>
                </a:solidFill>
              </a:rPr>
              <a:t>Motivation</a:t>
            </a:r>
            <a:r>
              <a:rPr lang="en-GB" sz="1300" dirty="0">
                <a:solidFill>
                  <a:srgbClr val="A5A5A5"/>
                </a:solidFill>
              </a:rPr>
              <a:t>    →    </a:t>
            </a:r>
            <a:r>
              <a:rPr lang="en-GB" sz="1300" dirty="0">
                <a:solidFill>
                  <a:srgbClr val="A5A5A5"/>
                </a:solidFill>
              </a:rPr>
              <a:t>Background</a:t>
            </a:r>
            <a:r>
              <a:rPr lang="en-GB" sz="1300" dirty="0">
                <a:solidFill>
                  <a:srgbClr val="A5A5A5"/>
                </a:solidFill>
              </a:rPr>
              <a:t>    →    </a:t>
            </a:r>
            <a:r>
              <a:rPr lang="en-GB" sz="1300" dirty="0">
                <a:solidFill>
                  <a:srgbClr val="A5A5A5"/>
                </a:solidFill>
              </a:rPr>
              <a:t>Method</a:t>
            </a:r>
            <a:r>
              <a:rPr lang="en-GB" sz="1300" dirty="0">
                <a:solidFill>
                  <a:srgbClr val="A5A5A5"/>
                </a:solidFill>
              </a:rPr>
              <a:t>    →    </a:t>
            </a:r>
            <a:r>
              <a:rPr lang="en-GB" sz="1300" dirty="0">
                <a:solidFill>
                  <a:srgbClr val="A5A5A5"/>
                </a:solidFill>
              </a:rPr>
              <a:t>Results</a:t>
            </a:r>
            <a:r>
              <a:rPr lang="en-GB" sz="1300" dirty="0">
                <a:solidFill>
                  <a:srgbClr val="A5A5A5"/>
                </a:solidFill>
              </a:rPr>
              <a:t>    →    </a:t>
            </a:r>
            <a:r>
              <a:rPr lang="en-GB" sz="1300" dirty="0">
                <a:solidFill>
                  <a:srgbClr val="A5A5A5"/>
                </a:solidFill>
              </a:rPr>
              <a:t>Conclusions</a:t>
            </a:r>
          </a:p>
        </p:txBody>
      </p:sp>
      <p:sp>
        <p:nvSpPr>
          <p:cNvPr id="13" name="Slide Number"/>
          <p:cNvSpPr>
            <a:spLocks noGrp="1"/>
          </p:cNvSpPr>
          <p:nvPr>
            <p:ph type="sldNum" sz="quarter" idx="12"/>
          </p:nvPr>
        </p:nvSpPr>
        <p:spPr/>
        <p:txBody>
          <a:bodyPr/>
          <a:lstStyle/>
          <a:p>
            <a:fld id="{619F89D8-7AE3-494A-97F3-03D680869632}" type="slidenum">
              <a:rPr lang="en-GB"/>
              <a:t>1</a:t>
            </a:fld>
            <a:endParaRPr lang="en-GB"/>
          </a:p>
        </p:txBody>
      </p:sp>
      <p:pic>
        <p:nvPicPr>
          <p:cNvPr id="14" name="Figure" descr="The requirement does not enter the generative model, so one of three samples meets it"/>
          <p:cNvPicPr>
            <a:picLocks noChangeAspect="1"/>
          </p:cNvPicPr>
          <p:nvPr/>
        </p:nvPicPr>
        <p:blipFill>
          <a:blip r:embed="rId2"/>
          <a:stretch>
            <a:fillRect/>
          </a:stretch>
        </p:blipFill>
        <p:spPr>
          <a:xfrm>
            <a:off x="2540469" y="1874520"/>
            <a:ext cx="7117159" cy="2651760"/>
          </a:xfrm>
          <a:prstGeom prst="rect">
            <a:avLst/>
          </a:prstGeom>
        </p:spPr>
      </p:pic>
      <p:sp>
        <p:nvSpPr>
          <p:cNvPr id="15" name="Box"/>
          <p:cNvSpPr/>
          <p:nvPr/>
        </p:nvSpPr>
        <p:spPr>
          <a:xfrm>
            <a:off x="822960" y="4709160"/>
            <a:ext cx="10561320" cy="841248"/>
          </a:xfrm>
          <a:prstGeom prst="roundRect">
            <a:avLst>
              <a:gd name="adj" fmla="val 8000"/>
            </a:avLst>
          </a:prstGeom>
          <a:solidFill>
            <a:srgbClr val="EDF7FC"/>
          </a:solidFill>
          <a:ln w="19050">
            <a:solidFill>
              <a:srgbClr val="24A0D8"/>
            </a:solidFill>
          </a:ln>
        </p:spPr>
        <p:txBody>
          <a:bodyPr wrap="square" lIns="64008" tIns="27432" rIns="64008" bIns="27432" anchor="ctr">
            <a:noAutofit/>
          </a:bodyPr>
          <a:lstStyle/>
          <a:p>
            <a:pPr algn="l"/>
            <a:r>
              <a:rPr lang="en-GB" sz="1800" dirty="0">
                <a:solidFill>
                  <a:srgbClr val="262626"/>
                </a:solidFill>
              </a:rPr>
              <a:t>Given demonstrations recorded before training and a requirement </a:t>
            </a:r>
            <a:r>
              <a:rPr lang="en-GB" sz="1800" dirty="0">
                <a:solidFill>
                  <a:srgbClr val="262626"/>
                </a:solidFill>
                <a:latin typeface="Cambria Math"/>
                <a:ea typeface="Cambria Math"/>
                <a:cs typeface="Cambria Math"/>
                <a:sym typeface="Cambria Math"/>
              </a:rPr>
              <a:t>φ</a:t>
            </a:r>
            <a:r>
              <a:rPr lang="en-GB" sz="1800" dirty="0">
                <a:solidFill>
                  <a:srgbClr val="262626"/>
                </a:solidFill>
              </a:rPr>
              <a:t> stated after it, generate a trajectory that is plausible under the demonstrations and satisfies </a:t>
            </a:r>
            <a:r>
              <a:rPr lang="en-GB" sz="1800" dirty="0">
                <a:solidFill>
                  <a:srgbClr val="262626"/>
                </a:solidFill>
                <a:latin typeface="Cambria Math"/>
                <a:ea typeface="Cambria Math"/>
                <a:cs typeface="Cambria Math"/>
                <a:sym typeface="Cambria Math"/>
              </a:rPr>
              <a:t>φ</a:t>
            </a:r>
            <a:r>
              <a:rPr lang="en-GB" sz="1800" dirty="0">
                <a:solidFill>
                  <a:srgbClr val="262626"/>
                </a:solidFill>
              </a:rPr>
              <a:t>, without retraining.</a:t>
            </a:r>
          </a:p>
        </p:txBody>
      </p:sp>
      <p:sp>
        <p:nvSpPr>
          <p:cNvPr id="16" name="Label"/>
          <p:cNvSpPr txBox="1"/>
          <p:nvPr/>
        </p:nvSpPr>
        <p:spPr>
          <a:xfrm>
            <a:off x="822960" y="5669280"/>
            <a:ext cx="10561320" cy="292608"/>
          </a:xfrm>
          <a:prstGeom prst="rect">
            <a:avLst/>
          </a:prstGeom>
          <a:noFill/>
        </p:spPr>
        <p:txBody>
          <a:bodyPr wrap="square" lIns="45720" tIns="0" rIns="45720" bIns="0" anchor="t">
            <a:noAutofit/>
          </a:bodyPr>
          <a:lstStyle/>
          <a:p>
            <a:pPr algn="l"/>
            <a:r>
              <a:rPr lang="en-GB" sz="1300" dirty="0">
                <a:solidFill>
                  <a:srgbClr val="6E6E6E"/>
                </a:solidFill>
              </a:rPr>
              <a:t>Training-time conditioning learns the requirement from paired data and can require retraining outside its distribution</a:t>
            </a:r>
          </a:p>
        </p:txBody>
      </p:sp>
    </p:spTree>
  </p:cSld>
  <p:clrMapOvr>
    <a:masterClrMapping/>
  </p:clrMapOvr>
  <p:timing>
    <p:tnLst>
      <p:par>
        <p:cTn id="1" dur="indefinite" restart="never" nodeType="tmRoot">
          <p:childTnLst>
            <p:seq concurrent="1" nextAc="seek">
              <p:cTn id="2" dur="indefinite" nodeType="mainSeq">
                <p:childTnLst>
                  <p:par>
                    <p:cTn id="7" fill="hold">
                      <p:stCondLst>
                        <p:cond delay="indefinite"/>
                      </p:stCondLst>
                      <p:childTnLst>
                        <p:par>
                          <p:cTn id="8"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1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Aim and research questions</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b="1" dirty="0">
                <a:solidFill>
                  <a:srgbClr val="004791"/>
                </a:solidFill>
              </a:rPr>
              <a:t>Motivation</a:t>
            </a:r>
            <a:r>
              <a:rPr lang="en-GB" sz="1300" dirty="0">
                <a:solidFill>
                  <a:srgbClr val="A5A5A5"/>
                </a:solidFill>
              </a:rPr>
              <a:t>    →    </a:t>
            </a:r>
            <a:r>
              <a:rPr lang="en-GB" sz="1300" dirty="0">
                <a:solidFill>
                  <a:srgbClr val="A5A5A5"/>
                </a:solidFill>
              </a:rPr>
              <a:t>Background</a:t>
            </a:r>
            <a:r>
              <a:rPr lang="en-GB" sz="1300" dirty="0">
                <a:solidFill>
                  <a:srgbClr val="A5A5A5"/>
                </a:solidFill>
              </a:rPr>
              <a:t>    →    </a:t>
            </a:r>
            <a:r>
              <a:rPr lang="en-GB" sz="1300" dirty="0">
                <a:solidFill>
                  <a:srgbClr val="A5A5A5"/>
                </a:solidFill>
              </a:rPr>
              <a:t>Method</a:t>
            </a:r>
            <a:r>
              <a:rPr lang="en-GB" sz="1300" dirty="0">
                <a:solidFill>
                  <a:srgbClr val="A5A5A5"/>
                </a:solidFill>
              </a:rPr>
              <a:t>    →    </a:t>
            </a:r>
            <a:r>
              <a:rPr lang="en-GB" sz="1300" dirty="0">
                <a:solidFill>
                  <a:srgbClr val="A5A5A5"/>
                </a:solidFill>
              </a:rPr>
              <a:t>Results</a:t>
            </a:r>
            <a:r>
              <a:rPr lang="en-GB" sz="1300" dirty="0">
                <a:solidFill>
                  <a:srgbClr val="A5A5A5"/>
                </a:solidFill>
              </a:rPr>
              <a:t>    →    </a:t>
            </a:r>
            <a:r>
              <a:rPr lang="en-GB" sz="1300" dirty="0">
                <a:solidFill>
                  <a:srgbClr val="A5A5A5"/>
                </a:solidFill>
              </a:rPr>
              <a:t>Conclusions</a:t>
            </a:r>
          </a:p>
        </p:txBody>
      </p:sp>
      <p:sp>
        <p:nvSpPr>
          <p:cNvPr id="13" name="Slide Number"/>
          <p:cNvSpPr>
            <a:spLocks noGrp="1"/>
          </p:cNvSpPr>
          <p:nvPr>
            <p:ph type="sldNum" sz="quarter" idx="12"/>
          </p:nvPr>
        </p:nvSpPr>
        <p:spPr/>
        <p:txBody>
          <a:bodyPr/>
          <a:lstStyle/>
          <a:p>
            <a:fld id="{619F89D8-7AE3-494A-97F3-03D680869632}" type="slidenum">
              <a:rPr lang="en-GB"/>
              <a:t>1</a:t>
            </a:fld>
            <a:endParaRPr lang="en-GB"/>
          </a:p>
        </p:txBody>
      </p:sp>
      <p:sp>
        <p:nvSpPr>
          <p:cNvPr id="14" name="Label"/>
          <p:cNvSpPr txBox="1"/>
          <p:nvPr/>
        </p:nvSpPr>
        <p:spPr>
          <a:xfrm>
            <a:off x="603504" y="1965960"/>
            <a:ext cx="10991088" cy="292608"/>
          </a:xfrm>
          <a:prstGeom prst="rect">
            <a:avLst/>
          </a:prstGeom>
          <a:noFill/>
        </p:spPr>
        <p:txBody>
          <a:bodyPr wrap="square" lIns="45720" tIns="0" rIns="45720" bIns="0" anchor="t">
            <a:noAutofit/>
          </a:bodyPr>
          <a:lstStyle/>
          <a:p>
            <a:pPr algn="l"/>
            <a:r>
              <a:rPr lang="en-GB" sz="1600" b="1" dirty="0">
                <a:solidFill>
                  <a:srgbClr val="262626"/>
                </a:solidFill>
              </a:rPr>
              <a:t>Aim</a:t>
            </a:r>
          </a:p>
        </p:txBody>
      </p:sp>
      <p:sp>
        <p:nvSpPr>
          <p:cNvPr id="15" name="Label"/>
          <p:cNvSpPr txBox="1"/>
          <p:nvPr/>
        </p:nvSpPr>
        <p:spPr>
          <a:xfrm>
            <a:off x="603504" y="2286000"/>
            <a:ext cx="10991088" cy="411480"/>
          </a:xfrm>
          <a:prstGeom prst="rect">
            <a:avLst/>
          </a:prstGeom>
          <a:noFill/>
        </p:spPr>
        <p:txBody>
          <a:bodyPr wrap="square" lIns="45720" tIns="0" rIns="45720" bIns="0" anchor="t">
            <a:noAutofit/>
          </a:bodyPr>
          <a:lstStyle/>
          <a:p>
            <a:pPr algn="l"/>
            <a:r>
              <a:rPr lang="en-GB" sz="1900" dirty="0">
                <a:solidFill>
                  <a:srgbClr val="262626"/>
                </a:solidFill>
              </a:rPr>
              <a:t>A method for imposing STL requirements on a trained generative model at inference time</a:t>
            </a:r>
          </a:p>
        </p:txBody>
      </p:sp>
      <p:sp>
        <p:nvSpPr>
          <p:cNvPr id="16" name="Label"/>
          <p:cNvSpPr txBox="1"/>
          <p:nvPr/>
        </p:nvSpPr>
        <p:spPr>
          <a:xfrm>
            <a:off x="603504" y="2697480"/>
            <a:ext cx="10991088" cy="292608"/>
          </a:xfrm>
          <a:prstGeom prst="rect">
            <a:avLst/>
          </a:prstGeom>
          <a:noFill/>
        </p:spPr>
        <p:txBody>
          <a:bodyPr wrap="square" lIns="45720" tIns="0" rIns="45720" bIns="0" anchor="t">
            <a:noAutofit/>
          </a:bodyPr>
          <a:lstStyle/>
          <a:p>
            <a:pPr algn="l"/>
            <a:r>
              <a:rPr lang="en-GB" sz="1500" dirty="0">
                <a:solidFill>
                  <a:srgbClr val="6E6E6E"/>
                </a:solidFill>
              </a:rPr>
              <a:t>The trained model is called the learned prior, because it provides the motion that the requirement does not specify</a:t>
            </a:r>
          </a:p>
        </p:txBody>
      </p:sp>
      <p:sp>
        <p:nvSpPr>
          <p:cNvPr id="17" name="Callout"/>
          <p:cNvSpPr/>
          <p:nvPr/>
        </p:nvSpPr>
        <p:spPr>
          <a:xfrm>
            <a:off x="603504" y="3154680"/>
            <a:ext cx="10991088" cy="731520"/>
          </a:xfrm>
          <a:prstGeom prst="rect">
            <a:avLst/>
          </a:prstGeom>
          <a:solidFill>
            <a:srgbClr val="EAF0F7"/>
          </a:solidFill>
          <a:ln>
            <a:noFill/>
          </a:ln>
        </p:spPr>
        <p:txBody>
          <a:bodyPr wrap="square" lIns="64008" tIns="27432" rIns="64008" bIns="27432" anchor="ctr">
            <a:noAutofit/>
          </a:bodyPr>
          <a:lstStyle/>
          <a:p>
            <a:pPr algn="ctr"/>
            <a:r>
              <a:rPr lang="en-GB" sz="1600" dirty="0">
                <a:solidFill>
                  <a:srgbClr val="262626"/>
                </a:solidFill>
              </a:rPr>
              <a:t/>
            </a:r>
          </a:p>
        </p:txBody>
      </p:sp>
      <p:sp>
        <p:nvSpPr>
          <p:cNvPr id="18" name="Callout bar"/>
          <p:cNvSpPr/>
          <p:nvPr/>
        </p:nvSpPr>
        <p:spPr>
          <a:xfrm>
            <a:off x="603504" y="3154680"/>
            <a:ext cx="64008" cy="731520"/>
          </a:xfrm>
          <a:prstGeom prst="rect">
            <a:avLst/>
          </a:prstGeom>
          <a:solidFill>
            <a:srgbClr val="1954A6"/>
          </a:solidFill>
          <a:ln>
            <a:noFill/>
          </a:ln>
        </p:spPr>
        <p:txBody>
          <a:bodyPr wrap="square" lIns="64008" tIns="27432" rIns="64008" bIns="27432" anchor="ctr">
            <a:noAutofit/>
          </a:bodyPr>
          <a:lstStyle/>
          <a:p>
            <a:pPr algn="ctr"/>
            <a:r>
              <a:rPr lang="en-GB" sz="1600" dirty="0">
                <a:solidFill>
                  <a:srgbClr val="262626"/>
                </a:solidFill>
              </a:rPr>
              <a:t/>
            </a:r>
          </a:p>
        </p:txBody>
      </p:sp>
      <p:sp>
        <p:nvSpPr>
          <p:cNvPr id="19" name="Callout tag"/>
          <p:cNvSpPr txBox="1"/>
          <p:nvPr/>
        </p:nvSpPr>
        <p:spPr>
          <a:xfrm>
            <a:off x="832104" y="3154680"/>
            <a:ext cx="1188720" cy="731520"/>
          </a:xfrm>
          <a:prstGeom prst="rect">
            <a:avLst/>
          </a:prstGeom>
          <a:noFill/>
        </p:spPr>
        <p:txBody>
          <a:bodyPr wrap="square" lIns="45720" tIns="0" rIns="45720" bIns="0" anchor="ctr">
            <a:noAutofit/>
          </a:bodyPr>
          <a:lstStyle/>
          <a:p>
            <a:pPr algn="l"/>
            <a:r>
              <a:rPr lang="en-GB" sz="2000" b="1" dirty="0">
                <a:solidFill>
                  <a:srgbClr val="144385"/>
                </a:solidFill>
              </a:rPr>
              <a:t>RQ1</a:t>
            </a:r>
          </a:p>
        </p:txBody>
      </p:sp>
      <p:sp>
        <p:nvSpPr>
          <p:cNvPr id="20" name="Callout text"/>
          <p:cNvSpPr txBox="1"/>
          <p:nvPr/>
        </p:nvSpPr>
        <p:spPr>
          <a:xfrm>
            <a:off x="2066544" y="3154680"/>
            <a:ext cx="9390888" cy="731520"/>
          </a:xfrm>
          <a:prstGeom prst="rect">
            <a:avLst/>
          </a:prstGeom>
          <a:noFill/>
        </p:spPr>
        <p:txBody>
          <a:bodyPr wrap="square" lIns="45720" tIns="0" rIns="45720" bIns="0" anchor="ctr">
            <a:noAutofit/>
          </a:bodyPr>
          <a:lstStyle/>
          <a:p>
            <a:pPr algn="l"/>
            <a:r>
              <a:rPr lang="en-GB" sz="2000" dirty="0">
                <a:solidFill>
                  <a:srgbClr val="262626"/>
                </a:solidFill>
              </a:rPr>
              <a:t>What does a demonstration witnessing a requirement imply about that requirement?</a:t>
            </a:r>
          </a:p>
        </p:txBody>
      </p:sp>
      <p:sp>
        <p:nvSpPr>
          <p:cNvPr id="21" name="Callout"/>
          <p:cNvSpPr/>
          <p:nvPr/>
        </p:nvSpPr>
        <p:spPr>
          <a:xfrm>
            <a:off x="603504" y="4005072"/>
            <a:ext cx="10991088" cy="731520"/>
          </a:xfrm>
          <a:prstGeom prst="rect">
            <a:avLst/>
          </a:prstGeom>
          <a:solidFill>
            <a:srgbClr val="FBF0F6"/>
          </a:solidFill>
          <a:ln>
            <a:noFill/>
          </a:ln>
        </p:spPr>
        <p:txBody>
          <a:bodyPr wrap="square" lIns="64008" tIns="27432" rIns="64008" bIns="27432" anchor="ctr">
            <a:noAutofit/>
          </a:bodyPr>
          <a:lstStyle/>
          <a:p>
            <a:pPr algn="ctr"/>
            <a:r>
              <a:rPr lang="en-GB" sz="1600" dirty="0">
                <a:solidFill>
                  <a:srgbClr val="262626"/>
                </a:solidFill>
              </a:rPr>
              <a:t/>
            </a:r>
          </a:p>
        </p:txBody>
      </p:sp>
      <p:sp>
        <p:nvSpPr>
          <p:cNvPr id="22" name="Callout bar"/>
          <p:cNvSpPr/>
          <p:nvPr/>
        </p:nvSpPr>
        <p:spPr>
          <a:xfrm>
            <a:off x="603504" y="4005072"/>
            <a:ext cx="64008" cy="731520"/>
          </a:xfrm>
          <a:prstGeom prst="rect">
            <a:avLst/>
          </a:prstGeom>
          <a:solidFill>
            <a:srgbClr val="D85497"/>
          </a:solidFill>
          <a:ln>
            <a:noFill/>
          </a:ln>
        </p:spPr>
        <p:txBody>
          <a:bodyPr wrap="square" lIns="64008" tIns="27432" rIns="64008" bIns="27432" anchor="ctr">
            <a:noAutofit/>
          </a:bodyPr>
          <a:lstStyle/>
          <a:p>
            <a:pPr algn="ctr"/>
            <a:r>
              <a:rPr lang="en-GB" sz="1600" dirty="0">
                <a:solidFill>
                  <a:srgbClr val="262626"/>
                </a:solidFill>
              </a:rPr>
              <a:t/>
            </a:r>
          </a:p>
        </p:txBody>
      </p:sp>
      <p:sp>
        <p:nvSpPr>
          <p:cNvPr id="23" name="Callout tag"/>
          <p:cNvSpPr txBox="1"/>
          <p:nvPr/>
        </p:nvSpPr>
        <p:spPr>
          <a:xfrm>
            <a:off x="832104" y="4005072"/>
            <a:ext cx="1188720" cy="731520"/>
          </a:xfrm>
          <a:prstGeom prst="rect">
            <a:avLst/>
          </a:prstGeom>
          <a:noFill/>
        </p:spPr>
        <p:txBody>
          <a:bodyPr wrap="square" lIns="45720" tIns="0" rIns="45720" bIns="0" anchor="ctr">
            <a:noAutofit/>
          </a:bodyPr>
          <a:lstStyle/>
          <a:p>
            <a:pPr algn="l"/>
            <a:r>
              <a:rPr lang="en-GB" sz="2000" b="1" dirty="0">
                <a:solidFill>
                  <a:srgbClr val="AD4379"/>
                </a:solidFill>
              </a:rPr>
              <a:t>RQ2</a:t>
            </a:r>
          </a:p>
        </p:txBody>
      </p:sp>
      <p:sp>
        <p:nvSpPr>
          <p:cNvPr id="24" name="Callout text"/>
          <p:cNvSpPr txBox="1"/>
          <p:nvPr/>
        </p:nvSpPr>
        <p:spPr>
          <a:xfrm>
            <a:off x="2066544" y="4005072"/>
            <a:ext cx="9390888" cy="731520"/>
          </a:xfrm>
          <a:prstGeom prst="rect">
            <a:avLst/>
          </a:prstGeom>
          <a:noFill/>
        </p:spPr>
        <p:txBody>
          <a:bodyPr wrap="square" lIns="45720" tIns="0" rIns="45720" bIns="0" anchor="ctr">
            <a:noAutofit/>
          </a:bodyPr>
          <a:lstStyle/>
          <a:p>
            <a:pPr algn="l"/>
            <a:r>
              <a:rPr lang="en-GB" sz="2000" dirty="0">
                <a:solidFill>
                  <a:srgbClr val="262626"/>
                </a:solidFill>
              </a:rPr>
              <a:t>What does maximizing the robustness score alone determine about a trajectory?</a:t>
            </a:r>
          </a:p>
        </p:txBody>
      </p:sp>
      <p:sp>
        <p:nvSpPr>
          <p:cNvPr id="25" name="Callout"/>
          <p:cNvSpPr/>
          <p:nvPr/>
        </p:nvSpPr>
        <p:spPr>
          <a:xfrm>
            <a:off x="603504" y="4855464"/>
            <a:ext cx="10991088" cy="731520"/>
          </a:xfrm>
          <a:prstGeom prst="rect">
            <a:avLst/>
          </a:prstGeom>
          <a:solidFill>
            <a:srgbClr val="EBF6FB"/>
          </a:solidFill>
          <a:ln>
            <a:noFill/>
          </a:ln>
        </p:spPr>
        <p:txBody>
          <a:bodyPr wrap="square" lIns="64008" tIns="27432" rIns="64008" bIns="27432" anchor="ctr">
            <a:noAutofit/>
          </a:bodyPr>
          <a:lstStyle/>
          <a:p>
            <a:pPr algn="ctr"/>
            <a:r>
              <a:rPr lang="en-GB" sz="1600" dirty="0">
                <a:solidFill>
                  <a:srgbClr val="262626"/>
                </a:solidFill>
              </a:rPr>
              <a:t/>
            </a:r>
          </a:p>
        </p:txBody>
      </p:sp>
      <p:sp>
        <p:nvSpPr>
          <p:cNvPr id="26" name="Callout bar"/>
          <p:cNvSpPr/>
          <p:nvPr/>
        </p:nvSpPr>
        <p:spPr>
          <a:xfrm>
            <a:off x="603504" y="4855464"/>
            <a:ext cx="64008" cy="731520"/>
          </a:xfrm>
          <a:prstGeom prst="rect">
            <a:avLst/>
          </a:prstGeom>
          <a:solidFill>
            <a:srgbClr val="24A0D8"/>
          </a:solidFill>
          <a:ln>
            <a:noFill/>
          </a:ln>
        </p:spPr>
        <p:txBody>
          <a:bodyPr wrap="square" lIns="64008" tIns="27432" rIns="64008" bIns="27432" anchor="ctr">
            <a:noAutofit/>
          </a:bodyPr>
          <a:lstStyle/>
          <a:p>
            <a:pPr algn="ctr"/>
            <a:r>
              <a:rPr lang="en-GB" sz="1600" dirty="0">
                <a:solidFill>
                  <a:srgbClr val="262626"/>
                </a:solidFill>
              </a:rPr>
              <a:t/>
            </a:r>
          </a:p>
        </p:txBody>
      </p:sp>
      <p:sp>
        <p:nvSpPr>
          <p:cNvPr id="27" name="Callout tag"/>
          <p:cNvSpPr txBox="1"/>
          <p:nvPr/>
        </p:nvSpPr>
        <p:spPr>
          <a:xfrm>
            <a:off x="832104" y="4855464"/>
            <a:ext cx="1188720" cy="731520"/>
          </a:xfrm>
          <a:prstGeom prst="rect">
            <a:avLst/>
          </a:prstGeom>
          <a:noFill/>
        </p:spPr>
        <p:txBody>
          <a:bodyPr wrap="square" lIns="45720" tIns="0" rIns="45720" bIns="0" anchor="ctr">
            <a:noAutofit/>
          </a:bodyPr>
          <a:lstStyle/>
          <a:p>
            <a:pPr algn="l"/>
            <a:r>
              <a:rPr lang="en-GB" sz="2000" b="1" dirty="0">
                <a:solidFill>
                  <a:srgbClr val="1D80AD"/>
                </a:solidFill>
              </a:rPr>
              <a:t>Method</a:t>
            </a:r>
          </a:p>
        </p:txBody>
      </p:sp>
      <p:sp>
        <p:nvSpPr>
          <p:cNvPr id="28" name="Callout text"/>
          <p:cNvSpPr txBox="1"/>
          <p:nvPr/>
        </p:nvSpPr>
        <p:spPr>
          <a:xfrm>
            <a:off x="2066544" y="4855464"/>
            <a:ext cx="9390888" cy="731520"/>
          </a:xfrm>
          <a:prstGeom prst="rect">
            <a:avLst/>
          </a:prstGeom>
          <a:noFill/>
        </p:spPr>
        <p:txBody>
          <a:bodyPr wrap="square" lIns="45720" tIns="0" rIns="45720" bIns="0" anchor="ctr">
            <a:noAutofit/>
          </a:bodyPr>
          <a:lstStyle/>
          <a:p>
            <a:pPr algn="l"/>
            <a:r>
              <a:rPr lang="en-GB" sz="2000" dirty="0">
                <a:solidFill>
                  <a:srgbClr val="262626"/>
                </a:solidFill>
              </a:rPr>
              <a:t>STL-FM, robustness guidance of the learned prior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Approach</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b="1" dirty="0">
                <a:solidFill>
                  <a:srgbClr val="004791"/>
                </a:solidFill>
              </a:rPr>
              <a:t>Motivation</a:t>
            </a:r>
            <a:r>
              <a:rPr lang="en-GB" sz="1300" dirty="0">
                <a:solidFill>
                  <a:srgbClr val="A5A5A5"/>
                </a:solidFill>
              </a:rPr>
              <a:t>    →    </a:t>
            </a:r>
            <a:r>
              <a:rPr lang="en-GB" sz="1300" dirty="0">
                <a:solidFill>
                  <a:srgbClr val="A5A5A5"/>
                </a:solidFill>
              </a:rPr>
              <a:t>Background</a:t>
            </a:r>
            <a:r>
              <a:rPr lang="en-GB" sz="1300" dirty="0">
                <a:solidFill>
                  <a:srgbClr val="A5A5A5"/>
                </a:solidFill>
              </a:rPr>
              <a:t>    →    </a:t>
            </a:r>
            <a:r>
              <a:rPr lang="en-GB" sz="1300" dirty="0">
                <a:solidFill>
                  <a:srgbClr val="A5A5A5"/>
                </a:solidFill>
              </a:rPr>
              <a:t>Method</a:t>
            </a:r>
            <a:r>
              <a:rPr lang="en-GB" sz="1300" dirty="0">
                <a:solidFill>
                  <a:srgbClr val="A5A5A5"/>
                </a:solidFill>
              </a:rPr>
              <a:t>    →    </a:t>
            </a:r>
            <a:r>
              <a:rPr lang="en-GB" sz="1300" dirty="0">
                <a:solidFill>
                  <a:srgbClr val="A5A5A5"/>
                </a:solidFill>
              </a:rPr>
              <a:t>Results</a:t>
            </a:r>
            <a:r>
              <a:rPr lang="en-GB" sz="1300" dirty="0">
                <a:solidFill>
                  <a:srgbClr val="A5A5A5"/>
                </a:solidFill>
              </a:rPr>
              <a:t>    →    </a:t>
            </a:r>
            <a:r>
              <a:rPr lang="en-GB" sz="1300" dirty="0">
                <a:solidFill>
                  <a:srgbClr val="A5A5A5"/>
                </a:solidFill>
              </a:rPr>
              <a:t>Conclusions</a:t>
            </a:r>
          </a:p>
        </p:txBody>
      </p:sp>
      <p:sp>
        <p:nvSpPr>
          <p:cNvPr id="13" name="Slide Number"/>
          <p:cNvSpPr>
            <a:spLocks noGrp="1"/>
          </p:cNvSpPr>
          <p:nvPr>
            <p:ph type="sldNum" sz="quarter" idx="12"/>
          </p:nvPr>
        </p:nvSpPr>
        <p:spPr/>
        <p:txBody>
          <a:bodyPr/>
          <a:lstStyle/>
          <a:p>
            <a:fld id="{619F89D8-7AE3-494A-97F3-03D680869632}" type="slidenum">
              <a:rPr lang="en-GB"/>
              <a:t>1</a:t>
            </a:fld>
            <a:endParaRPr lang="en-GB"/>
          </a:p>
        </p:txBody>
      </p:sp>
      <p:sp>
        <p:nvSpPr>
          <p:cNvPr id="14" name="Band"/>
          <p:cNvSpPr/>
          <p:nvPr/>
        </p:nvSpPr>
        <p:spPr>
          <a:xfrm>
            <a:off x="603504" y="1920240"/>
            <a:ext cx="8077788" cy="1051560"/>
          </a:xfrm>
          <a:prstGeom prst="roundRect">
            <a:avLst>
              <a:gd name="adj" fmla="val 3000"/>
            </a:avLst>
          </a:prstGeom>
          <a:noFill/>
          <a:ln w="9525">
            <a:solidFill>
              <a:srgbClr val="A1A3A6"/>
            </a:solidFill>
            <a:prstDash val="dash"/>
          </a:ln>
        </p:spPr>
        <p:txBody>
          <a:bodyPr wrap="square" lIns="64008" tIns="27432" rIns="64008" bIns="27432" anchor="ctr">
            <a:noAutofit/>
          </a:bodyPr>
          <a:lstStyle/>
          <a:p>
            <a:pPr algn="ctr"/>
            <a:r>
              <a:rPr lang="en-GB" sz="1600" dirty="0">
                <a:solidFill>
                  <a:srgbClr val="262626"/>
                </a:solidFill>
              </a:rPr>
              <a:t/>
            </a:r>
          </a:p>
        </p:txBody>
      </p:sp>
      <p:sp>
        <p:nvSpPr>
          <p:cNvPr id="15" name="Band label"/>
          <p:cNvSpPr txBox="1"/>
          <p:nvPr/>
        </p:nvSpPr>
        <p:spPr>
          <a:xfrm>
            <a:off x="832104" y="1792224"/>
            <a:ext cx="1344168" cy="256032"/>
          </a:xfrm>
          <a:prstGeom prst="rect">
            <a:avLst/>
          </a:prstGeom>
          <a:solidFill>
            <a:srgbClr val="FFFFFF"/>
          </a:solidFill>
        </p:spPr>
        <p:txBody>
          <a:bodyPr wrap="square" lIns="45720" tIns="0" rIns="45720" bIns="0" anchor="t">
            <a:noAutofit/>
          </a:bodyPr>
          <a:lstStyle/>
          <a:p>
            <a:pPr algn="l"/>
            <a:r>
              <a:rPr lang="en-GB" sz="1200" dirty="0">
                <a:solidFill>
                  <a:srgbClr val="6E6E6E"/>
                </a:solidFill>
              </a:rPr>
              <a:t>Offline, once</a:t>
            </a:r>
          </a:p>
        </p:txBody>
      </p:sp>
      <p:sp>
        <p:nvSpPr>
          <p:cNvPr id="16" name="Band"/>
          <p:cNvSpPr/>
          <p:nvPr/>
        </p:nvSpPr>
        <p:spPr>
          <a:xfrm>
            <a:off x="603504" y="3246120"/>
            <a:ext cx="8077788" cy="1051560"/>
          </a:xfrm>
          <a:prstGeom prst="roundRect">
            <a:avLst>
              <a:gd name="adj" fmla="val 3000"/>
            </a:avLst>
          </a:prstGeom>
          <a:noFill/>
          <a:ln w="9525">
            <a:solidFill>
              <a:srgbClr val="A1A3A6"/>
            </a:solidFill>
            <a:prstDash val="dash"/>
          </a:ln>
        </p:spPr>
        <p:txBody>
          <a:bodyPr wrap="square" lIns="64008" tIns="27432" rIns="64008" bIns="27432" anchor="ctr">
            <a:noAutofit/>
          </a:bodyPr>
          <a:lstStyle/>
          <a:p>
            <a:pPr algn="ctr"/>
            <a:r>
              <a:rPr lang="en-GB" sz="1600" dirty="0">
                <a:solidFill>
                  <a:srgbClr val="262626"/>
                </a:solidFill>
              </a:rPr>
              <a:t/>
            </a:r>
          </a:p>
        </p:txBody>
      </p:sp>
      <p:sp>
        <p:nvSpPr>
          <p:cNvPr id="17" name="Band label"/>
          <p:cNvSpPr txBox="1"/>
          <p:nvPr/>
        </p:nvSpPr>
        <p:spPr>
          <a:xfrm>
            <a:off x="832104" y="3118104"/>
            <a:ext cx="2660904" cy="256032"/>
          </a:xfrm>
          <a:prstGeom prst="rect">
            <a:avLst/>
          </a:prstGeom>
          <a:solidFill>
            <a:srgbClr val="FFFFFF"/>
          </a:solidFill>
        </p:spPr>
        <p:txBody>
          <a:bodyPr wrap="square" lIns="45720" tIns="0" rIns="45720" bIns="0" anchor="t">
            <a:noAutofit/>
          </a:bodyPr>
          <a:lstStyle/>
          <a:p>
            <a:pPr algn="l"/>
            <a:r>
              <a:rPr lang="en-GB" sz="1200" dirty="0">
                <a:solidFill>
                  <a:srgbClr val="6E6E6E"/>
                </a:solidFill>
              </a:rPr>
              <a:t>Per requirement, at inference</a:t>
            </a:r>
          </a:p>
        </p:txBody>
      </p:sp>
      <p:sp>
        <p:nvSpPr>
          <p:cNvPr id="18" name="Band"/>
          <p:cNvSpPr/>
          <p:nvPr/>
        </p:nvSpPr>
        <p:spPr>
          <a:xfrm>
            <a:off x="8901996" y="1920240"/>
            <a:ext cx="2692596" cy="4343400"/>
          </a:xfrm>
          <a:prstGeom prst="roundRect">
            <a:avLst>
              <a:gd name="adj" fmla="val 3000"/>
            </a:avLst>
          </a:prstGeom>
          <a:noFill/>
          <a:ln w="9525">
            <a:solidFill>
              <a:srgbClr val="A1A3A6"/>
            </a:solidFill>
            <a:prstDash val="dash"/>
          </a:ln>
        </p:spPr>
        <p:txBody>
          <a:bodyPr wrap="square" lIns="64008" tIns="27432" rIns="64008" bIns="27432" anchor="ctr">
            <a:noAutofit/>
          </a:bodyPr>
          <a:lstStyle/>
          <a:p>
            <a:pPr algn="ctr"/>
            <a:r>
              <a:rPr lang="en-GB" sz="1600" dirty="0">
                <a:solidFill>
                  <a:srgbClr val="262626"/>
                </a:solidFill>
              </a:rPr>
              <a:t/>
            </a:r>
          </a:p>
        </p:txBody>
      </p:sp>
      <p:sp>
        <p:nvSpPr>
          <p:cNvPr id="19" name="Band label"/>
          <p:cNvSpPr txBox="1"/>
          <p:nvPr/>
        </p:nvSpPr>
        <p:spPr>
          <a:xfrm>
            <a:off x="9130596" y="1792224"/>
            <a:ext cx="1261872" cy="256032"/>
          </a:xfrm>
          <a:prstGeom prst="rect">
            <a:avLst/>
          </a:prstGeom>
          <a:solidFill>
            <a:srgbClr val="FFFFFF"/>
          </a:solidFill>
        </p:spPr>
        <p:txBody>
          <a:bodyPr wrap="square" lIns="45720" tIns="0" rIns="45720" bIns="0" anchor="t">
            <a:noAutofit/>
          </a:bodyPr>
          <a:lstStyle/>
          <a:p>
            <a:pPr algn="l"/>
            <a:r>
              <a:rPr lang="en-GB" sz="1200" dirty="0">
                <a:solidFill>
                  <a:srgbClr val="6E6E6E"/>
                </a:solidFill>
              </a:rPr>
              <a:t>Per instance</a:t>
            </a:r>
          </a:p>
        </p:txBody>
      </p:sp>
      <p:sp>
        <p:nvSpPr>
          <p:cNvPr id="20" name="demo"/>
          <p:cNvSpPr/>
          <p:nvPr/>
        </p:nvSpPr>
        <p:spPr>
          <a:xfrm>
            <a:off x="824209" y="2130552"/>
            <a:ext cx="2207046" cy="640080"/>
          </a:xfrm>
          <a:prstGeom prst="roundRect">
            <a:avLst>
              <a:gd name="adj" fmla="val 8000"/>
            </a:avLst>
          </a:prstGeom>
          <a:solidFill>
            <a:srgbClr val="EDF1F8"/>
          </a:solidFill>
          <a:ln w="19050">
            <a:solidFill>
              <a:srgbClr val="1954A6"/>
            </a:solidFill>
          </a:ln>
        </p:spPr>
        <p:txBody>
          <a:bodyPr wrap="square" lIns="64008" tIns="27432" rIns="64008" bIns="27432" anchor="ctr">
            <a:noAutofit/>
          </a:bodyPr>
          <a:lstStyle/>
          <a:p>
            <a:pPr algn="ctr"/>
            <a:r>
              <a:rPr lang="en-GB" sz="1600" dirty="0">
                <a:solidFill>
                  <a:srgbClr val="262626"/>
                </a:solidFill>
              </a:rPr>
              <a:t>Demonstrations</a:t>
            </a:r>
          </a:p>
        </p:txBody>
      </p:sp>
      <p:sp>
        <p:nvSpPr>
          <p:cNvPr id="21" name="train"/>
          <p:cNvSpPr/>
          <p:nvPr/>
        </p:nvSpPr>
        <p:spPr>
          <a:xfrm>
            <a:off x="3516804" y="2130552"/>
            <a:ext cx="2207046" cy="640080"/>
          </a:xfrm>
          <a:prstGeom prst="roundRect">
            <a:avLst>
              <a:gd name="adj" fmla="val 8000"/>
            </a:avLst>
          </a:prstGeom>
          <a:solidFill>
            <a:srgbClr val="EDF1F8"/>
          </a:solidFill>
          <a:ln w="19050">
            <a:solidFill>
              <a:srgbClr val="1954A6"/>
            </a:solidFill>
          </a:ln>
        </p:spPr>
        <p:txBody>
          <a:bodyPr wrap="square" lIns="64008" tIns="27432" rIns="64008" bIns="27432" anchor="ctr">
            <a:noAutofit/>
          </a:bodyPr>
          <a:lstStyle/>
          <a:p>
            <a:pPr algn="ctr"/>
            <a:r>
              <a:rPr lang="en-GB" sz="1600" dirty="0">
                <a:solidFill>
                  <a:srgbClr val="262626"/>
                </a:solidFill>
              </a:rPr>
              <a:t>Flow-matching training</a:t>
            </a:r>
          </a:p>
        </p:txBody>
      </p:sp>
      <p:sp>
        <p:nvSpPr>
          <p:cNvPr id="22" name="prior"/>
          <p:cNvSpPr/>
          <p:nvPr/>
        </p:nvSpPr>
        <p:spPr>
          <a:xfrm>
            <a:off x="6209400" y="2130552"/>
            <a:ext cx="2207046" cy="640080"/>
          </a:xfrm>
          <a:prstGeom prst="roundRect">
            <a:avLst>
              <a:gd name="adj" fmla="val 8000"/>
            </a:avLst>
          </a:prstGeom>
          <a:solidFill>
            <a:srgbClr val="CCD9EB"/>
          </a:solidFill>
          <a:ln w="19050">
            <a:solidFill>
              <a:srgbClr val="1954A6"/>
            </a:solidFill>
          </a:ln>
        </p:spPr>
        <p:txBody>
          <a:bodyPr wrap="square" lIns="64008" tIns="27432" rIns="64008" bIns="27432" anchor="ctr">
            <a:noAutofit/>
          </a:bodyPr>
          <a:lstStyle/>
          <a:p>
            <a:pPr algn="ctr"/>
            <a:r>
              <a:rPr lang="en-GB" sz="1600" dirty="0">
                <a:solidFill>
                  <a:srgbClr val="262626"/>
                </a:solidFill>
              </a:rPr>
              <a:t>Learned prior</a:t>
            </a:r>
          </a:p>
        </p:txBody>
      </p:sp>
      <p:sp>
        <p:nvSpPr>
          <p:cNvPr id="23" name="phi"/>
          <p:cNvSpPr/>
          <p:nvPr/>
        </p:nvSpPr>
        <p:spPr>
          <a:xfrm>
            <a:off x="824209" y="3456432"/>
            <a:ext cx="2207046" cy="640080"/>
          </a:xfrm>
          <a:prstGeom prst="roundRect">
            <a:avLst>
              <a:gd name="adj" fmla="val 8000"/>
            </a:avLst>
          </a:prstGeom>
          <a:solidFill>
            <a:srgbClr val="FCF1F7"/>
          </a:solidFill>
          <a:ln w="19050">
            <a:solidFill>
              <a:srgbClr val="D85497"/>
            </a:solidFill>
          </a:ln>
        </p:spPr>
        <p:txBody>
          <a:bodyPr wrap="square" lIns="64008" tIns="27432" rIns="64008" bIns="27432" anchor="ctr">
            <a:noAutofit/>
          </a:bodyPr>
          <a:lstStyle/>
          <a:p>
            <a:pPr algn="ctr"/>
            <a:r>
              <a:rPr lang="en-GB" sz="1600" dirty="0">
                <a:solidFill>
                  <a:srgbClr val="262626"/>
                </a:solidFill>
              </a:rPr>
              <a:t>STL requirement </a:t>
            </a:r>
            <a:r>
              <a:rPr lang="en-GB" sz="1600" i="1" dirty="0">
                <a:solidFill>
                  <a:srgbClr val="262626"/>
                </a:solidFill>
              </a:rPr>
              <a:t>φ</a:t>
            </a:r>
          </a:p>
        </p:txBody>
      </p:sp>
      <p:sp>
        <p:nvSpPr>
          <p:cNvPr id="24" name="comp"/>
          <p:cNvSpPr/>
          <p:nvPr/>
        </p:nvSpPr>
        <p:spPr>
          <a:xfrm>
            <a:off x="3516804" y="3456432"/>
            <a:ext cx="2207046" cy="640080"/>
          </a:xfrm>
          <a:prstGeom prst="roundRect">
            <a:avLst>
              <a:gd name="adj" fmla="val 8000"/>
            </a:avLst>
          </a:prstGeom>
          <a:solidFill>
            <a:srgbClr val="FCF1F7"/>
          </a:solidFill>
          <a:ln w="19050">
            <a:solidFill>
              <a:srgbClr val="D85497"/>
            </a:solidFill>
          </a:ln>
        </p:spPr>
        <p:txBody>
          <a:bodyPr wrap="square" lIns="64008" tIns="27432" rIns="64008" bIns="27432" anchor="ctr">
            <a:noAutofit/>
          </a:bodyPr>
          <a:lstStyle/>
          <a:p>
            <a:pPr algn="ctr"/>
            <a:r>
              <a:rPr lang="en-GB" sz="1600" dirty="0">
                <a:solidFill>
                  <a:srgbClr val="262626"/>
                </a:solidFill>
              </a:rPr>
              <a:t>Compiler</a:t>
            </a:r>
          </a:p>
        </p:txBody>
      </p:sp>
      <p:sp>
        <p:nvSpPr>
          <p:cNvPr id="25" name="score"/>
          <p:cNvSpPr/>
          <p:nvPr/>
        </p:nvSpPr>
        <p:spPr>
          <a:xfrm>
            <a:off x="6209400" y="3456432"/>
            <a:ext cx="2207046" cy="640080"/>
          </a:xfrm>
          <a:prstGeom prst="roundRect">
            <a:avLst>
              <a:gd name="adj" fmla="val 8000"/>
            </a:avLst>
          </a:prstGeom>
          <a:solidFill>
            <a:srgbClr val="F6D9E8"/>
          </a:solidFill>
          <a:ln w="19050">
            <a:solidFill>
              <a:srgbClr val="D85497"/>
            </a:solidFill>
          </a:ln>
        </p:spPr>
        <p:txBody>
          <a:bodyPr wrap="square" lIns="64008" tIns="27432" rIns="64008" bIns="27432" anchor="ctr">
            <a:noAutofit/>
          </a:bodyPr>
          <a:lstStyle/>
          <a:p>
            <a:pPr algn="ctr"/>
            <a:r>
              <a:rPr lang="en-GB" sz="1600" dirty="0">
                <a:solidFill>
                  <a:srgbClr val="262626"/>
                </a:solidFill>
              </a:rPr>
              <a:t>Robustness score </a:t>
            </a:r>
            <a:r>
              <a:rPr lang="en-GB" sz="1600" i="1" dirty="0">
                <a:solidFill>
                  <a:srgbClr val="262626"/>
                </a:solidFill>
              </a:rPr>
              <a:t>ρ</a:t>
            </a:r>
          </a:p>
        </p:txBody>
      </p:sp>
      <p:sp>
        <p:nvSpPr>
          <p:cNvPr id="26" name="samp"/>
          <p:cNvSpPr/>
          <p:nvPr/>
        </p:nvSpPr>
        <p:spPr>
          <a:xfrm>
            <a:off x="9122701" y="2130552"/>
            <a:ext cx="2251187" cy="1965960"/>
          </a:xfrm>
          <a:prstGeom prst="roundRect">
            <a:avLst>
              <a:gd name="adj" fmla="val 8000"/>
            </a:avLst>
          </a:prstGeom>
          <a:solidFill>
            <a:srgbClr val="CFEAF6"/>
          </a:solidFill>
          <a:ln w="19050">
            <a:solidFill>
              <a:srgbClr val="24A0D8"/>
            </a:solidFill>
          </a:ln>
        </p:spPr>
        <p:txBody>
          <a:bodyPr wrap="square" lIns="64008" tIns="27432" rIns="64008" bIns="27432" anchor="ctr">
            <a:noAutofit/>
          </a:bodyPr>
          <a:lstStyle/>
          <a:p>
            <a:pPr algn="ctr"/>
            <a:r>
              <a:rPr lang="en-GB" sz="1600" dirty="0">
                <a:solidFill>
                  <a:srgbClr val="262626"/>
                </a:solidFill>
              </a:rPr>
              <a:t>Guided sampler</a:t>
            </a:r>
          </a:p>
        </p:txBody>
      </p:sp>
      <p:sp>
        <p:nvSpPr>
          <p:cNvPr id="27" name="plan"/>
          <p:cNvSpPr/>
          <p:nvPr/>
        </p:nvSpPr>
        <p:spPr>
          <a:xfrm>
            <a:off x="9122701" y="4507992"/>
            <a:ext cx="2251187" cy="566928"/>
          </a:xfrm>
          <a:prstGeom prst="roundRect">
            <a:avLst>
              <a:gd name="adj" fmla="val 8000"/>
            </a:avLst>
          </a:prstGeom>
          <a:solidFill>
            <a:srgbClr val="EDF7FC"/>
          </a:solidFill>
          <a:ln w="19050">
            <a:solidFill>
              <a:srgbClr val="24A0D8"/>
            </a:solidFill>
          </a:ln>
        </p:spPr>
        <p:txBody>
          <a:bodyPr wrap="square" lIns="64008" tIns="27432" rIns="64008" bIns="27432" anchor="ctr">
            <a:noAutofit/>
          </a:bodyPr>
          <a:lstStyle/>
          <a:p>
            <a:pPr algn="ctr"/>
            <a:r>
              <a:rPr lang="en-GB" sz="1600" dirty="0">
                <a:solidFill>
                  <a:srgbClr val="262626"/>
                </a:solidFill>
              </a:rPr>
              <a:t>Plan</a:t>
            </a:r>
          </a:p>
        </p:txBody>
      </p:sp>
      <p:sp>
        <p:nvSpPr>
          <p:cNvPr id="28" name="exec"/>
          <p:cNvSpPr/>
          <p:nvPr/>
        </p:nvSpPr>
        <p:spPr>
          <a:xfrm>
            <a:off x="9122701" y="5486400"/>
            <a:ext cx="2251187" cy="566928"/>
          </a:xfrm>
          <a:prstGeom prst="roundRect">
            <a:avLst>
              <a:gd name="adj" fmla="val 8000"/>
            </a:avLst>
          </a:prstGeom>
          <a:solidFill>
            <a:srgbClr val="F9FBEE"/>
          </a:solidFill>
          <a:ln w="19050">
            <a:solidFill>
              <a:srgbClr val="B0C92B"/>
            </a:solidFill>
          </a:ln>
        </p:spPr>
        <p:txBody>
          <a:bodyPr wrap="square" lIns="64008" tIns="27432" rIns="64008" bIns="27432" anchor="ctr">
            <a:noAutofit/>
          </a:bodyPr>
          <a:lstStyle/>
          <a:p>
            <a:pPr algn="ctr"/>
            <a:r>
              <a:rPr lang="en-GB" sz="1600" dirty="0">
                <a:solidFill>
                  <a:srgbClr val="262626"/>
                </a:solidFill>
              </a:rPr>
              <a:t>Execution</a:t>
            </a:r>
          </a:p>
        </p:txBody>
      </p:sp>
      <p:cxnSp>
        <p:nvCxnSpPr>
          <p:cNvPr id="29" name="Arrow"/>
          <p:cNvCxnSpPr/>
          <p:nvPr/>
        </p:nvCxnSpPr>
        <p:spPr>
          <a:xfrm>
            <a:off x="3031254" y="2450592"/>
            <a:ext cx="485550" cy="0"/>
          </a:xfrm>
          <a:prstGeom prst="straightConnector1">
            <a:avLst/>
          </a:prstGeom>
          <a:ln w="25400">
            <a:solidFill>
              <a:srgbClr val="1954A6"/>
            </a:solidFill>
            <a:tailEnd type="triangle" w="med" len="med"/>
          </a:ln>
        </p:spPr>
      </p:cxnSp>
      <p:cxnSp>
        <p:nvCxnSpPr>
          <p:cNvPr id="30" name="Arrow"/>
          <p:cNvCxnSpPr/>
          <p:nvPr/>
        </p:nvCxnSpPr>
        <p:spPr>
          <a:xfrm>
            <a:off x="5723850" y="2450592"/>
            <a:ext cx="485550" cy="0"/>
          </a:xfrm>
          <a:prstGeom prst="straightConnector1">
            <a:avLst/>
          </a:prstGeom>
          <a:ln w="25400">
            <a:solidFill>
              <a:srgbClr val="1954A6"/>
            </a:solidFill>
            <a:tailEnd type="triangle" w="med" len="med"/>
          </a:ln>
        </p:spPr>
      </p:cxnSp>
      <p:cxnSp>
        <p:nvCxnSpPr>
          <p:cNvPr id="31" name="Arrow"/>
          <p:cNvCxnSpPr/>
          <p:nvPr/>
        </p:nvCxnSpPr>
        <p:spPr>
          <a:xfrm>
            <a:off x="3031254" y="3776472"/>
            <a:ext cx="485550" cy="0"/>
          </a:xfrm>
          <a:prstGeom prst="straightConnector1">
            <a:avLst/>
          </a:prstGeom>
          <a:ln w="25400">
            <a:solidFill>
              <a:srgbClr val="D85497"/>
            </a:solidFill>
            <a:tailEnd type="triangle" w="med" len="med"/>
          </a:ln>
        </p:spPr>
      </p:cxnSp>
      <p:cxnSp>
        <p:nvCxnSpPr>
          <p:cNvPr id="32" name="Arrow"/>
          <p:cNvCxnSpPr/>
          <p:nvPr/>
        </p:nvCxnSpPr>
        <p:spPr>
          <a:xfrm>
            <a:off x="5723850" y="3776472"/>
            <a:ext cx="485550" cy="0"/>
          </a:xfrm>
          <a:prstGeom prst="straightConnector1">
            <a:avLst/>
          </a:prstGeom>
          <a:ln w="25400">
            <a:solidFill>
              <a:srgbClr val="D85497"/>
            </a:solidFill>
            <a:tailEnd type="triangle" w="med" len="med"/>
          </a:ln>
        </p:spPr>
      </p:cxnSp>
      <p:cxnSp>
        <p:nvCxnSpPr>
          <p:cNvPr id="33" name="Arrow"/>
          <p:cNvCxnSpPr/>
          <p:nvPr/>
        </p:nvCxnSpPr>
        <p:spPr>
          <a:xfrm>
            <a:off x="8416446" y="2450592"/>
            <a:ext cx="706255" cy="0"/>
          </a:xfrm>
          <a:prstGeom prst="straightConnector1">
            <a:avLst/>
          </a:prstGeom>
          <a:ln w="25400">
            <a:solidFill>
              <a:srgbClr val="1954A6"/>
            </a:solidFill>
            <a:tailEnd type="triangle" w="med" len="med"/>
          </a:ln>
        </p:spPr>
      </p:cxnSp>
      <p:cxnSp>
        <p:nvCxnSpPr>
          <p:cNvPr id="34" name="Arrow"/>
          <p:cNvCxnSpPr/>
          <p:nvPr/>
        </p:nvCxnSpPr>
        <p:spPr>
          <a:xfrm>
            <a:off x="8416446" y="3776472"/>
            <a:ext cx="706255" cy="0"/>
          </a:xfrm>
          <a:prstGeom prst="straightConnector1">
            <a:avLst/>
          </a:prstGeom>
          <a:ln w="25400">
            <a:solidFill>
              <a:srgbClr val="D85497"/>
            </a:solidFill>
            <a:tailEnd type="triangle" w="med" len="med"/>
          </a:ln>
        </p:spPr>
      </p:cxnSp>
      <p:cxnSp>
        <p:nvCxnSpPr>
          <p:cNvPr id="35" name="Arrow"/>
          <p:cNvCxnSpPr/>
          <p:nvPr/>
        </p:nvCxnSpPr>
        <p:spPr>
          <a:xfrm>
            <a:off x="10248294" y="4096512"/>
            <a:ext cx="0" cy="411480"/>
          </a:xfrm>
          <a:prstGeom prst="straightConnector1">
            <a:avLst/>
          </a:prstGeom>
          <a:ln w="25400">
            <a:solidFill>
              <a:srgbClr val="24A0D8"/>
            </a:solidFill>
            <a:tailEnd type="triangle" w="med" len="med"/>
          </a:ln>
        </p:spPr>
      </p:cxnSp>
      <p:cxnSp>
        <p:nvCxnSpPr>
          <p:cNvPr id="36" name="Arrow"/>
          <p:cNvCxnSpPr/>
          <p:nvPr/>
        </p:nvCxnSpPr>
        <p:spPr>
          <a:xfrm>
            <a:off x="10248294" y="5074920"/>
            <a:ext cx="0" cy="411480"/>
          </a:xfrm>
          <a:prstGeom prst="straightConnector1">
            <a:avLst/>
          </a:prstGeom>
          <a:ln w="25400">
            <a:solidFill>
              <a:srgbClr val="B0C92B"/>
            </a:solidFill>
            <a:tailEnd type="triangle" w="med" len="med"/>
          </a:ln>
        </p:spPr>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Stating the requirement</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a:t>
            </a:r>
            <a:r>
              <a:rPr lang="en-GB" sz="1300" dirty="0">
                <a:solidFill>
                  <a:srgbClr val="A5A5A5"/>
                </a:solidFill>
              </a:rPr>
              <a:t>    →    </a:t>
            </a:r>
            <a:r>
              <a:rPr lang="en-GB" sz="1300" b="1" dirty="0">
                <a:solidFill>
                  <a:srgbClr val="004791"/>
                </a:solidFill>
              </a:rPr>
              <a:t>Background</a:t>
            </a:r>
            <a:r>
              <a:rPr lang="en-GB" sz="1300" dirty="0">
                <a:solidFill>
                  <a:srgbClr val="A5A5A5"/>
                </a:solidFill>
              </a:rPr>
              <a:t>    →    </a:t>
            </a:r>
            <a:r>
              <a:rPr lang="en-GB" sz="1300" dirty="0">
                <a:solidFill>
                  <a:srgbClr val="A5A5A5"/>
                </a:solidFill>
              </a:rPr>
              <a:t>Method</a:t>
            </a:r>
            <a:r>
              <a:rPr lang="en-GB" sz="1300" dirty="0">
                <a:solidFill>
                  <a:srgbClr val="A5A5A5"/>
                </a:solidFill>
              </a:rPr>
              <a:t>    →    </a:t>
            </a:r>
            <a:r>
              <a:rPr lang="en-GB" sz="1300" dirty="0">
                <a:solidFill>
                  <a:srgbClr val="A5A5A5"/>
                </a:solidFill>
              </a:rPr>
              <a:t>Results</a:t>
            </a:r>
            <a:r>
              <a:rPr lang="en-GB" sz="1300" dirty="0">
                <a:solidFill>
                  <a:srgbClr val="A5A5A5"/>
                </a:solidFill>
              </a:rPr>
              <a:t>    →    </a:t>
            </a:r>
            <a:r>
              <a:rPr lang="en-GB" sz="1300" dirty="0">
                <a:solidFill>
                  <a:srgbClr val="A5A5A5"/>
                </a:solidFill>
              </a:rPr>
              <a:t>Conclusions</a:t>
            </a:r>
          </a:p>
        </p:txBody>
      </p:sp>
      <p:sp>
        <p:nvSpPr>
          <p:cNvPr id="13" name="Slide Number"/>
          <p:cNvSpPr>
            <a:spLocks noGrp="1"/>
          </p:cNvSpPr>
          <p:nvPr>
            <p:ph type="sldNum" sz="quarter" idx="12"/>
          </p:nvPr>
        </p:nvSpPr>
        <p:spPr/>
        <p:txBody>
          <a:bodyPr/>
          <a:lstStyle/>
          <a:p>
            <a:fld id="{619F89D8-7AE3-494A-97F3-03D680869632}" type="slidenum">
              <a:rPr lang="en-GB"/>
              <a:t>1</a:t>
            </a:fld>
            <a:endParaRPr lang="en-GB"/>
          </a:p>
        </p:txBody>
      </p:sp>
      <p:sp>
        <p:nvSpPr>
          <p:cNvPr id="14" name="Band"/>
          <p:cNvSpPr/>
          <p:nvPr/>
        </p:nvSpPr>
        <p:spPr>
          <a:xfrm>
            <a:off x="603504" y="1920240"/>
            <a:ext cx="8077788" cy="1051560"/>
          </a:xfrm>
          <a:prstGeom prst="roundRect">
            <a:avLst>
              <a:gd name="adj" fmla="val 3000"/>
            </a:avLst>
          </a:prstGeom>
          <a:noFill/>
          <a:ln w="9525">
            <a:solidFill>
              <a:srgbClr val="A1A3A6"/>
            </a:solidFill>
            <a:prstDash val="dash"/>
          </a:ln>
        </p:spPr>
        <p:txBody>
          <a:bodyPr wrap="square" lIns="64008" tIns="27432" rIns="64008" bIns="27432" anchor="ctr">
            <a:noAutofit/>
          </a:bodyPr>
          <a:lstStyle/>
          <a:p>
            <a:pPr algn="ctr"/>
            <a:r>
              <a:rPr lang="en-GB" sz="1600" dirty="0">
                <a:solidFill>
                  <a:srgbClr val="262626"/>
                </a:solidFill>
              </a:rPr>
              <a:t/>
            </a:r>
          </a:p>
        </p:txBody>
      </p:sp>
      <p:sp>
        <p:nvSpPr>
          <p:cNvPr id="15" name="Band label"/>
          <p:cNvSpPr txBox="1"/>
          <p:nvPr/>
        </p:nvSpPr>
        <p:spPr>
          <a:xfrm>
            <a:off x="832104" y="1792224"/>
            <a:ext cx="1344168" cy="256032"/>
          </a:xfrm>
          <a:prstGeom prst="rect">
            <a:avLst/>
          </a:prstGeom>
          <a:solidFill>
            <a:srgbClr val="FFFFFF"/>
          </a:solidFill>
        </p:spPr>
        <p:txBody>
          <a:bodyPr wrap="square" lIns="45720" tIns="0" rIns="45720" bIns="0" anchor="t">
            <a:noAutofit/>
          </a:bodyPr>
          <a:lstStyle/>
          <a:p>
            <a:pPr algn="l"/>
            <a:r>
              <a:rPr lang="en-GB" sz="1200" dirty="0">
                <a:solidFill>
                  <a:srgbClr val="6E6E6E"/>
                </a:solidFill>
              </a:rPr>
              <a:t>Offline, once</a:t>
            </a:r>
          </a:p>
        </p:txBody>
      </p:sp>
      <p:sp>
        <p:nvSpPr>
          <p:cNvPr id="16" name="Band"/>
          <p:cNvSpPr/>
          <p:nvPr/>
        </p:nvSpPr>
        <p:spPr>
          <a:xfrm>
            <a:off x="603504" y="3246120"/>
            <a:ext cx="8077788" cy="1051560"/>
          </a:xfrm>
          <a:prstGeom prst="roundRect">
            <a:avLst>
              <a:gd name="adj" fmla="val 3000"/>
            </a:avLst>
          </a:prstGeom>
          <a:noFill/>
          <a:ln w="9525">
            <a:solidFill>
              <a:srgbClr val="A1A3A6"/>
            </a:solidFill>
            <a:prstDash val="dash"/>
          </a:ln>
        </p:spPr>
        <p:txBody>
          <a:bodyPr wrap="square" lIns="64008" tIns="27432" rIns="64008" bIns="27432" anchor="ctr">
            <a:noAutofit/>
          </a:bodyPr>
          <a:lstStyle/>
          <a:p>
            <a:pPr algn="ctr"/>
            <a:r>
              <a:rPr lang="en-GB" sz="1600" dirty="0">
                <a:solidFill>
                  <a:srgbClr val="262626"/>
                </a:solidFill>
              </a:rPr>
              <a:t/>
            </a:r>
          </a:p>
        </p:txBody>
      </p:sp>
      <p:sp>
        <p:nvSpPr>
          <p:cNvPr id="17" name="Band label"/>
          <p:cNvSpPr txBox="1"/>
          <p:nvPr/>
        </p:nvSpPr>
        <p:spPr>
          <a:xfrm>
            <a:off x="832104" y="3118104"/>
            <a:ext cx="2660904" cy="256032"/>
          </a:xfrm>
          <a:prstGeom prst="rect">
            <a:avLst/>
          </a:prstGeom>
          <a:solidFill>
            <a:srgbClr val="FFFFFF"/>
          </a:solidFill>
        </p:spPr>
        <p:txBody>
          <a:bodyPr wrap="square" lIns="45720" tIns="0" rIns="45720" bIns="0" anchor="t">
            <a:noAutofit/>
          </a:bodyPr>
          <a:lstStyle/>
          <a:p>
            <a:pPr algn="l"/>
            <a:r>
              <a:rPr lang="en-GB" sz="1200" dirty="0">
                <a:solidFill>
                  <a:srgbClr val="6E6E6E"/>
                </a:solidFill>
              </a:rPr>
              <a:t>Per requirement, at inference</a:t>
            </a:r>
          </a:p>
        </p:txBody>
      </p:sp>
      <p:sp>
        <p:nvSpPr>
          <p:cNvPr id="18" name="Band"/>
          <p:cNvSpPr/>
          <p:nvPr/>
        </p:nvSpPr>
        <p:spPr>
          <a:xfrm>
            <a:off x="8901996" y="1920240"/>
            <a:ext cx="2692596" cy="4343400"/>
          </a:xfrm>
          <a:prstGeom prst="roundRect">
            <a:avLst>
              <a:gd name="adj" fmla="val 3000"/>
            </a:avLst>
          </a:prstGeom>
          <a:noFill/>
          <a:ln w="9525">
            <a:solidFill>
              <a:srgbClr val="A1A3A6"/>
            </a:solidFill>
            <a:prstDash val="dash"/>
          </a:ln>
        </p:spPr>
        <p:txBody>
          <a:bodyPr wrap="square" lIns="64008" tIns="27432" rIns="64008" bIns="27432" anchor="ctr">
            <a:noAutofit/>
          </a:bodyPr>
          <a:lstStyle/>
          <a:p>
            <a:pPr algn="ctr"/>
            <a:r>
              <a:rPr lang="en-GB" sz="1600" dirty="0">
                <a:solidFill>
                  <a:srgbClr val="262626"/>
                </a:solidFill>
              </a:rPr>
              <a:t/>
            </a:r>
          </a:p>
        </p:txBody>
      </p:sp>
      <p:sp>
        <p:nvSpPr>
          <p:cNvPr id="19" name="Band label"/>
          <p:cNvSpPr txBox="1"/>
          <p:nvPr/>
        </p:nvSpPr>
        <p:spPr>
          <a:xfrm>
            <a:off x="9130596" y="1792224"/>
            <a:ext cx="1261872" cy="256032"/>
          </a:xfrm>
          <a:prstGeom prst="rect">
            <a:avLst/>
          </a:prstGeom>
          <a:solidFill>
            <a:srgbClr val="FFFFFF"/>
          </a:solidFill>
        </p:spPr>
        <p:txBody>
          <a:bodyPr wrap="square" lIns="45720" tIns="0" rIns="45720" bIns="0" anchor="t">
            <a:noAutofit/>
          </a:bodyPr>
          <a:lstStyle/>
          <a:p>
            <a:pPr algn="l"/>
            <a:r>
              <a:rPr lang="en-GB" sz="1200" dirty="0">
                <a:solidFill>
                  <a:srgbClr val="6E6E6E"/>
                </a:solidFill>
              </a:rPr>
              <a:t>Per instance</a:t>
            </a:r>
          </a:p>
        </p:txBody>
      </p:sp>
      <p:sp>
        <p:nvSpPr>
          <p:cNvPr id="20" name="demo"/>
          <p:cNvSpPr/>
          <p:nvPr/>
        </p:nvSpPr>
        <p:spPr>
          <a:xfrm>
            <a:off x="824209" y="2130552"/>
            <a:ext cx="2207046" cy="640080"/>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Demonstrations</a:t>
            </a:r>
          </a:p>
        </p:txBody>
      </p:sp>
      <p:sp>
        <p:nvSpPr>
          <p:cNvPr id="21" name="train"/>
          <p:cNvSpPr/>
          <p:nvPr/>
        </p:nvSpPr>
        <p:spPr>
          <a:xfrm>
            <a:off x="3516804" y="2130552"/>
            <a:ext cx="2207046" cy="640080"/>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Flow-matching training</a:t>
            </a:r>
          </a:p>
        </p:txBody>
      </p:sp>
      <p:sp>
        <p:nvSpPr>
          <p:cNvPr id="22" name="prior"/>
          <p:cNvSpPr/>
          <p:nvPr/>
        </p:nvSpPr>
        <p:spPr>
          <a:xfrm>
            <a:off x="6209400" y="2130552"/>
            <a:ext cx="2207046" cy="640080"/>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Learned prior</a:t>
            </a:r>
          </a:p>
        </p:txBody>
      </p:sp>
      <p:sp>
        <p:nvSpPr>
          <p:cNvPr id="23" name="phi"/>
          <p:cNvSpPr/>
          <p:nvPr/>
        </p:nvSpPr>
        <p:spPr>
          <a:xfrm>
            <a:off x="824209" y="3456432"/>
            <a:ext cx="2207046" cy="640080"/>
          </a:xfrm>
          <a:prstGeom prst="roundRect">
            <a:avLst>
              <a:gd name="adj" fmla="val 8000"/>
            </a:avLst>
          </a:prstGeom>
          <a:solidFill>
            <a:srgbClr val="FCF1F7"/>
          </a:solidFill>
          <a:ln w="19050">
            <a:solidFill>
              <a:srgbClr val="D85497"/>
            </a:solidFill>
          </a:ln>
        </p:spPr>
        <p:txBody>
          <a:bodyPr wrap="square" lIns="64008" tIns="27432" rIns="64008" bIns="27432" anchor="ctr">
            <a:noAutofit/>
          </a:bodyPr>
          <a:lstStyle/>
          <a:p>
            <a:pPr algn="ctr"/>
            <a:r>
              <a:rPr lang="en-GB" sz="1600" dirty="0">
                <a:solidFill>
                  <a:srgbClr val="262626"/>
                </a:solidFill>
              </a:rPr>
              <a:t>STL requirement </a:t>
            </a:r>
            <a:r>
              <a:rPr lang="en-GB" sz="1600" i="1" dirty="0">
                <a:solidFill>
                  <a:srgbClr val="262626"/>
                </a:solidFill>
              </a:rPr>
              <a:t>φ</a:t>
            </a:r>
          </a:p>
        </p:txBody>
      </p:sp>
      <p:sp>
        <p:nvSpPr>
          <p:cNvPr id="24" name="comp"/>
          <p:cNvSpPr/>
          <p:nvPr/>
        </p:nvSpPr>
        <p:spPr>
          <a:xfrm>
            <a:off x="3516804" y="3456432"/>
            <a:ext cx="2207046" cy="640080"/>
          </a:xfrm>
          <a:prstGeom prst="roundRect">
            <a:avLst>
              <a:gd name="adj" fmla="val 8000"/>
            </a:avLst>
          </a:prstGeom>
          <a:solidFill>
            <a:srgbClr val="FCF1F7"/>
          </a:solidFill>
          <a:ln w="19050">
            <a:solidFill>
              <a:srgbClr val="D85497"/>
            </a:solidFill>
          </a:ln>
        </p:spPr>
        <p:txBody>
          <a:bodyPr wrap="square" lIns="64008" tIns="27432" rIns="64008" bIns="27432" anchor="ctr">
            <a:noAutofit/>
          </a:bodyPr>
          <a:lstStyle/>
          <a:p>
            <a:pPr algn="ctr"/>
            <a:r>
              <a:rPr lang="en-GB" sz="1600" dirty="0">
                <a:solidFill>
                  <a:srgbClr val="262626"/>
                </a:solidFill>
              </a:rPr>
              <a:t>Compiler</a:t>
            </a:r>
          </a:p>
        </p:txBody>
      </p:sp>
      <p:sp>
        <p:nvSpPr>
          <p:cNvPr id="25" name="score"/>
          <p:cNvSpPr/>
          <p:nvPr/>
        </p:nvSpPr>
        <p:spPr>
          <a:xfrm>
            <a:off x="6209400" y="3456432"/>
            <a:ext cx="2207046" cy="640080"/>
          </a:xfrm>
          <a:prstGeom prst="roundRect">
            <a:avLst>
              <a:gd name="adj" fmla="val 8000"/>
            </a:avLst>
          </a:prstGeom>
          <a:solidFill>
            <a:srgbClr val="F6D9E8"/>
          </a:solidFill>
          <a:ln w="19050">
            <a:solidFill>
              <a:srgbClr val="D85497"/>
            </a:solidFill>
          </a:ln>
        </p:spPr>
        <p:txBody>
          <a:bodyPr wrap="square" lIns="64008" tIns="27432" rIns="64008" bIns="27432" anchor="ctr">
            <a:noAutofit/>
          </a:bodyPr>
          <a:lstStyle/>
          <a:p>
            <a:pPr algn="ctr"/>
            <a:r>
              <a:rPr lang="en-GB" sz="1600" dirty="0">
                <a:solidFill>
                  <a:srgbClr val="262626"/>
                </a:solidFill>
              </a:rPr>
              <a:t>Robustness score </a:t>
            </a:r>
            <a:r>
              <a:rPr lang="en-GB" sz="1600" i="1" dirty="0">
                <a:solidFill>
                  <a:srgbClr val="262626"/>
                </a:solidFill>
              </a:rPr>
              <a:t>ρ</a:t>
            </a:r>
          </a:p>
        </p:txBody>
      </p:sp>
      <p:sp>
        <p:nvSpPr>
          <p:cNvPr id="26" name="samp"/>
          <p:cNvSpPr/>
          <p:nvPr/>
        </p:nvSpPr>
        <p:spPr>
          <a:xfrm>
            <a:off x="9122701" y="2130552"/>
            <a:ext cx="2251187" cy="1965960"/>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Guided sampler</a:t>
            </a:r>
          </a:p>
        </p:txBody>
      </p:sp>
      <p:sp>
        <p:nvSpPr>
          <p:cNvPr id="27" name="plan"/>
          <p:cNvSpPr/>
          <p:nvPr/>
        </p:nvSpPr>
        <p:spPr>
          <a:xfrm>
            <a:off x="9122701" y="4507992"/>
            <a:ext cx="2251187" cy="566928"/>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Plan</a:t>
            </a:r>
          </a:p>
        </p:txBody>
      </p:sp>
      <p:sp>
        <p:nvSpPr>
          <p:cNvPr id="28" name="exec"/>
          <p:cNvSpPr/>
          <p:nvPr/>
        </p:nvSpPr>
        <p:spPr>
          <a:xfrm>
            <a:off x="9122701" y="5486400"/>
            <a:ext cx="2251187" cy="566928"/>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Execution</a:t>
            </a:r>
          </a:p>
        </p:txBody>
      </p:sp>
      <p:cxnSp>
        <p:nvCxnSpPr>
          <p:cNvPr id="29" name="Arrow"/>
          <p:cNvCxnSpPr/>
          <p:nvPr/>
        </p:nvCxnSpPr>
        <p:spPr>
          <a:xfrm>
            <a:off x="3031254" y="2450592"/>
            <a:ext cx="485550" cy="0"/>
          </a:xfrm>
          <a:prstGeom prst="straightConnector1">
            <a:avLst/>
          </a:prstGeom>
          <a:ln w="25400">
            <a:solidFill>
              <a:srgbClr val="D2D2D2"/>
            </a:solidFill>
            <a:tailEnd type="triangle" w="med" len="med"/>
          </a:ln>
        </p:spPr>
      </p:cxnSp>
      <p:cxnSp>
        <p:nvCxnSpPr>
          <p:cNvPr id="30" name="Arrow"/>
          <p:cNvCxnSpPr/>
          <p:nvPr/>
        </p:nvCxnSpPr>
        <p:spPr>
          <a:xfrm>
            <a:off x="5723850" y="2450592"/>
            <a:ext cx="485550" cy="0"/>
          </a:xfrm>
          <a:prstGeom prst="straightConnector1">
            <a:avLst/>
          </a:prstGeom>
          <a:ln w="25400">
            <a:solidFill>
              <a:srgbClr val="D2D2D2"/>
            </a:solidFill>
            <a:tailEnd type="triangle" w="med" len="med"/>
          </a:ln>
        </p:spPr>
      </p:cxnSp>
      <p:cxnSp>
        <p:nvCxnSpPr>
          <p:cNvPr id="31" name="Arrow"/>
          <p:cNvCxnSpPr/>
          <p:nvPr/>
        </p:nvCxnSpPr>
        <p:spPr>
          <a:xfrm>
            <a:off x="3031254" y="3776472"/>
            <a:ext cx="485550" cy="0"/>
          </a:xfrm>
          <a:prstGeom prst="straightConnector1">
            <a:avLst/>
          </a:prstGeom>
          <a:ln w="25400">
            <a:solidFill>
              <a:srgbClr val="D85497"/>
            </a:solidFill>
            <a:tailEnd type="triangle" w="med" len="med"/>
          </a:ln>
        </p:spPr>
      </p:cxnSp>
      <p:cxnSp>
        <p:nvCxnSpPr>
          <p:cNvPr id="32" name="Arrow"/>
          <p:cNvCxnSpPr/>
          <p:nvPr/>
        </p:nvCxnSpPr>
        <p:spPr>
          <a:xfrm>
            <a:off x="5723850" y="3776472"/>
            <a:ext cx="485550" cy="0"/>
          </a:xfrm>
          <a:prstGeom prst="straightConnector1">
            <a:avLst/>
          </a:prstGeom>
          <a:ln w="25400">
            <a:solidFill>
              <a:srgbClr val="D85497"/>
            </a:solidFill>
            <a:tailEnd type="triangle" w="med" len="med"/>
          </a:ln>
        </p:spPr>
      </p:cxnSp>
      <p:cxnSp>
        <p:nvCxnSpPr>
          <p:cNvPr id="33" name="Arrow"/>
          <p:cNvCxnSpPr/>
          <p:nvPr/>
        </p:nvCxnSpPr>
        <p:spPr>
          <a:xfrm>
            <a:off x="8416446" y="2450592"/>
            <a:ext cx="706255" cy="0"/>
          </a:xfrm>
          <a:prstGeom prst="straightConnector1">
            <a:avLst/>
          </a:prstGeom>
          <a:ln w="25400">
            <a:solidFill>
              <a:srgbClr val="D2D2D2"/>
            </a:solidFill>
            <a:tailEnd type="triangle" w="med" len="med"/>
          </a:ln>
        </p:spPr>
      </p:cxnSp>
      <p:cxnSp>
        <p:nvCxnSpPr>
          <p:cNvPr id="34" name="Arrow"/>
          <p:cNvCxnSpPr/>
          <p:nvPr/>
        </p:nvCxnSpPr>
        <p:spPr>
          <a:xfrm>
            <a:off x="8416446" y="3776472"/>
            <a:ext cx="706255" cy="0"/>
          </a:xfrm>
          <a:prstGeom prst="straightConnector1">
            <a:avLst/>
          </a:prstGeom>
          <a:ln w="25400">
            <a:solidFill>
              <a:srgbClr val="D2D2D2"/>
            </a:solidFill>
            <a:tailEnd type="triangle" w="med" len="med"/>
          </a:ln>
        </p:spPr>
      </p:cxnSp>
      <p:cxnSp>
        <p:nvCxnSpPr>
          <p:cNvPr id="35" name="Arrow"/>
          <p:cNvCxnSpPr/>
          <p:nvPr/>
        </p:nvCxnSpPr>
        <p:spPr>
          <a:xfrm>
            <a:off x="10248294" y="4096512"/>
            <a:ext cx="0" cy="411480"/>
          </a:xfrm>
          <a:prstGeom prst="straightConnector1">
            <a:avLst/>
          </a:prstGeom>
          <a:ln w="25400">
            <a:solidFill>
              <a:srgbClr val="D2D2D2"/>
            </a:solidFill>
            <a:tailEnd type="triangle" w="med" len="med"/>
          </a:ln>
        </p:spPr>
      </p:cxnSp>
      <p:cxnSp>
        <p:nvCxnSpPr>
          <p:cNvPr id="36" name="Arrow"/>
          <p:cNvCxnSpPr/>
          <p:nvPr/>
        </p:nvCxnSpPr>
        <p:spPr>
          <a:xfrm>
            <a:off x="10248294" y="5074920"/>
            <a:ext cx="0" cy="411480"/>
          </a:xfrm>
          <a:prstGeom prst="straightConnector1">
            <a:avLst/>
          </a:prstGeom>
          <a:ln w="25400">
            <a:solidFill>
              <a:srgbClr val="D2D2D2"/>
            </a:solidFill>
            <a:tailEnd type="triangle" w="med" len="med"/>
          </a:ln>
        </p:spPr>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Signal Temporal Logic</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a:t>
            </a:r>
            <a:r>
              <a:rPr lang="en-GB" sz="1300" dirty="0">
                <a:solidFill>
                  <a:srgbClr val="A5A5A5"/>
                </a:solidFill>
              </a:rPr>
              <a:t>    →    </a:t>
            </a:r>
            <a:r>
              <a:rPr lang="en-GB" sz="1300" b="1" dirty="0">
                <a:solidFill>
                  <a:srgbClr val="004791"/>
                </a:solidFill>
              </a:rPr>
              <a:t>Background</a:t>
            </a:r>
            <a:r>
              <a:rPr lang="en-GB" sz="1300" dirty="0">
                <a:solidFill>
                  <a:srgbClr val="A5A5A5"/>
                </a:solidFill>
              </a:rPr>
              <a:t>    →    </a:t>
            </a:r>
            <a:r>
              <a:rPr lang="en-GB" sz="1300" dirty="0">
                <a:solidFill>
                  <a:srgbClr val="A5A5A5"/>
                </a:solidFill>
              </a:rPr>
              <a:t>Method</a:t>
            </a:r>
            <a:r>
              <a:rPr lang="en-GB" sz="1300" dirty="0">
                <a:solidFill>
                  <a:srgbClr val="A5A5A5"/>
                </a:solidFill>
              </a:rPr>
              <a:t>    →    </a:t>
            </a:r>
            <a:r>
              <a:rPr lang="en-GB" sz="1300" dirty="0">
                <a:solidFill>
                  <a:srgbClr val="A5A5A5"/>
                </a:solidFill>
              </a:rPr>
              <a:t>Results</a:t>
            </a:r>
            <a:r>
              <a:rPr lang="en-GB" sz="1300" dirty="0">
                <a:solidFill>
                  <a:srgbClr val="A5A5A5"/>
                </a:solidFill>
              </a:rPr>
              <a:t>    →    </a:t>
            </a:r>
            <a:r>
              <a:rPr lang="en-GB" sz="1300" dirty="0">
                <a:solidFill>
                  <a:srgbClr val="A5A5A5"/>
                </a:solidFill>
              </a:rPr>
              <a:t>Conclusions</a:t>
            </a:r>
          </a:p>
        </p:txBody>
      </p:sp>
      <p:sp>
        <p:nvSpPr>
          <p:cNvPr id="13" name="Slide Number"/>
          <p:cNvSpPr>
            <a:spLocks noGrp="1"/>
          </p:cNvSpPr>
          <p:nvPr>
            <p:ph type="sldNum" sz="quarter" idx="12"/>
          </p:nvPr>
        </p:nvSpPr>
        <p:spPr/>
        <p:txBody>
          <a:bodyPr/>
          <a:lstStyle/>
          <a:p>
            <a:fld id="{619F89D8-7AE3-494A-97F3-03D680869632}" type="slidenum">
              <a:rPr lang="en-GB"/>
              <a:t>1</a:t>
            </a:fld>
            <a:endParaRPr lang="en-GB"/>
          </a:p>
        </p:txBody>
      </p:sp>
      <p:sp>
        <p:nvSpPr>
          <p:cNvPr id="14" name="Label"/>
          <p:cNvSpPr txBox="1"/>
          <p:nvPr/>
        </p:nvSpPr>
        <p:spPr>
          <a:xfrm>
            <a:off x="603504" y="2240280"/>
            <a:ext cx="10991088" cy="548640"/>
          </a:xfrm>
          <a:prstGeom prst="rect">
            <a:avLst/>
          </a:prstGeom>
          <a:noFill/>
        </p:spPr>
        <p:txBody>
          <a:bodyPr wrap="square" lIns="45720" tIns="0" rIns="45720" bIns="0" anchor="ctr">
            <a:noAutofit/>
          </a:bodyPr>
          <a:lstStyle/>
          <a:p>
            <a:pPr algn="ctr"/>
            <a:r>
              <a:rPr lang="en-GB" sz="2800" dirty="0">
                <a:solidFill>
                  <a:srgbClr val="1954A6"/>
                </a:solidFill>
              </a:rPr>
              <a:t>Seat within [a, b]</a:t>
            </a:r>
            <a:r>
              <a:rPr lang="en-GB" sz="2800" dirty="0">
                <a:solidFill>
                  <a:srgbClr val="6E6E6E"/>
                </a:solidFill>
              </a:rPr>
              <a:t>,  </a:t>
            </a:r>
            <a:r>
              <a:rPr lang="en-GB" sz="2800" dirty="0">
                <a:solidFill>
                  <a:srgbClr val="7B8D1E"/>
                </a:solidFill>
              </a:rPr>
              <a:t>hold for d</a:t>
            </a:r>
            <a:r>
              <a:rPr lang="en-GB" sz="2800" dirty="0">
                <a:solidFill>
                  <a:srgbClr val="6E6E6E"/>
                </a:solidFill>
              </a:rPr>
              <a:t>,  </a:t>
            </a:r>
            <a:r>
              <a:rPr lang="en-GB" sz="2800" dirty="0">
                <a:solidFill>
                  <a:srgbClr val="D85497"/>
                </a:solidFill>
              </a:rPr>
              <a:t>avoid the operator zone</a:t>
            </a:r>
          </a:p>
        </p:txBody>
      </p:sp>
      <p:cxnSp>
        <p:nvCxnSpPr>
          <p:cNvPr id="15" name="Arrow"/>
          <p:cNvCxnSpPr/>
          <p:nvPr/>
        </p:nvCxnSpPr>
        <p:spPr>
          <a:xfrm>
            <a:off x="6099048" y="2926080"/>
            <a:ext cx="0" cy="594360"/>
          </a:xfrm>
          <a:prstGeom prst="straightConnector1">
            <a:avLst/>
          </a:prstGeom>
          <a:ln w="25400">
            <a:solidFill>
              <a:srgbClr val="A9A9A9"/>
            </a:solidFill>
            <a:tailEnd type="triangle" w="med" len="med"/>
          </a:ln>
        </p:spPr>
      </p:cxnSp>
      <p:pic>
        <p:nvPicPr>
          <p:cNvPr id="16" name="Equation" descr="phi equals eventually within a b, always within 0 d, seated, and always within 0 T, not operator"/>
          <p:cNvPicPr>
            <a:picLocks noChangeAspect="1"/>
          </p:cNvPicPr>
          <p:nvPr/>
        </p:nvPicPr>
        <p:blipFill>
          <a:blip r:embed="rId2"/>
          <a:stretch>
            <a:fillRect/>
          </a:stretch>
        </p:blipFill>
        <p:spPr>
          <a:xfrm>
            <a:off x="2546604" y="3703320"/>
            <a:ext cx="7104888" cy="434340"/>
          </a:xfrm>
          <a:prstGeom prst="rect">
            <a:avLst/>
          </a:prstGeom>
        </p:spPr>
      </p:pic>
      <p:sp>
        <p:nvSpPr>
          <p:cNvPr id="17" name="Label"/>
          <p:cNvSpPr txBox="1"/>
          <p:nvPr/>
        </p:nvSpPr>
        <p:spPr>
          <a:xfrm>
            <a:off x="603504" y="4846320"/>
            <a:ext cx="10991088" cy="365760"/>
          </a:xfrm>
          <a:prstGeom prst="rect">
            <a:avLst/>
          </a:prstGeom>
          <a:noFill/>
        </p:spPr>
        <p:txBody>
          <a:bodyPr wrap="square" lIns="45720" tIns="0" rIns="45720" bIns="0" anchor="t">
            <a:noAutofit/>
          </a:bodyPr>
          <a:lstStyle/>
          <a:p>
            <a:pPr algn="ctr"/>
            <a:r>
              <a:rPr lang="en-GB" sz="1700" dirty="0">
                <a:solidFill>
                  <a:srgbClr val="6E6E6E"/>
                </a:solidFill>
              </a:rPr>
              <a:t>The requirement bounds when the part is seated and where the robot may not go</a:t>
            </a:r>
          </a:p>
        </p:txBody>
      </p:sp>
      <p:sp>
        <p:nvSpPr>
          <p:cNvPr id="18" name="Label"/>
          <p:cNvSpPr txBox="1"/>
          <p:nvPr/>
        </p:nvSpPr>
        <p:spPr>
          <a:xfrm>
            <a:off x="603504" y="5248656"/>
            <a:ext cx="10991088" cy="292608"/>
          </a:xfrm>
          <a:prstGeom prst="rect">
            <a:avLst/>
          </a:prstGeom>
          <a:noFill/>
        </p:spPr>
        <p:txBody>
          <a:bodyPr wrap="square" lIns="45720" tIns="0" rIns="45720" bIns="0" anchor="t">
            <a:noAutofit/>
          </a:bodyPr>
          <a:lstStyle/>
          <a:p>
            <a:pPr algn="ctr"/>
            <a:r>
              <a:rPr lang="en-GB" sz="1400" dirty="0">
                <a:solidFill>
                  <a:srgbClr val="6E6E6E"/>
                </a:solidFill>
              </a:rPr>
              <a:t>Evaluated fragment: predicates </a:t>
            </a:r>
            <a:r>
              <a:rPr lang="en-GB" sz="1400" dirty="0">
                <a:solidFill>
                  <a:srgbClr val="6E6E6E"/>
                </a:solidFill>
                <a:latin typeface="Cambria Math"/>
                <a:ea typeface="Cambria Math"/>
                <a:cs typeface="Cambria Math"/>
                <a:sym typeface="Cambria Math"/>
              </a:rPr>
              <a:t>μ</a:t>
            </a:r>
            <a:r>
              <a:rPr lang="en-GB" sz="1400" dirty="0">
                <a:solidFill>
                  <a:srgbClr val="6E6E6E"/>
                </a:solidFill>
              </a:rPr>
              <a:t>, negation, conjunction, bounded </a:t>
            </a:r>
            <a:r>
              <a:rPr lang="en-GB" sz="1400" dirty="0">
                <a:solidFill>
                  <a:srgbClr val="6E6E6E"/>
                </a:solidFill>
                <a:latin typeface="Cambria Math"/>
                <a:ea typeface="Cambria Math"/>
                <a:cs typeface="Cambria Math"/>
                <a:sym typeface="Cambria Math"/>
              </a:rPr>
              <a:t>◇</a:t>
            </a:r>
            <a:r>
              <a:rPr lang="en-GB" sz="1400" dirty="0">
                <a:solidFill>
                  <a:srgbClr val="6E6E6E"/>
                </a:solidFill>
              </a:rPr>
              <a:t> and </a:t>
            </a:r>
            <a:r>
              <a:rPr lang="en-GB" sz="1400" dirty="0">
                <a:solidFill>
                  <a:srgbClr val="6E6E6E"/>
                </a:solidFill>
                <a:latin typeface="Cambria Math"/>
                <a:ea typeface="Cambria Math"/>
                <a:cs typeface="Cambria Math"/>
                <a:sym typeface="Cambria Math"/>
              </a:rPr>
              <a:t>◻</a:t>
            </a:r>
          </a:p>
        </p:txBody>
      </p:sp>
      <p:sp>
        <p:nvSpPr>
          <p:cNvPr id="19" name="Citation"/>
          <p:cNvSpPr txBox="1"/>
          <p:nvPr/>
        </p:nvSpPr>
        <p:spPr>
          <a:xfrm>
            <a:off x="603504" y="6089904"/>
            <a:ext cx="10991088" cy="237744"/>
          </a:xfrm>
          <a:prstGeom prst="rect">
            <a:avLst/>
          </a:prstGeom>
          <a:noFill/>
        </p:spPr>
        <p:txBody>
          <a:bodyPr wrap="square" lIns="45720" tIns="0" rIns="45720" bIns="0" anchor="t">
            <a:noAutofit/>
          </a:bodyPr>
          <a:lstStyle/>
          <a:p>
            <a:pPr algn="l"/>
            <a:r>
              <a:rPr lang="en-GB" sz="1100" dirty="0">
                <a:solidFill>
                  <a:srgbClr val="6E6E6E"/>
                </a:solidFill>
              </a:rPr>
              <a:t>Maler and Nickovic 2004</a:t>
            </a:r>
          </a:p>
        </p:txBody>
      </p:sp>
    </p:spTree>
  </p:cSld>
  <p:clrMapOvr>
    <a:masterClrMapping/>
  </p:clrMapOvr>
  <p:timing>
    <p:tnLst>
      <p:par>
        <p:cTn id="1" dur="indefinite" restart="never" nodeType="tmRoot">
          <p:childTnLst>
            <p:seq concurrent="1" nextAc="seek">
              <p:cTn id="2" dur="indefinite" nodeType="mainSeq">
                <p:childTnLst>
                  <p:par>
                    <p:cTn id="7" fill="hold">
                      <p:stCondLst>
                        <p:cond delay="indefinite"/>
                      </p:stCondLst>
                      <p:childTnLst>
                        <p:par>
                          <p:cTn id="8"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1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Robustness</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a:t>
            </a:r>
            <a:r>
              <a:rPr lang="en-GB" sz="1300" dirty="0">
                <a:solidFill>
                  <a:srgbClr val="A5A5A5"/>
                </a:solidFill>
              </a:rPr>
              <a:t>    →    </a:t>
            </a:r>
            <a:r>
              <a:rPr lang="en-GB" sz="1300" b="1" dirty="0">
                <a:solidFill>
                  <a:srgbClr val="004791"/>
                </a:solidFill>
              </a:rPr>
              <a:t>Background</a:t>
            </a:r>
            <a:r>
              <a:rPr lang="en-GB" sz="1300" dirty="0">
                <a:solidFill>
                  <a:srgbClr val="A5A5A5"/>
                </a:solidFill>
              </a:rPr>
              <a:t>    →    </a:t>
            </a:r>
            <a:r>
              <a:rPr lang="en-GB" sz="1300" dirty="0">
                <a:solidFill>
                  <a:srgbClr val="A5A5A5"/>
                </a:solidFill>
              </a:rPr>
              <a:t>Method</a:t>
            </a:r>
            <a:r>
              <a:rPr lang="en-GB" sz="1300" dirty="0">
                <a:solidFill>
                  <a:srgbClr val="A5A5A5"/>
                </a:solidFill>
              </a:rPr>
              <a:t>    →    </a:t>
            </a:r>
            <a:r>
              <a:rPr lang="en-GB" sz="1300" dirty="0">
                <a:solidFill>
                  <a:srgbClr val="A5A5A5"/>
                </a:solidFill>
              </a:rPr>
              <a:t>Results</a:t>
            </a:r>
            <a:r>
              <a:rPr lang="en-GB" sz="1300" dirty="0">
                <a:solidFill>
                  <a:srgbClr val="A5A5A5"/>
                </a:solidFill>
              </a:rPr>
              <a:t>    →    </a:t>
            </a:r>
            <a:r>
              <a:rPr lang="en-GB" sz="1300" dirty="0">
                <a:solidFill>
                  <a:srgbClr val="A5A5A5"/>
                </a:solidFill>
              </a:rPr>
              <a:t>Conclusions</a:t>
            </a:r>
          </a:p>
        </p:txBody>
      </p:sp>
      <p:sp>
        <p:nvSpPr>
          <p:cNvPr id="13" name="Slide Number"/>
          <p:cNvSpPr>
            <a:spLocks noGrp="1"/>
          </p:cNvSpPr>
          <p:nvPr>
            <p:ph type="sldNum" sz="quarter" idx="12"/>
          </p:nvPr>
        </p:nvSpPr>
        <p:spPr/>
        <p:txBody>
          <a:bodyPr/>
          <a:lstStyle/>
          <a:p>
            <a:fld id="{619F89D8-7AE3-494A-97F3-03D680869632}" type="slidenum">
              <a:rPr lang="en-GB"/>
              <a:t>1</a:t>
            </a:fld>
            <a:endParaRPr lang="en-GB"/>
          </a:p>
        </p:txBody>
      </p:sp>
      <p:pic>
        <p:nvPicPr>
          <p:cNvPr id="14" name="Equation" descr="Robustness of the evaluated fragment"/>
          <p:cNvPicPr>
            <a:picLocks noChangeAspect="1"/>
          </p:cNvPicPr>
          <p:nvPr/>
        </p:nvPicPr>
        <p:blipFill>
          <a:blip r:embed="rId2"/>
          <a:stretch>
            <a:fillRect/>
          </a:stretch>
        </p:blipFill>
        <p:spPr>
          <a:xfrm>
            <a:off x="2667152" y="1874520"/>
            <a:ext cx="6863791" cy="935584"/>
          </a:xfrm>
          <a:prstGeom prst="rect">
            <a:avLst/>
          </a:prstGeom>
        </p:spPr>
      </p:pic>
      <p:pic>
        <p:nvPicPr>
          <p:cNvPr id="15" name="Equation" descr="Soundness: positive robustness implies satisfaction"/>
          <p:cNvPicPr>
            <a:picLocks noChangeAspect="1"/>
          </p:cNvPicPr>
          <p:nvPr/>
        </p:nvPicPr>
        <p:blipFill>
          <a:blip r:embed="rId3"/>
          <a:stretch>
            <a:fillRect/>
          </a:stretch>
        </p:blipFill>
        <p:spPr>
          <a:xfrm>
            <a:off x="5153558" y="2816352"/>
            <a:ext cx="1890979" cy="256032"/>
          </a:xfrm>
          <a:prstGeom prst="rect">
            <a:avLst/>
          </a:prstGeom>
        </p:spPr>
      </p:pic>
      <p:pic>
        <p:nvPicPr>
          <p:cNvPr id="16" name="Equation" descr="Log-sum-exp surrogate of max and min"/>
          <p:cNvPicPr>
            <a:picLocks noChangeAspect="1"/>
          </p:cNvPicPr>
          <p:nvPr/>
        </p:nvPicPr>
        <p:blipFill>
          <a:blip r:embed="rId4"/>
          <a:stretch>
            <a:fillRect/>
          </a:stretch>
        </p:blipFill>
        <p:spPr>
          <a:xfrm>
            <a:off x="3017291" y="3163824"/>
            <a:ext cx="6163513" cy="515569"/>
          </a:xfrm>
          <a:prstGeom prst="rect">
            <a:avLst/>
          </a:prstGeom>
        </p:spPr>
      </p:pic>
      <p:pic>
        <p:nvPicPr>
          <p:cNvPr id="17" name="Figure" descr="Robustness of an avoidance margin over time, exact and under the smooth surrogate"/>
          <p:cNvPicPr>
            <a:picLocks noChangeAspect="1"/>
          </p:cNvPicPr>
          <p:nvPr/>
        </p:nvPicPr>
        <p:blipFill>
          <a:blip r:embed="rId5"/>
          <a:stretch>
            <a:fillRect/>
          </a:stretch>
        </p:blipFill>
        <p:spPr>
          <a:xfrm>
            <a:off x="2980944" y="3749040"/>
            <a:ext cx="6236208" cy="2011680"/>
          </a:xfrm>
          <a:prstGeom prst="rect">
            <a:avLst/>
          </a:prstGeom>
        </p:spPr>
      </p:pic>
      <p:sp>
        <p:nvSpPr>
          <p:cNvPr id="18" name="Label"/>
          <p:cNvSpPr txBox="1"/>
          <p:nvPr/>
        </p:nvSpPr>
        <p:spPr>
          <a:xfrm>
            <a:off x="603504" y="5797296"/>
            <a:ext cx="10991088" cy="274320"/>
          </a:xfrm>
          <a:prstGeom prst="rect">
            <a:avLst/>
          </a:prstGeom>
          <a:noFill/>
        </p:spPr>
        <p:txBody>
          <a:bodyPr wrap="square" lIns="45720" tIns="0" rIns="45720" bIns="0" anchor="t">
            <a:noAutofit/>
          </a:bodyPr>
          <a:lstStyle/>
          <a:p>
            <a:pPr algn="ctr"/>
            <a:r>
              <a:rPr lang="en-GB" sz="1400" dirty="0">
                <a:solidFill>
                  <a:srgbClr val="6E6E6E"/>
                </a:solidFill>
              </a:rPr>
              <a:t>Guidance uses the surrogate at </a:t>
            </a:r>
            <a:r>
              <a:rPr lang="en-GB" sz="1400" dirty="0">
                <a:solidFill>
                  <a:srgbClr val="6E6E6E"/>
                </a:solidFill>
                <a:latin typeface="Cambria Math"/>
                <a:ea typeface="Cambria Math"/>
                <a:cs typeface="Cambria Math"/>
                <a:sym typeface="Cambria Math"/>
              </a:rPr>
              <a:t>κ</a:t>
            </a:r>
            <a:r>
              <a:rPr lang="en-GB" sz="1400" dirty="0">
                <a:solidFill>
                  <a:srgbClr val="6E6E6E"/>
                </a:solidFill>
              </a:rPr>
              <a:t> = 10.  Satisfaction is always scored with the exact semantics.</a:t>
            </a:r>
          </a:p>
        </p:txBody>
      </p:sp>
      <p:sp>
        <p:nvSpPr>
          <p:cNvPr id="19" name="Citation"/>
          <p:cNvSpPr txBox="1"/>
          <p:nvPr/>
        </p:nvSpPr>
        <p:spPr>
          <a:xfrm>
            <a:off x="603504" y="6089904"/>
            <a:ext cx="10991088" cy="237744"/>
          </a:xfrm>
          <a:prstGeom prst="rect">
            <a:avLst/>
          </a:prstGeom>
          <a:noFill/>
        </p:spPr>
        <p:txBody>
          <a:bodyPr wrap="square" lIns="45720" tIns="0" rIns="45720" bIns="0" anchor="t">
            <a:noAutofit/>
          </a:bodyPr>
          <a:lstStyle/>
          <a:p>
            <a:pPr algn="l"/>
            <a:r>
              <a:rPr lang="en-GB" sz="1100" dirty="0">
                <a:solidFill>
                  <a:srgbClr val="6E6E6E"/>
                </a:solidFill>
              </a:rPr>
              <a:t>Donzé and Maler 2010; Leung et al. 2021; Kapoor et al. 2025 (STLCG++)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Learning the prior</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a:t>
            </a:r>
            <a:r>
              <a:rPr lang="en-GB" sz="1300" dirty="0">
                <a:solidFill>
                  <a:srgbClr val="A5A5A5"/>
                </a:solidFill>
              </a:rPr>
              <a:t>    →    </a:t>
            </a:r>
            <a:r>
              <a:rPr lang="en-GB" sz="1300" b="1" dirty="0">
                <a:solidFill>
                  <a:srgbClr val="004791"/>
                </a:solidFill>
              </a:rPr>
              <a:t>Background</a:t>
            </a:r>
            <a:r>
              <a:rPr lang="en-GB" sz="1300" dirty="0">
                <a:solidFill>
                  <a:srgbClr val="A5A5A5"/>
                </a:solidFill>
              </a:rPr>
              <a:t>    →    </a:t>
            </a:r>
            <a:r>
              <a:rPr lang="en-GB" sz="1300" dirty="0">
                <a:solidFill>
                  <a:srgbClr val="A5A5A5"/>
                </a:solidFill>
              </a:rPr>
              <a:t>Method</a:t>
            </a:r>
            <a:r>
              <a:rPr lang="en-GB" sz="1300" dirty="0">
                <a:solidFill>
                  <a:srgbClr val="A5A5A5"/>
                </a:solidFill>
              </a:rPr>
              <a:t>    →    </a:t>
            </a:r>
            <a:r>
              <a:rPr lang="en-GB" sz="1300" dirty="0">
                <a:solidFill>
                  <a:srgbClr val="A5A5A5"/>
                </a:solidFill>
              </a:rPr>
              <a:t>Results</a:t>
            </a:r>
            <a:r>
              <a:rPr lang="en-GB" sz="1300" dirty="0">
                <a:solidFill>
                  <a:srgbClr val="A5A5A5"/>
                </a:solidFill>
              </a:rPr>
              <a:t>    →    </a:t>
            </a:r>
            <a:r>
              <a:rPr lang="en-GB" sz="1300" dirty="0">
                <a:solidFill>
                  <a:srgbClr val="A5A5A5"/>
                </a:solidFill>
              </a:rPr>
              <a:t>Conclusions</a:t>
            </a:r>
          </a:p>
        </p:txBody>
      </p:sp>
      <p:sp>
        <p:nvSpPr>
          <p:cNvPr id="13" name="Slide Number"/>
          <p:cNvSpPr>
            <a:spLocks noGrp="1"/>
          </p:cNvSpPr>
          <p:nvPr>
            <p:ph type="sldNum" sz="quarter" idx="12"/>
          </p:nvPr>
        </p:nvSpPr>
        <p:spPr/>
        <p:txBody>
          <a:bodyPr/>
          <a:lstStyle/>
          <a:p>
            <a:fld id="{619F89D8-7AE3-494A-97F3-03D680869632}" type="slidenum">
              <a:rPr lang="en-GB"/>
              <a:t>1</a:t>
            </a:fld>
            <a:endParaRPr lang="en-GB"/>
          </a:p>
        </p:txBody>
      </p:sp>
      <p:sp>
        <p:nvSpPr>
          <p:cNvPr id="14" name="Band"/>
          <p:cNvSpPr/>
          <p:nvPr/>
        </p:nvSpPr>
        <p:spPr>
          <a:xfrm>
            <a:off x="603504" y="1920240"/>
            <a:ext cx="8077788" cy="1051560"/>
          </a:xfrm>
          <a:prstGeom prst="roundRect">
            <a:avLst>
              <a:gd name="adj" fmla="val 3000"/>
            </a:avLst>
          </a:prstGeom>
          <a:noFill/>
          <a:ln w="9525">
            <a:solidFill>
              <a:srgbClr val="A1A3A6"/>
            </a:solidFill>
            <a:prstDash val="dash"/>
          </a:ln>
        </p:spPr>
        <p:txBody>
          <a:bodyPr wrap="square" lIns="64008" tIns="27432" rIns="64008" bIns="27432" anchor="ctr">
            <a:noAutofit/>
          </a:bodyPr>
          <a:lstStyle/>
          <a:p>
            <a:pPr algn="ctr"/>
            <a:r>
              <a:rPr lang="en-GB" sz="1600" dirty="0">
                <a:solidFill>
                  <a:srgbClr val="262626"/>
                </a:solidFill>
              </a:rPr>
              <a:t/>
            </a:r>
          </a:p>
        </p:txBody>
      </p:sp>
      <p:sp>
        <p:nvSpPr>
          <p:cNvPr id="15" name="Band label"/>
          <p:cNvSpPr txBox="1"/>
          <p:nvPr/>
        </p:nvSpPr>
        <p:spPr>
          <a:xfrm>
            <a:off x="832104" y="1792224"/>
            <a:ext cx="1344168" cy="256032"/>
          </a:xfrm>
          <a:prstGeom prst="rect">
            <a:avLst/>
          </a:prstGeom>
          <a:solidFill>
            <a:srgbClr val="FFFFFF"/>
          </a:solidFill>
        </p:spPr>
        <p:txBody>
          <a:bodyPr wrap="square" lIns="45720" tIns="0" rIns="45720" bIns="0" anchor="t">
            <a:noAutofit/>
          </a:bodyPr>
          <a:lstStyle/>
          <a:p>
            <a:pPr algn="l"/>
            <a:r>
              <a:rPr lang="en-GB" sz="1200" dirty="0">
                <a:solidFill>
                  <a:srgbClr val="6E6E6E"/>
                </a:solidFill>
              </a:rPr>
              <a:t>Offline, once</a:t>
            </a:r>
          </a:p>
        </p:txBody>
      </p:sp>
      <p:sp>
        <p:nvSpPr>
          <p:cNvPr id="16" name="Band"/>
          <p:cNvSpPr/>
          <p:nvPr/>
        </p:nvSpPr>
        <p:spPr>
          <a:xfrm>
            <a:off x="603504" y="3246120"/>
            <a:ext cx="8077788" cy="1051560"/>
          </a:xfrm>
          <a:prstGeom prst="roundRect">
            <a:avLst>
              <a:gd name="adj" fmla="val 3000"/>
            </a:avLst>
          </a:prstGeom>
          <a:noFill/>
          <a:ln w="9525">
            <a:solidFill>
              <a:srgbClr val="A1A3A6"/>
            </a:solidFill>
            <a:prstDash val="dash"/>
          </a:ln>
        </p:spPr>
        <p:txBody>
          <a:bodyPr wrap="square" lIns="64008" tIns="27432" rIns="64008" bIns="27432" anchor="ctr">
            <a:noAutofit/>
          </a:bodyPr>
          <a:lstStyle/>
          <a:p>
            <a:pPr algn="ctr"/>
            <a:r>
              <a:rPr lang="en-GB" sz="1600" dirty="0">
                <a:solidFill>
                  <a:srgbClr val="262626"/>
                </a:solidFill>
              </a:rPr>
              <a:t/>
            </a:r>
          </a:p>
        </p:txBody>
      </p:sp>
      <p:sp>
        <p:nvSpPr>
          <p:cNvPr id="17" name="Band label"/>
          <p:cNvSpPr txBox="1"/>
          <p:nvPr/>
        </p:nvSpPr>
        <p:spPr>
          <a:xfrm>
            <a:off x="832104" y="3118104"/>
            <a:ext cx="2660904" cy="256032"/>
          </a:xfrm>
          <a:prstGeom prst="rect">
            <a:avLst/>
          </a:prstGeom>
          <a:solidFill>
            <a:srgbClr val="FFFFFF"/>
          </a:solidFill>
        </p:spPr>
        <p:txBody>
          <a:bodyPr wrap="square" lIns="45720" tIns="0" rIns="45720" bIns="0" anchor="t">
            <a:noAutofit/>
          </a:bodyPr>
          <a:lstStyle/>
          <a:p>
            <a:pPr algn="l"/>
            <a:r>
              <a:rPr lang="en-GB" sz="1200" dirty="0">
                <a:solidFill>
                  <a:srgbClr val="6E6E6E"/>
                </a:solidFill>
              </a:rPr>
              <a:t>Per requirement, at inference</a:t>
            </a:r>
          </a:p>
        </p:txBody>
      </p:sp>
      <p:sp>
        <p:nvSpPr>
          <p:cNvPr id="18" name="Band"/>
          <p:cNvSpPr/>
          <p:nvPr/>
        </p:nvSpPr>
        <p:spPr>
          <a:xfrm>
            <a:off x="8901996" y="1920240"/>
            <a:ext cx="2692596" cy="4343400"/>
          </a:xfrm>
          <a:prstGeom prst="roundRect">
            <a:avLst>
              <a:gd name="adj" fmla="val 3000"/>
            </a:avLst>
          </a:prstGeom>
          <a:noFill/>
          <a:ln w="9525">
            <a:solidFill>
              <a:srgbClr val="A1A3A6"/>
            </a:solidFill>
            <a:prstDash val="dash"/>
          </a:ln>
        </p:spPr>
        <p:txBody>
          <a:bodyPr wrap="square" lIns="64008" tIns="27432" rIns="64008" bIns="27432" anchor="ctr">
            <a:noAutofit/>
          </a:bodyPr>
          <a:lstStyle/>
          <a:p>
            <a:pPr algn="ctr"/>
            <a:r>
              <a:rPr lang="en-GB" sz="1600" dirty="0">
                <a:solidFill>
                  <a:srgbClr val="262626"/>
                </a:solidFill>
              </a:rPr>
              <a:t/>
            </a:r>
          </a:p>
        </p:txBody>
      </p:sp>
      <p:sp>
        <p:nvSpPr>
          <p:cNvPr id="19" name="Band label"/>
          <p:cNvSpPr txBox="1"/>
          <p:nvPr/>
        </p:nvSpPr>
        <p:spPr>
          <a:xfrm>
            <a:off x="9130596" y="1792224"/>
            <a:ext cx="1261872" cy="256032"/>
          </a:xfrm>
          <a:prstGeom prst="rect">
            <a:avLst/>
          </a:prstGeom>
          <a:solidFill>
            <a:srgbClr val="FFFFFF"/>
          </a:solidFill>
        </p:spPr>
        <p:txBody>
          <a:bodyPr wrap="square" lIns="45720" tIns="0" rIns="45720" bIns="0" anchor="t">
            <a:noAutofit/>
          </a:bodyPr>
          <a:lstStyle/>
          <a:p>
            <a:pPr algn="l"/>
            <a:r>
              <a:rPr lang="en-GB" sz="1200" dirty="0">
                <a:solidFill>
                  <a:srgbClr val="6E6E6E"/>
                </a:solidFill>
              </a:rPr>
              <a:t>Per instance</a:t>
            </a:r>
          </a:p>
        </p:txBody>
      </p:sp>
      <p:sp>
        <p:nvSpPr>
          <p:cNvPr id="20" name="demo"/>
          <p:cNvSpPr/>
          <p:nvPr/>
        </p:nvSpPr>
        <p:spPr>
          <a:xfrm>
            <a:off x="824209" y="2130552"/>
            <a:ext cx="2207046" cy="640080"/>
          </a:xfrm>
          <a:prstGeom prst="roundRect">
            <a:avLst>
              <a:gd name="adj" fmla="val 8000"/>
            </a:avLst>
          </a:prstGeom>
          <a:solidFill>
            <a:srgbClr val="EDF1F8"/>
          </a:solidFill>
          <a:ln w="19050">
            <a:solidFill>
              <a:srgbClr val="1954A6"/>
            </a:solidFill>
          </a:ln>
        </p:spPr>
        <p:txBody>
          <a:bodyPr wrap="square" lIns="64008" tIns="27432" rIns="64008" bIns="27432" anchor="ctr">
            <a:noAutofit/>
          </a:bodyPr>
          <a:lstStyle/>
          <a:p>
            <a:pPr algn="ctr"/>
            <a:r>
              <a:rPr lang="en-GB" sz="1600" dirty="0">
                <a:solidFill>
                  <a:srgbClr val="262626"/>
                </a:solidFill>
              </a:rPr>
              <a:t>Demonstrations</a:t>
            </a:r>
          </a:p>
        </p:txBody>
      </p:sp>
      <p:sp>
        <p:nvSpPr>
          <p:cNvPr id="21" name="train"/>
          <p:cNvSpPr/>
          <p:nvPr/>
        </p:nvSpPr>
        <p:spPr>
          <a:xfrm>
            <a:off x="3516804" y="2130552"/>
            <a:ext cx="2207046" cy="640080"/>
          </a:xfrm>
          <a:prstGeom prst="roundRect">
            <a:avLst>
              <a:gd name="adj" fmla="val 8000"/>
            </a:avLst>
          </a:prstGeom>
          <a:solidFill>
            <a:srgbClr val="EDF1F8"/>
          </a:solidFill>
          <a:ln w="19050">
            <a:solidFill>
              <a:srgbClr val="1954A6"/>
            </a:solidFill>
          </a:ln>
        </p:spPr>
        <p:txBody>
          <a:bodyPr wrap="square" lIns="64008" tIns="27432" rIns="64008" bIns="27432" anchor="ctr">
            <a:noAutofit/>
          </a:bodyPr>
          <a:lstStyle/>
          <a:p>
            <a:pPr algn="ctr"/>
            <a:r>
              <a:rPr lang="en-GB" sz="1600" dirty="0">
                <a:solidFill>
                  <a:srgbClr val="262626"/>
                </a:solidFill>
              </a:rPr>
              <a:t>Flow-matching training</a:t>
            </a:r>
          </a:p>
        </p:txBody>
      </p:sp>
      <p:sp>
        <p:nvSpPr>
          <p:cNvPr id="22" name="prior"/>
          <p:cNvSpPr/>
          <p:nvPr/>
        </p:nvSpPr>
        <p:spPr>
          <a:xfrm>
            <a:off x="6209400" y="2130552"/>
            <a:ext cx="2207046" cy="640080"/>
          </a:xfrm>
          <a:prstGeom prst="roundRect">
            <a:avLst>
              <a:gd name="adj" fmla="val 8000"/>
            </a:avLst>
          </a:prstGeom>
          <a:solidFill>
            <a:srgbClr val="CCD9EB"/>
          </a:solidFill>
          <a:ln w="19050">
            <a:solidFill>
              <a:srgbClr val="1954A6"/>
            </a:solidFill>
          </a:ln>
        </p:spPr>
        <p:txBody>
          <a:bodyPr wrap="square" lIns="64008" tIns="27432" rIns="64008" bIns="27432" anchor="ctr">
            <a:noAutofit/>
          </a:bodyPr>
          <a:lstStyle/>
          <a:p>
            <a:pPr algn="ctr"/>
            <a:r>
              <a:rPr lang="en-GB" sz="1600" dirty="0">
                <a:solidFill>
                  <a:srgbClr val="262626"/>
                </a:solidFill>
              </a:rPr>
              <a:t>Learned prior</a:t>
            </a:r>
          </a:p>
        </p:txBody>
      </p:sp>
      <p:sp>
        <p:nvSpPr>
          <p:cNvPr id="23" name="phi"/>
          <p:cNvSpPr/>
          <p:nvPr/>
        </p:nvSpPr>
        <p:spPr>
          <a:xfrm>
            <a:off x="824209" y="3456432"/>
            <a:ext cx="2207046" cy="640080"/>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STL requirement </a:t>
            </a:r>
            <a:r>
              <a:rPr lang="en-GB" sz="1600" i="1" dirty="0">
                <a:solidFill>
                  <a:srgbClr val="A9A9A9"/>
                </a:solidFill>
              </a:rPr>
              <a:t>φ</a:t>
            </a:r>
          </a:p>
        </p:txBody>
      </p:sp>
      <p:sp>
        <p:nvSpPr>
          <p:cNvPr id="24" name="comp"/>
          <p:cNvSpPr/>
          <p:nvPr/>
        </p:nvSpPr>
        <p:spPr>
          <a:xfrm>
            <a:off x="3516804" y="3456432"/>
            <a:ext cx="2207046" cy="640080"/>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Compiler</a:t>
            </a:r>
          </a:p>
        </p:txBody>
      </p:sp>
      <p:sp>
        <p:nvSpPr>
          <p:cNvPr id="25" name="score"/>
          <p:cNvSpPr/>
          <p:nvPr/>
        </p:nvSpPr>
        <p:spPr>
          <a:xfrm>
            <a:off x="6209400" y="3456432"/>
            <a:ext cx="2207046" cy="640080"/>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Robustness score </a:t>
            </a:r>
            <a:r>
              <a:rPr lang="en-GB" sz="1600" i="1" dirty="0">
                <a:solidFill>
                  <a:srgbClr val="A9A9A9"/>
                </a:solidFill>
              </a:rPr>
              <a:t>ρ</a:t>
            </a:r>
          </a:p>
        </p:txBody>
      </p:sp>
      <p:sp>
        <p:nvSpPr>
          <p:cNvPr id="26" name="samp"/>
          <p:cNvSpPr/>
          <p:nvPr/>
        </p:nvSpPr>
        <p:spPr>
          <a:xfrm>
            <a:off x="9122701" y="2130552"/>
            <a:ext cx="2251187" cy="1965960"/>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Guided sampler</a:t>
            </a:r>
          </a:p>
        </p:txBody>
      </p:sp>
      <p:sp>
        <p:nvSpPr>
          <p:cNvPr id="27" name="plan"/>
          <p:cNvSpPr/>
          <p:nvPr/>
        </p:nvSpPr>
        <p:spPr>
          <a:xfrm>
            <a:off x="9122701" y="4507992"/>
            <a:ext cx="2251187" cy="566928"/>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Plan</a:t>
            </a:r>
          </a:p>
        </p:txBody>
      </p:sp>
      <p:sp>
        <p:nvSpPr>
          <p:cNvPr id="28" name="exec"/>
          <p:cNvSpPr/>
          <p:nvPr/>
        </p:nvSpPr>
        <p:spPr>
          <a:xfrm>
            <a:off x="9122701" y="5486400"/>
            <a:ext cx="2251187" cy="566928"/>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Execution</a:t>
            </a:r>
          </a:p>
        </p:txBody>
      </p:sp>
      <p:cxnSp>
        <p:nvCxnSpPr>
          <p:cNvPr id="29" name="Arrow"/>
          <p:cNvCxnSpPr/>
          <p:nvPr/>
        </p:nvCxnSpPr>
        <p:spPr>
          <a:xfrm>
            <a:off x="3031254" y="2450592"/>
            <a:ext cx="485550" cy="0"/>
          </a:xfrm>
          <a:prstGeom prst="straightConnector1">
            <a:avLst/>
          </a:prstGeom>
          <a:ln w="25400">
            <a:solidFill>
              <a:srgbClr val="1954A6"/>
            </a:solidFill>
            <a:tailEnd type="triangle" w="med" len="med"/>
          </a:ln>
        </p:spPr>
      </p:cxnSp>
      <p:cxnSp>
        <p:nvCxnSpPr>
          <p:cNvPr id="30" name="Arrow"/>
          <p:cNvCxnSpPr/>
          <p:nvPr/>
        </p:nvCxnSpPr>
        <p:spPr>
          <a:xfrm>
            <a:off x="5723850" y="2450592"/>
            <a:ext cx="485550" cy="0"/>
          </a:xfrm>
          <a:prstGeom prst="straightConnector1">
            <a:avLst/>
          </a:prstGeom>
          <a:ln w="25400">
            <a:solidFill>
              <a:srgbClr val="1954A6"/>
            </a:solidFill>
            <a:tailEnd type="triangle" w="med" len="med"/>
          </a:ln>
        </p:spPr>
      </p:cxnSp>
      <p:cxnSp>
        <p:nvCxnSpPr>
          <p:cNvPr id="31" name="Arrow"/>
          <p:cNvCxnSpPr/>
          <p:nvPr/>
        </p:nvCxnSpPr>
        <p:spPr>
          <a:xfrm>
            <a:off x="3031254" y="3776472"/>
            <a:ext cx="485550" cy="0"/>
          </a:xfrm>
          <a:prstGeom prst="straightConnector1">
            <a:avLst/>
          </a:prstGeom>
          <a:ln w="25400">
            <a:solidFill>
              <a:srgbClr val="D2D2D2"/>
            </a:solidFill>
            <a:tailEnd type="triangle" w="med" len="med"/>
          </a:ln>
        </p:spPr>
      </p:cxnSp>
      <p:cxnSp>
        <p:nvCxnSpPr>
          <p:cNvPr id="32" name="Arrow"/>
          <p:cNvCxnSpPr/>
          <p:nvPr/>
        </p:nvCxnSpPr>
        <p:spPr>
          <a:xfrm>
            <a:off x="5723850" y="3776472"/>
            <a:ext cx="485550" cy="0"/>
          </a:xfrm>
          <a:prstGeom prst="straightConnector1">
            <a:avLst/>
          </a:prstGeom>
          <a:ln w="25400">
            <a:solidFill>
              <a:srgbClr val="D2D2D2"/>
            </a:solidFill>
            <a:tailEnd type="triangle" w="med" len="med"/>
          </a:ln>
        </p:spPr>
      </p:cxnSp>
      <p:cxnSp>
        <p:nvCxnSpPr>
          <p:cNvPr id="33" name="Arrow"/>
          <p:cNvCxnSpPr/>
          <p:nvPr/>
        </p:nvCxnSpPr>
        <p:spPr>
          <a:xfrm>
            <a:off x="8416446" y="2450592"/>
            <a:ext cx="706255" cy="0"/>
          </a:xfrm>
          <a:prstGeom prst="straightConnector1">
            <a:avLst/>
          </a:prstGeom>
          <a:ln w="25400">
            <a:solidFill>
              <a:srgbClr val="D2D2D2"/>
            </a:solidFill>
            <a:tailEnd type="triangle" w="med" len="med"/>
          </a:ln>
        </p:spPr>
      </p:cxnSp>
      <p:cxnSp>
        <p:nvCxnSpPr>
          <p:cNvPr id="34" name="Arrow"/>
          <p:cNvCxnSpPr/>
          <p:nvPr/>
        </p:nvCxnSpPr>
        <p:spPr>
          <a:xfrm>
            <a:off x="8416446" y="3776472"/>
            <a:ext cx="706255" cy="0"/>
          </a:xfrm>
          <a:prstGeom prst="straightConnector1">
            <a:avLst/>
          </a:prstGeom>
          <a:ln w="25400">
            <a:solidFill>
              <a:srgbClr val="D2D2D2"/>
            </a:solidFill>
            <a:tailEnd type="triangle" w="med" len="med"/>
          </a:ln>
        </p:spPr>
      </p:cxnSp>
      <p:cxnSp>
        <p:nvCxnSpPr>
          <p:cNvPr id="35" name="Arrow"/>
          <p:cNvCxnSpPr/>
          <p:nvPr/>
        </p:nvCxnSpPr>
        <p:spPr>
          <a:xfrm>
            <a:off x="10248294" y="4096512"/>
            <a:ext cx="0" cy="411480"/>
          </a:xfrm>
          <a:prstGeom prst="straightConnector1">
            <a:avLst/>
          </a:prstGeom>
          <a:ln w="25400">
            <a:solidFill>
              <a:srgbClr val="D2D2D2"/>
            </a:solidFill>
            <a:tailEnd type="triangle" w="med" len="med"/>
          </a:ln>
        </p:spPr>
      </p:cxnSp>
      <p:cxnSp>
        <p:nvCxnSpPr>
          <p:cNvPr id="36" name="Arrow"/>
          <p:cNvCxnSpPr/>
          <p:nvPr/>
        </p:nvCxnSpPr>
        <p:spPr>
          <a:xfrm>
            <a:off x="10248294" y="5074920"/>
            <a:ext cx="0" cy="411480"/>
          </a:xfrm>
          <a:prstGeom prst="straightConnector1">
            <a:avLst/>
          </a:prstGeom>
          <a:ln w="25400">
            <a:solidFill>
              <a:srgbClr val="D2D2D2"/>
            </a:solidFill>
            <a:tailEnd type="triangle" w="med" len="med"/>
          </a:ln>
        </p:spPr>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Flow matching</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a:t>
            </a:r>
            <a:r>
              <a:rPr lang="en-GB" sz="1300" dirty="0">
                <a:solidFill>
                  <a:srgbClr val="A5A5A5"/>
                </a:solidFill>
              </a:rPr>
              <a:t>    →    </a:t>
            </a:r>
            <a:r>
              <a:rPr lang="en-GB" sz="1300" b="1" dirty="0">
                <a:solidFill>
                  <a:srgbClr val="004791"/>
                </a:solidFill>
              </a:rPr>
              <a:t>Background</a:t>
            </a:r>
            <a:r>
              <a:rPr lang="en-GB" sz="1300" dirty="0">
                <a:solidFill>
                  <a:srgbClr val="A5A5A5"/>
                </a:solidFill>
              </a:rPr>
              <a:t>    →    </a:t>
            </a:r>
            <a:r>
              <a:rPr lang="en-GB" sz="1300" dirty="0">
                <a:solidFill>
                  <a:srgbClr val="A5A5A5"/>
                </a:solidFill>
              </a:rPr>
              <a:t>Method</a:t>
            </a:r>
            <a:r>
              <a:rPr lang="en-GB" sz="1300" dirty="0">
                <a:solidFill>
                  <a:srgbClr val="A5A5A5"/>
                </a:solidFill>
              </a:rPr>
              <a:t>    →    </a:t>
            </a:r>
            <a:r>
              <a:rPr lang="en-GB" sz="1300" dirty="0">
                <a:solidFill>
                  <a:srgbClr val="A5A5A5"/>
                </a:solidFill>
              </a:rPr>
              <a:t>Results</a:t>
            </a:r>
            <a:r>
              <a:rPr lang="en-GB" sz="1300" dirty="0">
                <a:solidFill>
                  <a:srgbClr val="A5A5A5"/>
                </a:solidFill>
              </a:rPr>
              <a:t>    →    </a:t>
            </a:r>
            <a:r>
              <a:rPr lang="en-GB" sz="1300" dirty="0">
                <a:solidFill>
                  <a:srgbClr val="A5A5A5"/>
                </a:solidFill>
              </a:rPr>
              <a:t>Conclusions</a:t>
            </a:r>
          </a:p>
        </p:txBody>
      </p:sp>
      <p:sp>
        <p:nvSpPr>
          <p:cNvPr id="13" name="Slide Number"/>
          <p:cNvSpPr>
            <a:spLocks noGrp="1"/>
          </p:cNvSpPr>
          <p:nvPr>
            <p:ph type="sldNum" sz="quarter" idx="12"/>
          </p:nvPr>
        </p:nvSpPr>
        <p:spPr/>
        <p:txBody>
          <a:bodyPr/>
          <a:lstStyle/>
          <a:p>
            <a:fld id="{619F89D8-7AE3-494A-97F3-03D680869632}" type="slidenum">
              <a:rPr lang="en-GB"/>
              <a:t>1</a:t>
            </a:fld>
            <a:endParaRPr lang="en-GB"/>
          </a:p>
        </p:txBody>
      </p:sp>
      <p:pic>
        <p:nvPicPr>
          <p:cNvPr id="14" name="Video" descr="Animation of flow matching as transport from noise to two modes">
            <a:hlinkClick r:id="" action="ppaction://media"/>
          </p:cNvPr>
          <p:cNvPicPr>
            <a:picLocks noChangeAspect="1"/>
          </p:cNvPicPr>
          <p:nvPr>
            <a:videoFile r:link="rId2"/>
            <p:extLst>
              <p:ext uri="{DAA4B4D4-6D71-4841-9C94-3DE7FCFB9230}">
                <p14:media xmlns:p14="http://schemas.microsoft.com/office/powerpoint/2010/main" r:embed="rId3"/>
              </p:ext>
            </p:extLst>
          </p:nvPr>
        </p:nvPicPr>
        <p:blipFill>
          <a:blip r:embed="rId4"/>
          <a:stretch>
            <a:fillRect/>
          </a:stretch>
        </p:blipFill>
        <p:spPr>
          <a:xfrm>
            <a:off x="603504" y="1967514"/>
            <a:ext cx="4069080" cy="4020251"/>
          </a:xfrm>
          <a:prstGeom prst="rect">
            <a:avLst/>
          </a:prstGeom>
        </p:spPr>
      </p:pic>
      <p:sp>
        <p:nvSpPr>
          <p:cNvPr id="15" name="Label"/>
          <p:cNvSpPr txBox="1"/>
          <p:nvPr/>
        </p:nvSpPr>
        <p:spPr>
          <a:xfrm>
            <a:off x="5074920" y="2057400"/>
            <a:ext cx="6492240" cy="292608"/>
          </a:xfrm>
          <a:prstGeom prst="rect">
            <a:avLst/>
          </a:prstGeom>
          <a:noFill/>
        </p:spPr>
        <p:txBody>
          <a:bodyPr wrap="square" lIns="45720" tIns="0" rIns="45720" bIns="0" anchor="t">
            <a:noAutofit/>
          </a:bodyPr>
          <a:lstStyle/>
          <a:p>
            <a:pPr algn="l"/>
            <a:r>
              <a:rPr lang="en-GB" sz="1600" b="1" dirty="0">
                <a:solidFill>
                  <a:srgbClr val="262626"/>
                </a:solidFill>
              </a:rPr>
              <a:t>Training</a:t>
            </a:r>
          </a:p>
        </p:txBody>
      </p:sp>
      <p:pic>
        <p:nvPicPr>
          <p:cNvPr id="16" name="Equation" descr="Flow-matching loss with the linear path"/>
          <p:cNvPicPr>
            <a:picLocks noChangeAspect="1"/>
          </p:cNvPicPr>
          <p:nvPr/>
        </p:nvPicPr>
        <p:blipFill>
          <a:blip r:embed="rId5"/>
          <a:stretch>
            <a:fillRect/>
          </a:stretch>
        </p:blipFill>
        <p:spPr>
          <a:xfrm>
            <a:off x="5074920" y="2423160"/>
            <a:ext cx="6457523" cy="673669"/>
          </a:xfrm>
          <a:prstGeom prst="rect">
            <a:avLst/>
          </a:prstGeom>
        </p:spPr>
      </p:pic>
      <p:sp>
        <p:nvSpPr>
          <p:cNvPr id="17" name="Label"/>
          <p:cNvSpPr txBox="1"/>
          <p:nvPr/>
        </p:nvSpPr>
        <p:spPr>
          <a:xfrm>
            <a:off x="5074920" y="3383280"/>
            <a:ext cx="6492240" cy="292608"/>
          </a:xfrm>
          <a:prstGeom prst="rect">
            <a:avLst/>
          </a:prstGeom>
          <a:noFill/>
        </p:spPr>
        <p:txBody>
          <a:bodyPr wrap="square" lIns="45720" tIns="0" rIns="45720" bIns="0" anchor="t">
            <a:noAutofit/>
          </a:bodyPr>
          <a:lstStyle/>
          <a:p>
            <a:pPr algn="l"/>
            <a:r>
              <a:rPr lang="en-GB" sz="1600" b="1" dirty="0">
                <a:solidFill>
                  <a:srgbClr val="262626"/>
                </a:solidFill>
              </a:rPr>
              <a:t>Sampling</a:t>
            </a:r>
          </a:p>
        </p:txBody>
      </p:sp>
      <p:pic>
        <p:nvPicPr>
          <p:cNvPr id="18" name="Equation" descr="Generative ordinary differential equation"/>
          <p:cNvPicPr>
            <a:picLocks noChangeAspect="1"/>
          </p:cNvPicPr>
          <p:nvPr/>
        </p:nvPicPr>
        <p:blipFill>
          <a:blip r:embed="rId6"/>
          <a:stretch>
            <a:fillRect/>
          </a:stretch>
        </p:blipFill>
        <p:spPr>
          <a:xfrm>
            <a:off x="5074920" y="3749040"/>
            <a:ext cx="4505980" cy="498043"/>
          </a:xfrm>
          <a:prstGeom prst="rect">
            <a:avLst/>
          </a:prstGeom>
        </p:spPr>
      </p:pic>
      <p:sp>
        <p:nvSpPr>
          <p:cNvPr id="19" name="Label"/>
          <p:cNvSpPr txBox="1"/>
          <p:nvPr/>
        </p:nvSpPr>
        <p:spPr>
          <a:xfrm>
            <a:off x="5074920" y="4480560"/>
            <a:ext cx="6492240" cy="1005840"/>
          </a:xfrm>
          <a:prstGeom prst="rect">
            <a:avLst/>
          </a:prstGeom>
          <a:noFill/>
        </p:spPr>
        <p:txBody>
          <a:bodyPr wrap="square" lIns="45720" tIns="0" rIns="45720" bIns="0" anchor="t">
            <a:noAutofit/>
          </a:bodyPr>
          <a:lstStyle/>
          <a:p>
            <a:pPr algn="l"/>
            <a:r>
              <a:rPr lang="en-GB" sz="1500" dirty="0">
                <a:solidFill>
                  <a:srgbClr val="6E6E6E"/>
                </a:solidFill>
              </a:rPr>
              <a:t>K = 64 Euler steps. The prior is unconditional, trained once on</a:t>
            </a:r>
          </a:p>
          <a:p>
            <a:pPr algn="l"/>
            <a:r>
              <a:rPr lang="en-GB" sz="1500" dirty="0">
                <a:solidFill>
                  <a:srgbClr val="6E6E6E"/>
                </a:solidFill>
              </a:rPr>
              <a:t>demonstrations, and its only conditioning is the start state.</a:t>
            </a:r>
          </a:p>
        </p:txBody>
      </p:sp>
      <p:sp>
        <p:nvSpPr>
          <p:cNvPr id="20" name="Citation"/>
          <p:cNvSpPr txBox="1"/>
          <p:nvPr/>
        </p:nvSpPr>
        <p:spPr>
          <a:xfrm>
            <a:off x="603504" y="6089904"/>
            <a:ext cx="10991088" cy="237744"/>
          </a:xfrm>
          <a:prstGeom prst="rect">
            <a:avLst/>
          </a:prstGeom>
          <a:noFill/>
        </p:spPr>
        <p:txBody>
          <a:bodyPr wrap="square" lIns="45720" tIns="0" rIns="45720" bIns="0" anchor="t">
            <a:noAutofit/>
          </a:bodyPr>
          <a:lstStyle/>
          <a:p>
            <a:pPr algn="l"/>
            <a:r>
              <a:rPr lang="en-GB" sz="1100" dirty="0">
                <a:solidFill>
                  <a:srgbClr val="6E6E6E"/>
                </a:solidFill>
              </a:rPr>
              <a:t>Lipman et al. 2023; Liu et al. 2022</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mediacall" presetSubtype="0" fill="hold" nodeType="clickEffect">
                                  <p:stCondLst>
                                    <p:cond delay="0"/>
                                  </p:stCondLst>
                                  <p:childTnLst>
                                    <p:cmd type="call" cmd="playFrom(0.0)">
                                      <p:cBhvr>
                                        <p:cTn id="4" dur="6800"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4"/>
                </p:tgtEl>
              </p:cMediaNode>
            </p:video>
            <p:seq concurrent="1" nextAc="seek">
              <p:cTn id="8" restart="whenNotActive" fill="hold" evtFilter="cancelBubble" nodeType="interactiveSeq">
                <p:stCondLst>
                  <p:cond evt="onClick" delay="0">
                    <p:tgtEl>
                      <p:spTgt spid="1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4"/>
                                        </p:tgtEl>
                                      </p:cBhvr>
                                    </p:cmd>
                                  </p:childTnLst>
                                </p:cTn>
                              </p:par>
                            </p:childTnLst>
                          </p:cTn>
                        </p:par>
                      </p:childTnLst>
                    </p:cTn>
                  </p:par>
                </p:childTnLst>
              </p:cTn>
              <p:nextCondLst>
                <p:cond evt="onClick" delay="0">
                  <p:tgtEl>
                    <p:spTgt spid="14"/>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Generation from noise</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a:t>
            </a:r>
            <a:r>
              <a:rPr lang="en-GB" sz="1300" dirty="0">
                <a:solidFill>
                  <a:srgbClr val="A5A5A5"/>
                </a:solidFill>
              </a:rPr>
              <a:t>    →    </a:t>
            </a:r>
            <a:r>
              <a:rPr lang="en-GB" sz="1300" b="1" dirty="0">
                <a:solidFill>
                  <a:srgbClr val="004791"/>
                </a:solidFill>
              </a:rPr>
              <a:t>Background</a:t>
            </a:r>
            <a:r>
              <a:rPr lang="en-GB" sz="1300" dirty="0">
                <a:solidFill>
                  <a:srgbClr val="A5A5A5"/>
                </a:solidFill>
              </a:rPr>
              <a:t>    →    </a:t>
            </a:r>
            <a:r>
              <a:rPr lang="en-GB" sz="1300" dirty="0">
                <a:solidFill>
                  <a:srgbClr val="A5A5A5"/>
                </a:solidFill>
              </a:rPr>
              <a:t>Method</a:t>
            </a:r>
            <a:r>
              <a:rPr lang="en-GB" sz="1300" dirty="0">
                <a:solidFill>
                  <a:srgbClr val="A5A5A5"/>
                </a:solidFill>
              </a:rPr>
              <a:t>    →    </a:t>
            </a:r>
            <a:r>
              <a:rPr lang="en-GB" sz="1300" dirty="0">
                <a:solidFill>
                  <a:srgbClr val="A5A5A5"/>
                </a:solidFill>
              </a:rPr>
              <a:t>Results</a:t>
            </a:r>
            <a:r>
              <a:rPr lang="en-GB" sz="1300" dirty="0">
                <a:solidFill>
                  <a:srgbClr val="A5A5A5"/>
                </a:solidFill>
              </a:rPr>
              <a:t>    →    </a:t>
            </a:r>
            <a:r>
              <a:rPr lang="en-GB" sz="1300" dirty="0">
                <a:solidFill>
                  <a:srgbClr val="A5A5A5"/>
                </a:solidFill>
              </a:rPr>
              <a:t>Conclusions</a:t>
            </a:r>
          </a:p>
        </p:txBody>
      </p:sp>
      <p:sp>
        <p:nvSpPr>
          <p:cNvPr id="13" name="Slide Number"/>
          <p:cNvSpPr>
            <a:spLocks noGrp="1"/>
          </p:cNvSpPr>
          <p:nvPr>
            <p:ph type="sldNum" sz="quarter" idx="12"/>
          </p:nvPr>
        </p:nvSpPr>
        <p:spPr/>
        <p:txBody>
          <a:bodyPr/>
          <a:lstStyle/>
          <a:p>
            <a:fld id="{619F89D8-7AE3-494A-97F3-03D680869632}" type="slidenum">
              <a:rPr lang="en-GB"/>
              <a:t>1</a:t>
            </a:fld>
            <a:endParaRPr lang="en-GB"/>
          </a:p>
        </p:txBody>
      </p:sp>
      <p:pic>
        <p:nvPicPr>
          <p:cNvPr id="14" name="Video" descr="Generation of a robot trajectory from noise">
            <a:hlinkClick r:id="" action="ppaction://media"/>
          </p:cNvPr>
          <p:cNvPicPr>
            <a:picLocks noChangeAspect="1"/>
          </p:cNvPicPr>
          <p:nvPr>
            <a:videoFile r:link="rId2"/>
            <p:extLst>
              <p:ext uri="{DAA4B4D4-6D71-4841-9C94-3DE7FCFB9230}">
                <p14:media xmlns:p14="http://schemas.microsoft.com/office/powerpoint/2010/main" r:embed="rId3"/>
              </p:ext>
            </p:extLst>
          </p:nvPr>
        </p:nvPicPr>
        <p:blipFill>
          <a:blip r:embed="rId4"/>
          <a:stretch>
            <a:fillRect/>
          </a:stretch>
        </p:blipFill>
        <p:spPr>
          <a:xfrm>
            <a:off x="3995928" y="1965960"/>
            <a:ext cx="4206240" cy="42062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mediacall" presetSubtype="0" fill="hold" nodeType="clickEffect">
                                  <p:stCondLst>
                                    <p:cond delay="0"/>
                                  </p:stCondLst>
                                  <p:childTnLst>
                                    <p:cmd type="call" cmd="playFrom(0.0)">
                                      <p:cBhvr>
                                        <p:cTn id="4" dur="19500"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4"/>
                </p:tgtEl>
              </p:cMediaNode>
            </p:video>
            <p:seq concurrent="1" nextAc="seek">
              <p:cTn id="8" restart="whenNotActive" fill="hold" evtFilter="cancelBubble" nodeType="interactiveSeq">
                <p:stCondLst>
                  <p:cond evt="onClick" delay="0">
                    <p:tgtEl>
                      <p:spTgt spid="1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4"/>
                                        </p:tgtEl>
                                      </p:cBhvr>
                                    </p:cmd>
                                  </p:childTnLst>
                                </p:cTn>
                              </p:par>
                            </p:childTnLst>
                          </p:cTn>
                        </p:par>
                      </p:childTnLst>
                    </p:cTn>
                  </p:par>
                </p:childTnLst>
              </p:cTn>
              <p:nextCondLst>
                <p:cond evt="onClick" delay="0">
                  <p:tgtEl>
                    <p:spTgt spid="14"/>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Related work</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a:t>
            </a:r>
            <a:r>
              <a:rPr lang="en-GB" sz="1300" dirty="0">
                <a:solidFill>
                  <a:srgbClr val="A5A5A5"/>
                </a:solidFill>
              </a:rPr>
              <a:t>    →    </a:t>
            </a:r>
            <a:r>
              <a:rPr lang="en-GB" sz="1300" b="1" dirty="0">
                <a:solidFill>
                  <a:srgbClr val="004791"/>
                </a:solidFill>
              </a:rPr>
              <a:t>Background</a:t>
            </a:r>
            <a:r>
              <a:rPr lang="en-GB" sz="1300" dirty="0">
                <a:solidFill>
                  <a:srgbClr val="A5A5A5"/>
                </a:solidFill>
              </a:rPr>
              <a:t>    →    </a:t>
            </a:r>
            <a:r>
              <a:rPr lang="en-GB" sz="1300" dirty="0">
                <a:solidFill>
                  <a:srgbClr val="A5A5A5"/>
                </a:solidFill>
              </a:rPr>
              <a:t>Method</a:t>
            </a:r>
            <a:r>
              <a:rPr lang="en-GB" sz="1300" dirty="0">
                <a:solidFill>
                  <a:srgbClr val="A5A5A5"/>
                </a:solidFill>
              </a:rPr>
              <a:t>    →    </a:t>
            </a:r>
            <a:r>
              <a:rPr lang="en-GB" sz="1300" dirty="0">
                <a:solidFill>
                  <a:srgbClr val="A5A5A5"/>
                </a:solidFill>
              </a:rPr>
              <a:t>Results</a:t>
            </a:r>
            <a:r>
              <a:rPr lang="en-GB" sz="1300" dirty="0">
                <a:solidFill>
                  <a:srgbClr val="A5A5A5"/>
                </a:solidFill>
              </a:rPr>
              <a:t>    →    </a:t>
            </a:r>
            <a:r>
              <a:rPr lang="en-GB" sz="1300" dirty="0">
                <a:solidFill>
                  <a:srgbClr val="A5A5A5"/>
                </a:solidFill>
              </a:rPr>
              <a:t>Conclusions</a:t>
            </a:r>
          </a:p>
        </p:txBody>
      </p:sp>
      <p:sp>
        <p:nvSpPr>
          <p:cNvPr id="13" name="Slide Number"/>
          <p:cNvSpPr>
            <a:spLocks noGrp="1"/>
          </p:cNvSpPr>
          <p:nvPr>
            <p:ph type="sldNum" sz="quarter" idx="12"/>
          </p:nvPr>
        </p:nvSpPr>
        <p:spPr/>
        <p:txBody>
          <a:bodyPr/>
          <a:lstStyle/>
          <a:p>
            <a:fld id="{619F89D8-7AE3-494A-97F3-03D680869632}" type="slidenum">
              <a:rPr lang="en-GB"/>
              <a:t>1</a:t>
            </a:fld>
            <a:endParaRPr lang="en-GB"/>
          </a:p>
        </p:txBody>
      </p:sp>
      <p:sp>
        <p:nvSpPr>
          <p:cNvPr id="14" name="Label"/>
          <p:cNvSpPr txBox="1"/>
          <p:nvPr/>
        </p:nvSpPr>
        <p:spPr>
          <a:xfrm>
            <a:off x="603504" y="1901952"/>
            <a:ext cx="5303520" cy="274320"/>
          </a:xfrm>
          <a:prstGeom prst="rect">
            <a:avLst/>
          </a:prstGeom>
          <a:noFill/>
        </p:spPr>
        <p:txBody>
          <a:bodyPr wrap="square" lIns="45720" tIns="0" rIns="45720" bIns="0" anchor="t">
            <a:noAutofit/>
          </a:bodyPr>
          <a:lstStyle/>
          <a:p>
            <a:pPr algn="l"/>
            <a:r>
              <a:rPr lang="en-GB" sz="1500" b="1" dirty="0">
                <a:solidFill>
                  <a:srgbClr val="262626"/>
                </a:solidFill>
              </a:rPr>
              <a:t>Training-time conditioning</a:t>
            </a:r>
          </a:p>
        </p:txBody>
      </p:sp>
      <p:sp>
        <p:nvSpPr>
          <p:cNvPr id="15" name="Label"/>
          <p:cNvSpPr txBox="1"/>
          <p:nvPr/>
        </p:nvSpPr>
        <p:spPr>
          <a:xfrm>
            <a:off x="603504" y="2167128"/>
            <a:ext cx="5303520" cy="237744"/>
          </a:xfrm>
          <a:prstGeom prst="rect">
            <a:avLst/>
          </a:prstGeom>
          <a:noFill/>
        </p:spPr>
        <p:txBody>
          <a:bodyPr wrap="square" lIns="45720" tIns="0" rIns="45720" bIns="0" anchor="t">
            <a:noAutofit/>
          </a:bodyPr>
          <a:lstStyle/>
          <a:p>
            <a:pPr algn="l"/>
            <a:r>
              <a:rPr lang="en-GB" sz="1200" i="1" dirty="0">
                <a:solidFill>
                  <a:srgbClr val="6E6E6E"/>
                </a:solidFill>
              </a:rPr>
              <a:t>TeLoGraF, Meng and Fan 2025</a:t>
            </a:r>
          </a:p>
        </p:txBody>
      </p:sp>
      <p:pic>
        <p:nvPicPr>
          <p:cNvPr id="16" name="Figure" descr="Training-time conditioning: overview figure of TeLoGraF, Meng and Fan 2025"/>
          <p:cNvPicPr>
            <a:picLocks noChangeAspect="1"/>
          </p:cNvPicPr>
          <p:nvPr/>
        </p:nvPicPr>
        <p:blipFill>
          <a:blip r:embed="rId2"/>
          <a:stretch>
            <a:fillRect/>
          </a:stretch>
        </p:blipFill>
        <p:spPr>
          <a:xfrm>
            <a:off x="603504" y="2468880"/>
            <a:ext cx="4987255" cy="1325880"/>
          </a:xfrm>
          <a:prstGeom prst="rect">
            <a:avLst/>
          </a:prstGeom>
        </p:spPr>
      </p:pic>
      <p:sp>
        <p:nvSpPr>
          <p:cNvPr id="17" name="Label"/>
          <p:cNvSpPr txBox="1"/>
          <p:nvPr/>
        </p:nvSpPr>
        <p:spPr>
          <a:xfrm>
            <a:off x="6217920" y="1901952"/>
            <a:ext cx="2560320" cy="274320"/>
          </a:xfrm>
          <a:prstGeom prst="rect">
            <a:avLst/>
          </a:prstGeom>
          <a:noFill/>
        </p:spPr>
        <p:txBody>
          <a:bodyPr wrap="square" lIns="45720" tIns="0" rIns="45720" bIns="0" anchor="t">
            <a:noAutofit/>
          </a:bodyPr>
          <a:lstStyle/>
          <a:p>
            <a:pPr algn="l"/>
            <a:r>
              <a:rPr lang="en-GB" sz="1500" b="1" dirty="0">
                <a:solidFill>
                  <a:srgbClr val="262626"/>
                </a:solidFill>
              </a:rPr>
              <a:t>Decompose-and-stitch</a:t>
            </a:r>
          </a:p>
        </p:txBody>
      </p:sp>
      <p:sp>
        <p:nvSpPr>
          <p:cNvPr id="18" name="Label"/>
          <p:cNvSpPr txBox="1"/>
          <p:nvPr/>
        </p:nvSpPr>
        <p:spPr>
          <a:xfrm>
            <a:off x="6217920" y="2167128"/>
            <a:ext cx="2560320" cy="237744"/>
          </a:xfrm>
          <a:prstGeom prst="rect">
            <a:avLst/>
          </a:prstGeom>
          <a:noFill/>
        </p:spPr>
        <p:txBody>
          <a:bodyPr wrap="square" lIns="45720" tIns="0" rIns="45720" bIns="0" anchor="t">
            <a:noAutofit/>
          </a:bodyPr>
          <a:lstStyle/>
          <a:p>
            <a:pPr algn="l"/>
            <a:r>
              <a:rPr lang="en-GB" sz="1200" i="1" dirty="0">
                <a:solidFill>
                  <a:srgbClr val="6E6E6E"/>
                </a:solidFill>
              </a:rPr>
              <a:t>ZSTP, Liu et al. 2025</a:t>
            </a:r>
          </a:p>
        </p:txBody>
      </p:sp>
      <p:pic>
        <p:nvPicPr>
          <p:cNvPr id="19" name="Figure" descr="Decompose-and-stitch: overview figure of ZSTP, Liu et al. 2025"/>
          <p:cNvPicPr>
            <a:picLocks noChangeAspect="1"/>
          </p:cNvPicPr>
          <p:nvPr/>
        </p:nvPicPr>
        <p:blipFill>
          <a:blip r:embed="rId3"/>
          <a:stretch>
            <a:fillRect/>
          </a:stretch>
        </p:blipFill>
        <p:spPr>
          <a:xfrm>
            <a:off x="6217920" y="2468880"/>
            <a:ext cx="1803197" cy="1325880"/>
          </a:xfrm>
          <a:prstGeom prst="rect">
            <a:avLst/>
          </a:prstGeom>
        </p:spPr>
      </p:pic>
      <p:sp>
        <p:nvSpPr>
          <p:cNvPr id="20" name="Label"/>
          <p:cNvSpPr txBox="1"/>
          <p:nvPr/>
        </p:nvSpPr>
        <p:spPr>
          <a:xfrm>
            <a:off x="9052560" y="1901952"/>
            <a:ext cx="2542032" cy="274320"/>
          </a:xfrm>
          <a:prstGeom prst="rect">
            <a:avLst/>
          </a:prstGeom>
          <a:noFill/>
        </p:spPr>
        <p:txBody>
          <a:bodyPr wrap="square" lIns="45720" tIns="0" rIns="45720" bIns="0" anchor="t">
            <a:noAutofit/>
          </a:bodyPr>
          <a:lstStyle/>
          <a:p>
            <a:pPr algn="l"/>
            <a:r>
              <a:rPr lang="en-GB" sz="1500" b="1" dirty="0">
                <a:solidFill>
                  <a:srgbClr val="262626"/>
                </a:solidFill>
              </a:rPr>
              <a:t>Trajectory optimization</a:t>
            </a:r>
          </a:p>
        </p:txBody>
      </p:sp>
      <p:sp>
        <p:nvSpPr>
          <p:cNvPr id="21" name="Label"/>
          <p:cNvSpPr txBox="1"/>
          <p:nvPr/>
        </p:nvSpPr>
        <p:spPr>
          <a:xfrm>
            <a:off x="9052560" y="2167128"/>
            <a:ext cx="2542032" cy="237744"/>
          </a:xfrm>
          <a:prstGeom prst="rect">
            <a:avLst/>
          </a:prstGeom>
          <a:noFill/>
        </p:spPr>
        <p:txBody>
          <a:bodyPr wrap="square" lIns="45720" tIns="0" rIns="45720" bIns="0" anchor="t">
            <a:noAutofit/>
          </a:bodyPr>
          <a:lstStyle/>
          <a:p>
            <a:pPr algn="l"/>
            <a:r>
              <a:rPr lang="en-GB" sz="1200" i="1" dirty="0">
                <a:solidFill>
                  <a:srgbClr val="6E6E6E"/>
                </a:solidFill>
              </a:rPr>
              <a:t>Kurtz and Lin 2021</a:t>
            </a:r>
          </a:p>
        </p:txBody>
      </p:sp>
      <p:pic>
        <p:nvPicPr>
          <p:cNvPr id="22" name="Figure" descr="Trajectory optimization: overview figure of Kurtz and Lin 2021"/>
          <p:cNvPicPr>
            <a:picLocks noChangeAspect="1"/>
          </p:cNvPicPr>
          <p:nvPr/>
        </p:nvPicPr>
        <p:blipFill>
          <a:blip r:embed="rId4"/>
          <a:stretch>
            <a:fillRect/>
          </a:stretch>
        </p:blipFill>
        <p:spPr>
          <a:xfrm>
            <a:off x="9052560" y="2468880"/>
            <a:ext cx="1715845" cy="1325880"/>
          </a:xfrm>
          <a:prstGeom prst="rect">
            <a:avLst/>
          </a:prstGeom>
        </p:spPr>
      </p:pic>
      <p:sp>
        <p:nvSpPr>
          <p:cNvPr id="23" name="Label"/>
          <p:cNvSpPr txBox="1"/>
          <p:nvPr/>
        </p:nvSpPr>
        <p:spPr>
          <a:xfrm>
            <a:off x="603504" y="3986784"/>
            <a:ext cx="3474720" cy="274320"/>
          </a:xfrm>
          <a:prstGeom prst="rect">
            <a:avLst/>
          </a:prstGeom>
          <a:noFill/>
        </p:spPr>
        <p:txBody>
          <a:bodyPr wrap="square" lIns="45720" tIns="0" rIns="45720" bIns="0" anchor="t">
            <a:noAutofit/>
          </a:bodyPr>
          <a:lstStyle/>
          <a:p>
            <a:pPr algn="l"/>
            <a:r>
              <a:rPr lang="en-GB" sz="1500" b="1" dirty="0">
                <a:solidFill>
                  <a:srgbClr val="262626"/>
                </a:solidFill>
              </a:rPr>
              <a:t>Safe-set enforcement</a:t>
            </a:r>
          </a:p>
        </p:txBody>
      </p:sp>
      <p:sp>
        <p:nvSpPr>
          <p:cNvPr id="24" name="Label"/>
          <p:cNvSpPr txBox="1"/>
          <p:nvPr/>
        </p:nvSpPr>
        <p:spPr>
          <a:xfrm>
            <a:off x="603504" y="4251960"/>
            <a:ext cx="3474720" cy="237744"/>
          </a:xfrm>
          <a:prstGeom prst="rect">
            <a:avLst/>
          </a:prstGeom>
          <a:noFill/>
        </p:spPr>
        <p:txBody>
          <a:bodyPr wrap="square" lIns="45720" tIns="0" rIns="45720" bIns="0" anchor="t">
            <a:noAutofit/>
          </a:bodyPr>
          <a:lstStyle/>
          <a:p>
            <a:pPr algn="l"/>
            <a:r>
              <a:rPr lang="en-GB" sz="1200" i="1" dirty="0">
                <a:solidFill>
                  <a:srgbClr val="6E6E6E"/>
                </a:solidFill>
              </a:rPr>
              <a:t>SafeDiffuser, Xiao et al. 2023</a:t>
            </a:r>
          </a:p>
        </p:txBody>
      </p:sp>
      <p:pic>
        <p:nvPicPr>
          <p:cNvPr id="25" name="Figure" descr="Safe-set enforcement: overview figure of SafeDiffuser, Xiao et al. 2023"/>
          <p:cNvPicPr>
            <a:picLocks noChangeAspect="1"/>
          </p:cNvPicPr>
          <p:nvPr/>
        </p:nvPicPr>
        <p:blipFill>
          <a:blip r:embed="rId5"/>
          <a:stretch>
            <a:fillRect/>
          </a:stretch>
        </p:blipFill>
        <p:spPr>
          <a:xfrm>
            <a:off x="603504" y="4553712"/>
            <a:ext cx="2752704" cy="1481328"/>
          </a:xfrm>
          <a:prstGeom prst="rect">
            <a:avLst/>
          </a:prstGeom>
        </p:spPr>
      </p:pic>
      <p:sp>
        <p:nvSpPr>
          <p:cNvPr id="26" name="Label"/>
          <p:cNvSpPr txBox="1"/>
          <p:nvPr/>
        </p:nvSpPr>
        <p:spPr>
          <a:xfrm>
            <a:off x="4526280" y="3986784"/>
            <a:ext cx="3474720" cy="274320"/>
          </a:xfrm>
          <a:prstGeom prst="rect">
            <a:avLst/>
          </a:prstGeom>
          <a:noFill/>
        </p:spPr>
        <p:txBody>
          <a:bodyPr wrap="square" lIns="45720" tIns="0" rIns="45720" bIns="0" anchor="t">
            <a:noAutofit/>
          </a:bodyPr>
          <a:lstStyle/>
          <a:p>
            <a:pPr algn="l"/>
            <a:r>
              <a:rPr lang="en-GB" sz="1500" b="1" dirty="0">
                <a:solidFill>
                  <a:srgbClr val="262626"/>
                </a:solidFill>
              </a:rPr>
              <a:t>Inference-time robustness guidance</a:t>
            </a:r>
          </a:p>
        </p:txBody>
      </p:sp>
      <p:sp>
        <p:nvSpPr>
          <p:cNvPr id="27" name="Label"/>
          <p:cNvSpPr txBox="1"/>
          <p:nvPr/>
        </p:nvSpPr>
        <p:spPr>
          <a:xfrm>
            <a:off x="4526280" y="4251960"/>
            <a:ext cx="3474720" cy="237744"/>
          </a:xfrm>
          <a:prstGeom prst="rect">
            <a:avLst/>
          </a:prstGeom>
          <a:noFill/>
        </p:spPr>
        <p:txBody>
          <a:bodyPr wrap="square" lIns="45720" tIns="0" rIns="45720" bIns="0" anchor="t">
            <a:noAutofit/>
          </a:bodyPr>
          <a:lstStyle/>
          <a:p>
            <a:pPr algn="l"/>
            <a:r>
              <a:rPr lang="en-GB" sz="1200" i="1" dirty="0">
                <a:solidFill>
                  <a:srgbClr val="6E6E6E"/>
                </a:solidFill>
              </a:rPr>
              <a:t>CTG, Zhong et al. 2022</a:t>
            </a:r>
          </a:p>
        </p:txBody>
      </p:sp>
      <p:pic>
        <p:nvPicPr>
          <p:cNvPr id="28" name="Figure" descr="Inference-time robustness guidance: overview figure of CTG, Zhong et al. 2022"/>
          <p:cNvPicPr>
            <a:picLocks noChangeAspect="1"/>
          </p:cNvPicPr>
          <p:nvPr/>
        </p:nvPicPr>
        <p:blipFill>
          <a:blip r:embed="rId6"/>
          <a:stretch>
            <a:fillRect/>
          </a:stretch>
        </p:blipFill>
        <p:spPr>
          <a:xfrm>
            <a:off x="4526280" y="4553712"/>
            <a:ext cx="2689316" cy="1481328"/>
          </a:xfrm>
          <a:prstGeom prst="rect">
            <a:avLst/>
          </a:prstGeom>
        </p:spPr>
      </p:pic>
      <p:sp>
        <p:nvSpPr>
          <p:cNvPr id="29" name="Highlight"/>
          <p:cNvSpPr/>
          <p:nvPr/>
        </p:nvSpPr>
        <p:spPr>
          <a:xfrm>
            <a:off x="4416552" y="3895344"/>
            <a:ext cx="3694176" cy="2258568"/>
          </a:xfrm>
          <a:prstGeom prst="roundRect">
            <a:avLst>
              <a:gd name="adj" fmla="val 3000"/>
            </a:avLst>
          </a:prstGeom>
          <a:noFill/>
          <a:ln w="25400">
            <a:solidFill>
              <a:srgbClr val="24A0D8"/>
            </a:solidFill>
          </a:ln>
        </p:spPr>
        <p:txBody>
          <a:bodyPr wrap="square" lIns="64008" tIns="27432" rIns="64008" bIns="27432" anchor="ctr">
            <a:noAutofit/>
          </a:bodyPr>
          <a:lstStyle/>
          <a:p>
            <a:pPr algn="ctr"/>
            <a:r>
              <a:rPr lang="en-GB" sz="1600" dirty="0">
                <a:solidFill>
                  <a:srgbClr val="262626"/>
                </a:solidFill>
              </a:rPr>
              <a:t/>
            </a:r>
          </a:p>
        </p:txBody>
      </p:sp>
      <p:sp>
        <p:nvSpPr>
          <p:cNvPr id="30" name="Box"/>
          <p:cNvSpPr/>
          <p:nvPr/>
        </p:nvSpPr>
        <p:spPr>
          <a:xfrm>
            <a:off x="8503920" y="4590288"/>
            <a:ext cx="3090672" cy="960120"/>
          </a:xfrm>
          <a:prstGeom prst="roundRect">
            <a:avLst>
              <a:gd name="adj" fmla="val 8000"/>
            </a:avLst>
          </a:prstGeom>
          <a:solidFill>
            <a:srgbClr val="EDF7FC"/>
          </a:solidFill>
          <a:ln w="19050">
            <a:solidFill>
              <a:srgbClr val="24A0D8"/>
            </a:solidFill>
          </a:ln>
        </p:spPr>
        <p:txBody>
          <a:bodyPr wrap="square" lIns="64008" tIns="27432" rIns="64008" bIns="27432" anchor="ctr">
            <a:noAutofit/>
          </a:bodyPr>
          <a:lstStyle/>
          <a:p>
            <a:pPr algn="ctr"/>
            <a:r>
              <a:rPr lang="en-GB" sz="1500" dirty="0">
                <a:solidFill>
                  <a:srgbClr val="262626"/>
                </a:solidFill>
              </a:rPr>
              <a:t>STL-FM</a:t>
            </a:r>
          </a:p>
          <a:p>
            <a:pPr algn="ctr"/>
            <a:r>
              <a:rPr lang="en-GB" sz="1500" dirty="0">
                <a:solidFill>
                  <a:srgbClr val="262626"/>
                </a:solidFill>
              </a:rPr>
              <a:t>on a flow-matching prior</a:t>
            </a:r>
          </a:p>
        </p:txBody>
      </p:sp>
      <p:cxnSp>
        <p:nvCxnSpPr>
          <p:cNvPr id="31" name="Arrow"/>
          <p:cNvCxnSpPr/>
          <p:nvPr/>
        </p:nvCxnSpPr>
        <p:spPr>
          <a:xfrm>
            <a:off x="8110728" y="5070348"/>
            <a:ext cx="393192" cy="0"/>
          </a:xfrm>
          <a:prstGeom prst="straightConnector1">
            <a:avLst/>
          </a:prstGeom>
          <a:ln w="25400">
            <a:solidFill>
              <a:srgbClr val="24A0D8"/>
            </a:solidFill>
            <a:tailEnd type="triangle" w="med" len="med"/>
          </a:ln>
        </p:spPr>
      </p:cxnSp>
      <p:sp>
        <p:nvSpPr>
          <p:cNvPr id="32" name="Label"/>
          <p:cNvSpPr txBox="1"/>
          <p:nvPr/>
        </p:nvSpPr>
        <p:spPr>
          <a:xfrm>
            <a:off x="603504" y="6108192"/>
            <a:ext cx="10991088" cy="219456"/>
          </a:xfrm>
          <a:prstGeom prst="rect">
            <a:avLst/>
          </a:prstGeom>
          <a:noFill/>
        </p:spPr>
        <p:txBody>
          <a:bodyPr wrap="square" lIns="45720" tIns="0" rIns="45720" bIns="0" anchor="t">
            <a:noAutofit/>
          </a:bodyPr>
          <a:lstStyle/>
          <a:p>
            <a:pPr algn="l"/>
            <a:r>
              <a:rPr lang="en-GB" sz="1100" dirty="0">
                <a:solidFill>
                  <a:srgbClr val="6E6E6E"/>
                </a:solidFill>
              </a:rPr>
              <a:t>Overview figures reproduced from the cited papers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Comparison of approaches</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a:t>
            </a:r>
            <a:r>
              <a:rPr lang="en-GB" sz="1300" dirty="0">
                <a:solidFill>
                  <a:srgbClr val="A5A5A5"/>
                </a:solidFill>
              </a:rPr>
              <a:t>    →    </a:t>
            </a:r>
            <a:r>
              <a:rPr lang="en-GB" sz="1300" b="1" dirty="0">
                <a:solidFill>
                  <a:srgbClr val="004791"/>
                </a:solidFill>
              </a:rPr>
              <a:t>Background</a:t>
            </a:r>
            <a:r>
              <a:rPr lang="en-GB" sz="1300" dirty="0">
                <a:solidFill>
                  <a:srgbClr val="A5A5A5"/>
                </a:solidFill>
              </a:rPr>
              <a:t>    →    </a:t>
            </a:r>
            <a:r>
              <a:rPr lang="en-GB" sz="1300" dirty="0">
                <a:solidFill>
                  <a:srgbClr val="A5A5A5"/>
                </a:solidFill>
              </a:rPr>
              <a:t>Method</a:t>
            </a:r>
            <a:r>
              <a:rPr lang="en-GB" sz="1300" dirty="0">
                <a:solidFill>
                  <a:srgbClr val="A5A5A5"/>
                </a:solidFill>
              </a:rPr>
              <a:t>    →    </a:t>
            </a:r>
            <a:r>
              <a:rPr lang="en-GB" sz="1300" dirty="0">
                <a:solidFill>
                  <a:srgbClr val="A5A5A5"/>
                </a:solidFill>
              </a:rPr>
              <a:t>Results</a:t>
            </a:r>
            <a:r>
              <a:rPr lang="en-GB" sz="1300" dirty="0">
                <a:solidFill>
                  <a:srgbClr val="A5A5A5"/>
                </a:solidFill>
              </a:rPr>
              <a:t>    →    </a:t>
            </a:r>
            <a:r>
              <a:rPr lang="en-GB" sz="1300" dirty="0">
                <a:solidFill>
                  <a:srgbClr val="A5A5A5"/>
                </a:solidFill>
              </a:rPr>
              <a:t>Conclusions</a:t>
            </a:r>
          </a:p>
        </p:txBody>
      </p:sp>
      <p:sp>
        <p:nvSpPr>
          <p:cNvPr id="13" name="Slide Number"/>
          <p:cNvSpPr>
            <a:spLocks noGrp="1"/>
          </p:cNvSpPr>
          <p:nvPr>
            <p:ph type="sldNum" sz="quarter" idx="12"/>
          </p:nvPr>
        </p:nvSpPr>
        <p:spPr/>
        <p:txBody>
          <a:bodyPr/>
          <a:lstStyle/>
          <a:p>
            <a:fld id="{619F89D8-7AE3-494A-97F3-03D680869632}" type="slidenum">
              <a:rPr lang="en-GB"/>
              <a:t>1</a:t>
            </a:fld>
            <a:endParaRPr lang="en-GB"/>
          </a:p>
        </p:txBody>
      </p:sp>
      <p:sp>
        <p:nvSpPr>
          <p:cNvPr id="14" name="Label"/>
          <p:cNvSpPr txBox="1"/>
          <p:nvPr/>
        </p:nvSpPr>
        <p:spPr>
          <a:xfrm>
            <a:off x="603504" y="1938528"/>
            <a:ext cx="3246120" cy="274320"/>
          </a:xfrm>
          <a:prstGeom prst="rect">
            <a:avLst/>
          </a:prstGeom>
          <a:noFill/>
        </p:spPr>
        <p:txBody>
          <a:bodyPr wrap="square" lIns="45720" tIns="0" rIns="45720" bIns="0" anchor="t">
            <a:noAutofit/>
          </a:bodyPr>
          <a:lstStyle/>
          <a:p>
            <a:pPr algn="l"/>
            <a:r>
              <a:rPr lang="en-GB" sz="1400" dirty="0">
                <a:solidFill>
                  <a:srgbClr val="6E6E6E"/>
                </a:solidFill>
              </a:rPr>
              <a:t>Approach</a:t>
            </a:r>
          </a:p>
        </p:txBody>
      </p:sp>
      <p:sp>
        <p:nvSpPr>
          <p:cNvPr id="15" name="Label"/>
          <p:cNvSpPr txBox="1"/>
          <p:nvPr/>
        </p:nvSpPr>
        <p:spPr>
          <a:xfrm>
            <a:off x="3931920" y="1938528"/>
            <a:ext cx="2788920" cy="274320"/>
          </a:xfrm>
          <a:prstGeom prst="rect">
            <a:avLst/>
          </a:prstGeom>
          <a:noFill/>
        </p:spPr>
        <p:txBody>
          <a:bodyPr wrap="square" lIns="45720" tIns="0" rIns="45720" bIns="0" anchor="t">
            <a:noAutofit/>
          </a:bodyPr>
          <a:lstStyle/>
          <a:p>
            <a:pPr algn="l"/>
            <a:r>
              <a:rPr lang="en-GB" sz="1400" dirty="0">
                <a:solidFill>
                  <a:srgbClr val="6E6E6E"/>
                </a:solidFill>
              </a:rPr>
              <a:t>Requirement enters</a:t>
            </a:r>
          </a:p>
        </p:txBody>
      </p:sp>
      <p:sp>
        <p:nvSpPr>
          <p:cNvPr id="16" name="Label"/>
          <p:cNvSpPr txBox="1"/>
          <p:nvPr/>
        </p:nvSpPr>
        <p:spPr>
          <a:xfrm>
            <a:off x="6812280" y="1938528"/>
            <a:ext cx="2286000" cy="274320"/>
          </a:xfrm>
          <a:prstGeom prst="rect">
            <a:avLst/>
          </a:prstGeom>
          <a:noFill/>
        </p:spPr>
        <p:txBody>
          <a:bodyPr wrap="square" lIns="45720" tIns="0" rIns="45720" bIns="0" anchor="t">
            <a:noAutofit/>
          </a:bodyPr>
          <a:lstStyle/>
          <a:p>
            <a:pPr algn="l"/>
            <a:r>
              <a:rPr lang="en-GB" sz="1400" dirty="0">
                <a:solidFill>
                  <a:srgbClr val="6E6E6E"/>
                </a:solidFill>
              </a:rPr>
              <a:t>Rest of the motion from</a:t>
            </a:r>
          </a:p>
        </p:txBody>
      </p:sp>
      <p:sp>
        <p:nvSpPr>
          <p:cNvPr id="17" name="Label"/>
          <p:cNvSpPr txBox="1"/>
          <p:nvPr/>
        </p:nvSpPr>
        <p:spPr>
          <a:xfrm>
            <a:off x="9189720" y="1938528"/>
            <a:ext cx="2404872" cy="274320"/>
          </a:xfrm>
          <a:prstGeom prst="rect">
            <a:avLst/>
          </a:prstGeom>
          <a:noFill/>
        </p:spPr>
        <p:txBody>
          <a:bodyPr wrap="square" lIns="45720" tIns="0" rIns="45720" bIns="0" anchor="t">
            <a:noAutofit/>
          </a:bodyPr>
          <a:lstStyle/>
          <a:p>
            <a:pPr algn="l"/>
            <a:r>
              <a:rPr lang="en-GB" sz="1400" dirty="0">
                <a:solidFill>
                  <a:srgbClr val="6E6E6E"/>
                </a:solidFill>
              </a:rPr>
              <a:t>Property</a:t>
            </a:r>
          </a:p>
        </p:txBody>
      </p:sp>
      <p:cxnSp>
        <p:nvCxnSpPr>
          <p:cNvPr id="18" name="Rule"/>
          <p:cNvCxnSpPr/>
          <p:nvPr/>
        </p:nvCxnSpPr>
        <p:spPr>
          <a:xfrm>
            <a:off x="603504" y="2267712"/>
            <a:ext cx="10991088" cy="0"/>
          </a:xfrm>
          <a:prstGeom prst="straightConnector1">
            <a:avLst/>
          </a:prstGeom>
          <a:ln w="9525">
            <a:solidFill>
              <a:srgbClr val="D2D2D2"/>
            </a:solidFill>
          </a:ln>
        </p:spPr>
      </p:cxnSp>
      <p:sp>
        <p:nvSpPr>
          <p:cNvPr id="19" name="Label"/>
          <p:cNvSpPr txBox="1"/>
          <p:nvPr/>
        </p:nvSpPr>
        <p:spPr>
          <a:xfrm>
            <a:off x="603504" y="2313432"/>
            <a:ext cx="3246120" cy="457200"/>
          </a:xfrm>
          <a:prstGeom prst="rect">
            <a:avLst/>
          </a:prstGeom>
          <a:noFill/>
        </p:spPr>
        <p:txBody>
          <a:bodyPr wrap="square" lIns="45720" tIns="0" rIns="45720" bIns="0" anchor="ctr">
            <a:noAutofit/>
          </a:bodyPr>
          <a:lstStyle/>
          <a:p>
            <a:pPr algn="l"/>
            <a:r>
              <a:rPr lang="en-GB" sz="1400" b="1" dirty="0">
                <a:solidFill>
                  <a:srgbClr val="262626"/>
                </a:solidFill>
              </a:rPr>
              <a:t>Trajectory optimization</a:t>
            </a:r>
          </a:p>
          <a:p>
            <a:pPr algn="l"/>
            <a:r>
              <a:rPr lang="en-GB" sz="1100" dirty="0">
                <a:solidFill>
                  <a:srgbClr val="6E6E6E"/>
                </a:solidFill>
              </a:rPr>
              <a:t>Kurtz and Lin 2021</a:t>
            </a:r>
          </a:p>
        </p:txBody>
      </p:sp>
      <p:sp>
        <p:nvSpPr>
          <p:cNvPr id="20" name="Label"/>
          <p:cNvSpPr txBox="1"/>
          <p:nvPr/>
        </p:nvSpPr>
        <p:spPr>
          <a:xfrm>
            <a:off x="3931920" y="2313432"/>
            <a:ext cx="2788920" cy="457200"/>
          </a:xfrm>
          <a:prstGeom prst="rect">
            <a:avLst/>
          </a:prstGeom>
          <a:noFill/>
        </p:spPr>
        <p:txBody>
          <a:bodyPr wrap="square" lIns="45720" tIns="0" rIns="45720" bIns="0" anchor="ctr">
            <a:noAutofit/>
          </a:bodyPr>
          <a:lstStyle/>
          <a:p>
            <a:pPr algn="l"/>
            <a:r>
              <a:rPr lang="en-GB" sz="1300" dirty="0">
                <a:solidFill>
                  <a:srgbClr val="262626"/>
                </a:solidFill>
              </a:rPr>
              <a:t>cost or constraint, with a known dynamics model</a:t>
            </a:r>
          </a:p>
        </p:txBody>
      </p:sp>
      <p:sp>
        <p:nvSpPr>
          <p:cNvPr id="21" name="Label"/>
          <p:cNvSpPr txBox="1"/>
          <p:nvPr/>
        </p:nvSpPr>
        <p:spPr>
          <a:xfrm>
            <a:off x="6812280" y="2313432"/>
            <a:ext cx="2286000" cy="457200"/>
          </a:xfrm>
          <a:prstGeom prst="rect">
            <a:avLst/>
          </a:prstGeom>
          <a:noFill/>
        </p:spPr>
        <p:txBody>
          <a:bodyPr wrap="square" lIns="45720" tIns="0" rIns="45720" bIns="0" anchor="ctr">
            <a:noAutofit/>
          </a:bodyPr>
          <a:lstStyle/>
          <a:p>
            <a:pPr algn="l"/>
            <a:r>
              <a:rPr lang="en-GB" sz="1300" dirty="0">
                <a:solidFill>
                  <a:srgbClr val="262626"/>
                </a:solidFill>
              </a:rPr>
              <a:t>dynamics model, costs and feasibility constraints</a:t>
            </a:r>
          </a:p>
        </p:txBody>
      </p:sp>
      <p:sp>
        <p:nvSpPr>
          <p:cNvPr id="22" name="Label"/>
          <p:cNvSpPr txBox="1"/>
          <p:nvPr/>
        </p:nvSpPr>
        <p:spPr>
          <a:xfrm>
            <a:off x="9189720" y="2313432"/>
            <a:ext cx="2404872" cy="457200"/>
          </a:xfrm>
          <a:prstGeom prst="rect">
            <a:avLst/>
          </a:prstGeom>
          <a:noFill/>
        </p:spPr>
        <p:txBody>
          <a:bodyPr wrap="square" lIns="45720" tIns="0" rIns="45720" bIns="0" anchor="ctr">
            <a:noAutofit/>
          </a:bodyPr>
          <a:lstStyle/>
          <a:p>
            <a:pPr algn="l"/>
            <a:r>
              <a:rPr lang="en-GB" sz="1300" dirty="0">
                <a:solidFill>
                  <a:srgbClr val="262626"/>
                </a:solidFill>
              </a:rPr>
              <a:t>specified by hand</a:t>
            </a:r>
          </a:p>
        </p:txBody>
      </p:sp>
      <p:cxnSp>
        <p:nvCxnSpPr>
          <p:cNvPr id="23" name="Rule"/>
          <p:cNvCxnSpPr/>
          <p:nvPr/>
        </p:nvCxnSpPr>
        <p:spPr>
          <a:xfrm>
            <a:off x="603504" y="2798064"/>
            <a:ext cx="10991088" cy="0"/>
          </a:xfrm>
          <a:prstGeom prst="straightConnector1">
            <a:avLst/>
          </a:prstGeom>
          <a:ln w="9525">
            <a:solidFill>
              <a:srgbClr val="D2D2D2"/>
            </a:solidFill>
          </a:ln>
        </p:spPr>
      </p:cxnSp>
      <p:sp>
        <p:nvSpPr>
          <p:cNvPr id="24" name="Label"/>
          <p:cNvSpPr txBox="1"/>
          <p:nvPr/>
        </p:nvSpPr>
        <p:spPr>
          <a:xfrm>
            <a:off x="603504" y="2843784"/>
            <a:ext cx="3246120" cy="457200"/>
          </a:xfrm>
          <a:prstGeom prst="rect">
            <a:avLst/>
          </a:prstGeom>
          <a:noFill/>
        </p:spPr>
        <p:txBody>
          <a:bodyPr wrap="square" lIns="45720" tIns="0" rIns="45720" bIns="0" anchor="ctr">
            <a:noAutofit/>
          </a:bodyPr>
          <a:lstStyle/>
          <a:p>
            <a:pPr algn="l"/>
            <a:r>
              <a:rPr lang="en-GB" sz="1400" b="1" dirty="0">
                <a:solidFill>
                  <a:srgbClr val="262626"/>
                </a:solidFill>
              </a:rPr>
              <a:t>Control barrier functions</a:t>
            </a:r>
          </a:p>
          <a:p>
            <a:pPr algn="l"/>
            <a:r>
              <a:rPr lang="en-GB" sz="1100" dirty="0">
                <a:solidFill>
                  <a:srgbClr val="6E6E6E"/>
                </a:solidFill>
              </a:rPr>
              <a:t>Lindemann and Dimarogonas 2019</a:t>
            </a:r>
          </a:p>
        </p:txBody>
      </p:sp>
      <p:sp>
        <p:nvSpPr>
          <p:cNvPr id="25" name="Label"/>
          <p:cNvSpPr txBox="1"/>
          <p:nvPr/>
        </p:nvSpPr>
        <p:spPr>
          <a:xfrm>
            <a:off x="3931920" y="2843784"/>
            <a:ext cx="2788920" cy="457200"/>
          </a:xfrm>
          <a:prstGeom prst="rect">
            <a:avLst/>
          </a:prstGeom>
          <a:noFill/>
        </p:spPr>
        <p:txBody>
          <a:bodyPr wrap="square" lIns="45720" tIns="0" rIns="45720" bIns="0" anchor="ctr">
            <a:noAutofit/>
          </a:bodyPr>
          <a:lstStyle/>
          <a:p>
            <a:pPr algn="l"/>
            <a:r>
              <a:rPr lang="en-GB" sz="1300" dirty="0">
                <a:solidFill>
                  <a:srgbClr val="262626"/>
                </a:solidFill>
              </a:rPr>
              <a:t>time-varying barrier functions, quadratic program</a:t>
            </a:r>
          </a:p>
        </p:txBody>
      </p:sp>
      <p:sp>
        <p:nvSpPr>
          <p:cNvPr id="26" name="Label"/>
          <p:cNvSpPr txBox="1"/>
          <p:nvPr/>
        </p:nvSpPr>
        <p:spPr>
          <a:xfrm>
            <a:off x="6812280" y="2843784"/>
            <a:ext cx="2286000" cy="457200"/>
          </a:xfrm>
          <a:prstGeom prst="rect">
            <a:avLst/>
          </a:prstGeom>
          <a:noFill/>
        </p:spPr>
        <p:txBody>
          <a:bodyPr wrap="square" lIns="45720" tIns="0" rIns="45720" bIns="0" anchor="ctr">
            <a:noAutofit/>
          </a:bodyPr>
          <a:lstStyle/>
          <a:p>
            <a:pPr algn="l"/>
            <a:r>
              <a:rPr lang="en-GB" sz="1300" dirty="0">
                <a:solidFill>
                  <a:srgbClr val="262626"/>
                </a:solidFill>
              </a:rPr>
              <a:t>dynamics model and control cost</a:t>
            </a:r>
          </a:p>
        </p:txBody>
      </p:sp>
      <p:sp>
        <p:nvSpPr>
          <p:cNvPr id="27" name="Label"/>
          <p:cNvSpPr txBox="1"/>
          <p:nvPr/>
        </p:nvSpPr>
        <p:spPr>
          <a:xfrm>
            <a:off x="9189720" y="2843784"/>
            <a:ext cx="2404872" cy="457200"/>
          </a:xfrm>
          <a:prstGeom prst="rect">
            <a:avLst/>
          </a:prstGeom>
          <a:noFill/>
        </p:spPr>
        <p:txBody>
          <a:bodyPr wrap="square" lIns="45720" tIns="0" rIns="45720" bIns="0" anchor="ctr">
            <a:noAutofit/>
          </a:bodyPr>
          <a:lstStyle/>
          <a:p>
            <a:pPr algn="l"/>
            <a:r>
              <a:rPr lang="en-GB" sz="1300" dirty="0">
                <a:solidFill>
                  <a:srgbClr val="262626"/>
                </a:solidFill>
              </a:rPr>
              <a:t>boundedness conjoined to the requirement</a:t>
            </a:r>
          </a:p>
        </p:txBody>
      </p:sp>
      <p:cxnSp>
        <p:nvCxnSpPr>
          <p:cNvPr id="28" name="Rule"/>
          <p:cNvCxnSpPr/>
          <p:nvPr/>
        </p:nvCxnSpPr>
        <p:spPr>
          <a:xfrm>
            <a:off x="603504" y="3328416"/>
            <a:ext cx="10991088" cy="0"/>
          </a:xfrm>
          <a:prstGeom prst="straightConnector1">
            <a:avLst/>
          </a:prstGeom>
          <a:ln w="9525">
            <a:solidFill>
              <a:srgbClr val="D2D2D2"/>
            </a:solidFill>
          </a:ln>
        </p:spPr>
      </p:cxnSp>
      <p:sp>
        <p:nvSpPr>
          <p:cNvPr id="29" name="Label"/>
          <p:cNvSpPr txBox="1"/>
          <p:nvPr/>
        </p:nvSpPr>
        <p:spPr>
          <a:xfrm>
            <a:off x="603504" y="3374136"/>
            <a:ext cx="3246120" cy="457200"/>
          </a:xfrm>
          <a:prstGeom prst="rect">
            <a:avLst/>
          </a:prstGeom>
          <a:noFill/>
        </p:spPr>
        <p:txBody>
          <a:bodyPr wrap="square" lIns="45720" tIns="0" rIns="45720" bIns="0" anchor="ctr">
            <a:noAutofit/>
          </a:bodyPr>
          <a:lstStyle/>
          <a:p>
            <a:pPr algn="l"/>
            <a:r>
              <a:rPr lang="en-GB" sz="1400" b="1" dirty="0">
                <a:solidFill>
                  <a:srgbClr val="262626"/>
                </a:solidFill>
              </a:rPr>
              <a:t>Training-time conditioning</a:t>
            </a:r>
          </a:p>
          <a:p>
            <a:pPr algn="l"/>
            <a:r>
              <a:rPr lang="en-GB" sz="1100" dirty="0">
                <a:solidFill>
                  <a:srgbClr val="6E6E6E"/>
                </a:solidFill>
              </a:rPr>
              <a:t>TeLoGraF, Meng and Fan 2025</a:t>
            </a:r>
          </a:p>
        </p:txBody>
      </p:sp>
      <p:sp>
        <p:nvSpPr>
          <p:cNvPr id="30" name="Label"/>
          <p:cNvSpPr txBox="1"/>
          <p:nvPr/>
        </p:nvSpPr>
        <p:spPr>
          <a:xfrm>
            <a:off x="3931920" y="3374136"/>
            <a:ext cx="2788920" cy="457200"/>
          </a:xfrm>
          <a:prstGeom prst="rect">
            <a:avLst/>
          </a:prstGeom>
          <a:noFill/>
        </p:spPr>
        <p:txBody>
          <a:bodyPr wrap="square" lIns="45720" tIns="0" rIns="45720" bIns="0" anchor="ctr">
            <a:noAutofit/>
          </a:bodyPr>
          <a:lstStyle/>
          <a:p>
            <a:pPr algn="l"/>
            <a:r>
              <a:rPr lang="en-GB" sz="1300" dirty="0">
                <a:solidFill>
                  <a:srgbClr val="262626"/>
                </a:solidFill>
              </a:rPr>
              <a:t>training, from requirement–demonstration pairs</a:t>
            </a:r>
          </a:p>
        </p:txBody>
      </p:sp>
      <p:sp>
        <p:nvSpPr>
          <p:cNvPr id="31" name="Label"/>
          <p:cNvSpPr txBox="1"/>
          <p:nvPr/>
        </p:nvSpPr>
        <p:spPr>
          <a:xfrm>
            <a:off x="6812280" y="3374136"/>
            <a:ext cx="2286000" cy="457200"/>
          </a:xfrm>
          <a:prstGeom prst="rect">
            <a:avLst/>
          </a:prstGeom>
          <a:noFill/>
        </p:spPr>
        <p:txBody>
          <a:bodyPr wrap="square" lIns="45720" tIns="0" rIns="45720" bIns="0" anchor="ctr">
            <a:noAutofit/>
          </a:bodyPr>
          <a:lstStyle/>
          <a:p>
            <a:pPr algn="l"/>
            <a:r>
              <a:rPr lang="en-GB" sz="1300" dirty="0">
                <a:solidFill>
                  <a:srgbClr val="262626"/>
                </a:solidFill>
              </a:rPr>
              <a:t>conditioned flow-matching model</a:t>
            </a:r>
          </a:p>
        </p:txBody>
      </p:sp>
      <p:sp>
        <p:nvSpPr>
          <p:cNvPr id="32" name="Label"/>
          <p:cNvSpPr txBox="1"/>
          <p:nvPr/>
        </p:nvSpPr>
        <p:spPr>
          <a:xfrm>
            <a:off x="9189720" y="3374136"/>
            <a:ext cx="2404872" cy="457200"/>
          </a:xfrm>
          <a:prstGeom prst="rect">
            <a:avLst/>
          </a:prstGeom>
          <a:noFill/>
        </p:spPr>
        <p:txBody>
          <a:bodyPr wrap="square" lIns="45720" tIns="0" rIns="45720" bIns="0" anchor="ctr">
            <a:noAutofit/>
          </a:bodyPr>
          <a:lstStyle/>
          <a:p>
            <a:pPr algn="l"/>
            <a:r>
              <a:rPr lang="en-GB" sz="1300" dirty="0">
                <a:solidFill>
                  <a:srgbClr val="262626"/>
                </a:solidFill>
              </a:rPr>
              <a:t>degrades outside the conditioning distribution</a:t>
            </a:r>
          </a:p>
        </p:txBody>
      </p:sp>
      <p:cxnSp>
        <p:nvCxnSpPr>
          <p:cNvPr id="33" name="Rule"/>
          <p:cNvCxnSpPr/>
          <p:nvPr/>
        </p:nvCxnSpPr>
        <p:spPr>
          <a:xfrm>
            <a:off x="603504" y="3858768"/>
            <a:ext cx="10991088" cy="0"/>
          </a:xfrm>
          <a:prstGeom prst="straightConnector1">
            <a:avLst/>
          </a:prstGeom>
          <a:ln w="9525">
            <a:solidFill>
              <a:srgbClr val="D2D2D2"/>
            </a:solidFill>
          </a:ln>
        </p:spPr>
      </p:cxnSp>
      <p:sp>
        <p:nvSpPr>
          <p:cNvPr id="34" name="Label"/>
          <p:cNvSpPr txBox="1"/>
          <p:nvPr/>
        </p:nvSpPr>
        <p:spPr>
          <a:xfrm>
            <a:off x="603504" y="3904488"/>
            <a:ext cx="3246120" cy="457200"/>
          </a:xfrm>
          <a:prstGeom prst="rect">
            <a:avLst/>
          </a:prstGeom>
          <a:noFill/>
        </p:spPr>
        <p:txBody>
          <a:bodyPr wrap="square" lIns="45720" tIns="0" rIns="45720" bIns="0" anchor="ctr">
            <a:noAutofit/>
          </a:bodyPr>
          <a:lstStyle/>
          <a:p>
            <a:pPr algn="l"/>
            <a:r>
              <a:rPr lang="en-GB" sz="1400" b="1" dirty="0">
                <a:solidFill>
                  <a:srgbClr val="262626"/>
                </a:solidFill>
              </a:rPr>
              <a:t>Decompose-and-stitch</a:t>
            </a:r>
          </a:p>
          <a:p>
            <a:pPr algn="l"/>
            <a:r>
              <a:rPr lang="en-GB" sz="1100" dirty="0">
                <a:solidFill>
                  <a:srgbClr val="6E6E6E"/>
                </a:solidFill>
              </a:rPr>
              <a:t>ZSTP, Liu et al. 2025</a:t>
            </a:r>
          </a:p>
        </p:txBody>
      </p:sp>
      <p:sp>
        <p:nvSpPr>
          <p:cNvPr id="35" name="Label"/>
          <p:cNvSpPr txBox="1"/>
          <p:nvPr/>
        </p:nvSpPr>
        <p:spPr>
          <a:xfrm>
            <a:off x="3931920" y="3904488"/>
            <a:ext cx="2788920" cy="457200"/>
          </a:xfrm>
          <a:prstGeom prst="rect">
            <a:avLst/>
          </a:prstGeom>
          <a:noFill/>
        </p:spPr>
        <p:txBody>
          <a:bodyPr wrap="square" lIns="45720" tIns="0" rIns="45720" bIns="0" anchor="ctr">
            <a:noAutofit/>
          </a:bodyPr>
          <a:lstStyle/>
          <a:p>
            <a:pPr algn="l"/>
            <a:r>
              <a:rPr lang="en-GB" sz="1300" dirty="0">
                <a:solidFill>
                  <a:srgbClr val="262626"/>
                </a:solidFill>
              </a:rPr>
              <a:t>timed waypoints, before generation</a:t>
            </a:r>
          </a:p>
        </p:txBody>
      </p:sp>
      <p:sp>
        <p:nvSpPr>
          <p:cNvPr id="36" name="Label"/>
          <p:cNvSpPr txBox="1"/>
          <p:nvPr/>
        </p:nvSpPr>
        <p:spPr>
          <a:xfrm>
            <a:off x="6812280" y="3904488"/>
            <a:ext cx="2286000" cy="457200"/>
          </a:xfrm>
          <a:prstGeom prst="rect">
            <a:avLst/>
          </a:prstGeom>
          <a:noFill/>
        </p:spPr>
        <p:txBody>
          <a:bodyPr wrap="square" lIns="45720" tIns="0" rIns="45720" bIns="0" anchor="ctr">
            <a:noAutofit/>
          </a:bodyPr>
          <a:lstStyle/>
          <a:p>
            <a:pPr algn="l"/>
            <a:r>
              <a:rPr lang="en-GB" sz="1300" dirty="0">
                <a:solidFill>
                  <a:srgbClr val="262626"/>
                </a:solidFill>
              </a:rPr>
              <a:t>pretrained diffusion model, between waypoints</a:t>
            </a:r>
          </a:p>
        </p:txBody>
      </p:sp>
      <p:sp>
        <p:nvSpPr>
          <p:cNvPr id="37" name="Label"/>
          <p:cNvSpPr txBox="1"/>
          <p:nvPr/>
        </p:nvSpPr>
        <p:spPr>
          <a:xfrm>
            <a:off x="9189720" y="3904488"/>
            <a:ext cx="2404872" cy="457200"/>
          </a:xfrm>
          <a:prstGeom prst="rect">
            <a:avLst/>
          </a:prstGeom>
          <a:noFill/>
        </p:spPr>
        <p:txBody>
          <a:bodyPr wrap="square" lIns="45720" tIns="0" rIns="45720" bIns="0" anchor="ctr">
            <a:noAutofit/>
          </a:bodyPr>
          <a:lstStyle/>
          <a:p>
            <a:pPr algn="l"/>
            <a:r>
              <a:rPr lang="en-GB" sz="1300" dirty="0">
                <a:solidFill>
                  <a:srgbClr val="262626"/>
                </a:solidFill>
              </a:rPr>
              <a:t>timing of each operator fixed in advance</a:t>
            </a:r>
          </a:p>
        </p:txBody>
      </p:sp>
      <p:cxnSp>
        <p:nvCxnSpPr>
          <p:cNvPr id="38" name="Rule"/>
          <p:cNvCxnSpPr/>
          <p:nvPr/>
        </p:nvCxnSpPr>
        <p:spPr>
          <a:xfrm>
            <a:off x="603504" y="4389120"/>
            <a:ext cx="10991088" cy="0"/>
          </a:xfrm>
          <a:prstGeom prst="straightConnector1">
            <a:avLst/>
          </a:prstGeom>
          <a:ln w="9525">
            <a:solidFill>
              <a:srgbClr val="D2D2D2"/>
            </a:solidFill>
          </a:ln>
        </p:spPr>
      </p:cxnSp>
      <p:sp>
        <p:nvSpPr>
          <p:cNvPr id="39" name="Label"/>
          <p:cNvSpPr txBox="1"/>
          <p:nvPr/>
        </p:nvSpPr>
        <p:spPr>
          <a:xfrm>
            <a:off x="603504" y="4434840"/>
            <a:ext cx="3246120" cy="457200"/>
          </a:xfrm>
          <a:prstGeom prst="rect">
            <a:avLst/>
          </a:prstGeom>
          <a:noFill/>
        </p:spPr>
        <p:txBody>
          <a:bodyPr wrap="square" lIns="45720" tIns="0" rIns="45720" bIns="0" anchor="ctr">
            <a:noAutofit/>
          </a:bodyPr>
          <a:lstStyle/>
          <a:p>
            <a:pPr algn="l"/>
            <a:r>
              <a:rPr lang="en-GB" sz="1400" b="1" dirty="0">
                <a:solidFill>
                  <a:srgbClr val="262626"/>
                </a:solidFill>
              </a:rPr>
              <a:t>Safe-set enforcement</a:t>
            </a:r>
          </a:p>
          <a:p>
            <a:pPr algn="l"/>
            <a:r>
              <a:rPr lang="en-GB" sz="1100" dirty="0">
                <a:solidFill>
                  <a:srgbClr val="6E6E6E"/>
                </a:solidFill>
              </a:rPr>
              <a:t>SafeDiffuser, Xiao et al. 2023</a:t>
            </a:r>
          </a:p>
        </p:txBody>
      </p:sp>
      <p:sp>
        <p:nvSpPr>
          <p:cNvPr id="40" name="Label"/>
          <p:cNvSpPr txBox="1"/>
          <p:nvPr/>
        </p:nvSpPr>
        <p:spPr>
          <a:xfrm>
            <a:off x="3931920" y="4434840"/>
            <a:ext cx="2788920" cy="457200"/>
          </a:xfrm>
          <a:prstGeom prst="rect">
            <a:avLst/>
          </a:prstGeom>
          <a:noFill/>
        </p:spPr>
        <p:txBody>
          <a:bodyPr wrap="square" lIns="45720" tIns="0" rIns="45720" bIns="0" anchor="ctr">
            <a:noAutofit/>
          </a:bodyPr>
          <a:lstStyle/>
          <a:p>
            <a:pPr algn="l"/>
            <a:r>
              <a:rPr lang="en-GB" sz="1300" dirty="0">
                <a:solidFill>
                  <a:srgbClr val="262626"/>
                </a:solidFill>
              </a:rPr>
              <a:t>barrier invariance in each denoising step</a:t>
            </a:r>
          </a:p>
        </p:txBody>
      </p:sp>
      <p:sp>
        <p:nvSpPr>
          <p:cNvPr id="41" name="Label"/>
          <p:cNvSpPr txBox="1"/>
          <p:nvPr/>
        </p:nvSpPr>
        <p:spPr>
          <a:xfrm>
            <a:off x="6812280" y="4434840"/>
            <a:ext cx="2286000" cy="457200"/>
          </a:xfrm>
          <a:prstGeom prst="rect">
            <a:avLst/>
          </a:prstGeom>
          <a:noFill/>
        </p:spPr>
        <p:txBody>
          <a:bodyPr wrap="square" lIns="45720" tIns="0" rIns="45720" bIns="0" anchor="ctr">
            <a:noAutofit/>
          </a:bodyPr>
          <a:lstStyle/>
          <a:p>
            <a:pPr algn="l"/>
            <a:r>
              <a:rPr lang="en-GB" sz="1300" dirty="0">
                <a:solidFill>
                  <a:srgbClr val="262626"/>
                </a:solidFill>
              </a:rPr>
              <a:t>diffusion model</a:t>
            </a:r>
          </a:p>
        </p:txBody>
      </p:sp>
      <p:sp>
        <p:nvSpPr>
          <p:cNvPr id="42" name="Label"/>
          <p:cNvSpPr txBox="1"/>
          <p:nvPr/>
        </p:nvSpPr>
        <p:spPr>
          <a:xfrm>
            <a:off x="9189720" y="4434840"/>
            <a:ext cx="2404872" cy="457200"/>
          </a:xfrm>
          <a:prstGeom prst="rect">
            <a:avLst/>
          </a:prstGeom>
          <a:noFill/>
        </p:spPr>
        <p:txBody>
          <a:bodyPr wrap="square" lIns="45720" tIns="0" rIns="45720" bIns="0" anchor="ctr">
            <a:noAutofit/>
          </a:bodyPr>
          <a:lstStyle/>
          <a:p>
            <a:pPr algn="l"/>
            <a:r>
              <a:rPr lang="en-GB" sz="1300" dirty="0">
                <a:solidFill>
                  <a:srgbClr val="262626"/>
                </a:solidFill>
              </a:rPr>
              <a:t>time-invariant safe set, no temporal operators</a:t>
            </a:r>
          </a:p>
        </p:txBody>
      </p:sp>
      <p:cxnSp>
        <p:nvCxnSpPr>
          <p:cNvPr id="43" name="Rule"/>
          <p:cNvCxnSpPr/>
          <p:nvPr/>
        </p:nvCxnSpPr>
        <p:spPr>
          <a:xfrm>
            <a:off x="603504" y="4919472"/>
            <a:ext cx="10991088" cy="0"/>
          </a:xfrm>
          <a:prstGeom prst="straightConnector1">
            <a:avLst/>
          </a:prstGeom>
          <a:ln w="9525">
            <a:solidFill>
              <a:srgbClr val="D2D2D2"/>
            </a:solidFill>
          </a:ln>
        </p:spPr>
      </p:cxnSp>
      <p:sp>
        <p:nvSpPr>
          <p:cNvPr id="44" name="Label"/>
          <p:cNvSpPr txBox="1"/>
          <p:nvPr/>
        </p:nvSpPr>
        <p:spPr>
          <a:xfrm>
            <a:off x="603504" y="4965192"/>
            <a:ext cx="3246120" cy="457200"/>
          </a:xfrm>
          <a:prstGeom prst="rect">
            <a:avLst/>
          </a:prstGeom>
          <a:noFill/>
        </p:spPr>
        <p:txBody>
          <a:bodyPr wrap="square" lIns="45720" tIns="0" rIns="45720" bIns="0" anchor="ctr">
            <a:noAutofit/>
          </a:bodyPr>
          <a:lstStyle/>
          <a:p>
            <a:pPr algn="l"/>
            <a:r>
              <a:rPr lang="en-GB" sz="1400" b="1" dirty="0">
                <a:solidFill>
                  <a:srgbClr val="262626"/>
                </a:solidFill>
              </a:rPr>
              <a:t>Inference-time robustness guidance</a:t>
            </a:r>
          </a:p>
          <a:p>
            <a:pPr algn="l"/>
            <a:r>
              <a:rPr lang="en-GB" sz="1100" dirty="0">
                <a:solidFill>
                  <a:srgbClr val="6E6E6E"/>
                </a:solidFill>
              </a:rPr>
              <a:t>CTG, Zhong et al. 2022</a:t>
            </a:r>
          </a:p>
        </p:txBody>
      </p:sp>
      <p:sp>
        <p:nvSpPr>
          <p:cNvPr id="45" name="Label"/>
          <p:cNvSpPr txBox="1"/>
          <p:nvPr/>
        </p:nvSpPr>
        <p:spPr>
          <a:xfrm>
            <a:off x="3931920" y="4965192"/>
            <a:ext cx="2788920" cy="457200"/>
          </a:xfrm>
          <a:prstGeom prst="rect">
            <a:avLst/>
          </a:prstGeom>
          <a:noFill/>
        </p:spPr>
        <p:txBody>
          <a:bodyPr wrap="square" lIns="45720" tIns="0" rIns="45720" bIns="0" anchor="ctr">
            <a:noAutofit/>
          </a:bodyPr>
          <a:lstStyle/>
          <a:p>
            <a:pPr algn="l"/>
            <a:r>
              <a:rPr lang="en-GB" sz="1300" dirty="0">
                <a:solidFill>
                  <a:srgbClr val="262626"/>
                </a:solidFill>
              </a:rPr>
              <a:t>robustness gradient, during sampling</a:t>
            </a:r>
          </a:p>
        </p:txBody>
      </p:sp>
      <p:sp>
        <p:nvSpPr>
          <p:cNvPr id="46" name="Label"/>
          <p:cNvSpPr txBox="1"/>
          <p:nvPr/>
        </p:nvSpPr>
        <p:spPr>
          <a:xfrm>
            <a:off x="6812280" y="4965192"/>
            <a:ext cx="2286000" cy="457200"/>
          </a:xfrm>
          <a:prstGeom prst="rect">
            <a:avLst/>
          </a:prstGeom>
          <a:noFill/>
        </p:spPr>
        <p:txBody>
          <a:bodyPr wrap="square" lIns="45720" tIns="0" rIns="45720" bIns="0" anchor="ctr">
            <a:noAutofit/>
          </a:bodyPr>
          <a:lstStyle/>
          <a:p>
            <a:pPr algn="l"/>
            <a:r>
              <a:rPr lang="en-GB" sz="1300" dirty="0">
                <a:solidFill>
                  <a:srgbClr val="262626"/>
                </a:solidFill>
              </a:rPr>
              <a:t>diffusion model</a:t>
            </a:r>
          </a:p>
        </p:txBody>
      </p:sp>
      <p:sp>
        <p:nvSpPr>
          <p:cNvPr id="47" name="Label"/>
          <p:cNvSpPr txBox="1"/>
          <p:nvPr/>
        </p:nvSpPr>
        <p:spPr>
          <a:xfrm>
            <a:off x="9189720" y="4965192"/>
            <a:ext cx="2404872" cy="457200"/>
          </a:xfrm>
          <a:prstGeom prst="rect">
            <a:avLst/>
          </a:prstGeom>
          <a:noFill/>
        </p:spPr>
        <p:txBody>
          <a:bodyPr wrap="square" lIns="45720" tIns="0" rIns="45720" bIns="0" anchor="ctr">
            <a:noAutofit/>
          </a:bodyPr>
          <a:lstStyle/>
          <a:p>
            <a:pPr algn="l"/>
            <a:r>
              <a:rPr lang="en-GB" sz="1300" dirty="0">
                <a:solidFill>
                  <a:srgbClr val="262626"/>
                </a:solidFill>
              </a:rPr>
              <a:t>strength coupled to the noise level, no certificate</a:t>
            </a:r>
          </a:p>
        </p:txBody>
      </p:sp>
      <p:cxnSp>
        <p:nvCxnSpPr>
          <p:cNvPr id="48" name="Rule"/>
          <p:cNvCxnSpPr/>
          <p:nvPr/>
        </p:nvCxnSpPr>
        <p:spPr>
          <a:xfrm>
            <a:off x="603504" y="5449824"/>
            <a:ext cx="10991088" cy="0"/>
          </a:xfrm>
          <a:prstGeom prst="straightConnector1">
            <a:avLst/>
          </a:prstGeom>
          <a:ln w="9525">
            <a:solidFill>
              <a:srgbClr val="D2D2D2"/>
            </a:solidFill>
          </a:ln>
        </p:spPr>
      </p:cxnSp>
      <p:sp>
        <p:nvSpPr>
          <p:cNvPr id="49" name="Label"/>
          <p:cNvSpPr txBox="1"/>
          <p:nvPr/>
        </p:nvSpPr>
        <p:spPr>
          <a:xfrm>
            <a:off x="603504" y="5495544"/>
            <a:ext cx="3246120" cy="457200"/>
          </a:xfrm>
          <a:prstGeom prst="rect">
            <a:avLst/>
          </a:prstGeom>
          <a:noFill/>
        </p:spPr>
        <p:txBody>
          <a:bodyPr wrap="square" lIns="45720" tIns="0" rIns="45720" bIns="0" anchor="ctr">
            <a:noAutofit/>
          </a:bodyPr>
          <a:lstStyle/>
          <a:p>
            <a:pPr algn="l"/>
            <a:r>
              <a:rPr lang="en-GB" sz="1400" b="1" dirty="0">
                <a:solidFill>
                  <a:srgbClr val="1954A6"/>
                </a:solidFill>
              </a:rPr>
              <a:t>STL-FM</a:t>
            </a:r>
          </a:p>
          <a:p>
            <a:pPr algn="l"/>
            <a:r>
              <a:rPr lang="en-GB" sz="1100" dirty="0">
                <a:solidFill>
                  <a:srgbClr val="6E6E6E"/>
                </a:solidFill>
              </a:rPr>
              <a:t>this thesis</a:t>
            </a:r>
          </a:p>
        </p:txBody>
      </p:sp>
      <p:sp>
        <p:nvSpPr>
          <p:cNvPr id="50" name="Label"/>
          <p:cNvSpPr txBox="1"/>
          <p:nvPr/>
        </p:nvSpPr>
        <p:spPr>
          <a:xfrm>
            <a:off x="3931920" y="5495544"/>
            <a:ext cx="2788920" cy="457200"/>
          </a:xfrm>
          <a:prstGeom prst="rect">
            <a:avLst/>
          </a:prstGeom>
          <a:noFill/>
        </p:spPr>
        <p:txBody>
          <a:bodyPr wrap="square" lIns="45720" tIns="0" rIns="45720" bIns="0" anchor="ctr">
            <a:noAutofit/>
          </a:bodyPr>
          <a:lstStyle/>
          <a:p>
            <a:pPr algn="l"/>
            <a:r>
              <a:rPr lang="en-GB" sz="1300" dirty="0">
                <a:solidFill>
                  <a:srgbClr val="1954A6"/>
                </a:solidFill>
              </a:rPr>
              <a:t>robustness gradient at the predicted endpoint, during sampling</a:t>
            </a:r>
          </a:p>
        </p:txBody>
      </p:sp>
      <p:sp>
        <p:nvSpPr>
          <p:cNvPr id="51" name="Label"/>
          <p:cNvSpPr txBox="1"/>
          <p:nvPr/>
        </p:nvSpPr>
        <p:spPr>
          <a:xfrm>
            <a:off x="6812280" y="5495544"/>
            <a:ext cx="2286000" cy="457200"/>
          </a:xfrm>
          <a:prstGeom prst="rect">
            <a:avLst/>
          </a:prstGeom>
          <a:noFill/>
        </p:spPr>
        <p:txBody>
          <a:bodyPr wrap="square" lIns="45720" tIns="0" rIns="45720" bIns="0" anchor="ctr">
            <a:noAutofit/>
          </a:bodyPr>
          <a:lstStyle/>
          <a:p>
            <a:pPr algn="l"/>
            <a:r>
              <a:rPr lang="en-GB" sz="1300" dirty="0">
                <a:solidFill>
                  <a:srgbClr val="1954A6"/>
                </a:solidFill>
              </a:rPr>
              <a:t>learned prior, trained by flow matching</a:t>
            </a:r>
          </a:p>
        </p:txBody>
      </p:sp>
      <p:sp>
        <p:nvSpPr>
          <p:cNvPr id="52" name="Label"/>
          <p:cNvSpPr txBox="1"/>
          <p:nvPr/>
        </p:nvSpPr>
        <p:spPr>
          <a:xfrm>
            <a:off x="9189720" y="5495544"/>
            <a:ext cx="2404872" cy="457200"/>
          </a:xfrm>
          <a:prstGeom prst="rect">
            <a:avLst/>
          </a:prstGeom>
          <a:noFill/>
        </p:spPr>
        <p:txBody>
          <a:bodyPr wrap="square" lIns="45720" tIns="0" rIns="45720" bIns="0" anchor="ctr">
            <a:noAutofit/>
          </a:bodyPr>
          <a:lstStyle/>
          <a:p>
            <a:pPr algn="l"/>
            <a:r>
              <a:rPr lang="en-GB" sz="1300" dirty="0">
                <a:solidFill>
                  <a:srgbClr val="1954A6"/>
                </a:solidFill>
              </a:rPr>
              <a:t>one constant strength, no retraining, no certificate</a:t>
            </a:r>
          </a:p>
        </p:txBody>
      </p:sp>
      <p:cxnSp>
        <p:nvCxnSpPr>
          <p:cNvPr id="53" name="Rule"/>
          <p:cNvCxnSpPr/>
          <p:nvPr/>
        </p:nvCxnSpPr>
        <p:spPr>
          <a:xfrm>
            <a:off x="603504" y="5980176"/>
            <a:ext cx="10991088" cy="0"/>
          </a:xfrm>
          <a:prstGeom prst="straightConnector1">
            <a:avLst/>
          </a:prstGeom>
          <a:ln w="9525">
            <a:solidFill>
              <a:srgbClr val="D2D2D2"/>
            </a:solidFill>
          </a:ln>
        </p:spPr>
      </p:cxnSp>
      <p:sp>
        <p:nvSpPr>
          <p:cNvPr id="54" name="Label"/>
          <p:cNvSpPr txBox="1"/>
          <p:nvPr/>
        </p:nvSpPr>
        <p:spPr>
          <a:xfrm>
            <a:off x="603504" y="6053328"/>
            <a:ext cx="10991088" cy="237744"/>
          </a:xfrm>
          <a:prstGeom prst="rect">
            <a:avLst/>
          </a:prstGeom>
          <a:noFill/>
        </p:spPr>
        <p:txBody>
          <a:bodyPr wrap="square" lIns="45720" tIns="0" rIns="45720" bIns="0" anchor="t">
            <a:noAutofit/>
          </a:bodyPr>
          <a:lstStyle/>
          <a:p>
            <a:pPr algn="l"/>
            <a:r>
              <a:rPr lang="en-GB" sz="1100" dirty="0">
                <a:solidFill>
                  <a:srgbClr val="6E6E6E"/>
                </a:solidFill>
              </a:rPr>
              <a:t>Entries summarize the cited works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Guiding the prior</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a:t>
            </a:r>
            <a:r>
              <a:rPr lang="en-GB" sz="1300" dirty="0">
                <a:solidFill>
                  <a:srgbClr val="A5A5A5"/>
                </a:solidFill>
              </a:rPr>
              <a:t>    →    </a:t>
            </a:r>
            <a:r>
              <a:rPr lang="en-GB" sz="1300" dirty="0">
                <a:solidFill>
                  <a:srgbClr val="A5A5A5"/>
                </a:solidFill>
              </a:rPr>
              <a:t>Background</a:t>
            </a:r>
            <a:r>
              <a:rPr lang="en-GB" sz="1300" dirty="0">
                <a:solidFill>
                  <a:srgbClr val="A5A5A5"/>
                </a:solidFill>
              </a:rPr>
              <a:t>    →    </a:t>
            </a:r>
            <a:r>
              <a:rPr lang="en-GB" sz="1300" b="1" dirty="0">
                <a:solidFill>
                  <a:srgbClr val="004791"/>
                </a:solidFill>
              </a:rPr>
              <a:t>Method</a:t>
            </a:r>
            <a:r>
              <a:rPr lang="en-GB" sz="1300" dirty="0">
                <a:solidFill>
                  <a:srgbClr val="A5A5A5"/>
                </a:solidFill>
              </a:rPr>
              <a:t>    →    </a:t>
            </a:r>
            <a:r>
              <a:rPr lang="en-GB" sz="1300" dirty="0">
                <a:solidFill>
                  <a:srgbClr val="A5A5A5"/>
                </a:solidFill>
              </a:rPr>
              <a:t>Results</a:t>
            </a:r>
            <a:r>
              <a:rPr lang="en-GB" sz="1300" dirty="0">
                <a:solidFill>
                  <a:srgbClr val="A5A5A5"/>
                </a:solidFill>
              </a:rPr>
              <a:t>    →    </a:t>
            </a:r>
            <a:r>
              <a:rPr lang="en-GB" sz="1300" dirty="0">
                <a:solidFill>
                  <a:srgbClr val="A5A5A5"/>
                </a:solidFill>
              </a:rPr>
              <a:t>Conclusions</a:t>
            </a:r>
          </a:p>
        </p:txBody>
      </p:sp>
      <p:sp>
        <p:nvSpPr>
          <p:cNvPr id="13" name="Slide Number"/>
          <p:cNvSpPr>
            <a:spLocks noGrp="1"/>
          </p:cNvSpPr>
          <p:nvPr>
            <p:ph type="sldNum" sz="quarter" idx="12"/>
          </p:nvPr>
        </p:nvSpPr>
        <p:spPr/>
        <p:txBody>
          <a:bodyPr/>
          <a:lstStyle/>
          <a:p>
            <a:fld id="{619F89D8-7AE3-494A-97F3-03D680869632}" type="slidenum">
              <a:rPr lang="en-GB"/>
              <a:t>1</a:t>
            </a:fld>
            <a:endParaRPr lang="en-GB"/>
          </a:p>
        </p:txBody>
      </p:sp>
      <p:sp>
        <p:nvSpPr>
          <p:cNvPr id="14" name="Band"/>
          <p:cNvSpPr/>
          <p:nvPr/>
        </p:nvSpPr>
        <p:spPr>
          <a:xfrm>
            <a:off x="603504" y="1920240"/>
            <a:ext cx="8077788" cy="1051560"/>
          </a:xfrm>
          <a:prstGeom prst="roundRect">
            <a:avLst>
              <a:gd name="adj" fmla="val 3000"/>
            </a:avLst>
          </a:prstGeom>
          <a:noFill/>
          <a:ln w="9525">
            <a:solidFill>
              <a:srgbClr val="A1A3A6"/>
            </a:solidFill>
            <a:prstDash val="dash"/>
          </a:ln>
        </p:spPr>
        <p:txBody>
          <a:bodyPr wrap="square" lIns="64008" tIns="27432" rIns="64008" bIns="27432" anchor="ctr">
            <a:noAutofit/>
          </a:bodyPr>
          <a:lstStyle/>
          <a:p>
            <a:pPr algn="ctr"/>
            <a:r>
              <a:rPr lang="en-GB" sz="1600" dirty="0">
                <a:solidFill>
                  <a:srgbClr val="262626"/>
                </a:solidFill>
              </a:rPr>
              <a:t/>
            </a:r>
          </a:p>
        </p:txBody>
      </p:sp>
      <p:sp>
        <p:nvSpPr>
          <p:cNvPr id="15" name="Band label"/>
          <p:cNvSpPr txBox="1"/>
          <p:nvPr/>
        </p:nvSpPr>
        <p:spPr>
          <a:xfrm>
            <a:off x="832104" y="1792224"/>
            <a:ext cx="1344168" cy="256032"/>
          </a:xfrm>
          <a:prstGeom prst="rect">
            <a:avLst/>
          </a:prstGeom>
          <a:solidFill>
            <a:srgbClr val="FFFFFF"/>
          </a:solidFill>
        </p:spPr>
        <p:txBody>
          <a:bodyPr wrap="square" lIns="45720" tIns="0" rIns="45720" bIns="0" anchor="t">
            <a:noAutofit/>
          </a:bodyPr>
          <a:lstStyle/>
          <a:p>
            <a:pPr algn="l"/>
            <a:r>
              <a:rPr lang="en-GB" sz="1200" dirty="0">
                <a:solidFill>
                  <a:srgbClr val="6E6E6E"/>
                </a:solidFill>
              </a:rPr>
              <a:t>Offline, once</a:t>
            </a:r>
          </a:p>
        </p:txBody>
      </p:sp>
      <p:sp>
        <p:nvSpPr>
          <p:cNvPr id="16" name="Band"/>
          <p:cNvSpPr/>
          <p:nvPr/>
        </p:nvSpPr>
        <p:spPr>
          <a:xfrm>
            <a:off x="603504" y="3246120"/>
            <a:ext cx="8077788" cy="1051560"/>
          </a:xfrm>
          <a:prstGeom prst="roundRect">
            <a:avLst>
              <a:gd name="adj" fmla="val 3000"/>
            </a:avLst>
          </a:prstGeom>
          <a:noFill/>
          <a:ln w="9525">
            <a:solidFill>
              <a:srgbClr val="A1A3A6"/>
            </a:solidFill>
            <a:prstDash val="dash"/>
          </a:ln>
        </p:spPr>
        <p:txBody>
          <a:bodyPr wrap="square" lIns="64008" tIns="27432" rIns="64008" bIns="27432" anchor="ctr">
            <a:noAutofit/>
          </a:bodyPr>
          <a:lstStyle/>
          <a:p>
            <a:pPr algn="ctr"/>
            <a:r>
              <a:rPr lang="en-GB" sz="1600" dirty="0">
                <a:solidFill>
                  <a:srgbClr val="262626"/>
                </a:solidFill>
              </a:rPr>
              <a:t/>
            </a:r>
          </a:p>
        </p:txBody>
      </p:sp>
      <p:sp>
        <p:nvSpPr>
          <p:cNvPr id="17" name="Band label"/>
          <p:cNvSpPr txBox="1"/>
          <p:nvPr/>
        </p:nvSpPr>
        <p:spPr>
          <a:xfrm>
            <a:off x="832104" y="3118104"/>
            <a:ext cx="2660904" cy="256032"/>
          </a:xfrm>
          <a:prstGeom prst="rect">
            <a:avLst/>
          </a:prstGeom>
          <a:solidFill>
            <a:srgbClr val="FFFFFF"/>
          </a:solidFill>
        </p:spPr>
        <p:txBody>
          <a:bodyPr wrap="square" lIns="45720" tIns="0" rIns="45720" bIns="0" anchor="t">
            <a:noAutofit/>
          </a:bodyPr>
          <a:lstStyle/>
          <a:p>
            <a:pPr algn="l"/>
            <a:r>
              <a:rPr lang="en-GB" sz="1200" dirty="0">
                <a:solidFill>
                  <a:srgbClr val="6E6E6E"/>
                </a:solidFill>
              </a:rPr>
              <a:t>Per requirement, at inference</a:t>
            </a:r>
          </a:p>
        </p:txBody>
      </p:sp>
      <p:sp>
        <p:nvSpPr>
          <p:cNvPr id="18" name="Band"/>
          <p:cNvSpPr/>
          <p:nvPr/>
        </p:nvSpPr>
        <p:spPr>
          <a:xfrm>
            <a:off x="8901996" y="1920240"/>
            <a:ext cx="2692596" cy="4343400"/>
          </a:xfrm>
          <a:prstGeom prst="roundRect">
            <a:avLst>
              <a:gd name="adj" fmla="val 3000"/>
            </a:avLst>
          </a:prstGeom>
          <a:noFill/>
          <a:ln w="9525">
            <a:solidFill>
              <a:srgbClr val="A1A3A6"/>
            </a:solidFill>
            <a:prstDash val="dash"/>
          </a:ln>
        </p:spPr>
        <p:txBody>
          <a:bodyPr wrap="square" lIns="64008" tIns="27432" rIns="64008" bIns="27432" anchor="ctr">
            <a:noAutofit/>
          </a:bodyPr>
          <a:lstStyle/>
          <a:p>
            <a:pPr algn="ctr"/>
            <a:r>
              <a:rPr lang="en-GB" sz="1600" dirty="0">
                <a:solidFill>
                  <a:srgbClr val="262626"/>
                </a:solidFill>
              </a:rPr>
              <a:t/>
            </a:r>
          </a:p>
        </p:txBody>
      </p:sp>
      <p:sp>
        <p:nvSpPr>
          <p:cNvPr id="19" name="Band label"/>
          <p:cNvSpPr txBox="1"/>
          <p:nvPr/>
        </p:nvSpPr>
        <p:spPr>
          <a:xfrm>
            <a:off x="9130596" y="1792224"/>
            <a:ext cx="1261872" cy="256032"/>
          </a:xfrm>
          <a:prstGeom prst="rect">
            <a:avLst/>
          </a:prstGeom>
          <a:solidFill>
            <a:srgbClr val="FFFFFF"/>
          </a:solidFill>
        </p:spPr>
        <p:txBody>
          <a:bodyPr wrap="square" lIns="45720" tIns="0" rIns="45720" bIns="0" anchor="t">
            <a:noAutofit/>
          </a:bodyPr>
          <a:lstStyle/>
          <a:p>
            <a:pPr algn="l"/>
            <a:r>
              <a:rPr lang="en-GB" sz="1200" dirty="0">
                <a:solidFill>
                  <a:srgbClr val="6E6E6E"/>
                </a:solidFill>
              </a:rPr>
              <a:t>Per instance</a:t>
            </a:r>
          </a:p>
        </p:txBody>
      </p:sp>
      <p:sp>
        <p:nvSpPr>
          <p:cNvPr id="20" name="demo"/>
          <p:cNvSpPr/>
          <p:nvPr/>
        </p:nvSpPr>
        <p:spPr>
          <a:xfrm>
            <a:off x="824209" y="2130552"/>
            <a:ext cx="2207046" cy="640080"/>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Demonstrations</a:t>
            </a:r>
          </a:p>
        </p:txBody>
      </p:sp>
      <p:sp>
        <p:nvSpPr>
          <p:cNvPr id="21" name="train"/>
          <p:cNvSpPr/>
          <p:nvPr/>
        </p:nvSpPr>
        <p:spPr>
          <a:xfrm>
            <a:off x="3516804" y="2130552"/>
            <a:ext cx="2207046" cy="640080"/>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Flow-matching training</a:t>
            </a:r>
          </a:p>
        </p:txBody>
      </p:sp>
      <p:sp>
        <p:nvSpPr>
          <p:cNvPr id="22" name="prior"/>
          <p:cNvSpPr/>
          <p:nvPr/>
        </p:nvSpPr>
        <p:spPr>
          <a:xfrm>
            <a:off x="6209400" y="2130552"/>
            <a:ext cx="2207046" cy="640080"/>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Learned prior</a:t>
            </a:r>
          </a:p>
        </p:txBody>
      </p:sp>
      <p:sp>
        <p:nvSpPr>
          <p:cNvPr id="23" name="phi"/>
          <p:cNvSpPr/>
          <p:nvPr/>
        </p:nvSpPr>
        <p:spPr>
          <a:xfrm>
            <a:off x="824209" y="3456432"/>
            <a:ext cx="2207046" cy="640080"/>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STL requirement </a:t>
            </a:r>
            <a:r>
              <a:rPr lang="en-GB" sz="1600" i="1" dirty="0">
                <a:solidFill>
                  <a:srgbClr val="A9A9A9"/>
                </a:solidFill>
              </a:rPr>
              <a:t>φ</a:t>
            </a:r>
          </a:p>
        </p:txBody>
      </p:sp>
      <p:sp>
        <p:nvSpPr>
          <p:cNvPr id="24" name="comp"/>
          <p:cNvSpPr/>
          <p:nvPr/>
        </p:nvSpPr>
        <p:spPr>
          <a:xfrm>
            <a:off x="3516804" y="3456432"/>
            <a:ext cx="2207046" cy="640080"/>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Compiler</a:t>
            </a:r>
          </a:p>
        </p:txBody>
      </p:sp>
      <p:sp>
        <p:nvSpPr>
          <p:cNvPr id="25" name="score"/>
          <p:cNvSpPr/>
          <p:nvPr/>
        </p:nvSpPr>
        <p:spPr>
          <a:xfrm>
            <a:off x="6209400" y="3456432"/>
            <a:ext cx="2207046" cy="640080"/>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Robustness score </a:t>
            </a:r>
            <a:r>
              <a:rPr lang="en-GB" sz="1600" i="1" dirty="0">
                <a:solidFill>
                  <a:srgbClr val="A9A9A9"/>
                </a:solidFill>
              </a:rPr>
              <a:t>ρ</a:t>
            </a:r>
          </a:p>
        </p:txBody>
      </p:sp>
      <p:sp>
        <p:nvSpPr>
          <p:cNvPr id="26" name="samp"/>
          <p:cNvSpPr/>
          <p:nvPr/>
        </p:nvSpPr>
        <p:spPr>
          <a:xfrm>
            <a:off x="9122701" y="2130552"/>
            <a:ext cx="2251187" cy="1965960"/>
          </a:xfrm>
          <a:prstGeom prst="roundRect">
            <a:avLst>
              <a:gd name="adj" fmla="val 8000"/>
            </a:avLst>
          </a:prstGeom>
          <a:solidFill>
            <a:srgbClr val="CFEAF6"/>
          </a:solidFill>
          <a:ln w="19050">
            <a:solidFill>
              <a:srgbClr val="24A0D8"/>
            </a:solidFill>
          </a:ln>
        </p:spPr>
        <p:txBody>
          <a:bodyPr wrap="square" lIns="64008" tIns="27432" rIns="64008" bIns="27432" anchor="ctr">
            <a:noAutofit/>
          </a:bodyPr>
          <a:lstStyle/>
          <a:p>
            <a:pPr algn="ctr"/>
            <a:r>
              <a:rPr lang="en-GB" sz="1600" dirty="0">
                <a:solidFill>
                  <a:srgbClr val="262626"/>
                </a:solidFill>
              </a:rPr>
              <a:t>Guided sampler</a:t>
            </a:r>
          </a:p>
        </p:txBody>
      </p:sp>
      <p:sp>
        <p:nvSpPr>
          <p:cNvPr id="27" name="plan"/>
          <p:cNvSpPr/>
          <p:nvPr/>
        </p:nvSpPr>
        <p:spPr>
          <a:xfrm>
            <a:off x="9122701" y="4507992"/>
            <a:ext cx="2251187" cy="566928"/>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Plan</a:t>
            </a:r>
          </a:p>
        </p:txBody>
      </p:sp>
      <p:sp>
        <p:nvSpPr>
          <p:cNvPr id="28" name="exec"/>
          <p:cNvSpPr/>
          <p:nvPr/>
        </p:nvSpPr>
        <p:spPr>
          <a:xfrm>
            <a:off x="9122701" y="5486400"/>
            <a:ext cx="2251187" cy="566928"/>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Execution</a:t>
            </a:r>
          </a:p>
        </p:txBody>
      </p:sp>
      <p:cxnSp>
        <p:nvCxnSpPr>
          <p:cNvPr id="29" name="Arrow"/>
          <p:cNvCxnSpPr/>
          <p:nvPr/>
        </p:nvCxnSpPr>
        <p:spPr>
          <a:xfrm>
            <a:off x="3031254" y="2450592"/>
            <a:ext cx="485550" cy="0"/>
          </a:xfrm>
          <a:prstGeom prst="straightConnector1">
            <a:avLst/>
          </a:prstGeom>
          <a:ln w="25400">
            <a:solidFill>
              <a:srgbClr val="D2D2D2"/>
            </a:solidFill>
            <a:tailEnd type="triangle" w="med" len="med"/>
          </a:ln>
        </p:spPr>
      </p:cxnSp>
      <p:cxnSp>
        <p:nvCxnSpPr>
          <p:cNvPr id="30" name="Arrow"/>
          <p:cNvCxnSpPr/>
          <p:nvPr/>
        </p:nvCxnSpPr>
        <p:spPr>
          <a:xfrm>
            <a:off x="5723850" y="2450592"/>
            <a:ext cx="485550" cy="0"/>
          </a:xfrm>
          <a:prstGeom prst="straightConnector1">
            <a:avLst/>
          </a:prstGeom>
          <a:ln w="25400">
            <a:solidFill>
              <a:srgbClr val="D2D2D2"/>
            </a:solidFill>
            <a:tailEnd type="triangle" w="med" len="med"/>
          </a:ln>
        </p:spPr>
      </p:cxnSp>
      <p:cxnSp>
        <p:nvCxnSpPr>
          <p:cNvPr id="31" name="Arrow"/>
          <p:cNvCxnSpPr/>
          <p:nvPr/>
        </p:nvCxnSpPr>
        <p:spPr>
          <a:xfrm>
            <a:off x="3031254" y="3776472"/>
            <a:ext cx="485550" cy="0"/>
          </a:xfrm>
          <a:prstGeom prst="straightConnector1">
            <a:avLst/>
          </a:prstGeom>
          <a:ln w="25400">
            <a:solidFill>
              <a:srgbClr val="D2D2D2"/>
            </a:solidFill>
            <a:tailEnd type="triangle" w="med" len="med"/>
          </a:ln>
        </p:spPr>
      </p:cxnSp>
      <p:cxnSp>
        <p:nvCxnSpPr>
          <p:cNvPr id="32" name="Arrow"/>
          <p:cNvCxnSpPr/>
          <p:nvPr/>
        </p:nvCxnSpPr>
        <p:spPr>
          <a:xfrm>
            <a:off x="5723850" y="3776472"/>
            <a:ext cx="485550" cy="0"/>
          </a:xfrm>
          <a:prstGeom prst="straightConnector1">
            <a:avLst/>
          </a:prstGeom>
          <a:ln w="25400">
            <a:solidFill>
              <a:srgbClr val="D2D2D2"/>
            </a:solidFill>
            <a:tailEnd type="triangle" w="med" len="med"/>
          </a:ln>
        </p:spPr>
      </p:cxnSp>
      <p:cxnSp>
        <p:nvCxnSpPr>
          <p:cNvPr id="33" name="Arrow"/>
          <p:cNvCxnSpPr/>
          <p:nvPr/>
        </p:nvCxnSpPr>
        <p:spPr>
          <a:xfrm>
            <a:off x="8416446" y="2450592"/>
            <a:ext cx="706255" cy="0"/>
          </a:xfrm>
          <a:prstGeom prst="straightConnector1">
            <a:avLst/>
          </a:prstGeom>
          <a:ln w="25400">
            <a:solidFill>
              <a:srgbClr val="1954A6"/>
            </a:solidFill>
            <a:tailEnd type="triangle" w="med" len="med"/>
          </a:ln>
        </p:spPr>
      </p:cxnSp>
      <p:cxnSp>
        <p:nvCxnSpPr>
          <p:cNvPr id="34" name="Arrow"/>
          <p:cNvCxnSpPr/>
          <p:nvPr/>
        </p:nvCxnSpPr>
        <p:spPr>
          <a:xfrm>
            <a:off x="8416446" y="3776472"/>
            <a:ext cx="706255" cy="0"/>
          </a:xfrm>
          <a:prstGeom prst="straightConnector1">
            <a:avLst/>
          </a:prstGeom>
          <a:ln w="25400">
            <a:solidFill>
              <a:srgbClr val="D85497"/>
            </a:solidFill>
            <a:tailEnd type="triangle" w="med" len="med"/>
          </a:ln>
        </p:spPr>
      </p:cxnSp>
      <p:cxnSp>
        <p:nvCxnSpPr>
          <p:cNvPr id="35" name="Arrow"/>
          <p:cNvCxnSpPr/>
          <p:nvPr/>
        </p:nvCxnSpPr>
        <p:spPr>
          <a:xfrm>
            <a:off x="10248294" y="4096512"/>
            <a:ext cx="0" cy="411480"/>
          </a:xfrm>
          <a:prstGeom prst="straightConnector1">
            <a:avLst/>
          </a:prstGeom>
          <a:ln w="25400">
            <a:solidFill>
              <a:srgbClr val="D2D2D2"/>
            </a:solidFill>
            <a:tailEnd type="triangle" w="med" len="med"/>
          </a:ln>
        </p:spPr>
      </p:cxnSp>
      <p:cxnSp>
        <p:nvCxnSpPr>
          <p:cNvPr id="36" name="Arrow"/>
          <p:cNvCxnSpPr/>
          <p:nvPr/>
        </p:nvCxnSpPr>
        <p:spPr>
          <a:xfrm>
            <a:off x="10248294" y="5074920"/>
            <a:ext cx="0" cy="411480"/>
          </a:xfrm>
          <a:prstGeom prst="straightConnector1">
            <a:avLst/>
          </a:prstGeom>
          <a:ln w="25400">
            <a:solidFill>
              <a:srgbClr val="D2D2D2"/>
            </a:solidFill>
            <a:tailEnd type="triangle" w="med" len="med"/>
          </a:ln>
        </p:spPr>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Guided velocity field</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a:t>
            </a:r>
            <a:r>
              <a:rPr lang="en-GB" sz="1300" dirty="0">
                <a:solidFill>
                  <a:srgbClr val="A5A5A5"/>
                </a:solidFill>
              </a:rPr>
              <a:t>    →    </a:t>
            </a:r>
            <a:r>
              <a:rPr lang="en-GB" sz="1300" dirty="0">
                <a:solidFill>
                  <a:srgbClr val="A5A5A5"/>
                </a:solidFill>
              </a:rPr>
              <a:t>Background</a:t>
            </a:r>
            <a:r>
              <a:rPr lang="en-GB" sz="1300" dirty="0">
                <a:solidFill>
                  <a:srgbClr val="A5A5A5"/>
                </a:solidFill>
              </a:rPr>
              <a:t>    →    </a:t>
            </a:r>
            <a:r>
              <a:rPr lang="en-GB" sz="1300" b="1" dirty="0">
                <a:solidFill>
                  <a:srgbClr val="004791"/>
                </a:solidFill>
              </a:rPr>
              <a:t>Method</a:t>
            </a:r>
            <a:r>
              <a:rPr lang="en-GB" sz="1300" dirty="0">
                <a:solidFill>
                  <a:srgbClr val="A5A5A5"/>
                </a:solidFill>
              </a:rPr>
              <a:t>    →    </a:t>
            </a:r>
            <a:r>
              <a:rPr lang="en-GB" sz="1300" dirty="0">
                <a:solidFill>
                  <a:srgbClr val="A5A5A5"/>
                </a:solidFill>
              </a:rPr>
              <a:t>Results</a:t>
            </a:r>
            <a:r>
              <a:rPr lang="en-GB" sz="1300" dirty="0">
                <a:solidFill>
                  <a:srgbClr val="A5A5A5"/>
                </a:solidFill>
              </a:rPr>
              <a:t>    →    </a:t>
            </a:r>
            <a:r>
              <a:rPr lang="en-GB" sz="1300" dirty="0">
                <a:solidFill>
                  <a:srgbClr val="A5A5A5"/>
                </a:solidFill>
              </a:rPr>
              <a:t>Conclusions</a:t>
            </a:r>
          </a:p>
        </p:txBody>
      </p:sp>
      <p:sp>
        <p:nvSpPr>
          <p:cNvPr id="13" name="Slide Number"/>
          <p:cNvSpPr>
            <a:spLocks noGrp="1"/>
          </p:cNvSpPr>
          <p:nvPr>
            <p:ph type="sldNum" sz="quarter" idx="12"/>
          </p:nvPr>
        </p:nvSpPr>
        <p:spPr/>
        <p:txBody>
          <a:bodyPr/>
          <a:lstStyle/>
          <a:p>
            <a:fld id="{619F89D8-7AE3-494A-97F3-03D680869632}" type="slidenum">
              <a:rPr lang="en-GB"/>
              <a:t>1</a:t>
            </a:fld>
            <a:endParaRPr lang="en-GB"/>
          </a:p>
        </p:txBody>
      </p:sp>
      <p:sp>
        <p:nvSpPr>
          <p:cNvPr id="14" name="prior"/>
          <p:cNvSpPr/>
          <p:nvPr/>
        </p:nvSpPr>
        <p:spPr>
          <a:xfrm>
            <a:off x="603504" y="1920240"/>
            <a:ext cx="2651760" cy="285293"/>
          </a:xfrm>
          <a:prstGeom prst="roundRect">
            <a:avLst>
              <a:gd name="adj" fmla="val 8000"/>
            </a:avLst>
          </a:prstGeom>
          <a:solidFill>
            <a:srgbClr val="DAE4F1"/>
          </a:solidFill>
          <a:ln w="15875">
            <a:solidFill>
              <a:srgbClr val="1954A6"/>
            </a:solidFill>
          </a:ln>
        </p:spPr>
        <p:txBody>
          <a:bodyPr wrap="square" lIns="64008" tIns="27432" rIns="64008" bIns="27432" anchor="ctr">
            <a:noAutofit/>
          </a:bodyPr>
          <a:lstStyle/>
          <a:p>
            <a:pPr algn="ctr"/>
            <a:r>
              <a:rPr lang="en-GB" sz="1200" dirty="0">
                <a:solidFill>
                  <a:srgbClr val="262626"/>
                </a:solidFill>
                <a:latin typeface="Cambria Math"/>
                <a:ea typeface="Cambria Math"/>
                <a:cs typeface="Cambria Math"/>
                <a:sym typeface="Cambria Math"/>
              </a:rPr>
              <a:t>v</a:t>
            </a:r>
            <a:r>
              <a:rPr lang="en-GB" sz="1200" baseline="-25000" dirty="0">
                <a:solidFill>
                  <a:srgbClr val="262626"/>
                </a:solidFill>
              </a:rPr>
              <a:t>θ</a:t>
            </a:r>
            <a:r>
              <a:rPr lang="en-GB" sz="1200" dirty="0">
                <a:solidFill>
                  <a:srgbClr val="262626"/>
                </a:solidFill>
              </a:rPr>
              <a:t>(τ, s)</a:t>
            </a:r>
          </a:p>
          <a:p>
            <a:pPr algn="ctr"/>
            <a:r>
              <a:rPr lang="en-GB" sz="1200" dirty="0">
                <a:solidFill>
                  <a:srgbClr val="262626"/>
                </a:solidFill>
              </a:rPr>
              <a:t>learned prior field</a:t>
            </a:r>
          </a:p>
        </p:txBody>
      </p:sp>
      <p:sp>
        <p:nvSpPr>
          <p:cNvPr id="15" name="endp"/>
          <p:cNvSpPr/>
          <p:nvPr/>
        </p:nvSpPr>
        <p:spPr>
          <a:xfrm>
            <a:off x="4032504" y="1920240"/>
            <a:ext cx="3246120" cy="285293"/>
          </a:xfrm>
          <a:prstGeom prst="roundRect">
            <a:avLst>
              <a:gd name="adj" fmla="val 8000"/>
            </a:avLst>
          </a:prstGeom>
          <a:solidFill>
            <a:srgbClr val="DCF0F9"/>
          </a:solidFill>
          <a:ln w="15875">
            <a:solidFill>
              <a:srgbClr val="24A0D8"/>
            </a:solidFill>
          </a:ln>
        </p:spPr>
        <p:txBody>
          <a:bodyPr wrap="square" lIns="64008" tIns="27432" rIns="64008" bIns="27432" anchor="ctr">
            <a:noAutofit/>
          </a:bodyPr>
          <a:lstStyle/>
          <a:p>
            <a:pPr algn="ctr"/>
            <a:r>
              <a:rPr lang="en-GB" sz="1200" dirty="0">
                <a:solidFill>
                  <a:srgbClr val="262626"/>
                </a:solidFill>
              </a:rPr>
              <a:t>τ̂ = τ + (1 − s) vθ</a:t>
            </a:r>
          </a:p>
          <a:p>
            <a:pPr algn="ctr"/>
            <a:r>
              <a:rPr lang="en-GB" sz="1200" dirty="0">
                <a:solidFill>
                  <a:srgbClr val="262626"/>
                </a:solidFill>
              </a:rPr>
              <a:t>predicted endpoint</a:t>
            </a:r>
          </a:p>
        </p:txBody>
      </p:sp>
      <p:sp>
        <p:nvSpPr>
          <p:cNvPr id="16" name="score"/>
          <p:cNvSpPr/>
          <p:nvPr/>
        </p:nvSpPr>
        <p:spPr>
          <a:xfrm>
            <a:off x="8193024" y="1920240"/>
            <a:ext cx="3401568" cy="285293"/>
          </a:xfrm>
          <a:prstGeom prst="roundRect">
            <a:avLst>
              <a:gd name="adj" fmla="val 8000"/>
            </a:avLst>
          </a:prstGeom>
          <a:solidFill>
            <a:srgbClr val="F9E4EE"/>
          </a:solidFill>
          <a:ln w="15875">
            <a:solidFill>
              <a:srgbClr val="D85497"/>
            </a:solidFill>
          </a:ln>
        </p:spPr>
        <p:txBody>
          <a:bodyPr wrap="square" lIns="64008" tIns="27432" rIns="64008" bIns="27432" anchor="ctr">
            <a:noAutofit/>
          </a:bodyPr>
          <a:lstStyle/>
          <a:p>
            <a:pPr algn="ctr"/>
            <a:r>
              <a:rPr lang="en-GB" sz="1200" dirty="0">
                <a:solidFill>
                  <a:srgbClr val="262626"/>
                </a:solidFill>
              </a:rPr>
              <a:t>ρ</a:t>
            </a:r>
            <a:r>
              <a:rPr lang="en-GB" sz="1200" i="1" dirty="0">
                <a:solidFill>
                  <a:srgbClr val="262626"/>
                </a:solidFill>
              </a:rPr>
              <a:t>φ</a:t>
            </a:r>
            <a:r>
              <a:rPr lang="en-GB" sz="1200" dirty="0">
                <a:solidFill>
                  <a:srgbClr val="262626"/>
                </a:solidFill>
              </a:rPr>
              <a:t>(τ̂)</a:t>
            </a:r>
          </a:p>
          <a:p>
            <a:pPr algn="ctr"/>
            <a:r>
              <a:rPr lang="en-GB" sz="1200" dirty="0">
                <a:solidFill>
                  <a:srgbClr val="262626"/>
                </a:solidFill>
              </a:rPr>
              <a:t>requirement score</a:t>
            </a:r>
          </a:p>
        </p:txBody>
      </p:sp>
      <p:sp>
        <p:nvSpPr>
          <p:cNvPr id="17" name="smth"/>
          <p:cNvSpPr/>
          <p:nvPr/>
        </p:nvSpPr>
        <p:spPr>
          <a:xfrm>
            <a:off x="7278624" y="2437333"/>
            <a:ext cx="4315968" cy="303124"/>
          </a:xfrm>
          <a:prstGeom prst="roundRect">
            <a:avLst>
              <a:gd name="adj" fmla="val 8000"/>
            </a:avLst>
          </a:prstGeom>
          <a:solidFill>
            <a:srgbClr val="E6E7E7"/>
          </a:solidFill>
          <a:ln w="15875">
            <a:solidFill>
              <a:srgbClr val="63666A"/>
            </a:solidFill>
          </a:ln>
        </p:spPr>
        <p:txBody>
          <a:bodyPr wrap="square" lIns="64008" tIns="27432" rIns="64008" bIns="27432" anchor="ctr">
            <a:noAutofit/>
          </a:bodyPr>
          <a:lstStyle/>
          <a:p>
            <a:pPr algn="ctr"/>
            <a:r>
              <a:rPr lang="en-GB" sz="1200" dirty="0">
                <a:solidFill>
                  <a:srgbClr val="262626"/>
                </a:solidFill>
              </a:rPr>
              <a:t>γ Σ ‖pₜ₊₁ − 2pₜ + pₜ₋₁‖²</a:t>
            </a:r>
          </a:p>
          <a:p>
            <a:pPr algn="ctr"/>
            <a:r>
              <a:rPr lang="en-GB" sz="1200" dirty="0">
                <a:solidFill>
                  <a:srgbClr val="262626"/>
                </a:solidFill>
              </a:rPr>
              <a:t>smoothness penalty</a:t>
            </a:r>
          </a:p>
        </p:txBody>
      </p:sp>
      <p:cxnSp>
        <p:nvCxnSpPr>
          <p:cNvPr id="18" name="Arrow"/>
          <p:cNvCxnSpPr/>
          <p:nvPr/>
        </p:nvCxnSpPr>
        <p:spPr>
          <a:xfrm>
            <a:off x="3255264" y="2062886"/>
            <a:ext cx="777240" cy="0"/>
          </a:xfrm>
          <a:prstGeom prst="straightConnector1">
            <a:avLst/>
          </a:prstGeom>
          <a:ln w="19050">
            <a:solidFill>
              <a:srgbClr val="1954A6"/>
            </a:solidFill>
            <a:tailEnd type="triangle" w="med" len="med"/>
          </a:ln>
        </p:spPr>
      </p:cxnSp>
      <p:cxnSp>
        <p:nvCxnSpPr>
          <p:cNvPr id="19" name="Arrow"/>
          <p:cNvCxnSpPr/>
          <p:nvPr/>
        </p:nvCxnSpPr>
        <p:spPr>
          <a:xfrm>
            <a:off x="7278624" y="2062886"/>
            <a:ext cx="914400" cy="0"/>
          </a:xfrm>
          <a:prstGeom prst="straightConnector1">
            <a:avLst/>
          </a:prstGeom>
          <a:ln w="19050">
            <a:solidFill>
              <a:srgbClr val="24A0D8"/>
            </a:solidFill>
            <a:tailEnd type="triangle" w="med" len="med"/>
          </a:ln>
        </p:spPr>
      </p:cxnSp>
      <p:cxnSp>
        <p:nvCxnSpPr>
          <p:cNvPr id="20" name="Arrow"/>
          <p:cNvCxnSpPr/>
          <p:nvPr/>
        </p:nvCxnSpPr>
        <p:spPr>
          <a:xfrm>
            <a:off x="9427464" y="2205533"/>
            <a:ext cx="0" cy="231800"/>
          </a:xfrm>
          <a:prstGeom prst="straightConnector1">
            <a:avLst/>
          </a:prstGeom>
          <a:ln w="19050">
            <a:solidFill>
              <a:srgbClr val="24A0D8"/>
            </a:solidFill>
            <a:tailEnd type="triangle" w="med" len="med"/>
          </a:ln>
        </p:spPr>
      </p:cxnSp>
      <p:pic>
        <p:nvPicPr>
          <p:cNvPr id="21" name="Equation" descr="The guided velocity field, prior velocity plus a constant times the conditioned requirement gradient at the predicted endpoint"/>
          <p:cNvPicPr>
            <a:picLocks noChangeAspect="1"/>
          </p:cNvPicPr>
          <p:nvPr/>
        </p:nvPicPr>
        <p:blipFill>
          <a:blip r:embed="rId2"/>
          <a:stretch>
            <a:fillRect/>
          </a:stretch>
        </p:blipFill>
        <p:spPr>
          <a:xfrm>
            <a:off x="3087243" y="3291840"/>
            <a:ext cx="6023610" cy="1041502"/>
          </a:xfrm>
          <a:prstGeom prst="rect">
            <a:avLst/>
          </a:prstGeom>
        </p:spPr>
      </p:pic>
      <p:pic>
        <p:nvPicPr>
          <p:cNvPr id="22" name="Equation" descr="Penalized objective and masked, normalized gradient"/>
          <p:cNvPicPr>
            <a:picLocks noChangeAspect="1"/>
          </p:cNvPicPr>
          <p:nvPr/>
        </p:nvPicPr>
        <p:blipFill>
          <a:blip r:embed="rId3"/>
          <a:stretch>
            <a:fillRect/>
          </a:stretch>
        </p:blipFill>
        <p:spPr>
          <a:xfrm>
            <a:off x="3004337" y="4572000"/>
            <a:ext cx="6189421" cy="628269"/>
          </a:xfrm>
          <a:prstGeom prst="rect">
            <a:avLst/>
          </a:prstGeom>
        </p:spPr>
      </p:pic>
      <p:sp>
        <p:nvSpPr>
          <p:cNvPr id="23" name="Label"/>
          <p:cNvSpPr txBox="1"/>
          <p:nvPr/>
        </p:nvSpPr>
        <p:spPr>
          <a:xfrm>
            <a:off x="603504" y="5394960"/>
            <a:ext cx="10991088" cy="502920"/>
          </a:xfrm>
          <a:prstGeom prst="rect">
            <a:avLst/>
          </a:prstGeom>
          <a:noFill/>
        </p:spPr>
        <p:txBody>
          <a:bodyPr wrap="square" lIns="45720" tIns="0" rIns="45720" bIns="0" anchor="t">
            <a:noAutofit/>
          </a:bodyPr>
          <a:lstStyle/>
          <a:p>
            <a:pPr algn="ctr"/>
            <a:r>
              <a:rPr lang="en-GB" sz="1400" dirty="0">
                <a:solidFill>
                  <a:srgbClr val="262626"/>
                </a:solidFill>
                <a:latin typeface="Cambria Math"/>
                <a:ea typeface="Cambria Math"/>
                <a:cs typeface="Cambria Math"/>
                <a:sym typeface="Cambria Math"/>
              </a:rPr>
              <a:t>λ</a:t>
            </a:r>
            <a:r>
              <a:rPr lang="en-GB" sz="1400" baseline="-25000" dirty="0">
                <a:solidFill>
                  <a:srgbClr val="262626"/>
                </a:solidFill>
              </a:rPr>
              <a:t>0</a:t>
            </a:r>
            <a:r>
              <a:rPr lang="en-GB" sz="1400" dirty="0">
                <a:solidFill>
                  <a:srgbClr val="262626"/>
                </a:solidFill>
              </a:rPr>
              <a:t> ≥ 0 is one constant strength for the whole flow; no component of the sampling loop is trained.</a:t>
            </a:r>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1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8" grpId="0"/>
      <p:bldP spid="16" grpId="0"/>
      <p:bldP spid="17" grpId="0"/>
      <p:bldP spid="19" grpId="0"/>
      <p:bldP spid="20" grpId="0"/>
      <p:bldP spid="2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Guided sampler</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a:t>
            </a:r>
            <a:r>
              <a:rPr lang="en-GB" sz="1300" dirty="0">
                <a:solidFill>
                  <a:srgbClr val="A5A5A5"/>
                </a:solidFill>
              </a:rPr>
              <a:t>    →    </a:t>
            </a:r>
            <a:r>
              <a:rPr lang="en-GB" sz="1300" dirty="0">
                <a:solidFill>
                  <a:srgbClr val="A5A5A5"/>
                </a:solidFill>
              </a:rPr>
              <a:t>Background</a:t>
            </a:r>
            <a:r>
              <a:rPr lang="en-GB" sz="1300" dirty="0">
                <a:solidFill>
                  <a:srgbClr val="A5A5A5"/>
                </a:solidFill>
              </a:rPr>
              <a:t>    →    </a:t>
            </a:r>
            <a:r>
              <a:rPr lang="en-GB" sz="1300" b="1" dirty="0">
                <a:solidFill>
                  <a:srgbClr val="004791"/>
                </a:solidFill>
              </a:rPr>
              <a:t>Method</a:t>
            </a:r>
            <a:r>
              <a:rPr lang="en-GB" sz="1300" dirty="0">
                <a:solidFill>
                  <a:srgbClr val="A5A5A5"/>
                </a:solidFill>
              </a:rPr>
              <a:t>    →    </a:t>
            </a:r>
            <a:r>
              <a:rPr lang="en-GB" sz="1300" dirty="0">
                <a:solidFill>
                  <a:srgbClr val="A5A5A5"/>
                </a:solidFill>
              </a:rPr>
              <a:t>Results</a:t>
            </a:r>
            <a:r>
              <a:rPr lang="en-GB" sz="1300" dirty="0">
                <a:solidFill>
                  <a:srgbClr val="A5A5A5"/>
                </a:solidFill>
              </a:rPr>
              <a:t>    →    </a:t>
            </a:r>
            <a:r>
              <a:rPr lang="en-GB" sz="1300" dirty="0">
                <a:solidFill>
                  <a:srgbClr val="A5A5A5"/>
                </a:solidFill>
              </a:rPr>
              <a:t>Conclusions</a:t>
            </a:r>
          </a:p>
        </p:txBody>
      </p:sp>
      <p:sp>
        <p:nvSpPr>
          <p:cNvPr id="13" name="Slide Number"/>
          <p:cNvSpPr>
            <a:spLocks noGrp="1"/>
          </p:cNvSpPr>
          <p:nvPr>
            <p:ph type="sldNum" sz="quarter" idx="12"/>
          </p:nvPr>
        </p:nvSpPr>
        <p:spPr/>
        <p:txBody>
          <a:bodyPr/>
          <a:lstStyle/>
          <a:p>
            <a:fld id="{619F89D8-7AE3-494A-97F3-03D680869632}" type="slidenum">
              <a:rPr lang="en-GB"/>
              <a:t>1</a:t>
            </a:fld>
            <a:endParaRPr lang="en-GB"/>
          </a:p>
        </p:txBody>
      </p:sp>
      <p:sp>
        <p:nvSpPr>
          <p:cNvPr id="14" name="Label"/>
          <p:cNvSpPr txBox="1"/>
          <p:nvPr/>
        </p:nvSpPr>
        <p:spPr>
          <a:xfrm>
            <a:off x="603504" y="1700784"/>
            <a:ext cx="10991088" cy="292608"/>
          </a:xfrm>
          <a:prstGeom prst="rect">
            <a:avLst/>
          </a:prstGeom>
          <a:noFill/>
        </p:spPr>
        <p:txBody>
          <a:bodyPr wrap="square" lIns="45720" tIns="0" rIns="45720" bIns="0" anchor="t">
            <a:noAutofit/>
          </a:bodyPr>
          <a:lstStyle/>
          <a:p>
            <a:pPr algn="ctr"/>
            <a:r>
              <a:rPr lang="en-GB" sz="1400" dirty="0">
                <a:solidFill>
                  <a:srgbClr val="262626"/>
                </a:solidFill>
              </a:rPr>
              <a:t>For k = 0, …, K − 1 with s = kΔs, Δs = 1/K and K = 64, from </a:t>
            </a:r>
            <a:r>
              <a:rPr lang="en-GB" sz="1400" dirty="0">
                <a:solidFill>
                  <a:srgbClr val="262626"/>
                </a:solidFill>
                <a:latin typeface="Cambria Math"/>
                <a:ea typeface="Cambria Math"/>
                <a:cs typeface="Cambria Math"/>
                <a:sym typeface="Cambria Math"/>
              </a:rPr>
              <a:t>τ</a:t>
            </a:r>
            <a:r>
              <a:rPr lang="en-GB" sz="1400" dirty="0">
                <a:solidFill>
                  <a:srgbClr val="262626"/>
                </a:solidFill>
              </a:rPr>
              <a:t> ~ N(0, I) with the start state pinned</a:t>
            </a:r>
          </a:p>
        </p:txBody>
      </p:sp>
      <p:sp>
        <p:nvSpPr>
          <p:cNvPr id="15" name="prior"/>
          <p:cNvSpPr/>
          <p:nvPr/>
        </p:nvSpPr>
        <p:spPr>
          <a:xfrm>
            <a:off x="603504" y="2057400"/>
            <a:ext cx="2651760" cy="292608"/>
          </a:xfrm>
          <a:prstGeom prst="roundRect">
            <a:avLst>
              <a:gd name="adj" fmla="val 8000"/>
            </a:avLst>
          </a:prstGeom>
          <a:solidFill>
            <a:srgbClr val="DAE4F1"/>
          </a:solidFill>
          <a:ln w="15875">
            <a:solidFill>
              <a:srgbClr val="1954A6"/>
            </a:solidFill>
          </a:ln>
        </p:spPr>
        <p:txBody>
          <a:bodyPr wrap="square" lIns="64008" tIns="27432" rIns="64008" bIns="27432" anchor="ctr">
            <a:noAutofit/>
          </a:bodyPr>
          <a:lstStyle/>
          <a:p>
            <a:pPr algn="ctr"/>
            <a:r>
              <a:rPr lang="en-GB" sz="1200" dirty="0">
                <a:solidFill>
                  <a:srgbClr val="262626"/>
                </a:solidFill>
                <a:latin typeface="Cambria Math"/>
                <a:ea typeface="Cambria Math"/>
                <a:cs typeface="Cambria Math"/>
                <a:sym typeface="Cambria Math"/>
              </a:rPr>
              <a:t>v</a:t>
            </a:r>
            <a:r>
              <a:rPr lang="en-GB" sz="1200" baseline="-25000" dirty="0">
                <a:solidFill>
                  <a:srgbClr val="262626"/>
                </a:solidFill>
              </a:rPr>
              <a:t>θ</a:t>
            </a:r>
            <a:r>
              <a:rPr lang="en-GB" sz="1200" dirty="0">
                <a:solidFill>
                  <a:srgbClr val="262626"/>
                </a:solidFill>
              </a:rPr>
              <a:t>(τ, s)</a:t>
            </a:r>
          </a:p>
          <a:p>
            <a:pPr algn="ctr"/>
            <a:r>
              <a:rPr lang="en-GB" sz="1200" dirty="0">
                <a:solidFill>
                  <a:srgbClr val="262626"/>
                </a:solidFill>
              </a:rPr>
              <a:t>learned prior field</a:t>
            </a:r>
          </a:p>
        </p:txBody>
      </p:sp>
      <p:sp>
        <p:nvSpPr>
          <p:cNvPr id="16" name="endp"/>
          <p:cNvSpPr/>
          <p:nvPr/>
        </p:nvSpPr>
        <p:spPr>
          <a:xfrm>
            <a:off x="4032504" y="2057400"/>
            <a:ext cx="3246120" cy="292608"/>
          </a:xfrm>
          <a:prstGeom prst="roundRect">
            <a:avLst>
              <a:gd name="adj" fmla="val 8000"/>
            </a:avLst>
          </a:prstGeom>
          <a:solidFill>
            <a:srgbClr val="DCF0F9"/>
          </a:solidFill>
          <a:ln w="15875">
            <a:solidFill>
              <a:srgbClr val="24A0D8"/>
            </a:solidFill>
          </a:ln>
        </p:spPr>
        <p:txBody>
          <a:bodyPr wrap="square" lIns="64008" tIns="27432" rIns="64008" bIns="27432" anchor="ctr">
            <a:noAutofit/>
          </a:bodyPr>
          <a:lstStyle/>
          <a:p>
            <a:pPr algn="ctr"/>
            <a:r>
              <a:rPr lang="en-GB" sz="1200" dirty="0">
                <a:solidFill>
                  <a:srgbClr val="262626"/>
                </a:solidFill>
              </a:rPr>
              <a:t>τ̂ = τ + (1 − s) vθ</a:t>
            </a:r>
          </a:p>
          <a:p>
            <a:pPr algn="ctr"/>
            <a:r>
              <a:rPr lang="en-GB" sz="1200" dirty="0">
                <a:solidFill>
                  <a:srgbClr val="262626"/>
                </a:solidFill>
              </a:rPr>
              <a:t>predicted endpoint</a:t>
            </a:r>
          </a:p>
        </p:txBody>
      </p:sp>
      <p:sp>
        <p:nvSpPr>
          <p:cNvPr id="17" name="score"/>
          <p:cNvSpPr/>
          <p:nvPr/>
        </p:nvSpPr>
        <p:spPr>
          <a:xfrm>
            <a:off x="8193024" y="2057400"/>
            <a:ext cx="3401568" cy="292608"/>
          </a:xfrm>
          <a:prstGeom prst="roundRect">
            <a:avLst>
              <a:gd name="adj" fmla="val 8000"/>
            </a:avLst>
          </a:prstGeom>
          <a:solidFill>
            <a:srgbClr val="F9E4EE"/>
          </a:solidFill>
          <a:ln w="15875">
            <a:solidFill>
              <a:srgbClr val="D85497"/>
            </a:solidFill>
          </a:ln>
        </p:spPr>
        <p:txBody>
          <a:bodyPr wrap="square" lIns="64008" tIns="27432" rIns="64008" bIns="27432" anchor="ctr">
            <a:noAutofit/>
          </a:bodyPr>
          <a:lstStyle/>
          <a:p>
            <a:pPr algn="ctr"/>
            <a:r>
              <a:rPr lang="en-GB" sz="1200" dirty="0">
                <a:solidFill>
                  <a:srgbClr val="262626"/>
                </a:solidFill>
              </a:rPr>
              <a:t>ρ</a:t>
            </a:r>
            <a:r>
              <a:rPr lang="en-GB" sz="1200" i="1" dirty="0">
                <a:solidFill>
                  <a:srgbClr val="262626"/>
                </a:solidFill>
              </a:rPr>
              <a:t>φ</a:t>
            </a:r>
            <a:r>
              <a:rPr lang="en-GB" sz="1200" dirty="0">
                <a:solidFill>
                  <a:srgbClr val="262626"/>
                </a:solidFill>
              </a:rPr>
              <a:t>(τ̂)</a:t>
            </a:r>
          </a:p>
          <a:p>
            <a:pPr algn="ctr"/>
            <a:r>
              <a:rPr lang="en-GB" sz="1200" dirty="0">
                <a:solidFill>
                  <a:srgbClr val="262626"/>
                </a:solidFill>
              </a:rPr>
              <a:t>requirement score</a:t>
            </a:r>
          </a:p>
        </p:txBody>
      </p:sp>
      <p:sp>
        <p:nvSpPr>
          <p:cNvPr id="18" name="smth"/>
          <p:cNvSpPr/>
          <p:nvPr/>
        </p:nvSpPr>
        <p:spPr>
          <a:xfrm>
            <a:off x="7278624" y="2587752"/>
            <a:ext cx="4315968" cy="310896"/>
          </a:xfrm>
          <a:prstGeom prst="roundRect">
            <a:avLst>
              <a:gd name="adj" fmla="val 8000"/>
            </a:avLst>
          </a:prstGeom>
          <a:solidFill>
            <a:srgbClr val="E6E7E7"/>
          </a:solidFill>
          <a:ln w="15875">
            <a:solidFill>
              <a:srgbClr val="63666A"/>
            </a:solidFill>
          </a:ln>
        </p:spPr>
        <p:txBody>
          <a:bodyPr wrap="square" lIns="64008" tIns="27432" rIns="64008" bIns="27432" anchor="ctr">
            <a:noAutofit/>
          </a:bodyPr>
          <a:lstStyle/>
          <a:p>
            <a:pPr algn="ctr"/>
            <a:r>
              <a:rPr lang="en-GB" sz="1200" dirty="0">
                <a:solidFill>
                  <a:srgbClr val="262626"/>
                </a:solidFill>
              </a:rPr>
              <a:t>γ Σ ‖pₜ₊₁ − 2pₜ + pₜ₋₁‖²</a:t>
            </a:r>
          </a:p>
          <a:p>
            <a:pPr algn="ctr"/>
            <a:r>
              <a:rPr lang="en-GB" sz="1200" dirty="0">
                <a:solidFill>
                  <a:srgbClr val="262626"/>
                </a:solidFill>
              </a:rPr>
              <a:t>smoothness penalty</a:t>
            </a:r>
          </a:p>
        </p:txBody>
      </p:sp>
      <p:sp>
        <p:nvSpPr>
          <p:cNvPr id="19" name="grad"/>
          <p:cNvSpPr/>
          <p:nvPr/>
        </p:nvSpPr>
        <p:spPr>
          <a:xfrm>
            <a:off x="9308592" y="3081528"/>
            <a:ext cx="2286000" cy="274320"/>
          </a:xfrm>
          <a:prstGeom prst="roundRect">
            <a:avLst>
              <a:gd name="adj" fmla="val 8000"/>
            </a:avLst>
          </a:prstGeom>
          <a:solidFill>
            <a:srgbClr val="EAEDDB"/>
          </a:solidFill>
          <a:ln w="15875">
            <a:solidFill>
              <a:srgbClr val="7B8D1E"/>
            </a:solidFill>
          </a:ln>
        </p:spPr>
        <p:txBody>
          <a:bodyPr wrap="square" lIns="64008" tIns="27432" rIns="64008" bIns="27432" anchor="ctr">
            <a:noAutofit/>
          </a:bodyPr>
          <a:lstStyle/>
          <a:p>
            <a:pPr algn="ctr"/>
            <a:r>
              <a:rPr lang="en-GB" sz="1200" dirty="0">
                <a:solidFill>
                  <a:srgbClr val="262626"/>
                </a:solidFill>
              </a:rPr>
              <a:t>∇τ̂</a:t>
            </a:r>
          </a:p>
          <a:p>
            <a:pPr algn="ctr"/>
            <a:r>
              <a:rPr lang="en-GB" sz="1200" dirty="0">
                <a:solidFill>
                  <a:srgbClr val="262626"/>
                </a:solidFill>
              </a:rPr>
              <a:t>autodiff</a:t>
            </a:r>
          </a:p>
        </p:txBody>
      </p:sp>
      <p:sp>
        <p:nvSpPr>
          <p:cNvPr id="20" name="mask"/>
          <p:cNvSpPr/>
          <p:nvPr/>
        </p:nvSpPr>
        <p:spPr>
          <a:xfrm>
            <a:off x="5266944" y="3081528"/>
            <a:ext cx="3383280" cy="274320"/>
          </a:xfrm>
          <a:prstGeom prst="roundRect">
            <a:avLst>
              <a:gd name="adj" fmla="val 8000"/>
            </a:avLst>
          </a:prstGeom>
          <a:solidFill>
            <a:srgbClr val="EAEDDB"/>
          </a:solidFill>
          <a:ln w="15875">
            <a:solidFill>
              <a:srgbClr val="7B8D1E"/>
            </a:solidFill>
          </a:ln>
        </p:spPr>
        <p:txBody>
          <a:bodyPr wrap="square" lIns="64008" tIns="27432" rIns="64008" bIns="27432" anchor="ctr">
            <a:noAutofit/>
          </a:bodyPr>
          <a:lstStyle/>
          <a:p>
            <a:pPr algn="ctr"/>
            <a:r>
              <a:rPr lang="en-GB" sz="1200" dirty="0">
                <a:solidFill>
                  <a:srgbClr val="262626"/>
                </a:solidFill>
              </a:rPr>
              <a:t>mask, normalize</a:t>
            </a:r>
          </a:p>
          <a:p>
            <a:pPr algn="ctr"/>
            <a:r>
              <a:rPr lang="en-GB" sz="1200" dirty="0">
                <a:solidFill>
                  <a:srgbClr val="262626"/>
                </a:solidFill>
              </a:rPr>
              <a:t>unit direction</a:t>
            </a:r>
          </a:p>
        </p:txBody>
      </p:sp>
      <p:sp>
        <p:nvSpPr>
          <p:cNvPr id="21" name="guid"/>
          <p:cNvSpPr/>
          <p:nvPr/>
        </p:nvSpPr>
        <p:spPr>
          <a:xfrm>
            <a:off x="603504" y="3081528"/>
            <a:ext cx="3090672" cy="274320"/>
          </a:xfrm>
          <a:prstGeom prst="roundRect">
            <a:avLst>
              <a:gd name="adj" fmla="val 8000"/>
            </a:avLst>
          </a:prstGeom>
          <a:solidFill>
            <a:srgbClr val="EAEDDB"/>
          </a:solidFill>
          <a:ln w="15875">
            <a:solidFill>
              <a:srgbClr val="7B8D1E"/>
            </a:solidFill>
          </a:ln>
        </p:spPr>
        <p:txBody>
          <a:bodyPr wrap="square" lIns="64008" tIns="27432" rIns="64008" bIns="27432" anchor="ctr">
            <a:noAutofit/>
          </a:bodyPr>
          <a:lstStyle/>
          <a:p>
            <a:pPr algn="ctr"/>
            <a:r>
              <a:rPr lang="en-GB" sz="1200" dirty="0">
                <a:solidFill>
                  <a:srgbClr val="262626"/>
                </a:solidFill>
              </a:rPr>
              <a:t>λ₀ ĝ Δs</a:t>
            </a:r>
          </a:p>
          <a:p>
            <a:pPr algn="ctr"/>
            <a:r>
              <a:rPr lang="en-GB" sz="1200" dirty="0">
                <a:solidFill>
                  <a:srgbClr val="262626"/>
                </a:solidFill>
              </a:rPr>
              <a:t>guidance term</a:t>
            </a:r>
          </a:p>
        </p:txBody>
      </p:sp>
      <p:sp>
        <p:nvSpPr>
          <p:cNvPr id="22" name="repin"/>
          <p:cNvSpPr/>
          <p:nvPr/>
        </p:nvSpPr>
        <p:spPr>
          <a:xfrm>
            <a:off x="603504" y="3593592"/>
            <a:ext cx="6949440" cy="292608"/>
          </a:xfrm>
          <a:prstGeom prst="roundRect">
            <a:avLst>
              <a:gd name="adj" fmla="val 8000"/>
            </a:avLst>
          </a:prstGeom>
          <a:solidFill>
            <a:srgbClr val="E6E7E7"/>
          </a:solidFill>
          <a:ln w="15875">
            <a:solidFill>
              <a:srgbClr val="63666A"/>
            </a:solidFill>
          </a:ln>
        </p:spPr>
        <p:txBody>
          <a:bodyPr wrap="square" lIns="64008" tIns="27432" rIns="64008" bIns="27432" anchor="ctr">
            <a:noAutofit/>
          </a:bodyPr>
          <a:lstStyle/>
          <a:p>
            <a:pPr algn="ctr"/>
            <a:r>
              <a:rPr lang="en-GB" sz="1200" dirty="0">
                <a:solidFill>
                  <a:srgbClr val="262626"/>
                </a:solidFill>
              </a:rPr>
              <a:t>τ ← τ + Δs(vθ + λ₀ĝ), then re-pin</a:t>
            </a:r>
          </a:p>
          <a:p>
            <a:pPr algn="ctr"/>
            <a:r>
              <a:rPr lang="en-GB" sz="1200" dirty="0">
                <a:solidFill>
                  <a:srgbClr val="262626"/>
                </a:solidFill>
              </a:rPr>
              <a:t>π₀(τ) = x_start, repeat K times</a:t>
            </a:r>
          </a:p>
        </p:txBody>
      </p:sp>
      <p:cxnSp>
        <p:nvCxnSpPr>
          <p:cNvPr id="23" name="Arrow"/>
          <p:cNvCxnSpPr/>
          <p:nvPr/>
        </p:nvCxnSpPr>
        <p:spPr>
          <a:xfrm>
            <a:off x="3255264" y="2203704"/>
            <a:ext cx="777240" cy="0"/>
          </a:xfrm>
          <a:prstGeom prst="straightConnector1">
            <a:avLst/>
          </a:prstGeom>
          <a:ln w="19050">
            <a:solidFill>
              <a:srgbClr val="1954A6"/>
            </a:solidFill>
            <a:tailEnd type="triangle" w="med" len="med"/>
          </a:ln>
        </p:spPr>
      </p:cxnSp>
      <p:cxnSp>
        <p:nvCxnSpPr>
          <p:cNvPr id="24" name="Arrow"/>
          <p:cNvCxnSpPr/>
          <p:nvPr/>
        </p:nvCxnSpPr>
        <p:spPr>
          <a:xfrm>
            <a:off x="7278624" y="2203704"/>
            <a:ext cx="914400" cy="0"/>
          </a:xfrm>
          <a:prstGeom prst="straightConnector1">
            <a:avLst/>
          </a:prstGeom>
          <a:ln w="19050">
            <a:solidFill>
              <a:srgbClr val="24A0D8"/>
            </a:solidFill>
            <a:tailEnd type="triangle" w="med" len="med"/>
          </a:ln>
        </p:spPr>
      </p:cxnSp>
      <p:cxnSp>
        <p:nvCxnSpPr>
          <p:cNvPr id="25" name="Arrow"/>
          <p:cNvCxnSpPr/>
          <p:nvPr/>
        </p:nvCxnSpPr>
        <p:spPr>
          <a:xfrm>
            <a:off x="9427464" y="2350008"/>
            <a:ext cx="0" cy="237744"/>
          </a:xfrm>
          <a:prstGeom prst="straightConnector1">
            <a:avLst/>
          </a:prstGeom>
          <a:ln w="19050">
            <a:solidFill>
              <a:srgbClr val="24A0D8"/>
            </a:solidFill>
            <a:tailEnd type="triangle" w="med" len="med"/>
          </a:ln>
        </p:spPr>
      </p:cxnSp>
      <p:cxnSp>
        <p:nvCxnSpPr>
          <p:cNvPr id="26" name="Arrow"/>
          <p:cNvCxnSpPr/>
          <p:nvPr/>
        </p:nvCxnSpPr>
        <p:spPr>
          <a:xfrm>
            <a:off x="10451592" y="2587752"/>
            <a:ext cx="0" cy="493776"/>
          </a:xfrm>
          <a:prstGeom prst="straightConnector1">
            <a:avLst/>
          </a:prstGeom>
          <a:ln w="19050">
            <a:solidFill>
              <a:srgbClr val="D85497"/>
            </a:solidFill>
            <a:tailEnd type="triangle" w="med" len="med"/>
          </a:ln>
        </p:spPr>
      </p:cxnSp>
      <p:cxnSp>
        <p:nvCxnSpPr>
          <p:cNvPr id="27" name="Arrow"/>
          <p:cNvCxnSpPr/>
          <p:nvPr/>
        </p:nvCxnSpPr>
        <p:spPr>
          <a:xfrm flipH="1">
            <a:off x="8650224" y="3218688"/>
            <a:ext cx="658368" cy="0"/>
          </a:xfrm>
          <a:prstGeom prst="straightConnector1">
            <a:avLst/>
          </a:prstGeom>
          <a:ln w="19050">
            <a:solidFill>
              <a:srgbClr val="7B8D1E"/>
            </a:solidFill>
            <a:tailEnd type="triangle" w="med" len="med"/>
          </a:ln>
        </p:spPr>
      </p:cxnSp>
      <p:cxnSp>
        <p:nvCxnSpPr>
          <p:cNvPr id="28" name="Arrow"/>
          <p:cNvCxnSpPr/>
          <p:nvPr/>
        </p:nvCxnSpPr>
        <p:spPr>
          <a:xfrm flipH="1">
            <a:off x="3694176" y="3218688"/>
            <a:ext cx="1572768" cy="0"/>
          </a:xfrm>
          <a:prstGeom prst="straightConnector1">
            <a:avLst/>
          </a:prstGeom>
          <a:ln w="19050">
            <a:solidFill>
              <a:srgbClr val="7B8D1E"/>
            </a:solidFill>
            <a:tailEnd type="triangle" w="med" len="med"/>
          </a:ln>
        </p:spPr>
      </p:cxnSp>
      <p:cxnSp>
        <p:nvCxnSpPr>
          <p:cNvPr id="29" name="Arrow"/>
          <p:cNvCxnSpPr/>
          <p:nvPr/>
        </p:nvCxnSpPr>
        <p:spPr>
          <a:xfrm>
            <a:off x="2148840" y="3355848"/>
            <a:ext cx="0" cy="237744"/>
          </a:xfrm>
          <a:prstGeom prst="straightConnector1">
            <a:avLst/>
          </a:prstGeom>
          <a:ln w="19050">
            <a:solidFill>
              <a:srgbClr val="7B8D1E"/>
            </a:solidFill>
            <a:tailEnd type="triangle" w="med" len="med"/>
          </a:ln>
        </p:spPr>
      </p:cxnSp>
      <p:pic>
        <p:nvPicPr>
          <p:cNvPr id="30" name="Equation" descr="One step of the guided sampler"/>
          <p:cNvPicPr>
            <a:picLocks noChangeAspect="1"/>
          </p:cNvPicPr>
          <p:nvPr/>
        </p:nvPicPr>
        <p:blipFill>
          <a:blip r:embed="rId2"/>
          <a:stretch>
            <a:fillRect/>
          </a:stretch>
        </p:blipFill>
        <p:spPr>
          <a:xfrm>
            <a:off x="2792623" y="4069080"/>
            <a:ext cx="6612849" cy="1239835"/>
          </a:xfrm>
          <a:prstGeom prst="rect">
            <a:avLst/>
          </a:prstGeom>
        </p:spPr>
      </p:pic>
      <p:sp>
        <p:nvSpPr>
          <p:cNvPr id="31" name="Label"/>
          <p:cNvSpPr txBox="1"/>
          <p:nvPr/>
        </p:nvSpPr>
        <p:spPr>
          <a:xfrm>
            <a:off x="603504" y="5760720"/>
            <a:ext cx="10991088" cy="502920"/>
          </a:xfrm>
          <a:prstGeom prst="rect">
            <a:avLst/>
          </a:prstGeom>
          <a:noFill/>
        </p:spPr>
        <p:txBody>
          <a:bodyPr wrap="square" lIns="45720" tIns="0" rIns="45720" bIns="0" anchor="t">
            <a:noAutofit/>
          </a:bodyPr>
          <a:lstStyle/>
          <a:p>
            <a:pPr algn="ctr"/>
            <a:r>
              <a:rPr lang="en-GB" sz="1300" dirty="0">
                <a:solidFill>
                  <a:srgbClr val="6E6E6E"/>
                </a:solidFill>
              </a:rPr>
              <a:t>Early in the flow </a:t>
            </a:r>
            <a:r>
              <a:rPr lang="en-GB" sz="1300" dirty="0">
                <a:solidFill>
                  <a:srgbClr val="6E6E6E"/>
                </a:solidFill>
                <a:latin typeface="Cambria Math"/>
                <a:ea typeface="Cambria Math"/>
                <a:cs typeface="Cambria Math"/>
                <a:sym typeface="Cambria Math"/>
              </a:rPr>
              <a:t>τ</a:t>
            </a:r>
            <a:r>
              <a:rPr lang="en-GB" sz="1300" dirty="0">
                <a:solidFill>
                  <a:srgbClr val="6E6E6E"/>
                </a:solidFill>
              </a:rPr>
              <a:t>(s) is mostly noise, whereas </a:t>
            </a:r>
            <a:r>
              <a:rPr lang="en-GB" sz="1300" dirty="0">
                <a:solidFill>
                  <a:srgbClr val="6E6E6E"/>
                </a:solidFill>
                <a:latin typeface="Cambria Math"/>
                <a:ea typeface="Cambria Math"/>
                <a:cs typeface="Cambria Math"/>
                <a:sym typeface="Cambria Math"/>
              </a:rPr>
              <a:t>τ̂</a:t>
            </a:r>
            <a:r>
              <a:rPr lang="en-GB" sz="1300" dirty="0">
                <a:solidFill>
                  <a:srgbClr val="6E6E6E"/>
                </a:solidFill>
              </a:rPr>
              <a:t>(s) is the prior’s estimate of the finished trajectory; the gradient is taken with respect to it, not through the network.</a:t>
            </a:r>
          </a:p>
        </p:txBody>
      </p:sp>
      <p:sp>
        <p:nvSpPr>
          <p:cNvPr id="32" name="Citation"/>
          <p:cNvSpPr txBox="1"/>
          <p:nvPr/>
        </p:nvSpPr>
        <p:spPr>
          <a:xfrm>
            <a:off x="603504" y="6089904"/>
            <a:ext cx="10991088" cy="237744"/>
          </a:xfrm>
          <a:prstGeom prst="rect">
            <a:avLst/>
          </a:prstGeom>
          <a:noFill/>
        </p:spPr>
        <p:txBody>
          <a:bodyPr wrap="square" lIns="45720" tIns="0" rIns="45720" bIns="0" anchor="t">
            <a:noAutofit/>
          </a:bodyPr>
          <a:lstStyle/>
          <a:p>
            <a:pPr algn="l"/>
            <a:r>
              <a:rPr lang="en-GB" sz="1100" dirty="0">
                <a:solidFill>
                  <a:srgbClr val="6E6E6E"/>
                </a:solidFill>
              </a:rPr>
              <a:t>The full sampler is in backup</a:t>
            </a:r>
          </a:p>
        </p:txBody>
      </p:sp>
    </p:spTree>
  </p:cSld>
  <p:clrMapOvr>
    <a:masterClrMapping/>
  </p:clrMapOvr>
  <p:timing>
    <p:tnLst>
      <p:par>
        <p:cTn id="1" dur="indefinite" restart="never" nodeType="tmRoot">
          <p:childTnLst>
            <p:seq concurrent="1" nextAc="seek">
              <p:cTn id="2" dur="indefinite" nodeType="mainSeq">
                <p:childTnLst>
                  <p:par>
                    <p:cTn id="7" fill="hold">
                      <p:stCondLst>
                        <p:cond delay="indefinite"/>
                      </p:stCondLst>
                      <p:childTnLst>
                        <p:par>
                          <p:cTn id="8"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19"/>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6" grpId="0"/>
      <p:bldP spid="20" grpId="0"/>
      <p:bldP spid="27" grpId="0"/>
      <p:bldP spid="21" grpId="0"/>
      <p:bldP spid="28" grpId="0"/>
      <p:bldP spid="22" grpId="0"/>
      <p:bldP spid="29"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Evaluating the plans</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a:t>
            </a:r>
            <a:r>
              <a:rPr lang="en-GB" sz="1300" dirty="0">
                <a:solidFill>
                  <a:srgbClr val="A5A5A5"/>
                </a:solidFill>
              </a:rPr>
              <a:t>    →    </a:t>
            </a:r>
            <a:r>
              <a:rPr lang="en-GB" sz="1300" dirty="0">
                <a:solidFill>
                  <a:srgbClr val="A5A5A5"/>
                </a:solidFill>
              </a:rPr>
              <a:t>Background</a:t>
            </a:r>
            <a:r>
              <a:rPr lang="en-GB" sz="1300" dirty="0">
                <a:solidFill>
                  <a:srgbClr val="A5A5A5"/>
                </a:solidFill>
              </a:rPr>
              <a:t>    →    </a:t>
            </a:r>
            <a:r>
              <a:rPr lang="en-GB" sz="1300" dirty="0">
                <a:solidFill>
                  <a:srgbClr val="A5A5A5"/>
                </a:solidFill>
              </a:rPr>
              <a:t>Method</a:t>
            </a:r>
            <a:r>
              <a:rPr lang="en-GB" sz="1300" dirty="0">
                <a:solidFill>
                  <a:srgbClr val="A5A5A5"/>
                </a:solidFill>
              </a:rPr>
              <a:t>    →    </a:t>
            </a:r>
            <a:r>
              <a:rPr lang="en-GB" sz="1300" b="1" dirty="0">
                <a:solidFill>
                  <a:srgbClr val="004791"/>
                </a:solidFill>
              </a:rPr>
              <a:t>Results</a:t>
            </a:r>
            <a:r>
              <a:rPr lang="en-GB" sz="1300" dirty="0">
                <a:solidFill>
                  <a:srgbClr val="A5A5A5"/>
                </a:solidFill>
              </a:rPr>
              <a:t>    →    </a:t>
            </a:r>
            <a:r>
              <a:rPr lang="en-GB" sz="1300" dirty="0">
                <a:solidFill>
                  <a:srgbClr val="A5A5A5"/>
                </a:solidFill>
              </a:rPr>
              <a:t>Conclusions</a:t>
            </a:r>
          </a:p>
        </p:txBody>
      </p:sp>
      <p:sp>
        <p:nvSpPr>
          <p:cNvPr id="13" name="Slide Number"/>
          <p:cNvSpPr>
            <a:spLocks noGrp="1"/>
          </p:cNvSpPr>
          <p:nvPr>
            <p:ph type="sldNum" sz="quarter" idx="12"/>
          </p:nvPr>
        </p:nvSpPr>
        <p:spPr/>
        <p:txBody>
          <a:bodyPr/>
          <a:lstStyle/>
          <a:p>
            <a:fld id="{619F89D8-7AE3-494A-97F3-03D680869632}" type="slidenum">
              <a:rPr lang="en-GB"/>
              <a:t>1</a:t>
            </a:fld>
            <a:endParaRPr lang="en-GB"/>
          </a:p>
        </p:txBody>
      </p:sp>
      <p:sp>
        <p:nvSpPr>
          <p:cNvPr id="14" name="Band"/>
          <p:cNvSpPr/>
          <p:nvPr/>
        </p:nvSpPr>
        <p:spPr>
          <a:xfrm>
            <a:off x="603504" y="1920240"/>
            <a:ext cx="8077788" cy="1051560"/>
          </a:xfrm>
          <a:prstGeom prst="roundRect">
            <a:avLst>
              <a:gd name="adj" fmla="val 3000"/>
            </a:avLst>
          </a:prstGeom>
          <a:noFill/>
          <a:ln w="9525">
            <a:solidFill>
              <a:srgbClr val="A1A3A6"/>
            </a:solidFill>
            <a:prstDash val="dash"/>
          </a:ln>
        </p:spPr>
        <p:txBody>
          <a:bodyPr wrap="square" lIns="64008" tIns="27432" rIns="64008" bIns="27432" anchor="ctr">
            <a:noAutofit/>
          </a:bodyPr>
          <a:lstStyle/>
          <a:p>
            <a:pPr algn="ctr"/>
            <a:r>
              <a:rPr lang="en-GB" sz="1600" dirty="0">
                <a:solidFill>
                  <a:srgbClr val="262626"/>
                </a:solidFill>
              </a:rPr>
              <a:t/>
            </a:r>
          </a:p>
        </p:txBody>
      </p:sp>
      <p:sp>
        <p:nvSpPr>
          <p:cNvPr id="15" name="Band label"/>
          <p:cNvSpPr txBox="1"/>
          <p:nvPr/>
        </p:nvSpPr>
        <p:spPr>
          <a:xfrm>
            <a:off x="832104" y="1792224"/>
            <a:ext cx="1344168" cy="256032"/>
          </a:xfrm>
          <a:prstGeom prst="rect">
            <a:avLst/>
          </a:prstGeom>
          <a:solidFill>
            <a:srgbClr val="FFFFFF"/>
          </a:solidFill>
        </p:spPr>
        <p:txBody>
          <a:bodyPr wrap="square" lIns="45720" tIns="0" rIns="45720" bIns="0" anchor="t">
            <a:noAutofit/>
          </a:bodyPr>
          <a:lstStyle/>
          <a:p>
            <a:pPr algn="l"/>
            <a:r>
              <a:rPr lang="en-GB" sz="1200" dirty="0">
                <a:solidFill>
                  <a:srgbClr val="6E6E6E"/>
                </a:solidFill>
              </a:rPr>
              <a:t>Offline, once</a:t>
            </a:r>
          </a:p>
        </p:txBody>
      </p:sp>
      <p:sp>
        <p:nvSpPr>
          <p:cNvPr id="16" name="Band"/>
          <p:cNvSpPr/>
          <p:nvPr/>
        </p:nvSpPr>
        <p:spPr>
          <a:xfrm>
            <a:off x="603504" y="3246120"/>
            <a:ext cx="8077788" cy="1051560"/>
          </a:xfrm>
          <a:prstGeom prst="roundRect">
            <a:avLst>
              <a:gd name="adj" fmla="val 3000"/>
            </a:avLst>
          </a:prstGeom>
          <a:noFill/>
          <a:ln w="9525">
            <a:solidFill>
              <a:srgbClr val="A1A3A6"/>
            </a:solidFill>
            <a:prstDash val="dash"/>
          </a:ln>
        </p:spPr>
        <p:txBody>
          <a:bodyPr wrap="square" lIns="64008" tIns="27432" rIns="64008" bIns="27432" anchor="ctr">
            <a:noAutofit/>
          </a:bodyPr>
          <a:lstStyle/>
          <a:p>
            <a:pPr algn="ctr"/>
            <a:r>
              <a:rPr lang="en-GB" sz="1600" dirty="0">
                <a:solidFill>
                  <a:srgbClr val="262626"/>
                </a:solidFill>
              </a:rPr>
              <a:t/>
            </a:r>
          </a:p>
        </p:txBody>
      </p:sp>
      <p:sp>
        <p:nvSpPr>
          <p:cNvPr id="17" name="Band label"/>
          <p:cNvSpPr txBox="1"/>
          <p:nvPr/>
        </p:nvSpPr>
        <p:spPr>
          <a:xfrm>
            <a:off x="832104" y="3118104"/>
            <a:ext cx="2660904" cy="256032"/>
          </a:xfrm>
          <a:prstGeom prst="rect">
            <a:avLst/>
          </a:prstGeom>
          <a:solidFill>
            <a:srgbClr val="FFFFFF"/>
          </a:solidFill>
        </p:spPr>
        <p:txBody>
          <a:bodyPr wrap="square" lIns="45720" tIns="0" rIns="45720" bIns="0" anchor="t">
            <a:noAutofit/>
          </a:bodyPr>
          <a:lstStyle/>
          <a:p>
            <a:pPr algn="l"/>
            <a:r>
              <a:rPr lang="en-GB" sz="1200" dirty="0">
                <a:solidFill>
                  <a:srgbClr val="6E6E6E"/>
                </a:solidFill>
              </a:rPr>
              <a:t>Per requirement, at inference</a:t>
            </a:r>
          </a:p>
        </p:txBody>
      </p:sp>
      <p:sp>
        <p:nvSpPr>
          <p:cNvPr id="18" name="Band"/>
          <p:cNvSpPr/>
          <p:nvPr/>
        </p:nvSpPr>
        <p:spPr>
          <a:xfrm>
            <a:off x="8901996" y="1920240"/>
            <a:ext cx="2692596" cy="4343400"/>
          </a:xfrm>
          <a:prstGeom prst="roundRect">
            <a:avLst>
              <a:gd name="adj" fmla="val 3000"/>
            </a:avLst>
          </a:prstGeom>
          <a:noFill/>
          <a:ln w="9525">
            <a:solidFill>
              <a:srgbClr val="A1A3A6"/>
            </a:solidFill>
            <a:prstDash val="dash"/>
          </a:ln>
        </p:spPr>
        <p:txBody>
          <a:bodyPr wrap="square" lIns="64008" tIns="27432" rIns="64008" bIns="27432" anchor="ctr">
            <a:noAutofit/>
          </a:bodyPr>
          <a:lstStyle/>
          <a:p>
            <a:pPr algn="ctr"/>
            <a:r>
              <a:rPr lang="en-GB" sz="1600" dirty="0">
                <a:solidFill>
                  <a:srgbClr val="262626"/>
                </a:solidFill>
              </a:rPr>
              <a:t/>
            </a:r>
          </a:p>
        </p:txBody>
      </p:sp>
      <p:sp>
        <p:nvSpPr>
          <p:cNvPr id="19" name="Band label"/>
          <p:cNvSpPr txBox="1"/>
          <p:nvPr/>
        </p:nvSpPr>
        <p:spPr>
          <a:xfrm>
            <a:off x="9130596" y="1792224"/>
            <a:ext cx="1261872" cy="256032"/>
          </a:xfrm>
          <a:prstGeom prst="rect">
            <a:avLst/>
          </a:prstGeom>
          <a:solidFill>
            <a:srgbClr val="FFFFFF"/>
          </a:solidFill>
        </p:spPr>
        <p:txBody>
          <a:bodyPr wrap="square" lIns="45720" tIns="0" rIns="45720" bIns="0" anchor="t">
            <a:noAutofit/>
          </a:bodyPr>
          <a:lstStyle/>
          <a:p>
            <a:pPr algn="l"/>
            <a:r>
              <a:rPr lang="en-GB" sz="1200" dirty="0">
                <a:solidFill>
                  <a:srgbClr val="6E6E6E"/>
                </a:solidFill>
              </a:rPr>
              <a:t>Per instance</a:t>
            </a:r>
          </a:p>
        </p:txBody>
      </p:sp>
      <p:sp>
        <p:nvSpPr>
          <p:cNvPr id="20" name="demo"/>
          <p:cNvSpPr/>
          <p:nvPr/>
        </p:nvSpPr>
        <p:spPr>
          <a:xfrm>
            <a:off x="824209" y="2130552"/>
            <a:ext cx="2207046" cy="640080"/>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Demonstrations</a:t>
            </a:r>
          </a:p>
        </p:txBody>
      </p:sp>
      <p:sp>
        <p:nvSpPr>
          <p:cNvPr id="21" name="train"/>
          <p:cNvSpPr/>
          <p:nvPr/>
        </p:nvSpPr>
        <p:spPr>
          <a:xfrm>
            <a:off x="3516804" y="2130552"/>
            <a:ext cx="2207046" cy="640080"/>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Flow-matching training</a:t>
            </a:r>
          </a:p>
        </p:txBody>
      </p:sp>
      <p:sp>
        <p:nvSpPr>
          <p:cNvPr id="22" name="prior"/>
          <p:cNvSpPr/>
          <p:nvPr/>
        </p:nvSpPr>
        <p:spPr>
          <a:xfrm>
            <a:off x="6209400" y="2130552"/>
            <a:ext cx="2207046" cy="640080"/>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Learned prior</a:t>
            </a:r>
          </a:p>
        </p:txBody>
      </p:sp>
      <p:sp>
        <p:nvSpPr>
          <p:cNvPr id="23" name="phi"/>
          <p:cNvSpPr/>
          <p:nvPr/>
        </p:nvSpPr>
        <p:spPr>
          <a:xfrm>
            <a:off x="824209" y="3456432"/>
            <a:ext cx="2207046" cy="640080"/>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STL requirement </a:t>
            </a:r>
            <a:r>
              <a:rPr lang="en-GB" sz="1600" i="1" dirty="0">
                <a:solidFill>
                  <a:srgbClr val="A9A9A9"/>
                </a:solidFill>
              </a:rPr>
              <a:t>φ</a:t>
            </a:r>
          </a:p>
        </p:txBody>
      </p:sp>
      <p:sp>
        <p:nvSpPr>
          <p:cNvPr id="24" name="comp"/>
          <p:cNvSpPr/>
          <p:nvPr/>
        </p:nvSpPr>
        <p:spPr>
          <a:xfrm>
            <a:off x="3516804" y="3456432"/>
            <a:ext cx="2207046" cy="640080"/>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Compiler</a:t>
            </a:r>
          </a:p>
        </p:txBody>
      </p:sp>
      <p:sp>
        <p:nvSpPr>
          <p:cNvPr id="25" name="score"/>
          <p:cNvSpPr/>
          <p:nvPr/>
        </p:nvSpPr>
        <p:spPr>
          <a:xfrm>
            <a:off x="6209400" y="3456432"/>
            <a:ext cx="2207046" cy="640080"/>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Robustness score </a:t>
            </a:r>
            <a:r>
              <a:rPr lang="en-GB" sz="1600" i="1" dirty="0">
                <a:solidFill>
                  <a:srgbClr val="A9A9A9"/>
                </a:solidFill>
              </a:rPr>
              <a:t>ρ</a:t>
            </a:r>
          </a:p>
        </p:txBody>
      </p:sp>
      <p:sp>
        <p:nvSpPr>
          <p:cNvPr id="26" name="samp"/>
          <p:cNvSpPr/>
          <p:nvPr/>
        </p:nvSpPr>
        <p:spPr>
          <a:xfrm>
            <a:off x="9122701" y="2130552"/>
            <a:ext cx="2251187" cy="1965960"/>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Guided sampler</a:t>
            </a:r>
          </a:p>
        </p:txBody>
      </p:sp>
      <p:sp>
        <p:nvSpPr>
          <p:cNvPr id="27" name="plan"/>
          <p:cNvSpPr/>
          <p:nvPr/>
        </p:nvSpPr>
        <p:spPr>
          <a:xfrm>
            <a:off x="9122701" y="4507992"/>
            <a:ext cx="2251187" cy="566928"/>
          </a:xfrm>
          <a:prstGeom prst="roundRect">
            <a:avLst>
              <a:gd name="adj" fmla="val 8000"/>
            </a:avLst>
          </a:prstGeom>
          <a:solidFill>
            <a:srgbClr val="EDF7FC"/>
          </a:solidFill>
          <a:ln w="19050">
            <a:solidFill>
              <a:srgbClr val="24A0D8"/>
            </a:solidFill>
          </a:ln>
        </p:spPr>
        <p:txBody>
          <a:bodyPr wrap="square" lIns="64008" tIns="27432" rIns="64008" bIns="27432" anchor="ctr">
            <a:noAutofit/>
          </a:bodyPr>
          <a:lstStyle/>
          <a:p>
            <a:pPr algn="ctr"/>
            <a:r>
              <a:rPr lang="en-GB" sz="1600" dirty="0">
                <a:solidFill>
                  <a:srgbClr val="262626"/>
                </a:solidFill>
              </a:rPr>
              <a:t>Plan</a:t>
            </a:r>
          </a:p>
        </p:txBody>
      </p:sp>
      <p:sp>
        <p:nvSpPr>
          <p:cNvPr id="28" name="exec"/>
          <p:cNvSpPr/>
          <p:nvPr/>
        </p:nvSpPr>
        <p:spPr>
          <a:xfrm>
            <a:off x="9122701" y="5486400"/>
            <a:ext cx="2251187" cy="566928"/>
          </a:xfrm>
          <a:prstGeom prst="roundRect">
            <a:avLst>
              <a:gd name="adj" fmla="val 8000"/>
            </a:avLst>
          </a:prstGeom>
          <a:solidFill>
            <a:srgbClr val="F9FBEE"/>
          </a:solidFill>
          <a:ln w="19050">
            <a:solidFill>
              <a:srgbClr val="B0C92B"/>
            </a:solidFill>
          </a:ln>
        </p:spPr>
        <p:txBody>
          <a:bodyPr wrap="square" lIns="64008" tIns="27432" rIns="64008" bIns="27432" anchor="ctr">
            <a:noAutofit/>
          </a:bodyPr>
          <a:lstStyle/>
          <a:p>
            <a:pPr algn="ctr"/>
            <a:r>
              <a:rPr lang="en-GB" sz="1600" dirty="0">
                <a:solidFill>
                  <a:srgbClr val="262626"/>
                </a:solidFill>
              </a:rPr>
              <a:t>Execution</a:t>
            </a:r>
          </a:p>
        </p:txBody>
      </p:sp>
      <p:cxnSp>
        <p:nvCxnSpPr>
          <p:cNvPr id="29" name="Arrow"/>
          <p:cNvCxnSpPr/>
          <p:nvPr/>
        </p:nvCxnSpPr>
        <p:spPr>
          <a:xfrm>
            <a:off x="3031254" y="2450592"/>
            <a:ext cx="485550" cy="0"/>
          </a:xfrm>
          <a:prstGeom prst="straightConnector1">
            <a:avLst/>
          </a:prstGeom>
          <a:ln w="25400">
            <a:solidFill>
              <a:srgbClr val="D2D2D2"/>
            </a:solidFill>
            <a:tailEnd type="triangle" w="med" len="med"/>
          </a:ln>
        </p:spPr>
      </p:cxnSp>
      <p:cxnSp>
        <p:nvCxnSpPr>
          <p:cNvPr id="30" name="Arrow"/>
          <p:cNvCxnSpPr/>
          <p:nvPr/>
        </p:nvCxnSpPr>
        <p:spPr>
          <a:xfrm>
            <a:off x="5723850" y="2450592"/>
            <a:ext cx="485550" cy="0"/>
          </a:xfrm>
          <a:prstGeom prst="straightConnector1">
            <a:avLst/>
          </a:prstGeom>
          <a:ln w="25400">
            <a:solidFill>
              <a:srgbClr val="D2D2D2"/>
            </a:solidFill>
            <a:tailEnd type="triangle" w="med" len="med"/>
          </a:ln>
        </p:spPr>
      </p:cxnSp>
      <p:cxnSp>
        <p:nvCxnSpPr>
          <p:cNvPr id="31" name="Arrow"/>
          <p:cNvCxnSpPr/>
          <p:nvPr/>
        </p:nvCxnSpPr>
        <p:spPr>
          <a:xfrm>
            <a:off x="3031254" y="3776472"/>
            <a:ext cx="485550" cy="0"/>
          </a:xfrm>
          <a:prstGeom prst="straightConnector1">
            <a:avLst/>
          </a:prstGeom>
          <a:ln w="25400">
            <a:solidFill>
              <a:srgbClr val="D2D2D2"/>
            </a:solidFill>
            <a:tailEnd type="triangle" w="med" len="med"/>
          </a:ln>
        </p:spPr>
      </p:cxnSp>
      <p:cxnSp>
        <p:nvCxnSpPr>
          <p:cNvPr id="32" name="Arrow"/>
          <p:cNvCxnSpPr/>
          <p:nvPr/>
        </p:nvCxnSpPr>
        <p:spPr>
          <a:xfrm>
            <a:off x="5723850" y="3776472"/>
            <a:ext cx="485550" cy="0"/>
          </a:xfrm>
          <a:prstGeom prst="straightConnector1">
            <a:avLst/>
          </a:prstGeom>
          <a:ln w="25400">
            <a:solidFill>
              <a:srgbClr val="D2D2D2"/>
            </a:solidFill>
            <a:tailEnd type="triangle" w="med" len="med"/>
          </a:ln>
        </p:spPr>
      </p:cxnSp>
      <p:cxnSp>
        <p:nvCxnSpPr>
          <p:cNvPr id="33" name="Arrow"/>
          <p:cNvCxnSpPr/>
          <p:nvPr/>
        </p:nvCxnSpPr>
        <p:spPr>
          <a:xfrm>
            <a:off x="8416446" y="2450592"/>
            <a:ext cx="706255" cy="0"/>
          </a:xfrm>
          <a:prstGeom prst="straightConnector1">
            <a:avLst/>
          </a:prstGeom>
          <a:ln w="25400">
            <a:solidFill>
              <a:srgbClr val="D2D2D2"/>
            </a:solidFill>
            <a:tailEnd type="triangle" w="med" len="med"/>
          </a:ln>
        </p:spPr>
      </p:cxnSp>
      <p:cxnSp>
        <p:nvCxnSpPr>
          <p:cNvPr id="34" name="Arrow"/>
          <p:cNvCxnSpPr/>
          <p:nvPr/>
        </p:nvCxnSpPr>
        <p:spPr>
          <a:xfrm>
            <a:off x="8416446" y="3776472"/>
            <a:ext cx="706255" cy="0"/>
          </a:xfrm>
          <a:prstGeom prst="straightConnector1">
            <a:avLst/>
          </a:prstGeom>
          <a:ln w="25400">
            <a:solidFill>
              <a:srgbClr val="D2D2D2"/>
            </a:solidFill>
            <a:tailEnd type="triangle" w="med" len="med"/>
          </a:ln>
        </p:spPr>
      </p:cxnSp>
      <p:cxnSp>
        <p:nvCxnSpPr>
          <p:cNvPr id="35" name="Arrow"/>
          <p:cNvCxnSpPr/>
          <p:nvPr/>
        </p:nvCxnSpPr>
        <p:spPr>
          <a:xfrm>
            <a:off x="10248294" y="4096512"/>
            <a:ext cx="0" cy="411480"/>
          </a:xfrm>
          <a:prstGeom prst="straightConnector1">
            <a:avLst/>
          </a:prstGeom>
          <a:ln w="25400">
            <a:solidFill>
              <a:srgbClr val="24A0D8"/>
            </a:solidFill>
            <a:tailEnd type="triangle" w="med" len="med"/>
          </a:ln>
        </p:spPr>
      </p:cxnSp>
      <p:cxnSp>
        <p:nvCxnSpPr>
          <p:cNvPr id="36" name="Arrow"/>
          <p:cNvCxnSpPr/>
          <p:nvPr/>
        </p:nvCxnSpPr>
        <p:spPr>
          <a:xfrm>
            <a:off x="10248294" y="5074920"/>
            <a:ext cx="0" cy="411480"/>
          </a:xfrm>
          <a:prstGeom prst="straightConnector1">
            <a:avLst/>
          </a:prstGeom>
          <a:ln w="25400">
            <a:solidFill>
              <a:srgbClr val="B0C92B"/>
            </a:solidFill>
            <a:tailEnd type="triangle" w="med" len="med"/>
          </a:ln>
        </p:spPr>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Experimental setup</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a:t>
            </a:r>
            <a:r>
              <a:rPr lang="en-GB" sz="1300" dirty="0">
                <a:solidFill>
                  <a:srgbClr val="A5A5A5"/>
                </a:solidFill>
              </a:rPr>
              <a:t>    →    </a:t>
            </a:r>
            <a:r>
              <a:rPr lang="en-GB" sz="1300" dirty="0">
                <a:solidFill>
                  <a:srgbClr val="A5A5A5"/>
                </a:solidFill>
              </a:rPr>
              <a:t>Background</a:t>
            </a:r>
            <a:r>
              <a:rPr lang="en-GB" sz="1300" dirty="0">
                <a:solidFill>
                  <a:srgbClr val="A5A5A5"/>
                </a:solidFill>
              </a:rPr>
              <a:t>    →    </a:t>
            </a:r>
            <a:r>
              <a:rPr lang="en-GB" sz="1300" dirty="0">
                <a:solidFill>
                  <a:srgbClr val="A5A5A5"/>
                </a:solidFill>
              </a:rPr>
              <a:t>Method</a:t>
            </a:r>
            <a:r>
              <a:rPr lang="en-GB" sz="1300" dirty="0">
                <a:solidFill>
                  <a:srgbClr val="A5A5A5"/>
                </a:solidFill>
              </a:rPr>
              <a:t>    →    </a:t>
            </a:r>
            <a:r>
              <a:rPr lang="en-GB" sz="1300" b="1" dirty="0">
                <a:solidFill>
                  <a:srgbClr val="004791"/>
                </a:solidFill>
              </a:rPr>
              <a:t>Results</a:t>
            </a:r>
            <a:r>
              <a:rPr lang="en-GB" sz="1300" dirty="0">
                <a:solidFill>
                  <a:srgbClr val="A5A5A5"/>
                </a:solidFill>
              </a:rPr>
              <a:t>    →    </a:t>
            </a:r>
            <a:r>
              <a:rPr lang="en-GB" sz="1300" dirty="0">
                <a:solidFill>
                  <a:srgbClr val="A5A5A5"/>
                </a:solidFill>
              </a:rPr>
              <a:t>Conclusions</a:t>
            </a:r>
          </a:p>
        </p:txBody>
      </p:sp>
      <p:sp>
        <p:nvSpPr>
          <p:cNvPr id="13" name="Slide Number"/>
          <p:cNvSpPr>
            <a:spLocks noGrp="1"/>
          </p:cNvSpPr>
          <p:nvPr>
            <p:ph type="sldNum" sz="quarter" idx="12"/>
          </p:nvPr>
        </p:nvSpPr>
        <p:spPr/>
        <p:txBody>
          <a:bodyPr/>
          <a:lstStyle/>
          <a:p>
            <a:fld id="{619F89D8-7AE3-494A-97F3-03D680869632}" type="slidenum">
              <a:rPr lang="en-GB"/>
              <a:t>1</a:t>
            </a:fld>
            <a:endParaRPr lang="en-GB"/>
          </a:p>
        </p:txBody>
      </p:sp>
      <p:pic>
        <p:nvPicPr>
          <p:cNvPr id="14" name="Figure" descr="Planar navigation"/>
          <p:cNvPicPr>
            <a:picLocks noChangeAspect="1"/>
          </p:cNvPicPr>
          <p:nvPr/>
        </p:nvPicPr>
        <p:blipFill>
          <a:blip r:embed="rId2"/>
          <a:stretch>
            <a:fillRect/>
          </a:stretch>
        </p:blipFill>
        <p:spPr>
          <a:xfrm>
            <a:off x="603504" y="2034540"/>
            <a:ext cx="2377440" cy="2377440"/>
          </a:xfrm>
          <a:prstGeom prst="rect">
            <a:avLst/>
          </a:prstGeom>
        </p:spPr>
      </p:pic>
      <p:sp>
        <p:nvSpPr>
          <p:cNvPr id="15" name="Label"/>
          <p:cNvSpPr txBox="1"/>
          <p:nvPr/>
        </p:nvSpPr>
        <p:spPr>
          <a:xfrm>
            <a:off x="603504" y="4617720"/>
            <a:ext cx="2377440" cy="274320"/>
          </a:xfrm>
          <a:prstGeom prst="rect">
            <a:avLst/>
          </a:prstGeom>
          <a:noFill/>
        </p:spPr>
        <p:txBody>
          <a:bodyPr wrap="square" lIns="45720" tIns="0" rIns="45720" bIns="0" anchor="t">
            <a:noAutofit/>
          </a:bodyPr>
          <a:lstStyle/>
          <a:p>
            <a:pPr algn="ctr"/>
            <a:r>
              <a:rPr lang="en-GB" sz="1600" b="1" dirty="0">
                <a:solidFill>
                  <a:srgbClr val="262626"/>
                </a:solidFill>
              </a:rPr>
              <a:t>Planar navigation</a:t>
            </a:r>
          </a:p>
        </p:txBody>
      </p:sp>
      <p:sp>
        <p:nvSpPr>
          <p:cNvPr id="16" name="Label"/>
          <p:cNvSpPr txBox="1"/>
          <p:nvPr/>
        </p:nvSpPr>
        <p:spPr>
          <a:xfrm>
            <a:off x="603504" y="4910328"/>
            <a:ext cx="2377440" cy="274320"/>
          </a:xfrm>
          <a:prstGeom prst="rect">
            <a:avLst/>
          </a:prstGeom>
          <a:noFill/>
        </p:spPr>
        <p:txBody>
          <a:bodyPr wrap="square" lIns="45720" tIns="0" rIns="45720" bIns="0" anchor="t">
            <a:noAutofit/>
          </a:bodyPr>
          <a:lstStyle/>
          <a:p>
            <a:pPr algn="ctr"/>
            <a:r>
              <a:rPr lang="en-GB" sz="1300" dirty="0">
                <a:solidFill>
                  <a:srgbClr val="6E6E6E"/>
                </a:solidFill>
              </a:rPr>
              <a:t>100 runs per class, plans only</a:t>
            </a:r>
          </a:p>
        </p:txBody>
      </p:sp>
      <p:pic>
        <p:nvPicPr>
          <p:cNvPr id="17" name="Figure" descr="Cube manipulation"/>
          <p:cNvPicPr>
            <a:picLocks noChangeAspect="1"/>
          </p:cNvPicPr>
          <p:nvPr/>
        </p:nvPicPr>
        <p:blipFill>
          <a:blip r:embed="rId3"/>
          <a:stretch>
            <a:fillRect/>
          </a:stretch>
        </p:blipFill>
        <p:spPr>
          <a:xfrm>
            <a:off x="3163824" y="2034540"/>
            <a:ext cx="2377440" cy="2377440"/>
          </a:xfrm>
          <a:prstGeom prst="rect">
            <a:avLst/>
          </a:prstGeom>
        </p:spPr>
      </p:pic>
      <p:sp>
        <p:nvSpPr>
          <p:cNvPr id="18" name="Label"/>
          <p:cNvSpPr txBox="1"/>
          <p:nvPr/>
        </p:nvSpPr>
        <p:spPr>
          <a:xfrm>
            <a:off x="3163824" y="4617720"/>
            <a:ext cx="2377440" cy="274320"/>
          </a:xfrm>
          <a:prstGeom prst="rect">
            <a:avLst/>
          </a:prstGeom>
          <a:noFill/>
        </p:spPr>
        <p:txBody>
          <a:bodyPr wrap="square" lIns="45720" tIns="0" rIns="45720" bIns="0" anchor="t">
            <a:noAutofit/>
          </a:bodyPr>
          <a:lstStyle/>
          <a:p>
            <a:pPr algn="ctr"/>
            <a:r>
              <a:rPr lang="en-GB" sz="1600" b="1" dirty="0">
                <a:solidFill>
                  <a:srgbClr val="262626"/>
                </a:solidFill>
              </a:rPr>
              <a:t>Cube manipulation</a:t>
            </a:r>
          </a:p>
        </p:txBody>
      </p:sp>
      <p:sp>
        <p:nvSpPr>
          <p:cNvPr id="19" name="Label"/>
          <p:cNvSpPr txBox="1"/>
          <p:nvPr/>
        </p:nvSpPr>
        <p:spPr>
          <a:xfrm>
            <a:off x="3163824" y="4910328"/>
            <a:ext cx="2377440" cy="274320"/>
          </a:xfrm>
          <a:prstGeom prst="rect">
            <a:avLst/>
          </a:prstGeom>
          <a:noFill/>
        </p:spPr>
        <p:txBody>
          <a:bodyPr wrap="square" lIns="45720" tIns="0" rIns="45720" bIns="0" anchor="t">
            <a:noAutofit/>
          </a:bodyPr>
          <a:lstStyle/>
          <a:p>
            <a:pPr algn="ctr"/>
            <a:r>
              <a:rPr lang="en-GB" sz="1300" dirty="0">
                <a:solidFill>
                  <a:srgbClr val="6E6E6E"/>
                </a:solidFill>
              </a:rPr>
              <a:t>10 runs per class, executed</a:t>
            </a:r>
          </a:p>
        </p:txBody>
      </p:sp>
      <p:sp>
        <p:nvSpPr>
          <p:cNvPr id="20" name="Label"/>
          <p:cNvSpPr txBox="1"/>
          <p:nvPr/>
        </p:nvSpPr>
        <p:spPr>
          <a:xfrm>
            <a:off x="5742432" y="2103120"/>
            <a:ext cx="2880360" cy="502920"/>
          </a:xfrm>
          <a:prstGeom prst="rect">
            <a:avLst/>
          </a:prstGeom>
          <a:noFill/>
        </p:spPr>
        <p:txBody>
          <a:bodyPr wrap="square" lIns="45720" tIns="0" rIns="45720" bIns="0" anchor="b">
            <a:noAutofit/>
          </a:bodyPr>
          <a:lstStyle/>
          <a:p>
            <a:pPr algn="l"/>
            <a:r>
              <a:rPr lang="en-GB" sz="1400" dirty="0">
                <a:solidFill>
                  <a:srgbClr val="6E6E6E"/>
                </a:solidFill>
              </a:rPr>
              <a:t>Planner</a:t>
            </a:r>
          </a:p>
        </p:txBody>
      </p:sp>
      <p:sp>
        <p:nvSpPr>
          <p:cNvPr id="21" name="Label"/>
          <p:cNvSpPr txBox="1"/>
          <p:nvPr/>
        </p:nvSpPr>
        <p:spPr>
          <a:xfrm>
            <a:off x="8622792" y="2103120"/>
            <a:ext cx="868680" cy="502920"/>
          </a:xfrm>
          <a:prstGeom prst="rect">
            <a:avLst/>
          </a:prstGeom>
          <a:noFill/>
        </p:spPr>
        <p:txBody>
          <a:bodyPr wrap="square" lIns="45720" tIns="0" rIns="45720" bIns="0" anchor="b">
            <a:noAutofit/>
          </a:bodyPr>
          <a:lstStyle/>
          <a:p>
            <a:pPr algn="ctr"/>
            <a:r>
              <a:rPr lang="en-GB" sz="1400" dirty="0">
                <a:solidFill>
                  <a:srgbClr val="6E6E6E"/>
                </a:solidFill>
              </a:rPr>
              <a:t>Learned prior</a:t>
            </a:r>
          </a:p>
        </p:txBody>
      </p:sp>
      <p:sp>
        <p:nvSpPr>
          <p:cNvPr id="22" name="Label"/>
          <p:cNvSpPr txBox="1"/>
          <p:nvPr/>
        </p:nvSpPr>
        <p:spPr>
          <a:xfrm>
            <a:off x="9491472" y="2103120"/>
            <a:ext cx="1234440" cy="502920"/>
          </a:xfrm>
          <a:prstGeom prst="rect">
            <a:avLst/>
          </a:prstGeom>
          <a:noFill/>
        </p:spPr>
        <p:txBody>
          <a:bodyPr wrap="square" lIns="45720" tIns="0" rIns="45720" bIns="0" anchor="b">
            <a:noAutofit/>
          </a:bodyPr>
          <a:lstStyle/>
          <a:p>
            <a:pPr algn="ctr"/>
            <a:r>
              <a:rPr lang="en-GB" sz="1400" dirty="0">
                <a:solidFill>
                  <a:srgbClr val="6E6E6E"/>
                </a:solidFill>
              </a:rPr>
              <a:t>Requirement</a:t>
            </a:r>
          </a:p>
        </p:txBody>
      </p:sp>
      <p:sp>
        <p:nvSpPr>
          <p:cNvPr id="23" name="Label"/>
          <p:cNvSpPr txBox="1"/>
          <p:nvPr/>
        </p:nvSpPr>
        <p:spPr>
          <a:xfrm>
            <a:off x="10725912" y="2103120"/>
            <a:ext cx="868680" cy="502920"/>
          </a:xfrm>
          <a:prstGeom prst="rect">
            <a:avLst/>
          </a:prstGeom>
          <a:noFill/>
        </p:spPr>
        <p:txBody>
          <a:bodyPr wrap="square" lIns="45720" tIns="0" rIns="45720" bIns="0" anchor="b">
            <a:noAutofit/>
          </a:bodyPr>
          <a:lstStyle/>
          <a:p>
            <a:pPr algn="ctr"/>
            <a:r>
              <a:rPr lang="en-GB" sz="1400" dirty="0">
                <a:solidFill>
                  <a:srgbClr val="6E6E6E"/>
                </a:solidFill>
              </a:rPr>
              <a:t>Endpoint pin</a:t>
            </a:r>
          </a:p>
        </p:txBody>
      </p:sp>
      <p:cxnSp>
        <p:nvCxnSpPr>
          <p:cNvPr id="24" name="Rule"/>
          <p:cNvCxnSpPr/>
          <p:nvPr/>
        </p:nvCxnSpPr>
        <p:spPr>
          <a:xfrm>
            <a:off x="5742432" y="2670048"/>
            <a:ext cx="5852160" cy="0"/>
          </a:xfrm>
          <a:prstGeom prst="straightConnector1">
            <a:avLst/>
          </a:prstGeom>
          <a:ln w="9525">
            <a:solidFill>
              <a:srgbClr val="D2D2D2"/>
            </a:solidFill>
          </a:ln>
        </p:spPr>
      </p:cxnSp>
      <p:sp>
        <p:nvSpPr>
          <p:cNvPr id="25" name="Label"/>
          <p:cNvSpPr txBox="1"/>
          <p:nvPr/>
        </p:nvSpPr>
        <p:spPr>
          <a:xfrm>
            <a:off x="5742432" y="2743200"/>
            <a:ext cx="2880360" cy="566928"/>
          </a:xfrm>
          <a:prstGeom prst="rect">
            <a:avLst/>
          </a:prstGeom>
          <a:noFill/>
        </p:spPr>
        <p:txBody>
          <a:bodyPr wrap="square" lIns="45720" tIns="0" rIns="45720" bIns="0" anchor="ctr">
            <a:noAutofit/>
          </a:bodyPr>
          <a:lstStyle/>
          <a:p>
            <a:pPr algn="l"/>
            <a:r>
              <a:rPr lang="en-GB" sz="1500" b="1" dirty="0">
                <a:solidFill>
                  <a:srgbClr val="9A9A9A"/>
                </a:solidFill>
              </a:rPr>
              <a:t>Endpoint-inpaint planner</a:t>
            </a:r>
          </a:p>
        </p:txBody>
      </p:sp>
      <p:sp>
        <p:nvSpPr>
          <p:cNvPr id="26" name="Label"/>
          <p:cNvSpPr txBox="1"/>
          <p:nvPr/>
        </p:nvSpPr>
        <p:spPr>
          <a:xfrm>
            <a:off x="8622792" y="2743200"/>
            <a:ext cx="868680" cy="566928"/>
          </a:xfrm>
          <a:prstGeom prst="rect">
            <a:avLst/>
          </a:prstGeom>
          <a:noFill/>
        </p:spPr>
        <p:txBody>
          <a:bodyPr wrap="square" lIns="45720" tIns="0" rIns="45720" bIns="0" anchor="ctr">
            <a:noAutofit/>
          </a:bodyPr>
          <a:lstStyle/>
          <a:p>
            <a:pPr algn="ctr"/>
            <a:r>
              <a:rPr lang="en-GB" sz="2200" dirty="0">
                <a:solidFill>
                  <a:srgbClr val="262626"/>
                </a:solidFill>
              </a:rPr>
              <a:t>✓</a:t>
            </a:r>
          </a:p>
        </p:txBody>
      </p:sp>
      <p:sp>
        <p:nvSpPr>
          <p:cNvPr id="27" name="Label"/>
          <p:cNvSpPr txBox="1"/>
          <p:nvPr/>
        </p:nvSpPr>
        <p:spPr>
          <a:xfrm>
            <a:off x="9491472" y="2743200"/>
            <a:ext cx="1234440" cy="566928"/>
          </a:xfrm>
          <a:prstGeom prst="rect">
            <a:avLst/>
          </a:prstGeom>
          <a:noFill/>
        </p:spPr>
        <p:txBody>
          <a:bodyPr wrap="square" lIns="45720" tIns="0" rIns="45720" bIns="0" anchor="ctr">
            <a:noAutofit/>
          </a:bodyPr>
          <a:lstStyle/>
          <a:p>
            <a:pPr algn="ctr"/>
            <a:r>
              <a:rPr lang="en-GB" sz="2200" dirty="0">
                <a:solidFill>
                  <a:srgbClr val="262626"/>
                </a:solidFill>
              </a:rPr>
              <a:t/>
            </a:r>
          </a:p>
        </p:txBody>
      </p:sp>
      <p:sp>
        <p:nvSpPr>
          <p:cNvPr id="28" name="Label"/>
          <p:cNvSpPr txBox="1"/>
          <p:nvPr/>
        </p:nvSpPr>
        <p:spPr>
          <a:xfrm>
            <a:off x="10725912" y="2743200"/>
            <a:ext cx="868680" cy="566928"/>
          </a:xfrm>
          <a:prstGeom prst="rect">
            <a:avLst/>
          </a:prstGeom>
          <a:noFill/>
        </p:spPr>
        <p:txBody>
          <a:bodyPr wrap="square" lIns="45720" tIns="0" rIns="45720" bIns="0" anchor="ctr">
            <a:noAutofit/>
          </a:bodyPr>
          <a:lstStyle/>
          <a:p>
            <a:pPr algn="ctr"/>
            <a:r>
              <a:rPr lang="en-GB" sz="2200" dirty="0">
                <a:solidFill>
                  <a:srgbClr val="262626"/>
                </a:solidFill>
              </a:rPr>
              <a:t>✓</a:t>
            </a:r>
          </a:p>
        </p:txBody>
      </p:sp>
      <p:cxnSp>
        <p:nvCxnSpPr>
          <p:cNvPr id="29" name="Rule"/>
          <p:cNvCxnSpPr/>
          <p:nvPr/>
        </p:nvCxnSpPr>
        <p:spPr>
          <a:xfrm>
            <a:off x="5742432" y="3401568"/>
            <a:ext cx="5852160" cy="0"/>
          </a:xfrm>
          <a:prstGeom prst="straightConnector1">
            <a:avLst/>
          </a:prstGeom>
          <a:ln w="9525">
            <a:solidFill>
              <a:srgbClr val="D2D2D2"/>
            </a:solidFill>
          </a:ln>
        </p:spPr>
      </p:cxnSp>
      <p:sp>
        <p:nvSpPr>
          <p:cNvPr id="30" name="Label"/>
          <p:cNvSpPr txBox="1"/>
          <p:nvPr/>
        </p:nvSpPr>
        <p:spPr>
          <a:xfrm>
            <a:off x="5742432" y="3474720"/>
            <a:ext cx="2880360" cy="566928"/>
          </a:xfrm>
          <a:prstGeom prst="rect">
            <a:avLst/>
          </a:prstGeom>
          <a:noFill/>
        </p:spPr>
        <p:txBody>
          <a:bodyPr wrap="square" lIns="45720" tIns="0" rIns="45720" bIns="0" anchor="ctr">
            <a:noAutofit/>
          </a:bodyPr>
          <a:lstStyle/>
          <a:p>
            <a:pPr algn="l"/>
            <a:r>
              <a:rPr lang="en-GB" sz="1500" b="1" dirty="0">
                <a:solidFill>
                  <a:srgbClr val="1954A6"/>
                </a:solidFill>
              </a:rPr>
              <a:t>STL-FM</a:t>
            </a:r>
          </a:p>
        </p:txBody>
      </p:sp>
      <p:sp>
        <p:nvSpPr>
          <p:cNvPr id="31" name="Label"/>
          <p:cNvSpPr txBox="1"/>
          <p:nvPr/>
        </p:nvSpPr>
        <p:spPr>
          <a:xfrm>
            <a:off x="8622792" y="3474720"/>
            <a:ext cx="868680" cy="566928"/>
          </a:xfrm>
          <a:prstGeom prst="rect">
            <a:avLst/>
          </a:prstGeom>
          <a:noFill/>
        </p:spPr>
        <p:txBody>
          <a:bodyPr wrap="square" lIns="45720" tIns="0" rIns="45720" bIns="0" anchor="ctr">
            <a:noAutofit/>
          </a:bodyPr>
          <a:lstStyle/>
          <a:p>
            <a:pPr algn="ctr"/>
            <a:r>
              <a:rPr lang="en-GB" sz="2200" dirty="0">
                <a:solidFill>
                  <a:srgbClr val="262626"/>
                </a:solidFill>
              </a:rPr>
              <a:t>✓</a:t>
            </a:r>
          </a:p>
        </p:txBody>
      </p:sp>
      <p:sp>
        <p:nvSpPr>
          <p:cNvPr id="32" name="Label"/>
          <p:cNvSpPr txBox="1"/>
          <p:nvPr/>
        </p:nvSpPr>
        <p:spPr>
          <a:xfrm>
            <a:off x="9491472" y="3474720"/>
            <a:ext cx="1234440" cy="566928"/>
          </a:xfrm>
          <a:prstGeom prst="rect">
            <a:avLst/>
          </a:prstGeom>
          <a:noFill/>
        </p:spPr>
        <p:txBody>
          <a:bodyPr wrap="square" lIns="45720" tIns="0" rIns="45720" bIns="0" anchor="ctr">
            <a:noAutofit/>
          </a:bodyPr>
          <a:lstStyle/>
          <a:p>
            <a:pPr algn="ctr"/>
            <a:r>
              <a:rPr lang="en-GB" sz="2200" dirty="0">
                <a:solidFill>
                  <a:srgbClr val="262626"/>
                </a:solidFill>
              </a:rPr>
              <a:t>✓</a:t>
            </a:r>
          </a:p>
        </p:txBody>
      </p:sp>
      <p:sp>
        <p:nvSpPr>
          <p:cNvPr id="33" name="Label"/>
          <p:cNvSpPr txBox="1"/>
          <p:nvPr/>
        </p:nvSpPr>
        <p:spPr>
          <a:xfrm>
            <a:off x="10725912" y="3474720"/>
            <a:ext cx="868680" cy="566928"/>
          </a:xfrm>
          <a:prstGeom prst="rect">
            <a:avLst/>
          </a:prstGeom>
          <a:noFill/>
        </p:spPr>
        <p:txBody>
          <a:bodyPr wrap="square" lIns="45720" tIns="0" rIns="45720" bIns="0" anchor="ctr">
            <a:noAutofit/>
          </a:bodyPr>
          <a:lstStyle/>
          <a:p>
            <a:pPr algn="ctr"/>
            <a:r>
              <a:rPr lang="en-GB" sz="2200" dirty="0">
                <a:solidFill>
                  <a:srgbClr val="262626"/>
                </a:solidFill>
              </a:rPr>
              <a:t/>
            </a:r>
          </a:p>
        </p:txBody>
      </p:sp>
      <p:cxnSp>
        <p:nvCxnSpPr>
          <p:cNvPr id="34" name="Rule"/>
          <p:cNvCxnSpPr/>
          <p:nvPr/>
        </p:nvCxnSpPr>
        <p:spPr>
          <a:xfrm>
            <a:off x="5742432" y="4133088"/>
            <a:ext cx="5852160" cy="0"/>
          </a:xfrm>
          <a:prstGeom prst="straightConnector1">
            <a:avLst/>
          </a:prstGeom>
          <a:ln w="9525">
            <a:solidFill>
              <a:srgbClr val="D2D2D2"/>
            </a:solidFill>
          </a:ln>
        </p:spPr>
      </p:cxnSp>
      <p:sp>
        <p:nvSpPr>
          <p:cNvPr id="35" name="Label"/>
          <p:cNvSpPr txBox="1"/>
          <p:nvPr/>
        </p:nvSpPr>
        <p:spPr>
          <a:xfrm>
            <a:off x="5742432" y="4206240"/>
            <a:ext cx="2880360" cy="566928"/>
          </a:xfrm>
          <a:prstGeom prst="rect">
            <a:avLst/>
          </a:prstGeom>
          <a:noFill/>
        </p:spPr>
        <p:txBody>
          <a:bodyPr wrap="square" lIns="45720" tIns="0" rIns="45720" bIns="0" anchor="ctr">
            <a:noAutofit/>
          </a:bodyPr>
          <a:lstStyle/>
          <a:p>
            <a:pPr algn="l"/>
            <a:r>
              <a:rPr lang="en-GB" sz="1500" b="1" dirty="0">
                <a:solidFill>
                  <a:srgbClr val="D85497"/>
                </a:solidFill>
              </a:rPr>
              <a:t>STL Optimizer (no-prior)</a:t>
            </a:r>
          </a:p>
        </p:txBody>
      </p:sp>
      <p:sp>
        <p:nvSpPr>
          <p:cNvPr id="36" name="Label"/>
          <p:cNvSpPr txBox="1"/>
          <p:nvPr/>
        </p:nvSpPr>
        <p:spPr>
          <a:xfrm>
            <a:off x="8622792" y="4206240"/>
            <a:ext cx="868680" cy="566928"/>
          </a:xfrm>
          <a:prstGeom prst="rect">
            <a:avLst/>
          </a:prstGeom>
          <a:noFill/>
        </p:spPr>
        <p:txBody>
          <a:bodyPr wrap="square" lIns="45720" tIns="0" rIns="45720" bIns="0" anchor="ctr">
            <a:noAutofit/>
          </a:bodyPr>
          <a:lstStyle/>
          <a:p>
            <a:pPr algn="ctr"/>
            <a:r>
              <a:rPr lang="en-GB" sz="2200" dirty="0">
                <a:solidFill>
                  <a:srgbClr val="262626"/>
                </a:solidFill>
              </a:rPr>
              <a:t/>
            </a:r>
          </a:p>
        </p:txBody>
      </p:sp>
      <p:sp>
        <p:nvSpPr>
          <p:cNvPr id="37" name="Label"/>
          <p:cNvSpPr txBox="1"/>
          <p:nvPr/>
        </p:nvSpPr>
        <p:spPr>
          <a:xfrm>
            <a:off x="9491472" y="4206240"/>
            <a:ext cx="1234440" cy="566928"/>
          </a:xfrm>
          <a:prstGeom prst="rect">
            <a:avLst/>
          </a:prstGeom>
          <a:noFill/>
        </p:spPr>
        <p:txBody>
          <a:bodyPr wrap="square" lIns="45720" tIns="0" rIns="45720" bIns="0" anchor="ctr">
            <a:noAutofit/>
          </a:bodyPr>
          <a:lstStyle/>
          <a:p>
            <a:pPr algn="ctr"/>
            <a:r>
              <a:rPr lang="en-GB" sz="2200" dirty="0">
                <a:solidFill>
                  <a:srgbClr val="262626"/>
                </a:solidFill>
              </a:rPr>
              <a:t>✓</a:t>
            </a:r>
          </a:p>
        </p:txBody>
      </p:sp>
      <p:sp>
        <p:nvSpPr>
          <p:cNvPr id="38" name="Label"/>
          <p:cNvSpPr txBox="1"/>
          <p:nvPr/>
        </p:nvSpPr>
        <p:spPr>
          <a:xfrm>
            <a:off x="10725912" y="4206240"/>
            <a:ext cx="868680" cy="566928"/>
          </a:xfrm>
          <a:prstGeom prst="rect">
            <a:avLst/>
          </a:prstGeom>
          <a:noFill/>
        </p:spPr>
        <p:txBody>
          <a:bodyPr wrap="square" lIns="45720" tIns="0" rIns="45720" bIns="0" anchor="ctr">
            <a:noAutofit/>
          </a:bodyPr>
          <a:lstStyle/>
          <a:p>
            <a:pPr algn="ctr"/>
            <a:r>
              <a:rPr lang="en-GB" sz="2200" dirty="0">
                <a:solidFill>
                  <a:srgbClr val="262626"/>
                </a:solidFill>
              </a:rPr>
              <a:t/>
            </a:r>
          </a:p>
        </p:txBody>
      </p:sp>
      <p:cxnSp>
        <p:nvCxnSpPr>
          <p:cNvPr id="39" name="Rule"/>
          <p:cNvCxnSpPr/>
          <p:nvPr/>
        </p:nvCxnSpPr>
        <p:spPr>
          <a:xfrm>
            <a:off x="5742432" y="4864608"/>
            <a:ext cx="5852160" cy="0"/>
          </a:xfrm>
          <a:prstGeom prst="straightConnector1">
            <a:avLst/>
          </a:prstGeom>
          <a:ln w="9525">
            <a:solidFill>
              <a:srgbClr val="D2D2D2"/>
            </a:solidFill>
          </a:ln>
        </p:spPr>
      </p:cxnSp>
      <p:sp>
        <p:nvSpPr>
          <p:cNvPr id="40" name="Label"/>
          <p:cNvSpPr txBox="1"/>
          <p:nvPr/>
        </p:nvSpPr>
        <p:spPr>
          <a:xfrm>
            <a:off x="5742432" y="5029200"/>
            <a:ext cx="5669280" cy="548640"/>
          </a:xfrm>
          <a:prstGeom prst="rect">
            <a:avLst/>
          </a:prstGeom>
          <a:noFill/>
        </p:spPr>
        <p:txBody>
          <a:bodyPr wrap="square" lIns="45720" tIns="0" rIns="45720" bIns="0" anchor="t">
            <a:noAutofit/>
          </a:bodyPr>
          <a:lstStyle/>
          <a:p>
            <a:pPr algn="l"/>
            <a:r>
              <a:rPr lang="en-GB" sz="1300" dirty="0">
                <a:solidFill>
                  <a:srgbClr val="6E6E6E"/>
                </a:solidFill>
              </a:rPr>
              <a:t>STL-FM with endpoint pin differs from STL-FM in satisfaction rate by at most 0.05 on any of the six classes (backup)</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Six requirement classes</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a:t>
            </a:r>
            <a:r>
              <a:rPr lang="en-GB" sz="1300" dirty="0">
                <a:solidFill>
                  <a:srgbClr val="A5A5A5"/>
                </a:solidFill>
              </a:rPr>
              <a:t>    →    </a:t>
            </a:r>
            <a:r>
              <a:rPr lang="en-GB" sz="1300" dirty="0">
                <a:solidFill>
                  <a:srgbClr val="A5A5A5"/>
                </a:solidFill>
              </a:rPr>
              <a:t>Background</a:t>
            </a:r>
            <a:r>
              <a:rPr lang="en-GB" sz="1300" dirty="0">
                <a:solidFill>
                  <a:srgbClr val="A5A5A5"/>
                </a:solidFill>
              </a:rPr>
              <a:t>    →    </a:t>
            </a:r>
            <a:r>
              <a:rPr lang="en-GB" sz="1300" dirty="0">
                <a:solidFill>
                  <a:srgbClr val="A5A5A5"/>
                </a:solidFill>
              </a:rPr>
              <a:t>Method</a:t>
            </a:r>
            <a:r>
              <a:rPr lang="en-GB" sz="1300" dirty="0">
                <a:solidFill>
                  <a:srgbClr val="A5A5A5"/>
                </a:solidFill>
              </a:rPr>
              <a:t>    →    </a:t>
            </a:r>
            <a:r>
              <a:rPr lang="en-GB" sz="1300" b="1" dirty="0">
                <a:solidFill>
                  <a:srgbClr val="004791"/>
                </a:solidFill>
              </a:rPr>
              <a:t>Results</a:t>
            </a:r>
            <a:r>
              <a:rPr lang="en-GB" sz="1300" dirty="0">
                <a:solidFill>
                  <a:srgbClr val="A5A5A5"/>
                </a:solidFill>
              </a:rPr>
              <a:t>    →    </a:t>
            </a:r>
            <a:r>
              <a:rPr lang="en-GB" sz="1300" dirty="0">
                <a:solidFill>
                  <a:srgbClr val="A5A5A5"/>
                </a:solidFill>
              </a:rPr>
              <a:t>Conclusions</a:t>
            </a:r>
          </a:p>
        </p:txBody>
      </p:sp>
      <p:sp>
        <p:nvSpPr>
          <p:cNvPr id="13" name="Slide Number"/>
          <p:cNvSpPr>
            <a:spLocks noGrp="1"/>
          </p:cNvSpPr>
          <p:nvPr>
            <p:ph type="sldNum" sz="quarter" idx="12"/>
          </p:nvPr>
        </p:nvSpPr>
        <p:spPr/>
        <p:txBody>
          <a:bodyPr/>
          <a:lstStyle/>
          <a:p>
            <a:fld id="{619F89D8-7AE3-494A-97F3-03D680869632}" type="slidenum">
              <a:rPr lang="en-GB"/>
              <a:t>1</a:t>
            </a:fld>
            <a:endParaRPr lang="en-GB"/>
          </a:p>
        </p:txBody>
      </p:sp>
      <p:sp>
        <p:nvSpPr>
          <p:cNvPr id="14" name="Label"/>
          <p:cNvSpPr txBox="1"/>
          <p:nvPr/>
        </p:nvSpPr>
        <p:spPr>
          <a:xfrm>
            <a:off x="1005840" y="1828800"/>
            <a:ext cx="3108960" cy="219456"/>
          </a:xfrm>
          <a:prstGeom prst="rect">
            <a:avLst/>
          </a:prstGeom>
          <a:noFill/>
        </p:spPr>
        <p:txBody>
          <a:bodyPr wrap="square" lIns="45720" tIns="0" rIns="45720" bIns="0" anchor="t">
            <a:noAutofit/>
          </a:bodyPr>
          <a:lstStyle/>
          <a:p>
            <a:pPr algn="ctr"/>
            <a:r>
              <a:rPr lang="en-GB" sz="1300" b="1" dirty="0">
                <a:solidFill>
                  <a:srgbClr val="262626"/>
                </a:solidFill>
              </a:rPr>
              <a:t>Reach</a:t>
            </a:r>
          </a:p>
        </p:txBody>
      </p:sp>
      <p:pic>
        <p:nvPicPr>
          <p:cNvPr id="15" name="Equation" descr="Formula, Reach"/>
          <p:cNvPicPr>
            <a:picLocks noChangeAspect="1"/>
          </p:cNvPicPr>
          <p:nvPr/>
        </p:nvPicPr>
        <p:blipFill>
          <a:blip r:embed="rId2"/>
          <a:stretch>
            <a:fillRect/>
          </a:stretch>
        </p:blipFill>
        <p:spPr>
          <a:xfrm>
            <a:off x="2060943" y="2066544"/>
            <a:ext cx="998753" cy="212446"/>
          </a:xfrm>
          <a:prstGeom prst="rect">
            <a:avLst/>
          </a:prstGeom>
        </p:spPr>
      </p:pic>
      <p:pic>
        <p:nvPicPr>
          <p:cNvPr id="16" name="Figure" descr="STL-FM plans, Reach"/>
          <p:cNvPicPr>
            <a:picLocks noChangeAspect="1"/>
          </p:cNvPicPr>
          <p:nvPr/>
        </p:nvPicPr>
        <p:blipFill>
          <a:blip r:embed="rId3"/>
          <a:stretch>
            <a:fillRect/>
          </a:stretch>
        </p:blipFill>
        <p:spPr>
          <a:xfrm>
            <a:off x="1175393" y="2304288"/>
            <a:ext cx="1160510" cy="1261872"/>
          </a:xfrm>
          <a:prstGeom prst="rect">
            <a:avLst/>
          </a:prstGeom>
        </p:spPr>
      </p:pic>
      <p:sp>
        <p:nvSpPr>
          <p:cNvPr id="17" name="Label"/>
          <p:cNvSpPr txBox="1"/>
          <p:nvPr/>
        </p:nvSpPr>
        <p:spPr>
          <a:xfrm>
            <a:off x="1005840" y="3566160"/>
            <a:ext cx="1499616" cy="182880"/>
          </a:xfrm>
          <a:prstGeom prst="rect">
            <a:avLst/>
          </a:prstGeom>
          <a:noFill/>
        </p:spPr>
        <p:txBody>
          <a:bodyPr wrap="square" lIns="45720" tIns="0" rIns="45720" bIns="0" anchor="t">
            <a:noAutofit/>
          </a:bodyPr>
          <a:lstStyle/>
          <a:p>
            <a:pPr algn="ctr"/>
            <a:r>
              <a:rPr lang="en-GB" sz="1000" dirty="0">
                <a:solidFill>
                  <a:srgbClr val="6E6E6E"/>
                </a:solidFill>
              </a:rPr>
              <a:t>STL-FM</a:t>
            </a:r>
          </a:p>
        </p:txBody>
      </p:sp>
      <p:pic>
        <p:nvPicPr>
          <p:cNvPr id="18" name="Figure" descr="STL Optimizer plans, Reach"/>
          <p:cNvPicPr>
            <a:picLocks noChangeAspect="1"/>
          </p:cNvPicPr>
          <p:nvPr/>
        </p:nvPicPr>
        <p:blipFill>
          <a:blip r:embed="rId4"/>
          <a:stretch>
            <a:fillRect/>
          </a:stretch>
        </p:blipFill>
        <p:spPr>
          <a:xfrm>
            <a:off x="2748161" y="2304288"/>
            <a:ext cx="1160510" cy="1261872"/>
          </a:xfrm>
          <a:prstGeom prst="rect">
            <a:avLst/>
          </a:prstGeom>
        </p:spPr>
      </p:pic>
      <p:sp>
        <p:nvSpPr>
          <p:cNvPr id="19" name="Label"/>
          <p:cNvSpPr txBox="1"/>
          <p:nvPr/>
        </p:nvSpPr>
        <p:spPr>
          <a:xfrm>
            <a:off x="2578608" y="3566160"/>
            <a:ext cx="1499616" cy="182880"/>
          </a:xfrm>
          <a:prstGeom prst="rect">
            <a:avLst/>
          </a:prstGeom>
          <a:noFill/>
        </p:spPr>
        <p:txBody>
          <a:bodyPr wrap="square" lIns="45720" tIns="0" rIns="45720" bIns="0" anchor="t">
            <a:noAutofit/>
          </a:bodyPr>
          <a:lstStyle/>
          <a:p>
            <a:pPr algn="ctr"/>
            <a:r>
              <a:rPr lang="en-GB" sz="1000" dirty="0">
                <a:solidFill>
                  <a:srgbClr val="6E6E6E"/>
                </a:solidFill>
              </a:rPr>
              <a:t>STL Optimizer</a:t>
            </a:r>
          </a:p>
        </p:txBody>
      </p:sp>
      <p:sp>
        <p:nvSpPr>
          <p:cNvPr id="20" name="Label"/>
          <p:cNvSpPr txBox="1"/>
          <p:nvPr/>
        </p:nvSpPr>
        <p:spPr>
          <a:xfrm>
            <a:off x="4480560" y="1828800"/>
            <a:ext cx="3108960" cy="219456"/>
          </a:xfrm>
          <a:prstGeom prst="rect">
            <a:avLst/>
          </a:prstGeom>
          <a:noFill/>
        </p:spPr>
        <p:txBody>
          <a:bodyPr wrap="square" lIns="45720" tIns="0" rIns="45720" bIns="0" anchor="t">
            <a:noAutofit/>
          </a:bodyPr>
          <a:lstStyle/>
          <a:p>
            <a:pPr algn="ctr"/>
            <a:r>
              <a:rPr lang="en-GB" sz="1300" b="1" dirty="0">
                <a:solidFill>
                  <a:srgbClr val="262626"/>
                </a:solidFill>
              </a:rPr>
              <a:t>Nested reach-and-dwell</a:t>
            </a:r>
          </a:p>
        </p:txBody>
      </p:sp>
      <p:pic>
        <p:nvPicPr>
          <p:cNvPr id="21" name="Equation" descr="Formula, Nested reach-and-dwell"/>
          <p:cNvPicPr>
            <a:picLocks noChangeAspect="1"/>
          </p:cNvPicPr>
          <p:nvPr/>
        </p:nvPicPr>
        <p:blipFill>
          <a:blip r:embed="rId5"/>
          <a:stretch>
            <a:fillRect/>
          </a:stretch>
        </p:blipFill>
        <p:spPr>
          <a:xfrm>
            <a:off x="5296014" y="2066544"/>
            <a:ext cx="1478051" cy="212446"/>
          </a:xfrm>
          <a:prstGeom prst="rect">
            <a:avLst/>
          </a:prstGeom>
        </p:spPr>
      </p:pic>
      <p:pic>
        <p:nvPicPr>
          <p:cNvPr id="22" name="Figure" descr="STL-FM plans, Nested reach-and-dwell"/>
          <p:cNvPicPr>
            <a:picLocks noChangeAspect="1"/>
          </p:cNvPicPr>
          <p:nvPr/>
        </p:nvPicPr>
        <p:blipFill>
          <a:blip r:embed="rId6"/>
          <a:stretch>
            <a:fillRect/>
          </a:stretch>
        </p:blipFill>
        <p:spPr>
          <a:xfrm>
            <a:off x="4650113" y="2304288"/>
            <a:ext cx="1160510" cy="1261872"/>
          </a:xfrm>
          <a:prstGeom prst="rect">
            <a:avLst/>
          </a:prstGeom>
        </p:spPr>
      </p:pic>
      <p:sp>
        <p:nvSpPr>
          <p:cNvPr id="23" name="Label"/>
          <p:cNvSpPr txBox="1"/>
          <p:nvPr/>
        </p:nvSpPr>
        <p:spPr>
          <a:xfrm>
            <a:off x="4480560" y="3566160"/>
            <a:ext cx="1499616" cy="182880"/>
          </a:xfrm>
          <a:prstGeom prst="rect">
            <a:avLst/>
          </a:prstGeom>
          <a:noFill/>
        </p:spPr>
        <p:txBody>
          <a:bodyPr wrap="square" lIns="45720" tIns="0" rIns="45720" bIns="0" anchor="t">
            <a:noAutofit/>
          </a:bodyPr>
          <a:lstStyle/>
          <a:p>
            <a:pPr algn="ctr"/>
            <a:r>
              <a:rPr lang="en-GB" sz="1000" dirty="0">
                <a:solidFill>
                  <a:srgbClr val="6E6E6E"/>
                </a:solidFill>
              </a:rPr>
              <a:t>STL-FM</a:t>
            </a:r>
          </a:p>
        </p:txBody>
      </p:sp>
      <p:pic>
        <p:nvPicPr>
          <p:cNvPr id="24" name="Figure" descr="STL Optimizer plans, Nested reach-and-dwell"/>
          <p:cNvPicPr>
            <a:picLocks noChangeAspect="1"/>
          </p:cNvPicPr>
          <p:nvPr/>
        </p:nvPicPr>
        <p:blipFill>
          <a:blip r:embed="rId7"/>
          <a:stretch>
            <a:fillRect/>
          </a:stretch>
        </p:blipFill>
        <p:spPr>
          <a:xfrm>
            <a:off x="6222881" y="2304288"/>
            <a:ext cx="1160510" cy="1261872"/>
          </a:xfrm>
          <a:prstGeom prst="rect">
            <a:avLst/>
          </a:prstGeom>
        </p:spPr>
      </p:pic>
      <p:sp>
        <p:nvSpPr>
          <p:cNvPr id="25" name="Label"/>
          <p:cNvSpPr txBox="1"/>
          <p:nvPr/>
        </p:nvSpPr>
        <p:spPr>
          <a:xfrm>
            <a:off x="6053328" y="3566160"/>
            <a:ext cx="1499616" cy="182880"/>
          </a:xfrm>
          <a:prstGeom prst="rect">
            <a:avLst/>
          </a:prstGeom>
          <a:noFill/>
        </p:spPr>
        <p:txBody>
          <a:bodyPr wrap="square" lIns="45720" tIns="0" rIns="45720" bIns="0" anchor="t">
            <a:noAutofit/>
          </a:bodyPr>
          <a:lstStyle/>
          <a:p>
            <a:pPr algn="ctr"/>
            <a:r>
              <a:rPr lang="en-GB" sz="1000" dirty="0">
                <a:solidFill>
                  <a:srgbClr val="6E6E6E"/>
                </a:solidFill>
              </a:rPr>
              <a:t>STL Optimizer</a:t>
            </a:r>
          </a:p>
        </p:txBody>
      </p:sp>
      <p:sp>
        <p:nvSpPr>
          <p:cNvPr id="26" name="Label"/>
          <p:cNvSpPr txBox="1"/>
          <p:nvPr/>
        </p:nvSpPr>
        <p:spPr>
          <a:xfrm>
            <a:off x="7955280" y="1828800"/>
            <a:ext cx="3108960" cy="219456"/>
          </a:xfrm>
          <a:prstGeom prst="rect">
            <a:avLst/>
          </a:prstGeom>
          <a:noFill/>
        </p:spPr>
        <p:txBody>
          <a:bodyPr wrap="square" lIns="45720" tIns="0" rIns="45720" bIns="0" anchor="t">
            <a:noAutofit/>
          </a:bodyPr>
          <a:lstStyle/>
          <a:p>
            <a:pPr algn="ctr"/>
            <a:r>
              <a:rPr lang="en-GB" sz="1300" b="1" dirty="0">
                <a:solidFill>
                  <a:srgbClr val="262626"/>
                </a:solidFill>
              </a:rPr>
              <a:t>Recurrence</a:t>
            </a:r>
          </a:p>
        </p:txBody>
      </p:sp>
      <p:pic>
        <p:nvPicPr>
          <p:cNvPr id="27" name="Equation" descr="Formula, Recurrence"/>
          <p:cNvPicPr>
            <a:picLocks noChangeAspect="1"/>
          </p:cNvPicPr>
          <p:nvPr/>
        </p:nvPicPr>
        <p:blipFill>
          <a:blip r:embed="rId8"/>
          <a:stretch>
            <a:fillRect/>
          </a:stretch>
        </p:blipFill>
        <p:spPr>
          <a:xfrm>
            <a:off x="8770734" y="2066544"/>
            <a:ext cx="1478051" cy="212446"/>
          </a:xfrm>
          <a:prstGeom prst="rect">
            <a:avLst/>
          </a:prstGeom>
        </p:spPr>
      </p:pic>
      <p:pic>
        <p:nvPicPr>
          <p:cNvPr id="28" name="Figure" descr="STL-FM plans, Recurrence"/>
          <p:cNvPicPr>
            <a:picLocks noChangeAspect="1"/>
          </p:cNvPicPr>
          <p:nvPr/>
        </p:nvPicPr>
        <p:blipFill>
          <a:blip r:embed="rId9"/>
          <a:stretch>
            <a:fillRect/>
          </a:stretch>
        </p:blipFill>
        <p:spPr>
          <a:xfrm>
            <a:off x="8124833" y="2304288"/>
            <a:ext cx="1160510" cy="1261872"/>
          </a:xfrm>
          <a:prstGeom prst="rect">
            <a:avLst/>
          </a:prstGeom>
        </p:spPr>
      </p:pic>
      <p:sp>
        <p:nvSpPr>
          <p:cNvPr id="29" name="Label"/>
          <p:cNvSpPr txBox="1"/>
          <p:nvPr/>
        </p:nvSpPr>
        <p:spPr>
          <a:xfrm>
            <a:off x="7955280" y="3566160"/>
            <a:ext cx="1499616" cy="182880"/>
          </a:xfrm>
          <a:prstGeom prst="rect">
            <a:avLst/>
          </a:prstGeom>
          <a:noFill/>
        </p:spPr>
        <p:txBody>
          <a:bodyPr wrap="square" lIns="45720" tIns="0" rIns="45720" bIns="0" anchor="t">
            <a:noAutofit/>
          </a:bodyPr>
          <a:lstStyle/>
          <a:p>
            <a:pPr algn="ctr"/>
            <a:r>
              <a:rPr lang="en-GB" sz="1000" dirty="0">
                <a:solidFill>
                  <a:srgbClr val="6E6E6E"/>
                </a:solidFill>
              </a:rPr>
              <a:t>STL-FM</a:t>
            </a:r>
          </a:p>
        </p:txBody>
      </p:sp>
      <p:pic>
        <p:nvPicPr>
          <p:cNvPr id="30" name="Figure" descr="STL Optimizer plans, Recurrence"/>
          <p:cNvPicPr>
            <a:picLocks noChangeAspect="1"/>
          </p:cNvPicPr>
          <p:nvPr/>
        </p:nvPicPr>
        <p:blipFill>
          <a:blip r:embed="rId10"/>
          <a:stretch>
            <a:fillRect/>
          </a:stretch>
        </p:blipFill>
        <p:spPr>
          <a:xfrm>
            <a:off x="9697601" y="2304288"/>
            <a:ext cx="1160510" cy="1261872"/>
          </a:xfrm>
          <a:prstGeom prst="rect">
            <a:avLst/>
          </a:prstGeom>
        </p:spPr>
      </p:pic>
      <p:sp>
        <p:nvSpPr>
          <p:cNvPr id="31" name="Label"/>
          <p:cNvSpPr txBox="1"/>
          <p:nvPr/>
        </p:nvSpPr>
        <p:spPr>
          <a:xfrm>
            <a:off x="9528048" y="3566160"/>
            <a:ext cx="1499616" cy="182880"/>
          </a:xfrm>
          <a:prstGeom prst="rect">
            <a:avLst/>
          </a:prstGeom>
          <a:noFill/>
        </p:spPr>
        <p:txBody>
          <a:bodyPr wrap="square" lIns="45720" tIns="0" rIns="45720" bIns="0" anchor="t">
            <a:noAutofit/>
          </a:bodyPr>
          <a:lstStyle/>
          <a:p>
            <a:pPr algn="ctr"/>
            <a:r>
              <a:rPr lang="en-GB" sz="1000" dirty="0">
                <a:solidFill>
                  <a:srgbClr val="6E6E6E"/>
                </a:solidFill>
              </a:rPr>
              <a:t>STL Optimizer</a:t>
            </a:r>
          </a:p>
        </p:txBody>
      </p:sp>
      <p:sp>
        <p:nvSpPr>
          <p:cNvPr id="32" name="Label"/>
          <p:cNvSpPr txBox="1"/>
          <p:nvPr/>
        </p:nvSpPr>
        <p:spPr>
          <a:xfrm>
            <a:off x="1005840" y="3813048"/>
            <a:ext cx="3108960" cy="219456"/>
          </a:xfrm>
          <a:prstGeom prst="rect">
            <a:avLst/>
          </a:prstGeom>
          <a:noFill/>
        </p:spPr>
        <p:txBody>
          <a:bodyPr wrap="square" lIns="45720" tIns="0" rIns="45720" bIns="0" anchor="t">
            <a:noAutofit/>
          </a:bodyPr>
          <a:lstStyle/>
          <a:p>
            <a:pPr algn="ctr"/>
            <a:r>
              <a:rPr lang="en-GB" sz="1300" b="1" dirty="0">
                <a:solidFill>
                  <a:srgbClr val="262626"/>
                </a:solidFill>
              </a:rPr>
              <a:t>Sequence</a:t>
            </a:r>
          </a:p>
        </p:txBody>
      </p:sp>
      <p:pic>
        <p:nvPicPr>
          <p:cNvPr id="33" name="Equation" descr="Formula, Sequence"/>
          <p:cNvPicPr>
            <a:picLocks noChangeAspect="1"/>
          </p:cNvPicPr>
          <p:nvPr/>
        </p:nvPicPr>
        <p:blipFill>
          <a:blip r:embed="rId11"/>
          <a:stretch>
            <a:fillRect/>
          </a:stretch>
        </p:blipFill>
        <p:spPr>
          <a:xfrm>
            <a:off x="1207275" y="4050792"/>
            <a:ext cx="2706091" cy="212446"/>
          </a:xfrm>
          <a:prstGeom prst="rect">
            <a:avLst/>
          </a:prstGeom>
        </p:spPr>
      </p:pic>
      <p:pic>
        <p:nvPicPr>
          <p:cNvPr id="34" name="Figure" descr="STL-FM plans, Sequence"/>
          <p:cNvPicPr>
            <a:picLocks noChangeAspect="1"/>
          </p:cNvPicPr>
          <p:nvPr/>
        </p:nvPicPr>
        <p:blipFill>
          <a:blip r:embed="rId12"/>
          <a:stretch>
            <a:fillRect/>
          </a:stretch>
        </p:blipFill>
        <p:spPr>
          <a:xfrm>
            <a:off x="1175393" y="4288536"/>
            <a:ext cx="1160510" cy="1261872"/>
          </a:xfrm>
          <a:prstGeom prst="rect">
            <a:avLst/>
          </a:prstGeom>
        </p:spPr>
      </p:pic>
      <p:sp>
        <p:nvSpPr>
          <p:cNvPr id="35" name="Label"/>
          <p:cNvSpPr txBox="1"/>
          <p:nvPr/>
        </p:nvSpPr>
        <p:spPr>
          <a:xfrm>
            <a:off x="1005840" y="5550408"/>
            <a:ext cx="1499616" cy="182880"/>
          </a:xfrm>
          <a:prstGeom prst="rect">
            <a:avLst/>
          </a:prstGeom>
          <a:noFill/>
        </p:spPr>
        <p:txBody>
          <a:bodyPr wrap="square" lIns="45720" tIns="0" rIns="45720" bIns="0" anchor="t">
            <a:noAutofit/>
          </a:bodyPr>
          <a:lstStyle/>
          <a:p>
            <a:pPr algn="ctr"/>
            <a:r>
              <a:rPr lang="en-GB" sz="1000" dirty="0">
                <a:solidFill>
                  <a:srgbClr val="6E6E6E"/>
                </a:solidFill>
              </a:rPr>
              <a:t>STL-FM</a:t>
            </a:r>
          </a:p>
        </p:txBody>
      </p:sp>
      <p:pic>
        <p:nvPicPr>
          <p:cNvPr id="36" name="Figure" descr="STL Optimizer plans, Sequence"/>
          <p:cNvPicPr>
            <a:picLocks noChangeAspect="1"/>
          </p:cNvPicPr>
          <p:nvPr/>
        </p:nvPicPr>
        <p:blipFill>
          <a:blip r:embed="rId13"/>
          <a:stretch>
            <a:fillRect/>
          </a:stretch>
        </p:blipFill>
        <p:spPr>
          <a:xfrm>
            <a:off x="2748161" y="4288536"/>
            <a:ext cx="1160510" cy="1261872"/>
          </a:xfrm>
          <a:prstGeom prst="rect">
            <a:avLst/>
          </a:prstGeom>
        </p:spPr>
      </p:pic>
      <p:sp>
        <p:nvSpPr>
          <p:cNvPr id="37" name="Label"/>
          <p:cNvSpPr txBox="1"/>
          <p:nvPr/>
        </p:nvSpPr>
        <p:spPr>
          <a:xfrm>
            <a:off x="2578608" y="5550408"/>
            <a:ext cx="1499616" cy="182880"/>
          </a:xfrm>
          <a:prstGeom prst="rect">
            <a:avLst/>
          </a:prstGeom>
          <a:noFill/>
        </p:spPr>
        <p:txBody>
          <a:bodyPr wrap="square" lIns="45720" tIns="0" rIns="45720" bIns="0" anchor="t">
            <a:noAutofit/>
          </a:bodyPr>
          <a:lstStyle/>
          <a:p>
            <a:pPr algn="ctr"/>
            <a:r>
              <a:rPr lang="en-GB" sz="1000" dirty="0">
                <a:solidFill>
                  <a:srgbClr val="6E6E6E"/>
                </a:solidFill>
              </a:rPr>
              <a:t>STL Optimizer</a:t>
            </a:r>
          </a:p>
        </p:txBody>
      </p:sp>
      <p:sp>
        <p:nvSpPr>
          <p:cNvPr id="38" name="Label"/>
          <p:cNvSpPr txBox="1"/>
          <p:nvPr/>
        </p:nvSpPr>
        <p:spPr>
          <a:xfrm>
            <a:off x="4480560" y="3813048"/>
            <a:ext cx="3108960" cy="219456"/>
          </a:xfrm>
          <a:prstGeom prst="rect">
            <a:avLst/>
          </a:prstGeom>
          <a:noFill/>
        </p:spPr>
        <p:txBody>
          <a:bodyPr wrap="square" lIns="45720" tIns="0" rIns="45720" bIns="0" anchor="t">
            <a:noAutofit/>
          </a:bodyPr>
          <a:lstStyle/>
          <a:p>
            <a:pPr algn="ctr"/>
            <a:r>
              <a:rPr lang="en-GB" sz="1300" b="1" dirty="0">
                <a:solidFill>
                  <a:srgbClr val="262626"/>
                </a:solidFill>
              </a:rPr>
              <a:t>Sequence with avoidance</a:t>
            </a:r>
          </a:p>
        </p:txBody>
      </p:sp>
      <p:pic>
        <p:nvPicPr>
          <p:cNvPr id="39" name="Equation" descr="Formula, Sequence with avoidance"/>
          <p:cNvPicPr>
            <a:picLocks noChangeAspect="1"/>
          </p:cNvPicPr>
          <p:nvPr/>
        </p:nvPicPr>
        <p:blipFill>
          <a:blip r:embed="rId14"/>
          <a:stretch>
            <a:fillRect/>
          </a:stretch>
        </p:blipFill>
        <p:spPr>
          <a:xfrm>
            <a:off x="4526280" y="4050792"/>
            <a:ext cx="3017520" cy="174224"/>
          </a:xfrm>
          <a:prstGeom prst="rect">
            <a:avLst/>
          </a:prstGeom>
        </p:spPr>
      </p:pic>
      <p:pic>
        <p:nvPicPr>
          <p:cNvPr id="40" name="Figure" descr="STL-FM plans, Sequence with avoidance"/>
          <p:cNvPicPr>
            <a:picLocks noChangeAspect="1"/>
          </p:cNvPicPr>
          <p:nvPr/>
        </p:nvPicPr>
        <p:blipFill>
          <a:blip r:embed="rId15"/>
          <a:stretch>
            <a:fillRect/>
          </a:stretch>
        </p:blipFill>
        <p:spPr>
          <a:xfrm>
            <a:off x="4650113" y="4288536"/>
            <a:ext cx="1160510" cy="1261872"/>
          </a:xfrm>
          <a:prstGeom prst="rect">
            <a:avLst/>
          </a:prstGeom>
        </p:spPr>
      </p:pic>
      <p:sp>
        <p:nvSpPr>
          <p:cNvPr id="41" name="Label"/>
          <p:cNvSpPr txBox="1"/>
          <p:nvPr/>
        </p:nvSpPr>
        <p:spPr>
          <a:xfrm>
            <a:off x="4480560" y="5550408"/>
            <a:ext cx="1499616" cy="182880"/>
          </a:xfrm>
          <a:prstGeom prst="rect">
            <a:avLst/>
          </a:prstGeom>
          <a:noFill/>
        </p:spPr>
        <p:txBody>
          <a:bodyPr wrap="square" lIns="45720" tIns="0" rIns="45720" bIns="0" anchor="t">
            <a:noAutofit/>
          </a:bodyPr>
          <a:lstStyle/>
          <a:p>
            <a:pPr algn="ctr"/>
            <a:r>
              <a:rPr lang="en-GB" sz="1000" dirty="0">
                <a:solidFill>
                  <a:srgbClr val="6E6E6E"/>
                </a:solidFill>
              </a:rPr>
              <a:t>STL-FM</a:t>
            </a:r>
          </a:p>
        </p:txBody>
      </p:sp>
      <p:pic>
        <p:nvPicPr>
          <p:cNvPr id="42" name="Figure" descr="STL Optimizer plans, Sequence with avoidance"/>
          <p:cNvPicPr>
            <a:picLocks noChangeAspect="1"/>
          </p:cNvPicPr>
          <p:nvPr/>
        </p:nvPicPr>
        <p:blipFill>
          <a:blip r:embed="rId16"/>
          <a:stretch>
            <a:fillRect/>
          </a:stretch>
        </p:blipFill>
        <p:spPr>
          <a:xfrm>
            <a:off x="6222881" y="4288536"/>
            <a:ext cx="1160510" cy="1261872"/>
          </a:xfrm>
          <a:prstGeom prst="rect">
            <a:avLst/>
          </a:prstGeom>
        </p:spPr>
      </p:pic>
      <p:sp>
        <p:nvSpPr>
          <p:cNvPr id="43" name="Label"/>
          <p:cNvSpPr txBox="1"/>
          <p:nvPr/>
        </p:nvSpPr>
        <p:spPr>
          <a:xfrm>
            <a:off x="6053328" y="5550408"/>
            <a:ext cx="1499616" cy="182880"/>
          </a:xfrm>
          <a:prstGeom prst="rect">
            <a:avLst/>
          </a:prstGeom>
          <a:noFill/>
        </p:spPr>
        <p:txBody>
          <a:bodyPr wrap="square" lIns="45720" tIns="0" rIns="45720" bIns="0" anchor="t">
            <a:noAutofit/>
          </a:bodyPr>
          <a:lstStyle/>
          <a:p>
            <a:pPr algn="ctr"/>
            <a:r>
              <a:rPr lang="en-GB" sz="1000" dirty="0">
                <a:solidFill>
                  <a:srgbClr val="6E6E6E"/>
                </a:solidFill>
              </a:rPr>
              <a:t>STL Optimizer</a:t>
            </a:r>
          </a:p>
        </p:txBody>
      </p:sp>
      <p:sp>
        <p:nvSpPr>
          <p:cNvPr id="44" name="Label"/>
          <p:cNvSpPr txBox="1"/>
          <p:nvPr/>
        </p:nvSpPr>
        <p:spPr>
          <a:xfrm>
            <a:off x="7955280" y="3813048"/>
            <a:ext cx="3108960" cy="219456"/>
          </a:xfrm>
          <a:prstGeom prst="rect">
            <a:avLst/>
          </a:prstGeom>
          <a:noFill/>
        </p:spPr>
        <p:txBody>
          <a:bodyPr wrap="square" lIns="45720" tIns="0" rIns="45720" bIns="0" anchor="t">
            <a:noAutofit/>
          </a:bodyPr>
          <a:lstStyle/>
          <a:p>
            <a:pPr algn="ctr"/>
            <a:r>
              <a:rPr lang="en-GB" sz="1300" b="1" dirty="0">
                <a:solidFill>
                  <a:srgbClr val="262626"/>
                </a:solidFill>
              </a:rPr>
              <a:t>Composite</a:t>
            </a:r>
          </a:p>
        </p:txBody>
      </p:sp>
      <p:pic>
        <p:nvPicPr>
          <p:cNvPr id="45" name="Equation" descr="Formula, Composite"/>
          <p:cNvPicPr>
            <a:picLocks noChangeAspect="1"/>
          </p:cNvPicPr>
          <p:nvPr/>
        </p:nvPicPr>
        <p:blipFill>
          <a:blip r:embed="rId17"/>
          <a:stretch>
            <a:fillRect/>
          </a:stretch>
        </p:blipFill>
        <p:spPr>
          <a:xfrm>
            <a:off x="8001000" y="4050792"/>
            <a:ext cx="3017520" cy="125069"/>
          </a:xfrm>
          <a:prstGeom prst="rect">
            <a:avLst/>
          </a:prstGeom>
        </p:spPr>
      </p:pic>
      <p:pic>
        <p:nvPicPr>
          <p:cNvPr id="46" name="Figure" descr="STL-FM plans, Composite"/>
          <p:cNvPicPr>
            <a:picLocks noChangeAspect="1"/>
          </p:cNvPicPr>
          <p:nvPr/>
        </p:nvPicPr>
        <p:blipFill>
          <a:blip r:embed="rId18"/>
          <a:stretch>
            <a:fillRect/>
          </a:stretch>
        </p:blipFill>
        <p:spPr>
          <a:xfrm>
            <a:off x="8124833" y="4288536"/>
            <a:ext cx="1160510" cy="1261872"/>
          </a:xfrm>
          <a:prstGeom prst="rect">
            <a:avLst/>
          </a:prstGeom>
        </p:spPr>
      </p:pic>
      <p:sp>
        <p:nvSpPr>
          <p:cNvPr id="47" name="Label"/>
          <p:cNvSpPr txBox="1"/>
          <p:nvPr/>
        </p:nvSpPr>
        <p:spPr>
          <a:xfrm>
            <a:off x="7955280" y="5550408"/>
            <a:ext cx="1499616" cy="182880"/>
          </a:xfrm>
          <a:prstGeom prst="rect">
            <a:avLst/>
          </a:prstGeom>
          <a:noFill/>
        </p:spPr>
        <p:txBody>
          <a:bodyPr wrap="square" lIns="45720" tIns="0" rIns="45720" bIns="0" anchor="t">
            <a:noAutofit/>
          </a:bodyPr>
          <a:lstStyle/>
          <a:p>
            <a:pPr algn="ctr"/>
            <a:r>
              <a:rPr lang="en-GB" sz="1000" dirty="0">
                <a:solidFill>
                  <a:srgbClr val="6E6E6E"/>
                </a:solidFill>
              </a:rPr>
              <a:t>STL-FM</a:t>
            </a:r>
          </a:p>
        </p:txBody>
      </p:sp>
      <p:pic>
        <p:nvPicPr>
          <p:cNvPr id="48" name="Figure" descr="STL Optimizer plans, Composite"/>
          <p:cNvPicPr>
            <a:picLocks noChangeAspect="1"/>
          </p:cNvPicPr>
          <p:nvPr/>
        </p:nvPicPr>
        <p:blipFill>
          <a:blip r:embed="rId19"/>
          <a:stretch>
            <a:fillRect/>
          </a:stretch>
        </p:blipFill>
        <p:spPr>
          <a:xfrm>
            <a:off x="9697601" y="4288536"/>
            <a:ext cx="1160510" cy="1261872"/>
          </a:xfrm>
          <a:prstGeom prst="rect">
            <a:avLst/>
          </a:prstGeom>
        </p:spPr>
      </p:pic>
      <p:sp>
        <p:nvSpPr>
          <p:cNvPr id="49" name="Label"/>
          <p:cNvSpPr txBox="1"/>
          <p:nvPr/>
        </p:nvSpPr>
        <p:spPr>
          <a:xfrm>
            <a:off x="9528048" y="5550408"/>
            <a:ext cx="1499616" cy="182880"/>
          </a:xfrm>
          <a:prstGeom prst="rect">
            <a:avLst/>
          </a:prstGeom>
          <a:noFill/>
        </p:spPr>
        <p:txBody>
          <a:bodyPr wrap="square" lIns="45720" tIns="0" rIns="45720" bIns="0" anchor="t">
            <a:noAutofit/>
          </a:bodyPr>
          <a:lstStyle/>
          <a:p>
            <a:pPr algn="ctr"/>
            <a:r>
              <a:rPr lang="en-GB" sz="1000" dirty="0">
                <a:solidFill>
                  <a:srgbClr val="6E6E6E"/>
                </a:solidFill>
              </a:rPr>
              <a:t>STL Optimizer</a:t>
            </a:r>
          </a:p>
        </p:txBody>
      </p:sp>
      <p:sp>
        <p:nvSpPr>
          <p:cNvPr id="50" name="Claim"/>
          <p:cNvSpPr txBox="1"/>
          <p:nvPr/>
        </p:nvSpPr>
        <p:spPr>
          <a:xfrm>
            <a:off x="603504" y="5897880"/>
            <a:ext cx="10991088" cy="365760"/>
          </a:xfrm>
          <a:prstGeom prst="rect">
            <a:avLst/>
          </a:prstGeom>
          <a:noFill/>
        </p:spPr>
        <p:txBody>
          <a:bodyPr wrap="square" lIns="45720" tIns="0" rIns="45720" bIns="0" anchor="ctr">
            <a:noAutofit/>
          </a:bodyPr>
          <a:lstStyle/>
          <a:p>
            <a:pPr algn="ctr"/>
            <a:r>
              <a:rPr lang="en-GB" sz="1800" dirty="0">
                <a:solidFill>
                  <a:srgbClr val="262626"/>
                </a:solidFill>
              </a:rPr>
              <a:t>One learned prior and one constant strength </a:t>
            </a:r>
            <a:r>
              <a:rPr lang="en-GB" sz="1800" dirty="0">
                <a:solidFill>
                  <a:srgbClr val="262626"/>
                </a:solidFill>
                <a:latin typeface="Cambria Math"/>
                <a:ea typeface="Cambria Math"/>
                <a:cs typeface="Cambria Math"/>
                <a:sym typeface="Cambria Math"/>
              </a:rPr>
              <a:t>λ</a:t>
            </a:r>
            <a:r>
              <a:rPr lang="en-GB" sz="1800" baseline="-25000" dirty="0">
                <a:solidFill>
                  <a:srgbClr val="262626"/>
                </a:solidFill>
              </a:rPr>
              <a:t>0</a:t>
            </a:r>
            <a:r>
              <a:rPr lang="en-GB" sz="1800" dirty="0">
                <a:solidFill>
                  <a:srgbClr val="262626"/>
                </a:solidFill>
              </a:rPr>
              <a:t> are used for all six requirement classes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Logic satisfaction and time to satisfaction</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a:t>
            </a:r>
            <a:r>
              <a:rPr lang="en-GB" sz="1300" dirty="0">
                <a:solidFill>
                  <a:srgbClr val="A5A5A5"/>
                </a:solidFill>
              </a:rPr>
              <a:t>    →    </a:t>
            </a:r>
            <a:r>
              <a:rPr lang="en-GB" sz="1300" dirty="0">
                <a:solidFill>
                  <a:srgbClr val="A5A5A5"/>
                </a:solidFill>
              </a:rPr>
              <a:t>Background</a:t>
            </a:r>
            <a:r>
              <a:rPr lang="en-GB" sz="1300" dirty="0">
                <a:solidFill>
                  <a:srgbClr val="A5A5A5"/>
                </a:solidFill>
              </a:rPr>
              <a:t>    →    </a:t>
            </a:r>
            <a:r>
              <a:rPr lang="en-GB" sz="1300" dirty="0">
                <a:solidFill>
                  <a:srgbClr val="A5A5A5"/>
                </a:solidFill>
              </a:rPr>
              <a:t>Method</a:t>
            </a:r>
            <a:r>
              <a:rPr lang="en-GB" sz="1300" dirty="0">
                <a:solidFill>
                  <a:srgbClr val="A5A5A5"/>
                </a:solidFill>
              </a:rPr>
              <a:t>    →    </a:t>
            </a:r>
            <a:r>
              <a:rPr lang="en-GB" sz="1300" b="1" dirty="0">
                <a:solidFill>
                  <a:srgbClr val="004791"/>
                </a:solidFill>
              </a:rPr>
              <a:t>Results</a:t>
            </a:r>
            <a:r>
              <a:rPr lang="en-GB" sz="1300" dirty="0">
                <a:solidFill>
                  <a:srgbClr val="A5A5A5"/>
                </a:solidFill>
              </a:rPr>
              <a:t>    →    </a:t>
            </a:r>
            <a:r>
              <a:rPr lang="en-GB" sz="1300" dirty="0">
                <a:solidFill>
                  <a:srgbClr val="A5A5A5"/>
                </a:solidFill>
              </a:rPr>
              <a:t>Conclusions</a:t>
            </a:r>
          </a:p>
        </p:txBody>
      </p:sp>
      <p:sp>
        <p:nvSpPr>
          <p:cNvPr id="13" name="Slide Number"/>
          <p:cNvSpPr>
            <a:spLocks noGrp="1"/>
          </p:cNvSpPr>
          <p:nvPr>
            <p:ph type="sldNum" sz="quarter" idx="12"/>
          </p:nvPr>
        </p:nvSpPr>
        <p:spPr/>
        <p:txBody>
          <a:bodyPr/>
          <a:lstStyle/>
          <a:p>
            <a:fld id="{619F89D8-7AE3-494A-97F3-03D680869632}" type="slidenum">
              <a:rPr lang="en-GB"/>
              <a:t>1</a:t>
            </a:fld>
            <a:endParaRPr lang="en-GB"/>
          </a:p>
        </p:txBody>
      </p:sp>
      <p:pic>
        <p:nvPicPr>
          <p:cNvPr id="14" name="Figure" descr="Satisfaction rate per class for three planners"/>
          <p:cNvPicPr>
            <a:picLocks noChangeAspect="1"/>
          </p:cNvPicPr>
          <p:nvPr/>
        </p:nvPicPr>
        <p:blipFill>
          <a:blip r:embed="rId2"/>
          <a:stretch>
            <a:fillRect/>
          </a:stretch>
        </p:blipFill>
        <p:spPr>
          <a:xfrm>
            <a:off x="2555748" y="1874520"/>
            <a:ext cx="7086600" cy="2514600"/>
          </a:xfrm>
          <a:prstGeom prst="rect">
            <a:avLst/>
          </a:prstGeom>
        </p:spPr>
      </p:pic>
      <p:pic>
        <p:nvPicPr>
          <p:cNvPr id="15" name="Figure" descr="First satisfaction in estimated seconds, per class, for STL-FM and the STL Optimizer"/>
          <p:cNvPicPr>
            <a:picLocks noChangeAspect="1"/>
          </p:cNvPicPr>
          <p:nvPr/>
        </p:nvPicPr>
        <p:blipFill>
          <a:blip r:embed="rId3"/>
          <a:stretch>
            <a:fillRect/>
          </a:stretch>
        </p:blipFill>
        <p:spPr>
          <a:xfrm>
            <a:off x="3264408" y="4526280"/>
            <a:ext cx="5669280" cy="1188720"/>
          </a:xfrm>
          <a:prstGeom prst="rect">
            <a:avLst/>
          </a:prstGeom>
        </p:spPr>
      </p:pic>
      <p:sp>
        <p:nvSpPr>
          <p:cNvPr id="16" name="Claim"/>
          <p:cNvSpPr txBox="1"/>
          <p:nvPr/>
        </p:nvSpPr>
        <p:spPr>
          <a:xfrm>
            <a:off x="603504" y="5897880"/>
            <a:ext cx="10991088" cy="365760"/>
          </a:xfrm>
          <a:prstGeom prst="rect">
            <a:avLst/>
          </a:prstGeom>
          <a:noFill/>
        </p:spPr>
        <p:txBody>
          <a:bodyPr wrap="square" lIns="45720" tIns="0" rIns="45720" bIns="0" anchor="ctr">
            <a:noAutofit/>
          </a:bodyPr>
          <a:lstStyle/>
          <a:p>
            <a:pPr algn="ctr"/>
            <a:r>
              <a:rPr lang="en-GB" sz="1800" dirty="0">
                <a:solidFill>
                  <a:srgbClr val="262626"/>
                </a:solidFill>
              </a:rPr>
              <a:t>STL-FM satisfies most classes at comparable rates and plans 5 to 25 times faster</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Arena excursion</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a:t>
            </a:r>
            <a:r>
              <a:rPr lang="en-GB" sz="1300" dirty="0">
                <a:solidFill>
                  <a:srgbClr val="A5A5A5"/>
                </a:solidFill>
              </a:rPr>
              <a:t>    →    </a:t>
            </a:r>
            <a:r>
              <a:rPr lang="en-GB" sz="1300" dirty="0">
                <a:solidFill>
                  <a:srgbClr val="A5A5A5"/>
                </a:solidFill>
              </a:rPr>
              <a:t>Background</a:t>
            </a:r>
            <a:r>
              <a:rPr lang="en-GB" sz="1300" dirty="0">
                <a:solidFill>
                  <a:srgbClr val="A5A5A5"/>
                </a:solidFill>
              </a:rPr>
              <a:t>    →    </a:t>
            </a:r>
            <a:r>
              <a:rPr lang="en-GB" sz="1300" dirty="0">
                <a:solidFill>
                  <a:srgbClr val="A5A5A5"/>
                </a:solidFill>
              </a:rPr>
              <a:t>Method</a:t>
            </a:r>
            <a:r>
              <a:rPr lang="en-GB" sz="1300" dirty="0">
                <a:solidFill>
                  <a:srgbClr val="A5A5A5"/>
                </a:solidFill>
              </a:rPr>
              <a:t>    →    </a:t>
            </a:r>
            <a:r>
              <a:rPr lang="en-GB" sz="1300" b="1" dirty="0">
                <a:solidFill>
                  <a:srgbClr val="004791"/>
                </a:solidFill>
              </a:rPr>
              <a:t>Results</a:t>
            </a:r>
            <a:r>
              <a:rPr lang="en-GB" sz="1300" dirty="0">
                <a:solidFill>
                  <a:srgbClr val="A5A5A5"/>
                </a:solidFill>
              </a:rPr>
              <a:t>    →    </a:t>
            </a:r>
            <a:r>
              <a:rPr lang="en-GB" sz="1300" dirty="0">
                <a:solidFill>
                  <a:srgbClr val="A5A5A5"/>
                </a:solidFill>
              </a:rPr>
              <a:t>Conclusions</a:t>
            </a:r>
          </a:p>
        </p:txBody>
      </p:sp>
      <p:sp>
        <p:nvSpPr>
          <p:cNvPr id="13" name="Slide Number"/>
          <p:cNvSpPr>
            <a:spLocks noGrp="1"/>
          </p:cNvSpPr>
          <p:nvPr>
            <p:ph type="sldNum" sz="quarter" idx="12"/>
          </p:nvPr>
        </p:nvSpPr>
        <p:spPr/>
        <p:txBody>
          <a:bodyPr/>
          <a:lstStyle/>
          <a:p>
            <a:fld id="{619F89D8-7AE3-494A-97F3-03D680869632}" type="slidenum">
              <a:rPr lang="en-GB"/>
              <a:t>1</a:t>
            </a:fld>
            <a:endParaRPr lang="en-GB"/>
          </a:p>
        </p:txBody>
      </p:sp>
      <p:sp>
        <p:nvSpPr>
          <p:cNvPr id="14" name="Label"/>
          <p:cNvSpPr txBox="1"/>
          <p:nvPr/>
        </p:nvSpPr>
        <p:spPr>
          <a:xfrm>
            <a:off x="1097280" y="1920240"/>
            <a:ext cx="4754880" cy="310896"/>
          </a:xfrm>
          <a:prstGeom prst="rect">
            <a:avLst/>
          </a:prstGeom>
          <a:noFill/>
        </p:spPr>
        <p:txBody>
          <a:bodyPr wrap="square" lIns="45720" tIns="0" rIns="45720" bIns="0" anchor="t">
            <a:noAutofit/>
          </a:bodyPr>
          <a:lstStyle/>
          <a:p>
            <a:pPr algn="ctr"/>
            <a:r>
              <a:rPr lang="en-GB" sz="1700" b="1" dirty="0">
                <a:solidFill>
                  <a:srgbClr val="262626"/>
                </a:solidFill>
              </a:rPr>
              <a:t>STL Optimizer</a:t>
            </a:r>
          </a:p>
        </p:txBody>
      </p:sp>
      <p:pic>
        <p:nvPicPr>
          <p:cNvPr id="15" name="Figure" descr="STL Optimizer, sequence with avoidance"/>
          <p:cNvPicPr>
            <a:picLocks noChangeAspect="1"/>
          </p:cNvPicPr>
          <p:nvPr/>
        </p:nvPicPr>
        <p:blipFill>
          <a:blip r:embed="rId2"/>
          <a:stretch>
            <a:fillRect/>
          </a:stretch>
        </p:blipFill>
        <p:spPr>
          <a:xfrm>
            <a:off x="1982035" y="2267712"/>
            <a:ext cx="2985370" cy="3246120"/>
          </a:xfrm>
          <a:prstGeom prst="rect">
            <a:avLst/>
          </a:prstGeom>
        </p:spPr>
      </p:pic>
      <p:sp>
        <p:nvSpPr>
          <p:cNvPr id="16" name="Label"/>
          <p:cNvSpPr txBox="1"/>
          <p:nvPr/>
        </p:nvSpPr>
        <p:spPr>
          <a:xfrm>
            <a:off x="6309360" y="1920240"/>
            <a:ext cx="4754880" cy="310896"/>
          </a:xfrm>
          <a:prstGeom prst="rect">
            <a:avLst/>
          </a:prstGeom>
          <a:noFill/>
        </p:spPr>
        <p:txBody>
          <a:bodyPr wrap="square" lIns="45720" tIns="0" rIns="45720" bIns="0" anchor="t">
            <a:noAutofit/>
          </a:bodyPr>
          <a:lstStyle/>
          <a:p>
            <a:pPr algn="ctr"/>
            <a:r>
              <a:rPr lang="en-GB" sz="1700" b="1" dirty="0">
                <a:solidFill>
                  <a:srgbClr val="262626"/>
                </a:solidFill>
              </a:rPr>
              <a:t>STL-FM</a:t>
            </a:r>
          </a:p>
        </p:txBody>
      </p:sp>
      <p:pic>
        <p:nvPicPr>
          <p:cNvPr id="17" name="Figure" descr="STL-FM, sequence with avoidance"/>
          <p:cNvPicPr>
            <a:picLocks noChangeAspect="1"/>
          </p:cNvPicPr>
          <p:nvPr/>
        </p:nvPicPr>
        <p:blipFill>
          <a:blip r:embed="rId3"/>
          <a:stretch>
            <a:fillRect/>
          </a:stretch>
        </p:blipFill>
        <p:spPr>
          <a:xfrm>
            <a:off x="7194115" y="2267712"/>
            <a:ext cx="2985370" cy="3246120"/>
          </a:xfrm>
          <a:prstGeom prst="rect">
            <a:avLst/>
          </a:prstGeom>
        </p:spPr>
      </p:pic>
      <p:sp>
        <p:nvSpPr>
          <p:cNvPr id="18" name="Label"/>
          <p:cNvSpPr txBox="1"/>
          <p:nvPr/>
        </p:nvSpPr>
        <p:spPr>
          <a:xfrm>
            <a:off x="603504" y="5550408"/>
            <a:ext cx="10991088" cy="256032"/>
          </a:xfrm>
          <a:prstGeom prst="rect">
            <a:avLst/>
          </a:prstGeom>
          <a:noFill/>
        </p:spPr>
        <p:txBody>
          <a:bodyPr wrap="square" lIns="45720" tIns="0" rIns="45720" bIns="0" anchor="t">
            <a:noAutofit/>
          </a:bodyPr>
          <a:lstStyle/>
          <a:p>
            <a:pPr algn="ctr"/>
            <a:r>
              <a:rPr lang="en-GB" sz="1300" dirty="0">
                <a:solidFill>
                  <a:srgbClr val="6E6E6E"/>
                </a:solidFill>
              </a:rPr>
              <a:t>Sequence with avoidance, 25 of 100 plans per planner, arena clipped at its edge</a:t>
            </a:r>
          </a:p>
        </p:txBody>
      </p:sp>
      <p:sp>
        <p:nvSpPr>
          <p:cNvPr id="19" name="Claim"/>
          <p:cNvSpPr txBox="1"/>
          <p:nvPr/>
        </p:nvSpPr>
        <p:spPr>
          <a:xfrm>
            <a:off x="603504" y="5897880"/>
            <a:ext cx="10991088" cy="365760"/>
          </a:xfrm>
          <a:prstGeom prst="rect">
            <a:avLst/>
          </a:prstGeom>
          <a:noFill/>
        </p:spPr>
        <p:txBody>
          <a:bodyPr wrap="square" lIns="45720" tIns="0" rIns="45720" bIns="0" anchor="ctr">
            <a:noAutofit/>
          </a:bodyPr>
          <a:lstStyle/>
          <a:p>
            <a:pPr algn="ctr"/>
            <a:r>
              <a:rPr lang="en-GB" sz="1800" dirty="0">
                <a:solidFill>
                  <a:srgbClr val="262626"/>
                </a:solidFill>
              </a:rPr>
              <a:t>Every plan of the STL Optimizer for sequence with avoidance leaves the arena</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Underdetermination by robustness</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a:t>
            </a:r>
            <a:r>
              <a:rPr lang="en-GB" sz="1300" dirty="0">
                <a:solidFill>
                  <a:srgbClr val="A5A5A5"/>
                </a:solidFill>
              </a:rPr>
              <a:t>    →    </a:t>
            </a:r>
            <a:r>
              <a:rPr lang="en-GB" sz="1300" dirty="0">
                <a:solidFill>
                  <a:srgbClr val="A5A5A5"/>
                </a:solidFill>
              </a:rPr>
              <a:t>Background</a:t>
            </a:r>
            <a:r>
              <a:rPr lang="en-GB" sz="1300" dirty="0">
                <a:solidFill>
                  <a:srgbClr val="A5A5A5"/>
                </a:solidFill>
              </a:rPr>
              <a:t>    →    </a:t>
            </a:r>
            <a:r>
              <a:rPr lang="en-GB" sz="1300" dirty="0">
                <a:solidFill>
                  <a:srgbClr val="A5A5A5"/>
                </a:solidFill>
              </a:rPr>
              <a:t>Method</a:t>
            </a:r>
            <a:r>
              <a:rPr lang="en-GB" sz="1300" dirty="0">
                <a:solidFill>
                  <a:srgbClr val="A5A5A5"/>
                </a:solidFill>
              </a:rPr>
              <a:t>    →    </a:t>
            </a:r>
            <a:r>
              <a:rPr lang="en-GB" sz="1300" b="1" dirty="0">
                <a:solidFill>
                  <a:srgbClr val="004791"/>
                </a:solidFill>
              </a:rPr>
              <a:t>Results</a:t>
            </a:r>
            <a:r>
              <a:rPr lang="en-GB" sz="1300" dirty="0">
                <a:solidFill>
                  <a:srgbClr val="A5A5A5"/>
                </a:solidFill>
              </a:rPr>
              <a:t>    →    </a:t>
            </a:r>
            <a:r>
              <a:rPr lang="en-GB" sz="1300" dirty="0">
                <a:solidFill>
                  <a:srgbClr val="A5A5A5"/>
                </a:solidFill>
              </a:rPr>
              <a:t>Conclusions</a:t>
            </a:r>
          </a:p>
        </p:txBody>
      </p:sp>
      <p:sp>
        <p:nvSpPr>
          <p:cNvPr id="13" name="Slide Number"/>
          <p:cNvSpPr>
            <a:spLocks noGrp="1"/>
          </p:cNvSpPr>
          <p:nvPr>
            <p:ph type="sldNum" sz="quarter" idx="12"/>
          </p:nvPr>
        </p:nvSpPr>
        <p:spPr/>
        <p:txBody>
          <a:bodyPr/>
          <a:lstStyle/>
          <a:p>
            <a:fld id="{619F89D8-7AE3-494A-97F3-03D680869632}" type="slidenum">
              <a:rPr lang="en-GB"/>
              <a:t>1</a:t>
            </a:fld>
            <a:endParaRPr lang="en-GB"/>
          </a:p>
        </p:txBody>
      </p:sp>
      <p:pic>
        <p:nvPicPr>
          <p:cNvPr id="14" name="Figure" descr="The robustness gradient acts on a few waypoints, and tails after the last window leave the score unchanged"/>
          <p:cNvPicPr>
            <a:picLocks noChangeAspect="1"/>
          </p:cNvPicPr>
          <p:nvPr/>
        </p:nvPicPr>
        <p:blipFill>
          <a:blip r:embed="rId2"/>
          <a:stretch>
            <a:fillRect/>
          </a:stretch>
        </p:blipFill>
        <p:spPr>
          <a:xfrm>
            <a:off x="1230862" y="1874520"/>
            <a:ext cx="9736372" cy="3611880"/>
          </a:xfrm>
          <a:prstGeom prst="rect">
            <a:avLst/>
          </a:prstGeom>
        </p:spPr>
      </p:pic>
      <p:sp>
        <p:nvSpPr>
          <p:cNvPr id="15" name="Label"/>
          <p:cNvSpPr txBox="1"/>
          <p:nvPr/>
        </p:nvSpPr>
        <p:spPr>
          <a:xfrm>
            <a:off x="603504" y="5522976"/>
            <a:ext cx="10991088" cy="274320"/>
          </a:xfrm>
          <a:prstGeom prst="rect">
            <a:avLst/>
          </a:prstGeom>
          <a:noFill/>
        </p:spPr>
        <p:txBody>
          <a:bodyPr wrap="square" lIns="45720" tIns="0" rIns="45720" bIns="0" anchor="t">
            <a:noAutofit/>
          </a:bodyPr>
          <a:lstStyle/>
          <a:p>
            <a:pPr algn="ctr"/>
            <a:r>
              <a:rPr lang="en-GB" sz="1500" dirty="0">
                <a:solidFill>
                  <a:srgbClr val="6E6E6E"/>
                </a:solidFill>
              </a:rPr>
              <a:t>At most m of 64 to 256 waypoints determine the score, with m between 1 and 5</a:t>
            </a:r>
          </a:p>
        </p:txBody>
      </p:sp>
      <p:sp>
        <p:nvSpPr>
          <p:cNvPr id="16" name="Claim"/>
          <p:cNvSpPr txBox="1"/>
          <p:nvPr/>
        </p:nvSpPr>
        <p:spPr>
          <a:xfrm>
            <a:off x="603504" y="5897880"/>
            <a:ext cx="10991088" cy="365760"/>
          </a:xfrm>
          <a:prstGeom prst="rect">
            <a:avLst/>
          </a:prstGeom>
          <a:noFill/>
        </p:spPr>
        <p:txBody>
          <a:bodyPr wrap="square" lIns="45720" tIns="0" rIns="45720" bIns="0" anchor="ctr">
            <a:noAutofit/>
          </a:bodyPr>
          <a:lstStyle/>
          <a:p>
            <a:pPr algn="ctr"/>
            <a:r>
              <a:rPr lang="en-GB" sz="1800" dirty="0">
                <a:solidFill>
                  <a:srgbClr val="262626"/>
                </a:solidFill>
              </a:rPr>
              <a:t>Robustness alone does not determine a trajectory (backup)</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Cube manipulation</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a:t>
            </a:r>
            <a:r>
              <a:rPr lang="en-GB" sz="1300" dirty="0">
                <a:solidFill>
                  <a:srgbClr val="A5A5A5"/>
                </a:solidFill>
              </a:rPr>
              <a:t>    →    </a:t>
            </a:r>
            <a:r>
              <a:rPr lang="en-GB" sz="1300" dirty="0">
                <a:solidFill>
                  <a:srgbClr val="A5A5A5"/>
                </a:solidFill>
              </a:rPr>
              <a:t>Background</a:t>
            </a:r>
            <a:r>
              <a:rPr lang="en-GB" sz="1300" dirty="0">
                <a:solidFill>
                  <a:srgbClr val="A5A5A5"/>
                </a:solidFill>
              </a:rPr>
              <a:t>    →    </a:t>
            </a:r>
            <a:r>
              <a:rPr lang="en-GB" sz="1300" dirty="0">
                <a:solidFill>
                  <a:srgbClr val="A5A5A5"/>
                </a:solidFill>
              </a:rPr>
              <a:t>Method</a:t>
            </a:r>
            <a:r>
              <a:rPr lang="en-GB" sz="1300" dirty="0">
                <a:solidFill>
                  <a:srgbClr val="A5A5A5"/>
                </a:solidFill>
              </a:rPr>
              <a:t>    →    </a:t>
            </a:r>
            <a:r>
              <a:rPr lang="en-GB" sz="1300" b="1" dirty="0">
                <a:solidFill>
                  <a:srgbClr val="004791"/>
                </a:solidFill>
              </a:rPr>
              <a:t>Results</a:t>
            </a:r>
            <a:r>
              <a:rPr lang="en-GB" sz="1300" dirty="0">
                <a:solidFill>
                  <a:srgbClr val="A5A5A5"/>
                </a:solidFill>
              </a:rPr>
              <a:t>    →    </a:t>
            </a:r>
            <a:r>
              <a:rPr lang="en-GB" sz="1300" dirty="0">
                <a:solidFill>
                  <a:srgbClr val="A5A5A5"/>
                </a:solidFill>
              </a:rPr>
              <a:t>Conclusions</a:t>
            </a:r>
          </a:p>
        </p:txBody>
      </p:sp>
      <p:sp>
        <p:nvSpPr>
          <p:cNvPr id="13" name="Slide Number"/>
          <p:cNvSpPr>
            <a:spLocks noGrp="1"/>
          </p:cNvSpPr>
          <p:nvPr>
            <p:ph type="sldNum" sz="quarter" idx="12"/>
          </p:nvPr>
        </p:nvSpPr>
        <p:spPr/>
        <p:txBody>
          <a:bodyPr/>
          <a:lstStyle/>
          <a:p>
            <a:fld id="{619F89D8-7AE3-494A-97F3-03D680869632}" type="slidenum">
              <a:rPr lang="en-GB"/>
              <a:t>1</a:t>
            </a:fld>
            <a:endParaRPr lang="en-GB"/>
          </a:p>
        </p:txBody>
      </p:sp>
      <p:sp>
        <p:nvSpPr>
          <p:cNvPr id="14" name="Label"/>
          <p:cNvSpPr txBox="1"/>
          <p:nvPr/>
        </p:nvSpPr>
        <p:spPr>
          <a:xfrm>
            <a:off x="603504" y="2011680"/>
            <a:ext cx="5852160" cy="292608"/>
          </a:xfrm>
          <a:prstGeom prst="rect">
            <a:avLst/>
          </a:prstGeom>
          <a:noFill/>
        </p:spPr>
        <p:txBody>
          <a:bodyPr wrap="square" lIns="45720" tIns="0" rIns="45720" bIns="0" anchor="t">
            <a:noAutofit/>
          </a:bodyPr>
          <a:lstStyle/>
          <a:p>
            <a:pPr algn="l"/>
            <a:r>
              <a:rPr lang="en-GB" sz="1600" b="1" dirty="0">
                <a:solidFill>
                  <a:srgbClr val="262626"/>
                </a:solidFill>
              </a:rPr>
              <a:t>Sequence requirement</a:t>
            </a:r>
          </a:p>
        </p:txBody>
      </p:sp>
      <p:sp>
        <p:nvSpPr>
          <p:cNvPr id="15" name="Label"/>
          <p:cNvSpPr txBox="1"/>
          <p:nvPr/>
        </p:nvSpPr>
        <p:spPr>
          <a:xfrm>
            <a:off x="603504" y="2395728"/>
            <a:ext cx="5852160" cy="731520"/>
          </a:xfrm>
          <a:prstGeom prst="rect">
            <a:avLst/>
          </a:prstGeom>
          <a:noFill/>
        </p:spPr>
        <p:txBody>
          <a:bodyPr wrap="square" lIns="45720" tIns="0" rIns="45720" bIns="0" anchor="t">
            <a:noAutofit/>
          </a:bodyPr>
          <a:lstStyle/>
          <a:p>
            <a:pPr algn="l"/>
            <a:r>
              <a:rPr lang="en-GB" sz="2000" dirty="0">
                <a:solidFill>
                  <a:srgbClr val="262626"/>
                </a:solidFill>
              </a:rPr>
              <a:t>Grasp the cube within 20 steps,</a:t>
            </a:r>
          </a:p>
          <a:p>
            <a:pPr algn="l"/>
            <a:r>
              <a:rPr lang="en-GB" sz="2000" dirty="0">
                <a:solidFill>
                  <a:srgbClr val="262626"/>
                </a:solidFill>
              </a:rPr>
              <a:t>place it between steps 20 and 100</a:t>
            </a:r>
          </a:p>
        </p:txBody>
      </p:sp>
      <p:pic>
        <p:nvPicPr>
          <p:cNvPr id="16" name="Equation" descr="phi equals eventually within 0 20 pick and eventually within 20 100 place"/>
          <p:cNvPicPr>
            <a:picLocks noChangeAspect="1"/>
          </p:cNvPicPr>
          <p:nvPr/>
        </p:nvPicPr>
        <p:blipFill>
          <a:blip r:embed="rId2"/>
          <a:stretch>
            <a:fillRect/>
          </a:stretch>
        </p:blipFill>
        <p:spPr>
          <a:xfrm>
            <a:off x="603504" y="3383280"/>
            <a:ext cx="4521708" cy="382524"/>
          </a:xfrm>
          <a:prstGeom prst="rect">
            <a:avLst/>
          </a:prstGeom>
        </p:spPr>
      </p:pic>
      <p:sp>
        <p:nvSpPr>
          <p:cNvPr id="17" name="Label"/>
          <p:cNvSpPr txBox="1"/>
          <p:nvPr/>
        </p:nvSpPr>
        <p:spPr>
          <a:xfrm>
            <a:off x="603504" y="4114800"/>
            <a:ext cx="6172200" cy="640080"/>
          </a:xfrm>
          <a:prstGeom prst="rect">
            <a:avLst/>
          </a:prstGeom>
          <a:noFill/>
        </p:spPr>
        <p:txBody>
          <a:bodyPr wrap="square" lIns="45720" tIns="0" rIns="45720" bIns="0" anchor="t">
            <a:noAutofit/>
          </a:bodyPr>
          <a:lstStyle/>
          <a:p>
            <a:pPr algn="l"/>
            <a:r>
              <a:rPr lang="en-GB" sz="1400" dirty="0">
                <a:solidFill>
                  <a:srgbClr val="6E6E6E"/>
                </a:solidFill>
              </a:rPr>
              <a:t>pick, the effector within 5 cm of the cube</a:t>
            </a:r>
          </a:p>
          <a:p>
            <a:pPr algn="l"/>
            <a:r>
              <a:rPr lang="en-GB" sz="1400" dirty="0">
                <a:solidFill>
                  <a:srgbClr val="6E6E6E"/>
                </a:solidFill>
              </a:rPr>
              <a:t>place, the cube within 4 cm of the target, the environment’s tolerance</a:t>
            </a:r>
          </a:p>
        </p:txBody>
      </p:sp>
      <p:pic>
        <p:nvPicPr>
          <p:cNvPr id="18" name="Video" descr="STL-FM plan executed in the cube task">
            <a:hlinkClick r:id="" action="ppaction://media"/>
          </p:cNvPr>
          <p:cNvPicPr>
            <a:picLocks noChangeAspect="1"/>
          </p:cNvPicPr>
          <p:nvPr>
            <a:videoFile r:link="rId3"/>
            <p:extLst>
              <p:ext uri="{DAA4B4D4-6D71-4841-9C94-3DE7FCFB9230}">
                <p14:media xmlns:p14="http://schemas.microsoft.com/office/powerpoint/2010/main" r:embed="rId4"/>
              </p:ext>
            </p:extLst>
          </p:nvPr>
        </p:nvPicPr>
        <p:blipFill>
          <a:blip r:embed="rId5"/>
          <a:stretch>
            <a:fillRect/>
          </a:stretch>
        </p:blipFill>
        <p:spPr>
          <a:xfrm>
            <a:off x="7397496" y="1874520"/>
            <a:ext cx="3611880" cy="3611880"/>
          </a:xfrm>
          <a:prstGeom prst="rect">
            <a:avLst/>
          </a:prstGeom>
        </p:spPr>
      </p:pic>
      <p:sp>
        <p:nvSpPr>
          <p:cNvPr id="19" name="Label"/>
          <p:cNvSpPr txBox="1"/>
          <p:nvPr/>
        </p:nvSpPr>
        <p:spPr>
          <a:xfrm>
            <a:off x="6812280" y="5541264"/>
            <a:ext cx="4782312" cy="256032"/>
          </a:xfrm>
          <a:prstGeom prst="rect">
            <a:avLst/>
          </a:prstGeom>
          <a:noFill/>
        </p:spPr>
        <p:txBody>
          <a:bodyPr wrap="square" lIns="45720" tIns="0" rIns="45720" bIns="0" anchor="t">
            <a:noAutofit/>
          </a:bodyPr>
          <a:lstStyle/>
          <a:p>
            <a:pPr algn="ctr"/>
            <a:r>
              <a:rPr lang="en-GB" sz="1300" dirty="0">
                <a:solidFill>
                  <a:srgbClr val="6E6E6E"/>
                </a:solidFill>
              </a:rPr>
              <a:t>STL-FM plan, executed</a:t>
            </a:r>
          </a:p>
        </p:txBody>
      </p:sp>
      <p:sp>
        <p:nvSpPr>
          <p:cNvPr id="20" name="Claim"/>
          <p:cNvSpPr txBox="1"/>
          <p:nvPr/>
        </p:nvSpPr>
        <p:spPr>
          <a:xfrm>
            <a:off x="603504" y="5897880"/>
            <a:ext cx="10991088" cy="365760"/>
          </a:xfrm>
          <a:prstGeom prst="rect">
            <a:avLst/>
          </a:prstGeom>
          <a:noFill/>
        </p:spPr>
        <p:txBody>
          <a:bodyPr wrap="square" lIns="45720" tIns="0" rIns="45720" bIns="0" anchor="ctr">
            <a:noAutofit/>
          </a:bodyPr>
          <a:lstStyle/>
          <a:p>
            <a:pPr algn="ctr"/>
            <a:r>
              <a:rPr lang="en-GB" sz="1800" dirty="0">
                <a:solidFill>
                  <a:srgbClr val="262626"/>
                </a:solidFill>
              </a:rPr>
              <a:t>STL-FM completes 10 of 30 executions, the STL Optimizer none</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mediacall" presetSubtype="0" fill="hold" nodeType="clickEffect">
                                  <p:stCondLst>
                                    <p:cond delay="0"/>
                                  </p:stCondLst>
                                  <p:childTnLst>
                                    <p:cmd type="call" cmd="playFrom(0.0)">
                                      <p:cBhvr>
                                        <p:cTn id="4" dur="12700"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8"/>
                </p:tgtEl>
              </p:cMediaNode>
            </p:video>
            <p:seq concurrent="1" nextAc="seek">
              <p:cTn id="8" restart="whenNotActive" fill="hold" evtFilter="cancelBubble" nodeType="interactiveSeq">
                <p:stCondLst>
                  <p:cond evt="onClick" delay="0">
                    <p:tgtEl>
                      <p:spTgt spid="1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8"/>
                                        </p:tgtEl>
                                      </p:cBhvr>
                                    </p:cmd>
                                  </p:childTnLst>
                                </p:cTn>
                              </p:par>
                            </p:childTnLst>
                          </p:cTn>
                        </p:par>
                      </p:childTnLst>
                    </p:cTn>
                  </p:par>
                </p:childTnLst>
              </p:cTn>
              <p:nextCondLst>
                <p:cond evt="onClick" delay="0">
                  <p:tgtEl>
                    <p:spTgt spid="18"/>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Logic satisfaction and task success</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a:t>
            </a:r>
            <a:r>
              <a:rPr lang="en-GB" sz="1300" dirty="0">
                <a:solidFill>
                  <a:srgbClr val="A5A5A5"/>
                </a:solidFill>
              </a:rPr>
              <a:t>    →    </a:t>
            </a:r>
            <a:r>
              <a:rPr lang="en-GB" sz="1300" dirty="0">
                <a:solidFill>
                  <a:srgbClr val="A5A5A5"/>
                </a:solidFill>
              </a:rPr>
              <a:t>Background</a:t>
            </a:r>
            <a:r>
              <a:rPr lang="en-GB" sz="1300" dirty="0">
                <a:solidFill>
                  <a:srgbClr val="A5A5A5"/>
                </a:solidFill>
              </a:rPr>
              <a:t>    →    </a:t>
            </a:r>
            <a:r>
              <a:rPr lang="en-GB" sz="1300" dirty="0">
                <a:solidFill>
                  <a:srgbClr val="A5A5A5"/>
                </a:solidFill>
              </a:rPr>
              <a:t>Method</a:t>
            </a:r>
            <a:r>
              <a:rPr lang="en-GB" sz="1300" dirty="0">
                <a:solidFill>
                  <a:srgbClr val="A5A5A5"/>
                </a:solidFill>
              </a:rPr>
              <a:t>    →    </a:t>
            </a:r>
            <a:r>
              <a:rPr lang="en-GB" sz="1300" b="1" dirty="0">
                <a:solidFill>
                  <a:srgbClr val="004791"/>
                </a:solidFill>
              </a:rPr>
              <a:t>Results</a:t>
            </a:r>
            <a:r>
              <a:rPr lang="en-GB" sz="1300" dirty="0">
                <a:solidFill>
                  <a:srgbClr val="A5A5A5"/>
                </a:solidFill>
              </a:rPr>
              <a:t>    →    </a:t>
            </a:r>
            <a:r>
              <a:rPr lang="en-GB" sz="1300" dirty="0">
                <a:solidFill>
                  <a:srgbClr val="A5A5A5"/>
                </a:solidFill>
              </a:rPr>
              <a:t>Conclusions</a:t>
            </a:r>
          </a:p>
        </p:txBody>
      </p:sp>
      <p:sp>
        <p:nvSpPr>
          <p:cNvPr id="13" name="Slide Number"/>
          <p:cNvSpPr>
            <a:spLocks noGrp="1"/>
          </p:cNvSpPr>
          <p:nvPr>
            <p:ph type="sldNum" sz="quarter" idx="12"/>
          </p:nvPr>
        </p:nvSpPr>
        <p:spPr/>
        <p:txBody>
          <a:bodyPr/>
          <a:lstStyle/>
          <a:p>
            <a:fld id="{619F89D8-7AE3-494A-97F3-03D680869632}" type="slidenum">
              <a:rPr lang="en-GB"/>
              <a:t>1</a:t>
            </a:fld>
            <a:endParaRPr lang="en-GB"/>
          </a:p>
        </p:txBody>
      </p:sp>
      <p:pic>
        <p:nvPicPr>
          <p:cNvPr id="14" name="Figure" descr="Logic satisfaction and task success in the cube study"/>
          <p:cNvPicPr>
            <a:picLocks noChangeAspect="1"/>
          </p:cNvPicPr>
          <p:nvPr/>
        </p:nvPicPr>
        <p:blipFill>
          <a:blip r:embed="rId2"/>
          <a:stretch>
            <a:fillRect/>
          </a:stretch>
        </p:blipFill>
        <p:spPr>
          <a:xfrm>
            <a:off x="603504" y="1890448"/>
            <a:ext cx="10991088" cy="3900063"/>
          </a:xfrm>
          <a:prstGeom prst="rect">
            <a:avLst/>
          </a:prstGeom>
        </p:spPr>
      </p:pic>
      <p:sp>
        <p:nvSpPr>
          <p:cNvPr id="15" name="Claim"/>
          <p:cNvSpPr txBox="1"/>
          <p:nvPr/>
        </p:nvSpPr>
        <p:spPr>
          <a:xfrm>
            <a:off x="603504" y="5897880"/>
            <a:ext cx="10991088" cy="365760"/>
          </a:xfrm>
          <a:prstGeom prst="rect">
            <a:avLst/>
          </a:prstGeom>
          <a:noFill/>
        </p:spPr>
        <p:txBody>
          <a:bodyPr wrap="square" lIns="45720" tIns="0" rIns="45720" bIns="0" anchor="ctr">
            <a:noAutofit/>
          </a:bodyPr>
          <a:lstStyle/>
          <a:p>
            <a:pPr algn="ctr"/>
            <a:r>
              <a:rPr lang="en-GB" sz="1800" dirty="0">
                <a:solidFill>
                  <a:srgbClr val="262626"/>
                </a:solidFill>
              </a:rPr>
              <a:t>Logic satisfaction and task success each occur without the other</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Conclusions</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a:t>
            </a:r>
            <a:r>
              <a:rPr lang="en-GB" sz="1300" dirty="0">
                <a:solidFill>
                  <a:srgbClr val="A5A5A5"/>
                </a:solidFill>
              </a:rPr>
              <a:t>    →    </a:t>
            </a:r>
            <a:r>
              <a:rPr lang="en-GB" sz="1300" dirty="0">
                <a:solidFill>
                  <a:srgbClr val="A5A5A5"/>
                </a:solidFill>
              </a:rPr>
              <a:t>Background</a:t>
            </a:r>
            <a:r>
              <a:rPr lang="en-GB" sz="1300" dirty="0">
                <a:solidFill>
                  <a:srgbClr val="A5A5A5"/>
                </a:solidFill>
              </a:rPr>
              <a:t>    →    </a:t>
            </a:r>
            <a:r>
              <a:rPr lang="en-GB" sz="1300" dirty="0">
                <a:solidFill>
                  <a:srgbClr val="A5A5A5"/>
                </a:solidFill>
              </a:rPr>
              <a:t>Method</a:t>
            </a:r>
            <a:r>
              <a:rPr lang="en-GB" sz="1300" dirty="0">
                <a:solidFill>
                  <a:srgbClr val="A5A5A5"/>
                </a:solidFill>
              </a:rPr>
              <a:t>    →    </a:t>
            </a:r>
            <a:r>
              <a:rPr lang="en-GB" sz="1300" dirty="0">
                <a:solidFill>
                  <a:srgbClr val="A5A5A5"/>
                </a:solidFill>
              </a:rPr>
              <a:t>Results</a:t>
            </a:r>
            <a:r>
              <a:rPr lang="en-GB" sz="1300" dirty="0">
                <a:solidFill>
                  <a:srgbClr val="A5A5A5"/>
                </a:solidFill>
              </a:rPr>
              <a:t>    →    </a:t>
            </a:r>
            <a:r>
              <a:rPr lang="en-GB" sz="1300" b="1" dirty="0">
                <a:solidFill>
                  <a:srgbClr val="004791"/>
                </a:solidFill>
              </a:rPr>
              <a:t>Conclusions</a:t>
            </a:r>
          </a:p>
        </p:txBody>
      </p:sp>
      <p:sp>
        <p:nvSpPr>
          <p:cNvPr id="13" name="Slide Number"/>
          <p:cNvSpPr>
            <a:spLocks noGrp="1"/>
          </p:cNvSpPr>
          <p:nvPr>
            <p:ph type="sldNum" sz="quarter" idx="12"/>
          </p:nvPr>
        </p:nvSpPr>
        <p:spPr/>
        <p:txBody>
          <a:bodyPr/>
          <a:lstStyle/>
          <a:p>
            <a:fld id="{619F89D8-7AE3-494A-97F3-03D680869632}" type="slidenum">
              <a:rPr lang="en-GB"/>
              <a:t>1</a:t>
            </a:fld>
            <a:endParaRPr lang="en-GB"/>
          </a:p>
        </p:txBody>
      </p:sp>
      <p:sp>
        <p:nvSpPr>
          <p:cNvPr id="14" name="Callout"/>
          <p:cNvSpPr/>
          <p:nvPr/>
        </p:nvSpPr>
        <p:spPr>
          <a:xfrm>
            <a:off x="603504" y="1901952"/>
            <a:ext cx="10991088" cy="1115568"/>
          </a:xfrm>
          <a:prstGeom prst="rect">
            <a:avLst/>
          </a:prstGeom>
          <a:solidFill>
            <a:srgbClr val="EAF0F7"/>
          </a:solidFill>
          <a:ln>
            <a:noFill/>
          </a:ln>
        </p:spPr>
        <p:txBody>
          <a:bodyPr wrap="square" lIns="64008" tIns="27432" rIns="64008" bIns="27432" anchor="ctr">
            <a:noAutofit/>
          </a:bodyPr>
          <a:lstStyle/>
          <a:p>
            <a:pPr algn="ctr"/>
            <a:r>
              <a:rPr lang="en-GB" sz="1600" dirty="0">
                <a:solidFill>
                  <a:srgbClr val="262626"/>
                </a:solidFill>
              </a:rPr>
              <a:t/>
            </a:r>
          </a:p>
        </p:txBody>
      </p:sp>
      <p:sp>
        <p:nvSpPr>
          <p:cNvPr id="15" name="Callout bar"/>
          <p:cNvSpPr/>
          <p:nvPr/>
        </p:nvSpPr>
        <p:spPr>
          <a:xfrm>
            <a:off x="603504" y="1901952"/>
            <a:ext cx="64008" cy="1115568"/>
          </a:xfrm>
          <a:prstGeom prst="rect">
            <a:avLst/>
          </a:prstGeom>
          <a:solidFill>
            <a:srgbClr val="1954A6"/>
          </a:solidFill>
          <a:ln>
            <a:noFill/>
          </a:ln>
        </p:spPr>
        <p:txBody>
          <a:bodyPr wrap="square" lIns="64008" tIns="27432" rIns="64008" bIns="27432" anchor="ctr">
            <a:noAutofit/>
          </a:bodyPr>
          <a:lstStyle/>
          <a:p>
            <a:pPr algn="ctr"/>
            <a:r>
              <a:rPr lang="en-GB" sz="1600" dirty="0">
                <a:solidFill>
                  <a:srgbClr val="262626"/>
                </a:solidFill>
              </a:rPr>
              <a:t/>
            </a:r>
          </a:p>
        </p:txBody>
      </p:sp>
      <p:sp>
        <p:nvSpPr>
          <p:cNvPr id="16" name="Callout tag"/>
          <p:cNvSpPr txBox="1"/>
          <p:nvPr/>
        </p:nvSpPr>
        <p:spPr>
          <a:xfrm>
            <a:off x="832104" y="1901952"/>
            <a:ext cx="1188720" cy="1115568"/>
          </a:xfrm>
          <a:prstGeom prst="rect">
            <a:avLst/>
          </a:prstGeom>
          <a:noFill/>
        </p:spPr>
        <p:txBody>
          <a:bodyPr wrap="square" lIns="45720" tIns="0" rIns="45720" bIns="0" anchor="ctr">
            <a:noAutofit/>
          </a:bodyPr>
          <a:lstStyle/>
          <a:p>
            <a:pPr algn="l"/>
            <a:r>
              <a:rPr lang="en-GB" sz="1500" b="1" dirty="0">
                <a:solidFill>
                  <a:srgbClr val="144385"/>
                </a:solidFill>
              </a:rPr>
              <a:t>RQ1</a:t>
            </a:r>
          </a:p>
        </p:txBody>
      </p:sp>
      <p:sp>
        <p:nvSpPr>
          <p:cNvPr id="17" name="Callout text"/>
          <p:cNvSpPr txBox="1"/>
          <p:nvPr/>
        </p:nvSpPr>
        <p:spPr>
          <a:xfrm>
            <a:off x="2066544" y="1901952"/>
            <a:ext cx="9390888" cy="1115568"/>
          </a:xfrm>
          <a:prstGeom prst="rect">
            <a:avLst/>
          </a:prstGeom>
          <a:noFill/>
        </p:spPr>
        <p:txBody>
          <a:bodyPr wrap="square" lIns="45720" tIns="0" rIns="45720" bIns="0" anchor="ctr">
            <a:noAutofit/>
          </a:bodyPr>
          <a:lstStyle/>
          <a:p>
            <a:pPr algn="l"/>
            <a:r>
              <a:rPr lang="en-GB" sz="1500" b="1" dirty="0">
                <a:solidFill>
                  <a:srgbClr val="262626"/>
                </a:solidFill>
              </a:rPr>
              <a:t>What does a demonstration witnessing a requirement imply about that requirement?</a:t>
            </a:r>
          </a:p>
          <a:p>
            <a:pPr algn="l"/>
            <a:r>
              <a:rPr lang="en-GB" sz="1500" dirty="0">
                <a:solidFill>
                  <a:srgbClr val="262626"/>
                </a:solidFill>
              </a:rPr>
              <a:t>A demonstration witnesses a requirement without determining it, so the requirement is stated separately from the demonstrations.</a:t>
            </a:r>
          </a:p>
        </p:txBody>
      </p:sp>
      <p:sp>
        <p:nvSpPr>
          <p:cNvPr id="18" name="Callout"/>
          <p:cNvSpPr/>
          <p:nvPr/>
        </p:nvSpPr>
        <p:spPr>
          <a:xfrm>
            <a:off x="603504" y="3127248"/>
            <a:ext cx="10991088" cy="1115568"/>
          </a:xfrm>
          <a:prstGeom prst="rect">
            <a:avLst/>
          </a:prstGeom>
          <a:solidFill>
            <a:srgbClr val="FBF0F6"/>
          </a:solidFill>
          <a:ln>
            <a:noFill/>
          </a:ln>
        </p:spPr>
        <p:txBody>
          <a:bodyPr wrap="square" lIns="64008" tIns="27432" rIns="64008" bIns="27432" anchor="ctr">
            <a:noAutofit/>
          </a:bodyPr>
          <a:lstStyle/>
          <a:p>
            <a:pPr algn="ctr"/>
            <a:r>
              <a:rPr lang="en-GB" sz="1600" dirty="0">
                <a:solidFill>
                  <a:srgbClr val="262626"/>
                </a:solidFill>
              </a:rPr>
              <a:t/>
            </a:r>
          </a:p>
        </p:txBody>
      </p:sp>
      <p:sp>
        <p:nvSpPr>
          <p:cNvPr id="19" name="Callout bar"/>
          <p:cNvSpPr/>
          <p:nvPr/>
        </p:nvSpPr>
        <p:spPr>
          <a:xfrm>
            <a:off x="603504" y="3127248"/>
            <a:ext cx="64008" cy="1115568"/>
          </a:xfrm>
          <a:prstGeom prst="rect">
            <a:avLst/>
          </a:prstGeom>
          <a:solidFill>
            <a:srgbClr val="D85497"/>
          </a:solidFill>
          <a:ln>
            <a:noFill/>
          </a:ln>
        </p:spPr>
        <p:txBody>
          <a:bodyPr wrap="square" lIns="64008" tIns="27432" rIns="64008" bIns="27432" anchor="ctr">
            <a:noAutofit/>
          </a:bodyPr>
          <a:lstStyle/>
          <a:p>
            <a:pPr algn="ctr"/>
            <a:r>
              <a:rPr lang="en-GB" sz="1600" dirty="0">
                <a:solidFill>
                  <a:srgbClr val="262626"/>
                </a:solidFill>
              </a:rPr>
              <a:t/>
            </a:r>
          </a:p>
        </p:txBody>
      </p:sp>
      <p:sp>
        <p:nvSpPr>
          <p:cNvPr id="20" name="Callout tag"/>
          <p:cNvSpPr txBox="1"/>
          <p:nvPr/>
        </p:nvSpPr>
        <p:spPr>
          <a:xfrm>
            <a:off x="832104" y="3127248"/>
            <a:ext cx="1188720" cy="1115568"/>
          </a:xfrm>
          <a:prstGeom prst="rect">
            <a:avLst/>
          </a:prstGeom>
          <a:noFill/>
        </p:spPr>
        <p:txBody>
          <a:bodyPr wrap="square" lIns="45720" tIns="0" rIns="45720" bIns="0" anchor="ctr">
            <a:noAutofit/>
          </a:bodyPr>
          <a:lstStyle/>
          <a:p>
            <a:pPr algn="l"/>
            <a:r>
              <a:rPr lang="en-GB" sz="1500" b="1" dirty="0">
                <a:solidFill>
                  <a:srgbClr val="AD4379"/>
                </a:solidFill>
              </a:rPr>
              <a:t>RQ2</a:t>
            </a:r>
          </a:p>
        </p:txBody>
      </p:sp>
      <p:sp>
        <p:nvSpPr>
          <p:cNvPr id="21" name="Callout text"/>
          <p:cNvSpPr txBox="1"/>
          <p:nvPr/>
        </p:nvSpPr>
        <p:spPr>
          <a:xfrm>
            <a:off x="2066544" y="3127248"/>
            <a:ext cx="9390888" cy="1115568"/>
          </a:xfrm>
          <a:prstGeom prst="rect">
            <a:avLst/>
          </a:prstGeom>
          <a:noFill/>
        </p:spPr>
        <p:txBody>
          <a:bodyPr wrap="square" lIns="45720" tIns="0" rIns="45720" bIns="0" anchor="ctr">
            <a:noAutofit/>
          </a:bodyPr>
          <a:lstStyle/>
          <a:p>
            <a:pPr algn="l"/>
            <a:r>
              <a:rPr lang="en-GB" sz="1500" b="1" dirty="0">
                <a:solidFill>
                  <a:srgbClr val="262626"/>
                </a:solidFill>
              </a:rPr>
              <a:t>What does maximizing the robustness score alone determine about a trajectory?</a:t>
            </a:r>
          </a:p>
          <a:p>
            <a:pPr algn="l"/>
            <a:r>
              <a:rPr lang="en-GB" sz="1500" dirty="0">
                <a:solidFill>
                  <a:srgbClr val="262626"/>
                </a:solidFill>
              </a:rPr>
              <a:t>The robustness score alone does not determine a trajectory. Its gradient depends on at most m waypoints, and its maximizers are unbounded where only avoidance applies. Without the prior, plans for the sequencing requirements leave the arena, and the planned cube moves without contact.</a:t>
            </a:r>
          </a:p>
        </p:txBody>
      </p:sp>
      <p:sp>
        <p:nvSpPr>
          <p:cNvPr id="22" name="Callout"/>
          <p:cNvSpPr/>
          <p:nvPr/>
        </p:nvSpPr>
        <p:spPr>
          <a:xfrm>
            <a:off x="603504" y="4352544"/>
            <a:ext cx="10991088" cy="1115568"/>
          </a:xfrm>
          <a:prstGeom prst="rect">
            <a:avLst/>
          </a:prstGeom>
          <a:solidFill>
            <a:srgbClr val="EBF6FB"/>
          </a:solidFill>
          <a:ln>
            <a:noFill/>
          </a:ln>
        </p:spPr>
        <p:txBody>
          <a:bodyPr wrap="square" lIns="64008" tIns="27432" rIns="64008" bIns="27432" anchor="ctr">
            <a:noAutofit/>
          </a:bodyPr>
          <a:lstStyle/>
          <a:p>
            <a:pPr algn="ctr"/>
            <a:r>
              <a:rPr lang="en-GB" sz="1600" dirty="0">
                <a:solidFill>
                  <a:srgbClr val="262626"/>
                </a:solidFill>
              </a:rPr>
              <a:t/>
            </a:r>
          </a:p>
        </p:txBody>
      </p:sp>
      <p:sp>
        <p:nvSpPr>
          <p:cNvPr id="23" name="Callout bar"/>
          <p:cNvSpPr/>
          <p:nvPr/>
        </p:nvSpPr>
        <p:spPr>
          <a:xfrm>
            <a:off x="603504" y="4352544"/>
            <a:ext cx="64008" cy="1115568"/>
          </a:xfrm>
          <a:prstGeom prst="rect">
            <a:avLst/>
          </a:prstGeom>
          <a:solidFill>
            <a:srgbClr val="24A0D8"/>
          </a:solidFill>
          <a:ln>
            <a:noFill/>
          </a:ln>
        </p:spPr>
        <p:txBody>
          <a:bodyPr wrap="square" lIns="64008" tIns="27432" rIns="64008" bIns="27432" anchor="ctr">
            <a:noAutofit/>
          </a:bodyPr>
          <a:lstStyle/>
          <a:p>
            <a:pPr algn="ctr"/>
            <a:r>
              <a:rPr lang="en-GB" sz="1600" dirty="0">
                <a:solidFill>
                  <a:srgbClr val="262626"/>
                </a:solidFill>
              </a:rPr>
              <a:t/>
            </a:r>
          </a:p>
        </p:txBody>
      </p:sp>
      <p:sp>
        <p:nvSpPr>
          <p:cNvPr id="24" name="Callout tag"/>
          <p:cNvSpPr txBox="1"/>
          <p:nvPr/>
        </p:nvSpPr>
        <p:spPr>
          <a:xfrm>
            <a:off x="832104" y="4352544"/>
            <a:ext cx="1188720" cy="1115568"/>
          </a:xfrm>
          <a:prstGeom prst="rect">
            <a:avLst/>
          </a:prstGeom>
          <a:noFill/>
        </p:spPr>
        <p:txBody>
          <a:bodyPr wrap="square" lIns="45720" tIns="0" rIns="45720" bIns="0" anchor="ctr">
            <a:noAutofit/>
          </a:bodyPr>
          <a:lstStyle/>
          <a:p>
            <a:pPr algn="l"/>
            <a:r>
              <a:rPr lang="en-GB" sz="1500" b="1" dirty="0">
                <a:solidFill>
                  <a:srgbClr val="1D80AD"/>
                </a:solidFill>
              </a:rPr>
              <a:t>Method</a:t>
            </a:r>
          </a:p>
        </p:txBody>
      </p:sp>
      <p:sp>
        <p:nvSpPr>
          <p:cNvPr id="25" name="Callout text"/>
          <p:cNvSpPr txBox="1"/>
          <p:nvPr/>
        </p:nvSpPr>
        <p:spPr>
          <a:xfrm>
            <a:off x="2066544" y="4352544"/>
            <a:ext cx="9390888" cy="1115568"/>
          </a:xfrm>
          <a:prstGeom prst="rect">
            <a:avLst/>
          </a:prstGeom>
          <a:noFill/>
        </p:spPr>
        <p:txBody>
          <a:bodyPr wrap="square" lIns="45720" tIns="0" rIns="45720" bIns="0" anchor="ctr">
            <a:noAutofit/>
          </a:bodyPr>
          <a:lstStyle/>
          <a:p>
            <a:pPr algn="l"/>
            <a:r>
              <a:rPr lang="en-GB" sz="1500" b="1" dirty="0">
                <a:solidFill>
                  <a:srgbClr val="262626"/>
                </a:solidFill>
              </a:rPr>
              <a:t>STL-FM guides the learned prior at one constant strength, without retraining</a:t>
            </a:r>
          </a:p>
          <a:p>
            <a:pPr algn="l"/>
            <a:r>
              <a:rPr lang="en-GB" sz="1500" dirty="0">
                <a:solidFill>
                  <a:srgbClr val="262626"/>
                </a:solidFill>
              </a:rPr>
              <a:t>STL-FM satisfies the dwell, sequence and avoidance requirements at rates of 0.78 to 1.00 per class and completes 10 of 30 cube executions, against none for the STL Optimizer.</a:t>
            </a:r>
          </a:p>
        </p:txBody>
      </p:sp>
      <p:sp>
        <p:nvSpPr>
          <p:cNvPr id="26" name="Label"/>
          <p:cNvSpPr txBox="1"/>
          <p:nvPr/>
        </p:nvSpPr>
        <p:spPr>
          <a:xfrm>
            <a:off x="603504" y="5632704"/>
            <a:ext cx="10991088" cy="365760"/>
          </a:xfrm>
          <a:prstGeom prst="rect">
            <a:avLst/>
          </a:prstGeom>
          <a:noFill/>
        </p:spPr>
        <p:txBody>
          <a:bodyPr wrap="square" lIns="45720" tIns="0" rIns="45720" bIns="0" anchor="t">
            <a:noAutofit/>
          </a:bodyPr>
          <a:lstStyle/>
          <a:p>
            <a:pPr algn="ctr"/>
            <a:r>
              <a:rPr lang="en-GB" sz="1500" dirty="0">
                <a:solidFill>
                  <a:srgbClr val="262626"/>
                </a:solidFill>
              </a:rPr>
              <a:t>Logic satisfaction and task success do not coincide. A requirement constrains only the variables the prior generates.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Future work</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a:t>
            </a:r>
            <a:r>
              <a:rPr lang="en-GB" sz="1300" dirty="0">
                <a:solidFill>
                  <a:srgbClr val="A5A5A5"/>
                </a:solidFill>
              </a:rPr>
              <a:t>    →    </a:t>
            </a:r>
            <a:r>
              <a:rPr lang="en-GB" sz="1300" dirty="0">
                <a:solidFill>
                  <a:srgbClr val="A5A5A5"/>
                </a:solidFill>
              </a:rPr>
              <a:t>Background</a:t>
            </a:r>
            <a:r>
              <a:rPr lang="en-GB" sz="1300" dirty="0">
                <a:solidFill>
                  <a:srgbClr val="A5A5A5"/>
                </a:solidFill>
              </a:rPr>
              <a:t>    →    </a:t>
            </a:r>
            <a:r>
              <a:rPr lang="en-GB" sz="1300" dirty="0">
                <a:solidFill>
                  <a:srgbClr val="A5A5A5"/>
                </a:solidFill>
              </a:rPr>
              <a:t>Method</a:t>
            </a:r>
            <a:r>
              <a:rPr lang="en-GB" sz="1300" dirty="0">
                <a:solidFill>
                  <a:srgbClr val="A5A5A5"/>
                </a:solidFill>
              </a:rPr>
              <a:t>    →    </a:t>
            </a:r>
            <a:r>
              <a:rPr lang="en-GB" sz="1300" dirty="0">
                <a:solidFill>
                  <a:srgbClr val="A5A5A5"/>
                </a:solidFill>
              </a:rPr>
              <a:t>Results</a:t>
            </a:r>
            <a:r>
              <a:rPr lang="en-GB" sz="1300" dirty="0">
                <a:solidFill>
                  <a:srgbClr val="A5A5A5"/>
                </a:solidFill>
              </a:rPr>
              <a:t>    →    </a:t>
            </a:r>
            <a:r>
              <a:rPr lang="en-GB" sz="1300" b="1" dirty="0">
                <a:solidFill>
                  <a:srgbClr val="004791"/>
                </a:solidFill>
              </a:rPr>
              <a:t>Conclusions</a:t>
            </a:r>
          </a:p>
        </p:txBody>
      </p:sp>
      <p:sp>
        <p:nvSpPr>
          <p:cNvPr id="13" name="Slide Number"/>
          <p:cNvSpPr>
            <a:spLocks noGrp="1"/>
          </p:cNvSpPr>
          <p:nvPr>
            <p:ph type="sldNum" sz="quarter" idx="12"/>
          </p:nvPr>
        </p:nvSpPr>
        <p:spPr/>
        <p:txBody>
          <a:bodyPr/>
          <a:lstStyle/>
          <a:p>
            <a:fld id="{619F89D8-7AE3-494A-97F3-03D680869632}" type="slidenum">
              <a:rPr lang="en-GB"/>
              <a:t>1</a:t>
            </a:fld>
            <a:endParaRPr lang="en-GB"/>
          </a:p>
        </p:txBody>
      </p:sp>
      <p:sp>
        <p:nvSpPr>
          <p:cNvPr id="14" name="Label"/>
          <p:cNvSpPr txBox="1"/>
          <p:nvPr/>
        </p:nvSpPr>
        <p:spPr>
          <a:xfrm>
            <a:off x="603504" y="1965960"/>
            <a:ext cx="411480" cy="329184"/>
          </a:xfrm>
          <a:prstGeom prst="rect">
            <a:avLst/>
          </a:prstGeom>
          <a:noFill/>
        </p:spPr>
        <p:txBody>
          <a:bodyPr wrap="square" lIns="45720" tIns="0" rIns="45720" bIns="0" anchor="t">
            <a:noAutofit/>
          </a:bodyPr>
          <a:lstStyle/>
          <a:p>
            <a:pPr algn="l"/>
            <a:r>
              <a:rPr lang="en-GB" sz="1700" b="1" dirty="0">
                <a:solidFill>
                  <a:srgbClr val="262626"/>
                </a:solidFill>
              </a:rPr>
              <a:t>1.</a:t>
            </a:r>
          </a:p>
        </p:txBody>
      </p:sp>
      <p:sp>
        <p:nvSpPr>
          <p:cNvPr id="15" name="Label"/>
          <p:cNvSpPr txBox="1"/>
          <p:nvPr/>
        </p:nvSpPr>
        <p:spPr>
          <a:xfrm>
            <a:off x="1014984" y="1965960"/>
            <a:ext cx="6400800" cy="822960"/>
          </a:xfrm>
          <a:prstGeom prst="rect">
            <a:avLst/>
          </a:prstGeom>
          <a:noFill/>
        </p:spPr>
        <p:txBody>
          <a:bodyPr wrap="square" lIns="45720" tIns="0" rIns="45720" bIns="0" anchor="t">
            <a:noAutofit/>
          </a:bodyPr>
          <a:lstStyle/>
          <a:p>
            <a:pPr algn="l"/>
            <a:r>
              <a:rPr lang="en-GB" sz="1600" b="1" dirty="0">
                <a:solidFill>
                  <a:srgbClr val="262626"/>
                </a:solidFill>
              </a:rPr>
              <a:t>A differentiable dynamics model</a:t>
            </a:r>
          </a:p>
          <a:p>
            <a:pPr algn="l"/>
            <a:r>
              <a:rPr lang="en-GB" sz="1600" dirty="0">
                <a:solidFill>
                  <a:srgbClr val="262626"/>
                </a:solidFill>
              </a:rPr>
              <a:t>so that a requirement can constrain contact and object pose</a:t>
            </a:r>
          </a:p>
        </p:txBody>
      </p:sp>
      <p:sp>
        <p:nvSpPr>
          <p:cNvPr id="16" name="Label"/>
          <p:cNvSpPr txBox="1"/>
          <p:nvPr/>
        </p:nvSpPr>
        <p:spPr>
          <a:xfrm>
            <a:off x="603504" y="2770632"/>
            <a:ext cx="411480" cy="329184"/>
          </a:xfrm>
          <a:prstGeom prst="rect">
            <a:avLst/>
          </a:prstGeom>
          <a:noFill/>
        </p:spPr>
        <p:txBody>
          <a:bodyPr wrap="square" lIns="45720" tIns="0" rIns="45720" bIns="0" anchor="t">
            <a:noAutofit/>
          </a:bodyPr>
          <a:lstStyle/>
          <a:p>
            <a:pPr algn="l"/>
            <a:r>
              <a:rPr lang="en-GB" sz="1700" b="1" dirty="0">
                <a:solidFill>
                  <a:srgbClr val="262626"/>
                </a:solidFill>
              </a:rPr>
              <a:t>2.</a:t>
            </a:r>
          </a:p>
        </p:txBody>
      </p:sp>
      <p:sp>
        <p:nvSpPr>
          <p:cNvPr id="17" name="Label"/>
          <p:cNvSpPr txBox="1"/>
          <p:nvPr/>
        </p:nvSpPr>
        <p:spPr>
          <a:xfrm>
            <a:off x="1014984" y="2770632"/>
            <a:ext cx="6400800" cy="822960"/>
          </a:xfrm>
          <a:prstGeom prst="rect">
            <a:avLst/>
          </a:prstGeom>
          <a:noFill/>
        </p:spPr>
        <p:txBody>
          <a:bodyPr wrap="square" lIns="45720" tIns="0" rIns="45720" bIns="0" anchor="t">
            <a:noAutofit/>
          </a:bodyPr>
          <a:lstStyle/>
          <a:p>
            <a:pPr algn="l"/>
            <a:r>
              <a:rPr lang="en-GB" sz="1600" b="1" dirty="0">
                <a:solidFill>
                  <a:srgbClr val="262626"/>
                </a:solidFill>
              </a:rPr>
              <a:t>Execution on the physical platform</a:t>
            </a:r>
          </a:p>
          <a:p>
            <a:pPr algn="l"/>
            <a:r>
              <a:rPr lang="en-GB" sz="1600" dirty="0">
                <a:solidFill>
                  <a:srgbClr val="262626"/>
                </a:solidFill>
              </a:rPr>
              <a:t>plans for the GoFA door task, executed and scored on the robot</a:t>
            </a:r>
          </a:p>
        </p:txBody>
      </p:sp>
      <p:sp>
        <p:nvSpPr>
          <p:cNvPr id="18" name="Label"/>
          <p:cNvSpPr txBox="1"/>
          <p:nvPr/>
        </p:nvSpPr>
        <p:spPr>
          <a:xfrm>
            <a:off x="603504" y="3575304"/>
            <a:ext cx="411480" cy="329184"/>
          </a:xfrm>
          <a:prstGeom prst="rect">
            <a:avLst/>
          </a:prstGeom>
          <a:noFill/>
        </p:spPr>
        <p:txBody>
          <a:bodyPr wrap="square" lIns="45720" tIns="0" rIns="45720" bIns="0" anchor="t">
            <a:noAutofit/>
          </a:bodyPr>
          <a:lstStyle/>
          <a:p>
            <a:pPr algn="l"/>
            <a:r>
              <a:rPr lang="en-GB" sz="1700" b="1" dirty="0">
                <a:solidFill>
                  <a:srgbClr val="262626"/>
                </a:solidFill>
              </a:rPr>
              <a:t>3.</a:t>
            </a:r>
          </a:p>
        </p:txBody>
      </p:sp>
      <p:sp>
        <p:nvSpPr>
          <p:cNvPr id="19" name="Label"/>
          <p:cNvSpPr txBox="1"/>
          <p:nvPr/>
        </p:nvSpPr>
        <p:spPr>
          <a:xfrm>
            <a:off x="1014984" y="3575304"/>
            <a:ext cx="6400800" cy="822960"/>
          </a:xfrm>
          <a:prstGeom prst="rect">
            <a:avLst/>
          </a:prstGeom>
          <a:noFill/>
        </p:spPr>
        <p:txBody>
          <a:bodyPr wrap="square" lIns="45720" tIns="0" rIns="45720" bIns="0" anchor="t">
            <a:noAutofit/>
          </a:bodyPr>
          <a:lstStyle/>
          <a:p>
            <a:pPr algn="l"/>
            <a:r>
              <a:rPr lang="en-GB" sz="1600" b="1" dirty="0">
                <a:solidFill>
                  <a:srgbClr val="262626"/>
                </a:solidFill>
              </a:rPr>
              <a:t>A sweep of a requirement’s parameters</a:t>
            </a:r>
          </a:p>
          <a:p>
            <a:pPr algn="l"/>
            <a:r>
              <a:rPr lang="en-GB" sz="1600" dirty="0">
                <a:solidFill>
                  <a:srgbClr val="262626"/>
                </a:solidFill>
              </a:rPr>
              <a:t>the same prior under changed windows and dwell times</a:t>
            </a:r>
          </a:p>
        </p:txBody>
      </p:sp>
      <p:sp>
        <p:nvSpPr>
          <p:cNvPr id="20" name="Label"/>
          <p:cNvSpPr txBox="1"/>
          <p:nvPr/>
        </p:nvSpPr>
        <p:spPr>
          <a:xfrm>
            <a:off x="603504" y="4379976"/>
            <a:ext cx="411480" cy="329184"/>
          </a:xfrm>
          <a:prstGeom prst="rect">
            <a:avLst/>
          </a:prstGeom>
          <a:noFill/>
        </p:spPr>
        <p:txBody>
          <a:bodyPr wrap="square" lIns="45720" tIns="0" rIns="45720" bIns="0" anchor="t">
            <a:noAutofit/>
          </a:bodyPr>
          <a:lstStyle/>
          <a:p>
            <a:pPr algn="l"/>
            <a:r>
              <a:rPr lang="en-GB" sz="1700" b="1" dirty="0">
                <a:solidFill>
                  <a:srgbClr val="262626"/>
                </a:solidFill>
              </a:rPr>
              <a:t>4.</a:t>
            </a:r>
          </a:p>
        </p:txBody>
      </p:sp>
      <p:sp>
        <p:nvSpPr>
          <p:cNvPr id="21" name="Label"/>
          <p:cNvSpPr txBox="1"/>
          <p:nvPr/>
        </p:nvSpPr>
        <p:spPr>
          <a:xfrm>
            <a:off x="1014984" y="4379976"/>
            <a:ext cx="6400800" cy="822960"/>
          </a:xfrm>
          <a:prstGeom prst="rect">
            <a:avLst/>
          </a:prstGeom>
          <a:noFill/>
        </p:spPr>
        <p:txBody>
          <a:bodyPr wrap="square" lIns="45720" tIns="0" rIns="45720" bIns="0" anchor="t">
            <a:noAutofit/>
          </a:bodyPr>
          <a:lstStyle/>
          <a:p>
            <a:pPr algn="l"/>
            <a:r>
              <a:rPr lang="en-GB" sz="1600" b="1" dirty="0">
                <a:solidFill>
                  <a:srgbClr val="262626"/>
                </a:solidFill>
              </a:rPr>
              <a:t>A barrier-filtered controller for execution</a:t>
            </a:r>
          </a:p>
          <a:p>
            <a:pPr algn="l"/>
            <a:r>
              <a:rPr lang="en-GB" sz="1600" dirty="0">
                <a:solidFill>
                  <a:srgbClr val="262626"/>
                </a:solidFill>
              </a:rPr>
              <a:t>for an execution-time guarantee</a:t>
            </a:r>
          </a:p>
        </p:txBody>
      </p:sp>
      <p:pic>
        <p:nvPicPr>
          <p:cNvPr id="22" name="Figure" descr="Kitchen study, planned against executed robustness"/>
          <p:cNvPicPr>
            <a:picLocks noChangeAspect="1"/>
          </p:cNvPicPr>
          <p:nvPr/>
        </p:nvPicPr>
        <p:blipFill>
          <a:blip r:embed="rId2"/>
          <a:stretch>
            <a:fillRect/>
          </a:stretch>
        </p:blipFill>
        <p:spPr>
          <a:xfrm>
            <a:off x="7543800" y="2670077"/>
            <a:ext cx="4050792" cy="2157925"/>
          </a:xfrm>
          <a:prstGeom prst="rect">
            <a:avLst/>
          </a:prstGeom>
        </p:spPr>
      </p:pic>
      <p:sp>
        <p:nvSpPr>
          <p:cNvPr id="23" name="Label"/>
          <p:cNvSpPr txBox="1"/>
          <p:nvPr/>
        </p:nvSpPr>
        <p:spPr>
          <a:xfrm>
            <a:off x="7543800" y="4901155"/>
            <a:ext cx="4050792" cy="457200"/>
          </a:xfrm>
          <a:prstGeom prst="rect">
            <a:avLst/>
          </a:prstGeom>
          <a:noFill/>
        </p:spPr>
        <p:txBody>
          <a:bodyPr wrap="square" lIns="45720" tIns="0" rIns="45720" bIns="0" anchor="t">
            <a:noAutofit/>
          </a:bodyPr>
          <a:lstStyle/>
          <a:p>
            <a:pPr algn="ctr"/>
            <a:r>
              <a:rPr lang="en-GB" sz="1200" dirty="0">
                <a:solidFill>
                  <a:srgbClr val="6E6E6E"/>
                </a:solidFill>
              </a:rPr>
              <a:t>Kitchen study, planned against executed</a:t>
            </a:r>
          </a:p>
          <a:p>
            <a:pPr algn="ctr"/>
            <a:r>
              <a:rPr lang="en-GB" sz="1200" dirty="0">
                <a:solidFill>
                  <a:srgbClr val="6E6E6E"/>
                </a:solidFill>
              </a:rPr>
              <a:t>robustness (backup)</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cNvSpPr>
            <a:spLocks noGrp="1"/>
          </p:cNvSpPr>
          <p:nvPr>
            <p:ph type="sldNum" sz="quarter" idx="12"/>
          </p:nvPr>
        </p:nvSpPr>
        <p:spPr/>
        <p:txBody>
          <a:bodyPr/>
          <a:lstStyle/>
          <a:p>
            <a:fld id="{619F89D8-7AE3-494A-97F3-03D680869632}" type="slidenum">
              <a:rPr lang="en-GB"/>
              <a:t>1</a:t>
            </a:fld>
            <a:endParaRPr lang="en-GB"/>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Supplementary material</a:t>
            </a:r>
          </a:p>
        </p:txBody>
      </p:sp>
      <p:sp>
        <p:nvSpPr>
          <p:cNvPr id="12" name="Subtitle"/>
          <p:cNvSpPr>
            <a:spLocks noGrp="1"/>
          </p:cNvSpPr>
          <p:nvPr>
            <p:ph type="body" idx="1"/>
          </p:nvPr>
        </p:nvSpPr>
        <p:spPr/>
        <p:txBody>
          <a:bodyPr/>
          <a:lstStyle/>
          <a:p>
            <a:r>
              <a:rPr lang="en-GB" dirty="0"/>
              <a:t>Answers to likely questions</a:t>
            </a:r>
          </a:p>
        </p:txBody>
      </p:sp>
      <p:sp>
        <p:nvSpPr>
          <p:cNvPr id="13" name="Slide Number"/>
          <p:cNvSpPr>
            <a:spLocks noGrp="1"/>
          </p:cNvSpPr>
          <p:nvPr>
            <p:ph type="sldNum" sz="quarter" idx="12"/>
          </p:nvPr>
        </p:nvSpPr>
        <p:spPr/>
        <p:txBody>
          <a:bodyPr/>
          <a:lstStyle/>
          <a:p>
            <a:fld id="{619F89D8-7AE3-494A-97F3-03D680869632}" type="slidenum">
              <a:rPr lang="en-GB"/>
              <a:t>1</a:t>
            </a:fld>
            <a:endParaRPr lang="en-GB"/>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solidFill>
                  <a:srgbClr val="6E6E6E"/>
                </a:solidFill>
              </a:rPr>
              <a:t>Plausible samples that violate the requirement</a:t>
            </a:r>
          </a:p>
        </p:txBody>
      </p:sp>
      <p:sp>
        <p:nvSpPr>
          <p:cNvPr id="12" name="Slide Number"/>
          <p:cNvSpPr>
            <a:spLocks noGrp="1"/>
          </p:cNvSpPr>
          <p:nvPr>
            <p:ph type="sldNum" sz="quarter" idx="12"/>
          </p:nvPr>
        </p:nvSpPr>
        <p:spPr/>
        <p:txBody>
          <a:bodyPr/>
          <a:lstStyle/>
          <a:p>
            <a:fld id="{619F89D8-7AE3-494A-97F3-03D680869632}" type="slidenum">
              <a:rPr lang="en-GB"/>
              <a:t>1</a:t>
            </a:fld>
            <a:endParaRPr lang="en-GB"/>
          </a:p>
        </p:txBody>
      </p:sp>
      <p:pic>
        <p:nvPicPr>
          <p:cNvPr id="13" name="Figure" descr="Demonstrations and samples of the learned prior against the seating window"/>
          <p:cNvPicPr>
            <a:picLocks noChangeAspect="1"/>
          </p:cNvPicPr>
          <p:nvPr/>
        </p:nvPicPr>
        <p:blipFill>
          <a:blip r:embed="rId2"/>
          <a:stretch>
            <a:fillRect/>
          </a:stretch>
        </p:blipFill>
        <p:spPr>
          <a:xfrm>
            <a:off x="603504" y="2162983"/>
            <a:ext cx="10991088" cy="3766474"/>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solidFill>
                  <a:srgbClr val="6E6E6E"/>
                </a:solidFill>
              </a:rPr>
              <a:t>Requirements witnessed by one demonstration</a:t>
            </a:r>
          </a:p>
        </p:txBody>
      </p:sp>
      <p:sp>
        <p:nvSpPr>
          <p:cNvPr id="12" name="Slide Number"/>
          <p:cNvSpPr>
            <a:spLocks noGrp="1"/>
          </p:cNvSpPr>
          <p:nvPr>
            <p:ph type="sldNum" sz="quarter" idx="12"/>
          </p:nvPr>
        </p:nvSpPr>
        <p:spPr/>
        <p:txBody>
          <a:bodyPr/>
          <a:lstStyle/>
          <a:p>
            <a:fld id="{619F89D8-7AE3-494A-97F3-03D680869632}" type="slidenum">
              <a:rPr lang="en-GB"/>
              <a:t>1</a:t>
            </a:fld>
            <a:endParaRPr lang="en-GB"/>
          </a:p>
        </p:txBody>
      </p:sp>
      <p:pic>
        <p:nvPicPr>
          <p:cNvPr id="13" name="Equation" descr="Satisfaction set of a requirement, and a strictly increasing chain of satisfaction sets from the witness alone to the whole trajectory space"/>
          <p:cNvPicPr>
            <a:picLocks noChangeAspect="1"/>
          </p:cNvPicPr>
          <p:nvPr/>
        </p:nvPicPr>
        <p:blipFill>
          <a:blip r:embed="rId2"/>
          <a:stretch>
            <a:fillRect/>
          </a:stretch>
        </p:blipFill>
        <p:spPr>
          <a:xfrm>
            <a:off x="2843784" y="1965960"/>
            <a:ext cx="6510528" cy="406908"/>
          </a:xfrm>
          <a:prstGeom prst="rect">
            <a:avLst/>
          </a:prstGeom>
        </p:spPr>
      </p:pic>
      <p:sp>
        <p:nvSpPr>
          <p:cNvPr id="14" name="Label"/>
          <p:cNvSpPr txBox="1"/>
          <p:nvPr/>
        </p:nvSpPr>
        <p:spPr>
          <a:xfrm>
            <a:off x="603504" y="2738628"/>
            <a:ext cx="10991088" cy="2884932"/>
          </a:xfrm>
          <a:prstGeom prst="rect">
            <a:avLst/>
          </a:prstGeom>
          <a:noFill/>
        </p:spPr>
        <p:txBody>
          <a:bodyPr wrap="square" lIns="45720" tIns="0" rIns="45720" bIns="0" anchor="t">
            <a:noAutofit/>
          </a:bodyPr>
          <a:lstStyle/>
          <a:p>
            <a:pPr algn="l"/>
            <a:r>
              <a:rPr lang="en-GB" sz="1800" dirty="0">
                <a:solidFill>
                  <a:srgbClr val="262626"/>
                </a:solidFill>
              </a:rPr>
              <a:t>A trajectory </a:t>
            </a:r>
            <a:r>
              <a:rPr lang="en-GB" sz="1800" dirty="0">
                <a:solidFill>
                  <a:srgbClr val="262626"/>
                </a:solidFill>
                <a:latin typeface="Cambria Math"/>
                <a:ea typeface="Cambria Math"/>
                <a:cs typeface="Cambria Math"/>
                <a:sym typeface="Cambria Math"/>
              </a:rPr>
              <a:t>τ⋆</a:t>
            </a:r>
            <a:r>
              <a:rPr lang="en-GB" sz="1800" dirty="0">
                <a:solidFill>
                  <a:srgbClr val="262626"/>
                </a:solidFill>
              </a:rPr>
              <a:t> witnesses a requirement </a:t>
            </a:r>
            <a:r>
              <a:rPr lang="en-GB" sz="1800" dirty="0">
                <a:solidFill>
                  <a:srgbClr val="262626"/>
                </a:solidFill>
                <a:latin typeface="Cambria Math"/>
                <a:ea typeface="Cambria Math"/>
                <a:cs typeface="Cambria Math"/>
                <a:sym typeface="Cambria Math"/>
              </a:rPr>
              <a:t>φ</a:t>
            </a:r>
            <a:r>
              <a:rPr lang="en-GB" sz="1800" dirty="0">
                <a:solidFill>
                  <a:srgbClr val="262626"/>
                </a:solidFill>
              </a:rPr>
              <a:t> if it satisfies </a:t>
            </a:r>
            <a:r>
              <a:rPr lang="en-GB" sz="1800" dirty="0">
                <a:solidFill>
                  <a:srgbClr val="262626"/>
                </a:solidFill>
                <a:latin typeface="Cambria Math"/>
                <a:ea typeface="Cambria Math"/>
                <a:cs typeface="Cambria Math"/>
                <a:sym typeface="Cambria Math"/>
              </a:rPr>
              <a:t>φ</a:t>
            </a:r>
            <a:r>
              <a:rPr lang="en-GB" sz="1800" dirty="0">
                <a:solidFill>
                  <a:srgbClr val="262626"/>
                </a:solidFill>
              </a:rPr>
              <a:t>, that is, if </a:t>
            </a:r>
            <a:r>
              <a:rPr lang="en-GB" sz="1800" dirty="0">
                <a:solidFill>
                  <a:srgbClr val="262626"/>
                </a:solidFill>
                <a:latin typeface="Cambria Math"/>
                <a:ea typeface="Cambria Math"/>
                <a:cs typeface="Cambria Math"/>
                <a:sym typeface="Cambria Math"/>
              </a:rPr>
              <a:t>τ⋆</a:t>
            </a:r>
            <a:r>
              <a:rPr lang="en-GB" sz="1800" dirty="0">
                <a:solidFill>
                  <a:srgbClr val="262626"/>
                </a:solidFill>
              </a:rPr>
              <a:t> lies in the satisfaction set </a:t>
            </a:r>
            <a:r>
              <a:rPr lang="en-GB" sz="1800" dirty="0">
                <a:solidFill>
                  <a:srgbClr val="262626"/>
                </a:solidFill>
                <a:latin typeface="Cambria Math"/>
                <a:ea typeface="Cambria Math"/>
                <a:cs typeface="Cambria Math"/>
                <a:sym typeface="Cambria Math"/>
              </a:rPr>
              <a:t>𝒮</a:t>
            </a:r>
            <a:r>
              <a:rPr lang="en-GB" sz="1800" baseline="-25000" dirty="0">
                <a:solidFill>
                  <a:srgbClr val="262626"/>
                </a:solidFill>
                <a:latin typeface="Cambria Math"/>
                <a:ea typeface="Cambria Math"/>
                <a:cs typeface="Cambria Math"/>
                <a:sym typeface="Cambria Math"/>
              </a:rPr>
              <a:t>φ</a:t>
            </a:r>
            <a:r>
              <a:rPr lang="en-GB" sz="1800" dirty="0">
                <a:solidFill>
                  <a:srgbClr val="262626"/>
                </a:solidFill>
              </a:rPr>
              <a:t>. Two requirements are equivalent if they have the same satisfaction set.</a:t>
            </a:r>
          </a:p>
          <a:p>
            <a:pPr algn="l">
              <a:spcBef>
                <a:spcPts val="900"/>
              </a:spcBef>
            </a:pPr>
            <a:r>
              <a:rPr lang="en-GB" sz="1800" dirty="0">
                <a:solidFill>
                  <a:srgbClr val="262626"/>
                </a:solidFill>
              </a:rPr>
              <a:t>Any one trajectory witnesses uncountably many inequivalent requirements.</a:t>
            </a:r>
          </a:p>
          <a:p>
            <a:pPr algn="l">
              <a:spcBef>
                <a:spcPts val="900"/>
              </a:spcBef>
            </a:pPr>
            <a:r>
              <a:rPr lang="en-GB" sz="1800" dirty="0">
                <a:solidFill>
                  <a:srgbClr val="262626"/>
                </a:solidFill>
              </a:rPr>
              <a:t>Their satisfaction sets form strictly increasing chains, from </a:t>
            </a:r>
            <a:r>
              <a:rPr lang="en-GB" sz="1800" dirty="0">
                <a:solidFill>
                  <a:srgbClr val="262626"/>
                </a:solidFill>
                <a:latin typeface="Cambria Math"/>
                <a:ea typeface="Cambria Math"/>
                <a:cs typeface="Cambria Math"/>
                <a:sym typeface="Cambria Math"/>
              </a:rPr>
              <a:t>{τ⋆}</a:t>
            </a:r>
            <a:r>
              <a:rPr lang="en-GB" sz="1800" dirty="0">
                <a:solidFill>
                  <a:srgbClr val="262626"/>
                </a:solidFill>
              </a:rPr>
              <a:t>, “do exactly this”, to the whole trajectory space </a:t>
            </a:r>
            <a:r>
              <a:rPr lang="en-GB" sz="1800" dirty="0">
                <a:solidFill>
                  <a:srgbClr val="262626"/>
                </a:solidFill>
                <a:latin typeface="Cambria Math"/>
                <a:ea typeface="Cambria Math"/>
                <a:cs typeface="Cambria Math"/>
                <a:sym typeface="Cambria Math"/>
              </a:rPr>
              <a:t>𝒯</a:t>
            </a:r>
            <a:r>
              <a:rPr lang="en-GB" sz="1800" dirty="0">
                <a:solidFill>
                  <a:srgbClr val="262626"/>
                </a:solidFill>
              </a:rPr>
              <a:t>, “do anything”.</a:t>
            </a:r>
          </a:p>
          <a:p>
            <a:pPr algn="l">
              <a:spcBef>
                <a:spcPts val="900"/>
              </a:spcBef>
            </a:pPr>
            <a:r>
              <a:rPr lang="en-GB" sz="1800" dirty="0">
                <a:solidFill>
                  <a:srgbClr val="262626"/>
                </a:solidFill>
              </a:rPr>
              <a:t>Consequently, no map from a single demonstration to a requirement is determined by the demonstration.</a:t>
            </a:r>
          </a:p>
        </p:txBody>
      </p:sp>
      <p:sp>
        <p:nvSpPr>
          <p:cNvPr id="15" name="Label"/>
          <p:cNvSpPr txBox="1"/>
          <p:nvPr/>
        </p:nvSpPr>
        <p:spPr>
          <a:xfrm>
            <a:off x="603504" y="5760720"/>
            <a:ext cx="10991088" cy="365760"/>
          </a:xfrm>
          <a:prstGeom prst="rect">
            <a:avLst/>
          </a:prstGeom>
          <a:noFill/>
        </p:spPr>
        <p:txBody>
          <a:bodyPr wrap="square" lIns="45720" tIns="0" rIns="45720" bIns="0" anchor="t">
            <a:noAutofit/>
          </a:bodyPr>
          <a:lstStyle/>
          <a:p>
            <a:pPr algn="l"/>
            <a:r>
              <a:rPr lang="en-GB" sz="1500" dirty="0">
                <a:solidFill>
                  <a:srgbClr val="6E6E6E"/>
                </a:solidFill>
              </a:rPr>
              <a:t>This answers RQ1. Witnessing constrains membership in a satisfaction set but does not determine which requirement was intended, and the requirement is stated separately from the demonstrations, as an STL formula.</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solidFill>
                  <a:srgbClr val="6E6E6E"/>
                </a:solidFill>
              </a:rPr>
              <a:t>Sparsity of the robustness gradient</a:t>
            </a:r>
          </a:p>
        </p:txBody>
      </p:sp>
      <p:sp>
        <p:nvSpPr>
          <p:cNvPr id="12" name="Slide Number"/>
          <p:cNvSpPr>
            <a:spLocks noGrp="1"/>
          </p:cNvSpPr>
          <p:nvPr>
            <p:ph type="sldNum" sz="quarter" idx="12"/>
          </p:nvPr>
        </p:nvSpPr>
        <p:spPr/>
        <p:txBody>
          <a:bodyPr/>
          <a:lstStyle/>
          <a:p>
            <a:fld id="{619F89D8-7AE3-494A-97F3-03D680869632}" type="slidenum">
              <a:rPr lang="en-GB"/>
              <a:t>1</a:t>
            </a:fld>
            <a:endParaRPr lang="en-GB"/>
          </a:p>
        </p:txBody>
      </p:sp>
      <p:pic>
        <p:nvPicPr>
          <p:cNvPr id="13" name="Equation" descr="The gradient vanishes off the active set, the active set has at most m waypoints, and the flat subspace has dimension at least (H minus m) d"/>
          <p:cNvPicPr>
            <a:picLocks noChangeAspect="1"/>
          </p:cNvPicPr>
          <p:nvPr/>
        </p:nvPicPr>
        <p:blipFill>
          <a:blip r:embed="rId2"/>
          <a:stretch>
            <a:fillRect/>
          </a:stretch>
        </p:blipFill>
        <p:spPr>
          <a:xfrm>
            <a:off x="1562862" y="1965960"/>
            <a:ext cx="9072372" cy="374904"/>
          </a:xfrm>
          <a:prstGeom prst="rect">
            <a:avLst/>
          </a:prstGeom>
        </p:spPr>
      </p:pic>
      <p:sp>
        <p:nvSpPr>
          <p:cNvPr id="14" name="Label"/>
          <p:cNvSpPr txBox="1"/>
          <p:nvPr/>
        </p:nvSpPr>
        <p:spPr>
          <a:xfrm>
            <a:off x="603504" y="2706624"/>
            <a:ext cx="10991088" cy="2916936"/>
          </a:xfrm>
          <a:prstGeom prst="rect">
            <a:avLst/>
          </a:prstGeom>
          <a:noFill/>
        </p:spPr>
        <p:txBody>
          <a:bodyPr wrap="square" lIns="45720" tIns="0" rIns="45720" bIns="0" anchor="t">
            <a:noAutofit/>
          </a:bodyPr>
          <a:lstStyle/>
          <a:p>
            <a:pPr algn="l"/>
            <a:r>
              <a:rPr lang="en-GB" sz="1800" dirty="0">
                <a:solidFill>
                  <a:srgbClr val="262626"/>
                </a:solidFill>
              </a:rPr>
              <a:t>The result concerns a formula </a:t>
            </a:r>
            <a:r>
              <a:rPr lang="en-GB" sz="1800" dirty="0">
                <a:solidFill>
                  <a:srgbClr val="262626"/>
                </a:solidFill>
                <a:latin typeface="Cambria Math"/>
                <a:ea typeface="Cambria Math"/>
                <a:cs typeface="Cambria Math"/>
                <a:sym typeface="Cambria Math"/>
              </a:rPr>
              <a:t>φ</a:t>
            </a:r>
            <a:r>
              <a:rPr lang="en-GB" sz="1800" dirty="0">
                <a:solidFill>
                  <a:srgbClr val="262626"/>
                </a:solidFill>
              </a:rPr>
              <a:t> with </a:t>
            </a:r>
            <a:r>
              <a:rPr lang="en-GB" sz="1800" dirty="0">
                <a:solidFill>
                  <a:srgbClr val="262626"/>
                </a:solidFill>
                <a:latin typeface="Cambria Math"/>
                <a:ea typeface="Cambria Math"/>
                <a:cs typeface="Cambria Math"/>
                <a:sym typeface="Cambria Math"/>
              </a:rPr>
              <a:t>m</a:t>
            </a:r>
            <a:r>
              <a:rPr lang="en-GB" sz="1800" dirty="0">
                <a:solidFill>
                  <a:srgbClr val="262626"/>
                </a:solidFill>
              </a:rPr>
              <a:t> predicate occurrences, scored with the exact semantics at a trajectory </a:t>
            </a:r>
            <a:r>
              <a:rPr lang="en-GB" sz="1800" dirty="0">
                <a:solidFill>
                  <a:srgbClr val="262626"/>
                </a:solidFill>
                <a:latin typeface="Cambria Math"/>
                <a:ea typeface="Cambria Math"/>
                <a:cs typeface="Cambria Math"/>
                <a:sym typeface="Cambria Math"/>
              </a:rPr>
              <a:t>τ</a:t>
            </a:r>
            <a:r>
              <a:rPr lang="en-GB" sz="1800" dirty="0">
                <a:solidFill>
                  <a:srgbClr val="262626"/>
                </a:solidFill>
              </a:rPr>
              <a:t> where every min and max selection is unique.</a:t>
            </a:r>
          </a:p>
          <a:p>
            <a:pPr algn="l">
              <a:spcBef>
                <a:spcPts val="900"/>
              </a:spcBef>
            </a:pPr>
            <a:r>
              <a:rPr lang="en-GB" sz="1800" dirty="0">
                <a:solidFill>
                  <a:srgbClr val="262626"/>
                </a:solidFill>
              </a:rPr>
              <a:t>Near </a:t>
            </a:r>
            <a:r>
              <a:rPr lang="en-GB" sz="1800" dirty="0">
                <a:solidFill>
                  <a:srgbClr val="262626"/>
                </a:solidFill>
                <a:latin typeface="Cambria Math"/>
                <a:ea typeface="Cambria Math"/>
                <a:cs typeface="Cambria Math"/>
                <a:sym typeface="Cambria Math"/>
              </a:rPr>
              <a:t>τ</a:t>
            </a:r>
            <a:r>
              <a:rPr lang="en-GB" sz="1800" dirty="0">
                <a:solidFill>
                  <a:srgbClr val="262626"/>
                </a:solidFill>
              </a:rPr>
              <a:t> the score depends on at most </a:t>
            </a:r>
            <a:r>
              <a:rPr lang="en-GB" sz="1800" dirty="0">
                <a:solidFill>
                  <a:srgbClr val="262626"/>
                </a:solidFill>
                <a:latin typeface="Cambria Math"/>
                <a:ea typeface="Cambria Math"/>
                <a:cs typeface="Cambria Math"/>
                <a:sym typeface="Cambria Math"/>
              </a:rPr>
              <a:t>m</a:t>
            </a:r>
            <a:r>
              <a:rPr lang="en-GB" sz="1800" dirty="0">
                <a:solidFill>
                  <a:srgbClr val="262626"/>
                </a:solidFill>
              </a:rPr>
              <a:t> waypoints, the active set </a:t>
            </a:r>
            <a:r>
              <a:rPr lang="en-GB" sz="1800" dirty="0">
                <a:solidFill>
                  <a:srgbClr val="262626"/>
                </a:solidFill>
                <a:latin typeface="Cambria Math"/>
                <a:ea typeface="Cambria Math"/>
                <a:cs typeface="Cambria Math"/>
                <a:sym typeface="Cambria Math"/>
              </a:rPr>
              <a:t>𝒜(τ)</a:t>
            </a:r>
            <a:r>
              <a:rPr lang="en-GB" sz="1800" dirty="0">
                <a:solidFill>
                  <a:srgbClr val="262626"/>
                </a:solidFill>
              </a:rPr>
              <a:t>.</a:t>
            </a:r>
          </a:p>
          <a:p>
            <a:pPr algn="l">
              <a:spcBef>
                <a:spcPts val="900"/>
              </a:spcBef>
            </a:pPr>
            <a:r>
              <a:rPr lang="en-GB" sz="1800" dirty="0">
                <a:solidFill>
                  <a:srgbClr val="262626"/>
                </a:solidFill>
              </a:rPr>
              <a:t>The gradient is zero at every other waypoint, and the score is constant along a subspace </a:t>
            </a:r>
            <a:r>
              <a:rPr lang="en-GB" sz="1800" dirty="0">
                <a:solidFill>
                  <a:srgbClr val="262626"/>
                </a:solidFill>
                <a:latin typeface="Cambria Math"/>
                <a:ea typeface="Cambria Math"/>
                <a:cs typeface="Cambria Math"/>
                <a:sym typeface="Cambria Math"/>
              </a:rPr>
              <a:t>N(τ)</a:t>
            </a:r>
            <a:r>
              <a:rPr lang="en-GB" sz="1800" dirty="0">
                <a:solidFill>
                  <a:srgbClr val="262626"/>
                </a:solidFill>
              </a:rPr>
              <a:t> whose dimension in the position coordinates is at least </a:t>
            </a:r>
            <a:r>
              <a:rPr lang="en-GB" sz="1800" dirty="0">
                <a:solidFill>
                  <a:srgbClr val="262626"/>
                </a:solidFill>
                <a:latin typeface="Cambria Math"/>
                <a:ea typeface="Cambria Math"/>
                <a:cs typeface="Cambria Math"/>
                <a:sym typeface="Cambria Math"/>
              </a:rPr>
              <a:t>(H − m)d</a:t>
            </a:r>
            <a:r>
              <a:rPr lang="en-GB" sz="1800" dirty="0">
                <a:solidFill>
                  <a:srgbClr val="262626"/>
                </a:solidFill>
              </a:rPr>
              <a:t>.</a:t>
            </a:r>
          </a:p>
          <a:p>
            <a:pPr algn="l">
              <a:spcBef>
                <a:spcPts val="900"/>
              </a:spcBef>
            </a:pPr>
            <a:r>
              <a:rPr lang="en-GB" sz="1800" dirty="0">
                <a:solidFill>
                  <a:srgbClr val="262626"/>
                </a:solidFill>
              </a:rPr>
              <a:t>Gradient ascent on the score leaves every coordinate in </a:t>
            </a:r>
            <a:r>
              <a:rPr lang="en-GB" sz="1800" dirty="0">
                <a:solidFill>
                  <a:srgbClr val="262626"/>
                </a:solidFill>
                <a:latin typeface="Cambria Math"/>
                <a:ea typeface="Cambria Math"/>
                <a:cs typeface="Cambria Math"/>
                <a:sym typeface="Cambria Math"/>
              </a:rPr>
              <a:t>N(τ)</a:t>
            </a:r>
            <a:r>
              <a:rPr lang="en-GB" sz="1800" dirty="0">
                <a:solidFill>
                  <a:srgbClr val="262626"/>
                </a:solidFill>
              </a:rPr>
              <a:t> at its initial value for as long as the active set is unchanged.</a:t>
            </a:r>
          </a:p>
          <a:p>
            <a:pPr algn="l">
              <a:spcBef>
                <a:spcPts val="900"/>
              </a:spcBef>
            </a:pPr>
            <a:r>
              <a:rPr lang="en-GB" sz="1800" dirty="0">
                <a:solidFill>
                  <a:srgbClr val="262626"/>
                </a:solidFill>
              </a:rPr>
              <a:t>Here </a:t>
            </a:r>
            <a:r>
              <a:rPr lang="en-GB" sz="1800" dirty="0">
                <a:solidFill>
                  <a:srgbClr val="262626"/>
                </a:solidFill>
                <a:latin typeface="Cambria Math"/>
                <a:ea typeface="Cambria Math"/>
                <a:cs typeface="Cambria Math"/>
                <a:sym typeface="Cambria Math"/>
              </a:rPr>
              <a:t>H</a:t>
            </a:r>
            <a:r>
              <a:rPr lang="en-GB" sz="1800" dirty="0">
                <a:solidFill>
                  <a:srgbClr val="262626"/>
                </a:solidFill>
              </a:rPr>
              <a:t> is the horizon, </a:t>
            </a:r>
            <a:r>
              <a:rPr lang="en-GB" sz="1800" dirty="0">
                <a:solidFill>
                  <a:srgbClr val="262626"/>
                </a:solidFill>
                <a:latin typeface="Cambria Math"/>
                <a:ea typeface="Cambria Math"/>
                <a:cs typeface="Cambria Math"/>
                <a:sym typeface="Cambria Math"/>
              </a:rPr>
              <a:t>d</a:t>
            </a:r>
            <a:r>
              <a:rPr lang="en-GB" sz="1800" dirty="0">
                <a:solidFill>
                  <a:srgbClr val="262626"/>
                </a:solidFill>
              </a:rPr>
              <a:t> the dimension of the position coordinates, and </a:t>
            </a:r>
            <a:r>
              <a:rPr lang="en-GB" sz="1800" dirty="0">
                <a:solidFill>
                  <a:srgbClr val="262626"/>
                </a:solidFill>
                <a:latin typeface="Cambria Math"/>
                <a:ea typeface="Cambria Math"/>
                <a:cs typeface="Cambria Math"/>
                <a:sym typeface="Cambria Math"/>
              </a:rPr>
              <a:t>π</a:t>
            </a:r>
            <a:r>
              <a:rPr lang="en-GB" sz="1800" baseline="-25000" dirty="0">
                <a:solidFill>
                  <a:srgbClr val="262626"/>
                </a:solidFill>
                <a:latin typeface="Cambria Math"/>
                <a:ea typeface="Cambria Math"/>
                <a:cs typeface="Cambria Math"/>
                <a:sym typeface="Cambria Math"/>
              </a:rPr>
              <a:t>t</a:t>
            </a:r>
            <a:r>
              <a:rPr lang="en-GB" sz="1800" dirty="0">
                <a:solidFill>
                  <a:srgbClr val="262626"/>
                </a:solidFill>
              </a:rPr>
              <a:t> the waypoint at step </a:t>
            </a:r>
            <a:r>
              <a:rPr lang="en-GB" sz="1800" dirty="0">
                <a:solidFill>
                  <a:srgbClr val="262626"/>
                </a:solidFill>
                <a:latin typeface="Cambria Math"/>
                <a:ea typeface="Cambria Math"/>
                <a:cs typeface="Cambria Math"/>
                <a:sym typeface="Cambria Math"/>
              </a:rPr>
              <a:t>t</a:t>
            </a:r>
            <a:r>
              <a:rPr lang="en-GB" sz="1800" dirty="0">
                <a:solidFill>
                  <a:srgbClr val="262626"/>
                </a:solidFill>
              </a:rPr>
              <a:t>.</a:t>
            </a:r>
          </a:p>
        </p:txBody>
      </p:sp>
      <p:sp>
        <p:nvSpPr>
          <p:cNvPr id="15" name="Label"/>
          <p:cNvSpPr txBox="1"/>
          <p:nvPr/>
        </p:nvSpPr>
        <p:spPr>
          <a:xfrm>
            <a:off x="603504" y="5760720"/>
            <a:ext cx="10991088" cy="365760"/>
          </a:xfrm>
          <a:prstGeom prst="rect">
            <a:avLst/>
          </a:prstGeom>
          <a:noFill/>
        </p:spPr>
        <p:txBody>
          <a:bodyPr wrap="square" lIns="45720" tIns="0" rIns="45720" bIns="0" anchor="t">
            <a:noAutofit/>
          </a:bodyPr>
          <a:lstStyle/>
          <a:p>
            <a:pPr algn="l"/>
            <a:r>
              <a:rPr lang="en-GB" sz="1500" dirty="0">
                <a:solidFill>
                  <a:srgbClr val="6E6E6E"/>
                </a:solidFill>
              </a:rPr>
              <a:t>In the experiments </a:t>
            </a:r>
            <a:r>
              <a:rPr lang="en-GB" sz="1500" dirty="0">
                <a:solidFill>
                  <a:srgbClr val="6E6E6E"/>
                </a:solidFill>
                <a:latin typeface="Cambria Math"/>
                <a:ea typeface="Cambria Math"/>
                <a:cs typeface="Cambria Math"/>
                <a:sym typeface="Cambria Math"/>
              </a:rPr>
              <a:t>m</a:t>
            </a:r>
            <a:r>
              <a:rPr lang="en-GB" sz="1500" dirty="0">
                <a:solidFill>
                  <a:srgbClr val="6E6E6E"/>
                </a:solidFill>
              </a:rPr>
              <a:t> lies between 1 and 5, against horizons of 64 to 256.</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solidFill>
                  <a:srgbClr val="6E6E6E"/>
                </a:solidFill>
              </a:rPr>
              <a:t>Maximizers of a reach requirement</a:t>
            </a:r>
          </a:p>
        </p:txBody>
      </p:sp>
      <p:sp>
        <p:nvSpPr>
          <p:cNvPr id="12" name="Slide Number"/>
          <p:cNvSpPr>
            <a:spLocks noGrp="1"/>
          </p:cNvSpPr>
          <p:nvPr>
            <p:ph type="sldNum" sz="quarter" idx="12"/>
          </p:nvPr>
        </p:nvSpPr>
        <p:spPr/>
        <p:txBody>
          <a:bodyPr/>
          <a:lstStyle/>
          <a:p>
            <a:fld id="{619F89D8-7AE3-494A-97F3-03D680869632}" type="slidenum">
              <a:rPr lang="en-GB"/>
              <a:t>1</a:t>
            </a:fld>
            <a:endParaRPr lang="en-GB"/>
          </a:p>
        </p:txBody>
      </p:sp>
      <p:pic>
        <p:nvPicPr>
          <p:cNvPr id="13" name="Equation" descr="The reach requirement and its predicate, and the maximizing set as a union over the window of the trajectories that are at the centre at that step"/>
          <p:cNvPicPr>
            <a:picLocks noChangeAspect="1"/>
          </p:cNvPicPr>
          <p:nvPr/>
        </p:nvPicPr>
        <p:blipFill>
          <a:blip r:embed="rId2"/>
          <a:stretch>
            <a:fillRect/>
          </a:stretch>
        </p:blipFill>
        <p:spPr>
          <a:xfrm>
            <a:off x="3306318" y="1965960"/>
            <a:ext cx="5585460" cy="1106424"/>
          </a:xfrm>
          <a:prstGeom prst="rect">
            <a:avLst/>
          </a:prstGeom>
        </p:spPr>
      </p:pic>
      <p:sp>
        <p:nvSpPr>
          <p:cNvPr id="14" name="Label"/>
          <p:cNvSpPr txBox="1"/>
          <p:nvPr/>
        </p:nvSpPr>
        <p:spPr>
          <a:xfrm>
            <a:off x="603504" y="3438144"/>
            <a:ext cx="10991088" cy="2185416"/>
          </a:xfrm>
          <a:prstGeom prst="rect">
            <a:avLst/>
          </a:prstGeom>
          <a:noFill/>
        </p:spPr>
        <p:txBody>
          <a:bodyPr wrap="square" lIns="45720" tIns="0" rIns="45720" bIns="0" anchor="t">
            <a:noAutofit/>
          </a:bodyPr>
          <a:lstStyle/>
          <a:p>
            <a:pPr algn="l"/>
            <a:r>
              <a:rPr lang="en-GB" sz="1800" dirty="0">
                <a:solidFill>
                  <a:srgbClr val="262626"/>
                </a:solidFill>
              </a:rPr>
              <a:t>The reach requirement </a:t>
            </a:r>
            <a:r>
              <a:rPr lang="en-GB" sz="1800" dirty="0">
                <a:solidFill>
                  <a:srgbClr val="262626"/>
                </a:solidFill>
                <a:latin typeface="Cambria Math"/>
                <a:ea typeface="Cambria Math"/>
                <a:cs typeface="Cambria Math"/>
                <a:sym typeface="Cambria Math"/>
              </a:rPr>
              <a:t>φ</a:t>
            </a:r>
            <a:r>
              <a:rPr lang="en-GB" sz="1800" dirty="0">
                <a:solidFill>
                  <a:srgbClr val="262626"/>
                </a:solidFill>
              </a:rPr>
              <a:t> holds if the position lies within a ball of radius </a:t>
            </a:r>
            <a:r>
              <a:rPr lang="en-GB" sz="1800" dirty="0">
                <a:solidFill>
                  <a:srgbClr val="262626"/>
                </a:solidFill>
                <a:latin typeface="Cambria Math"/>
                <a:ea typeface="Cambria Math"/>
                <a:cs typeface="Cambria Math"/>
                <a:sym typeface="Cambria Math"/>
              </a:rPr>
              <a:t>r</a:t>
            </a:r>
            <a:r>
              <a:rPr lang="en-GB" sz="1800" dirty="0">
                <a:solidFill>
                  <a:srgbClr val="262626"/>
                </a:solidFill>
              </a:rPr>
              <a:t> about </a:t>
            </a:r>
            <a:r>
              <a:rPr lang="en-GB" sz="1800" dirty="0">
                <a:solidFill>
                  <a:srgbClr val="262626"/>
                </a:solidFill>
                <a:latin typeface="Cambria Math"/>
                <a:ea typeface="Cambria Math"/>
                <a:cs typeface="Cambria Math"/>
                <a:sym typeface="Cambria Math"/>
              </a:rPr>
              <a:t>c</a:t>
            </a:r>
            <a:r>
              <a:rPr lang="en-GB" sz="1800" dirty="0">
                <a:solidFill>
                  <a:srgbClr val="262626"/>
                </a:solidFill>
              </a:rPr>
              <a:t> at some step of </a:t>
            </a:r>
            <a:r>
              <a:rPr lang="en-GB" sz="1800" dirty="0">
                <a:solidFill>
                  <a:srgbClr val="262626"/>
                </a:solidFill>
                <a:latin typeface="Cambria Math"/>
                <a:ea typeface="Cambria Math"/>
                <a:cs typeface="Cambria Math"/>
                <a:sym typeface="Cambria Math"/>
              </a:rPr>
              <a:t>[a, b]</a:t>
            </a:r>
            <a:r>
              <a:rPr lang="en-GB" sz="1800" dirty="0">
                <a:solidFill>
                  <a:srgbClr val="262626"/>
                </a:solidFill>
              </a:rPr>
              <a:t>.</a:t>
            </a:r>
          </a:p>
          <a:p>
            <a:pPr algn="l">
              <a:spcBef>
                <a:spcPts val="900"/>
              </a:spcBef>
            </a:pPr>
            <a:r>
              <a:rPr lang="en-GB" sz="1800" dirty="0">
                <a:solidFill>
                  <a:srgbClr val="262626"/>
                </a:solidFill>
              </a:rPr>
              <a:t>Its largest score </a:t>
            </a:r>
            <a:r>
              <a:rPr lang="en-GB" sz="1800" dirty="0">
                <a:solidFill>
                  <a:srgbClr val="262626"/>
                </a:solidFill>
                <a:latin typeface="Cambria Math"/>
                <a:ea typeface="Cambria Math"/>
                <a:cs typeface="Cambria Math"/>
                <a:sym typeface="Cambria Math"/>
              </a:rPr>
              <a:t>r</a:t>
            </a:r>
            <a:r>
              <a:rPr lang="en-GB" sz="1800" dirty="0">
                <a:solidFill>
                  <a:srgbClr val="262626"/>
                </a:solidFill>
              </a:rPr>
              <a:t> is attained by every trajectory that is at </a:t>
            </a:r>
            <a:r>
              <a:rPr lang="en-GB" sz="1800" dirty="0">
                <a:solidFill>
                  <a:srgbClr val="262626"/>
                </a:solidFill>
                <a:latin typeface="Cambria Math"/>
                <a:ea typeface="Cambria Math"/>
                <a:cs typeface="Cambria Math"/>
                <a:sym typeface="Cambria Math"/>
              </a:rPr>
              <a:t>c</a:t>
            </a:r>
            <a:r>
              <a:rPr lang="en-GB" sz="1800" dirty="0">
                <a:solidFill>
                  <a:srgbClr val="262626"/>
                </a:solidFill>
              </a:rPr>
              <a:t> at some step of </a:t>
            </a:r>
            <a:r>
              <a:rPr lang="en-GB" sz="1800" dirty="0">
                <a:solidFill>
                  <a:srgbClr val="262626"/>
                </a:solidFill>
                <a:latin typeface="Cambria Math"/>
                <a:ea typeface="Cambria Math"/>
                <a:cs typeface="Cambria Math"/>
                <a:sym typeface="Cambria Math"/>
              </a:rPr>
              <a:t>[a, b]</a:t>
            </a:r>
            <a:r>
              <a:rPr lang="en-GB" sz="1800" dirty="0">
                <a:solidFill>
                  <a:srgbClr val="262626"/>
                </a:solidFill>
              </a:rPr>
              <a:t>, whatever it does at the other steps.</a:t>
            </a:r>
          </a:p>
          <a:p>
            <a:pPr algn="l">
              <a:spcBef>
                <a:spcPts val="900"/>
              </a:spcBef>
            </a:pPr>
            <a:r>
              <a:rPr lang="en-GB" sz="1800" dirty="0">
                <a:solidFill>
                  <a:srgbClr val="262626"/>
                </a:solidFill>
              </a:rPr>
              <a:t>The maximizing set </a:t>
            </a:r>
            <a:r>
              <a:rPr lang="en-GB" sz="1800" dirty="0">
                <a:solidFill>
                  <a:srgbClr val="262626"/>
                </a:solidFill>
                <a:latin typeface="Cambria Math"/>
                <a:ea typeface="Cambria Math"/>
                <a:cs typeface="Cambria Math"/>
                <a:sym typeface="Cambria Math"/>
              </a:rPr>
              <a:t>𝒪</a:t>
            </a:r>
            <a:r>
              <a:rPr lang="en-GB" sz="1800" baseline="-25000" dirty="0">
                <a:solidFill>
                  <a:srgbClr val="262626"/>
                </a:solidFill>
                <a:latin typeface="Cambria Math"/>
                <a:ea typeface="Cambria Math"/>
                <a:cs typeface="Cambria Math"/>
                <a:sym typeface="Cambria Math"/>
              </a:rPr>
              <a:t>φ</a:t>
            </a:r>
            <a:r>
              <a:rPr lang="en-GB" sz="1800" dirty="0">
                <a:solidFill>
                  <a:srgbClr val="262626"/>
                </a:solidFill>
              </a:rPr>
              <a:t> is therefore a union of affine subspaces, each of dimension </a:t>
            </a:r>
            <a:r>
              <a:rPr lang="en-GB" sz="1800" dirty="0">
                <a:solidFill>
                  <a:srgbClr val="262626"/>
                </a:solidFill>
                <a:latin typeface="Cambria Math"/>
                <a:ea typeface="Cambria Math"/>
                <a:cs typeface="Cambria Math"/>
                <a:sym typeface="Cambria Math"/>
              </a:rPr>
              <a:t>(H − 1)d</a:t>
            </a:r>
            <a:r>
              <a:rPr lang="en-GB" sz="1800" dirty="0">
                <a:solidFill>
                  <a:srgbClr val="262626"/>
                </a:solidFill>
              </a:rPr>
              <a:t> in the position coordinates.</a:t>
            </a:r>
          </a:p>
          <a:p>
            <a:pPr algn="l">
              <a:spcBef>
                <a:spcPts val="900"/>
              </a:spcBef>
            </a:pPr>
            <a:r>
              <a:rPr lang="en-GB" sz="1800" dirty="0">
                <a:solidFill>
                  <a:srgbClr val="262626"/>
                </a:solidFill>
              </a:rPr>
              <a:t>It contains trajectories of arbitrarily large velocity and acceleration, and no rule internal to </a:t>
            </a:r>
            <a:r>
              <a:rPr lang="en-GB" sz="1800" dirty="0">
                <a:solidFill>
                  <a:srgbClr val="262626"/>
                </a:solidFill>
                <a:latin typeface="Cambria Math"/>
                <a:ea typeface="Cambria Math"/>
                <a:cs typeface="Cambria Math"/>
                <a:sym typeface="Cambria Math"/>
              </a:rPr>
              <a:t>ρ</a:t>
            </a:r>
            <a:r>
              <a:rPr lang="en-GB" sz="1800" baseline="-25000" dirty="0">
                <a:solidFill>
                  <a:srgbClr val="262626"/>
                </a:solidFill>
                <a:latin typeface="Cambria Math"/>
                <a:ea typeface="Cambria Math"/>
                <a:cs typeface="Cambria Math"/>
                <a:sym typeface="Cambria Math"/>
              </a:rPr>
              <a:t>φ</a:t>
            </a:r>
            <a:r>
              <a:rPr lang="en-GB" sz="1800" dirty="0">
                <a:solidFill>
                  <a:srgbClr val="262626"/>
                </a:solidFill>
              </a:rPr>
              <a:t> selects among them.</a:t>
            </a:r>
          </a:p>
        </p:txBody>
      </p:sp>
      <p:sp>
        <p:nvSpPr>
          <p:cNvPr id="15" name="Label"/>
          <p:cNvSpPr txBox="1"/>
          <p:nvPr/>
        </p:nvSpPr>
        <p:spPr>
          <a:xfrm>
            <a:off x="603504" y="5760720"/>
            <a:ext cx="10991088" cy="365760"/>
          </a:xfrm>
          <a:prstGeom prst="rect">
            <a:avLst/>
          </a:prstGeom>
          <a:noFill/>
        </p:spPr>
        <p:txBody>
          <a:bodyPr wrap="square" lIns="45720" tIns="0" rIns="45720" bIns="0" anchor="t">
            <a:noAutofit/>
          </a:bodyPr>
          <a:lstStyle/>
          <a:p>
            <a:pPr algn="l"/>
            <a:r>
              <a:rPr lang="en-GB" sz="1500" dirty="0">
                <a:solidFill>
                  <a:srgbClr val="6E6E6E"/>
                </a:solidFill>
              </a:rPr>
              <a:t>Maximality of the score implies nothing about plausibility.</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solidFill>
                  <a:srgbClr val="6E6E6E"/>
                </a:solidFill>
              </a:rPr>
              <a:t>Unbounded maximizers under avoidance</a:t>
            </a:r>
          </a:p>
        </p:txBody>
      </p:sp>
      <p:sp>
        <p:nvSpPr>
          <p:cNvPr id="12" name="Slide Number"/>
          <p:cNvSpPr>
            <a:spLocks noGrp="1"/>
          </p:cNvSpPr>
          <p:nvPr>
            <p:ph type="sldNum" sz="quarter" idx="12"/>
          </p:nvPr>
        </p:nvSpPr>
        <p:spPr/>
        <p:txBody>
          <a:bodyPr/>
          <a:lstStyle/>
          <a:p>
            <a:fld id="{619F89D8-7AE3-494A-97F3-03D680869632}" type="slidenum">
              <a:rPr lang="en-GB"/>
              <a:t>1</a:t>
            </a:fld>
            <a:endParaRPr lang="en-GB"/>
          </a:p>
        </p:txBody>
      </p:sp>
      <p:pic>
        <p:nvPicPr>
          <p:cNvPr id="13" name="Equation" descr="Pure safety requirement, its robustness as a minimum of clearances, and a supremum of plus infinity"/>
          <p:cNvPicPr>
            <a:picLocks noChangeAspect="1"/>
          </p:cNvPicPr>
          <p:nvPr/>
        </p:nvPicPr>
        <p:blipFill>
          <a:blip r:embed="rId2"/>
          <a:stretch>
            <a:fillRect/>
          </a:stretch>
        </p:blipFill>
        <p:spPr>
          <a:xfrm>
            <a:off x="1807464" y="1965960"/>
            <a:ext cx="8583168" cy="455676"/>
          </a:xfrm>
          <a:prstGeom prst="rect">
            <a:avLst/>
          </a:prstGeom>
        </p:spPr>
      </p:pic>
      <p:sp>
        <p:nvSpPr>
          <p:cNvPr id="14" name="Label"/>
          <p:cNvSpPr txBox="1"/>
          <p:nvPr/>
        </p:nvSpPr>
        <p:spPr>
          <a:xfrm>
            <a:off x="603504" y="2787396"/>
            <a:ext cx="10991088" cy="2836164"/>
          </a:xfrm>
          <a:prstGeom prst="rect">
            <a:avLst/>
          </a:prstGeom>
          <a:noFill/>
        </p:spPr>
        <p:txBody>
          <a:bodyPr wrap="square" lIns="45720" tIns="0" rIns="45720" bIns="0" anchor="t">
            <a:noAutofit/>
          </a:bodyPr>
          <a:lstStyle/>
          <a:p>
            <a:pPr algn="l"/>
            <a:r>
              <a:rPr lang="en-GB" sz="1800" dirty="0">
                <a:solidFill>
                  <a:srgbClr val="262626"/>
                </a:solidFill>
              </a:rPr>
              <a:t>The predicate </a:t>
            </a:r>
            <a:r>
              <a:rPr lang="en-GB" sz="1800" dirty="0">
                <a:solidFill>
                  <a:srgbClr val="262626"/>
                </a:solidFill>
                <a:latin typeface="Cambria Math"/>
                <a:ea typeface="Cambria Math"/>
                <a:cs typeface="Cambria Math"/>
                <a:sym typeface="Cambria Math"/>
              </a:rPr>
              <a:t>μ</a:t>
            </a:r>
            <a:r>
              <a:rPr lang="en-GB" sz="1800" dirty="0">
                <a:solidFill>
                  <a:srgbClr val="262626"/>
                </a:solidFill>
              </a:rPr>
              <a:t> is an unsafe ball of radius </a:t>
            </a:r>
            <a:r>
              <a:rPr lang="en-GB" sz="1800" dirty="0">
                <a:solidFill>
                  <a:srgbClr val="262626"/>
                </a:solidFill>
                <a:latin typeface="Cambria Math"/>
                <a:ea typeface="Cambria Math"/>
                <a:cs typeface="Cambria Math"/>
                <a:sym typeface="Cambria Math"/>
              </a:rPr>
              <a:t>r</a:t>
            </a:r>
            <a:r>
              <a:rPr lang="en-GB" sz="1800" dirty="0">
                <a:solidFill>
                  <a:srgbClr val="262626"/>
                </a:solidFill>
              </a:rPr>
              <a:t> about </a:t>
            </a:r>
            <a:r>
              <a:rPr lang="en-GB" sz="1800" dirty="0">
                <a:solidFill>
                  <a:srgbClr val="262626"/>
                </a:solidFill>
                <a:latin typeface="Cambria Math"/>
                <a:ea typeface="Cambria Math"/>
                <a:cs typeface="Cambria Math"/>
                <a:sym typeface="Cambria Math"/>
              </a:rPr>
              <a:t>c</a:t>
            </a:r>
            <a:r>
              <a:rPr lang="en-GB" sz="1800" dirty="0">
                <a:solidFill>
                  <a:srgbClr val="262626"/>
                </a:solidFill>
              </a:rPr>
              <a:t>.</a:t>
            </a:r>
          </a:p>
          <a:p>
            <a:pPr algn="l">
              <a:spcBef>
                <a:spcPts val="900"/>
              </a:spcBef>
            </a:pPr>
            <a:r>
              <a:rPr lang="en-GB" sz="1800" dirty="0">
                <a:solidFill>
                  <a:srgbClr val="262626"/>
                </a:solidFill>
              </a:rPr>
              <a:t>For the pure safety requirement </a:t>
            </a:r>
            <a:r>
              <a:rPr lang="en-GB" sz="1800" dirty="0">
                <a:solidFill>
                  <a:srgbClr val="262626"/>
                </a:solidFill>
                <a:latin typeface="Cambria Math"/>
                <a:ea typeface="Cambria Math"/>
                <a:cs typeface="Cambria Math"/>
                <a:sym typeface="Cambria Math"/>
              </a:rPr>
              <a:t>◻</a:t>
            </a:r>
            <a:r>
              <a:rPr lang="en-GB" sz="1800" baseline="-25000" dirty="0">
                <a:solidFill>
                  <a:srgbClr val="262626"/>
                </a:solidFill>
                <a:latin typeface="Cambria Math"/>
                <a:ea typeface="Cambria Math"/>
                <a:cs typeface="Cambria Math"/>
                <a:sym typeface="Cambria Math"/>
              </a:rPr>
              <a:t>[0,H−1]</a:t>
            </a:r>
            <a:r>
              <a:rPr lang="en-GB" sz="1800" dirty="0">
                <a:solidFill>
                  <a:srgbClr val="262626"/>
                </a:solidFill>
                <a:latin typeface="Cambria Math"/>
                <a:ea typeface="Cambria Math"/>
                <a:cs typeface="Cambria Math"/>
                <a:sym typeface="Cambria Math"/>
              </a:rPr>
              <a:t> ¬μ</a:t>
            </a:r>
            <a:r>
              <a:rPr lang="en-GB" sz="1800" dirty="0">
                <a:solidFill>
                  <a:srgbClr val="262626"/>
                </a:solidFill>
              </a:rPr>
              <a:t> the score is unbounded above, so no maximizer exists.</a:t>
            </a:r>
          </a:p>
          <a:p>
            <a:pPr algn="l">
              <a:spcBef>
                <a:spcPts val="900"/>
              </a:spcBef>
            </a:pPr>
            <a:r>
              <a:rPr lang="en-GB" sz="1800" dirty="0">
                <a:solidFill>
                  <a:srgbClr val="262626"/>
                </a:solidFill>
              </a:rPr>
              <a:t>With at least one reach conjunct the supremum is finite and attained.</a:t>
            </a:r>
          </a:p>
          <a:p>
            <a:pPr algn="l">
              <a:spcBef>
                <a:spcPts val="900"/>
              </a:spcBef>
            </a:pPr>
            <a:r>
              <a:rPr lang="en-GB" sz="1800" dirty="0">
                <a:solidFill>
                  <a:srgbClr val="262626"/>
                </a:solidFill>
              </a:rPr>
              <a:t>At a step covered only by avoidance conjuncts, displacing the waypoint of a maximizer far from every unsafe centre leaves the score unchanged, so the set of maximizers is unbounded.</a:t>
            </a:r>
          </a:p>
          <a:p>
            <a:pPr algn="l">
              <a:spcBef>
                <a:spcPts val="900"/>
              </a:spcBef>
            </a:pPr>
            <a:r>
              <a:rPr lang="en-GB" sz="1800" dirty="0">
                <a:solidFill>
                  <a:srgbClr val="262626"/>
                </a:solidFill>
              </a:rPr>
              <a:t>In neither case does the requirement bound the trajectory.</a:t>
            </a:r>
          </a:p>
        </p:txBody>
      </p:sp>
      <p:sp>
        <p:nvSpPr>
          <p:cNvPr id="15" name="Label"/>
          <p:cNvSpPr txBox="1"/>
          <p:nvPr/>
        </p:nvSpPr>
        <p:spPr>
          <a:xfrm>
            <a:off x="603504" y="5760720"/>
            <a:ext cx="10991088" cy="365760"/>
          </a:xfrm>
          <a:prstGeom prst="rect">
            <a:avLst/>
          </a:prstGeom>
          <a:noFill/>
        </p:spPr>
        <p:txBody>
          <a:bodyPr wrap="square" lIns="45720" tIns="0" rIns="45720" bIns="0" anchor="t">
            <a:noAutofit/>
          </a:bodyPr>
          <a:lstStyle/>
          <a:p>
            <a:pPr algn="l"/>
            <a:r>
              <a:rPr lang="en-GB" sz="1500" dirty="0">
                <a:solidFill>
                  <a:srgbClr val="6E6E6E"/>
                </a:solidFill>
              </a:rPr>
              <a:t>The coordinates that the requirement leaves free are determined by a component other than the requirement, in STL-FM the learned prior.</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solidFill>
                  <a:srgbClr val="6E6E6E"/>
                </a:solidFill>
              </a:rPr>
              <a:t>Maximization over plausible trajectories</a:t>
            </a:r>
          </a:p>
        </p:txBody>
      </p:sp>
      <p:sp>
        <p:nvSpPr>
          <p:cNvPr id="12" name="Slide Number"/>
          <p:cNvSpPr>
            <a:spLocks noGrp="1"/>
          </p:cNvSpPr>
          <p:nvPr>
            <p:ph type="sldNum" sz="quarter" idx="12"/>
          </p:nvPr>
        </p:nvSpPr>
        <p:spPr/>
        <p:txBody>
          <a:bodyPr/>
          <a:lstStyle/>
          <a:p>
            <a:fld id="{619F89D8-7AE3-494A-97F3-03D680869632}" type="slidenum">
              <a:rPr lang="en-GB"/>
              <a:t>1</a:t>
            </a:fld>
            <a:endParaRPr lang="en-GB"/>
          </a:p>
        </p:txBody>
      </p:sp>
      <p:pic>
        <p:nvPicPr>
          <p:cNvPr id="13" name="Equation" descr="Maximize the robustness score subject to the trajectory lying on the manifold of plausible trajectories"/>
          <p:cNvPicPr>
            <a:picLocks noChangeAspect="1"/>
          </p:cNvPicPr>
          <p:nvPr/>
        </p:nvPicPr>
        <p:blipFill>
          <a:blip r:embed="rId2"/>
          <a:stretch>
            <a:fillRect/>
          </a:stretch>
        </p:blipFill>
        <p:spPr>
          <a:xfrm>
            <a:off x="4044696" y="1965960"/>
            <a:ext cx="4108704" cy="423672"/>
          </a:xfrm>
          <a:prstGeom prst="rect">
            <a:avLst/>
          </a:prstGeom>
        </p:spPr>
      </p:pic>
      <p:sp>
        <p:nvSpPr>
          <p:cNvPr id="14" name="Label"/>
          <p:cNvSpPr txBox="1"/>
          <p:nvPr/>
        </p:nvSpPr>
        <p:spPr>
          <a:xfrm>
            <a:off x="603504" y="2755392"/>
            <a:ext cx="10991088" cy="2868168"/>
          </a:xfrm>
          <a:prstGeom prst="rect">
            <a:avLst/>
          </a:prstGeom>
          <a:noFill/>
        </p:spPr>
        <p:txBody>
          <a:bodyPr wrap="square" lIns="45720" tIns="0" rIns="45720" bIns="0" anchor="t">
            <a:noAutofit/>
          </a:bodyPr>
          <a:lstStyle/>
          <a:p>
            <a:pPr algn="l"/>
            <a:r>
              <a:rPr lang="en-GB" sz="1800" dirty="0">
                <a:solidFill>
                  <a:srgbClr val="262626"/>
                </a:solidFill>
              </a:rPr>
              <a:t>The plausible trajectories are idealized as a compact </a:t>
            </a:r>
            <a:r>
              <a:rPr lang="en-GB" sz="1800" dirty="0">
                <a:solidFill>
                  <a:srgbClr val="262626"/>
                </a:solidFill>
                <a:latin typeface="Cambria Math"/>
                <a:ea typeface="Cambria Math"/>
                <a:cs typeface="Cambria Math"/>
                <a:sym typeface="Cambria Math"/>
              </a:rPr>
              <a:t>C</a:t>
            </a:r>
            <a:r>
              <a:rPr lang="en-GB" sz="1800" baseline="30000" dirty="0">
                <a:solidFill>
                  <a:srgbClr val="262626"/>
                </a:solidFill>
                <a:latin typeface="Cambria Math"/>
                <a:ea typeface="Cambria Math"/>
                <a:cs typeface="Cambria Math"/>
                <a:sym typeface="Cambria Math"/>
              </a:rPr>
              <a:t>1</a:t>
            </a:r>
            <a:r>
              <a:rPr lang="en-GB" sz="1800" dirty="0">
                <a:solidFill>
                  <a:srgbClr val="262626"/>
                </a:solidFill>
              </a:rPr>
              <a:t> submanifold </a:t>
            </a:r>
            <a:r>
              <a:rPr lang="en-GB" sz="1800" dirty="0">
                <a:solidFill>
                  <a:srgbClr val="262626"/>
                </a:solidFill>
                <a:latin typeface="Cambria Math"/>
                <a:ea typeface="Cambria Math"/>
                <a:cs typeface="Cambria Math"/>
                <a:sym typeface="Cambria Math"/>
              </a:rPr>
              <a:t>ℳ</a:t>
            </a:r>
            <a:r>
              <a:rPr lang="en-GB" sz="1800" dirty="0">
                <a:solidFill>
                  <a:srgbClr val="262626"/>
                </a:solidFill>
              </a:rPr>
              <a:t> of the trajectory space </a:t>
            </a:r>
            <a:r>
              <a:rPr lang="en-GB" sz="1800" dirty="0">
                <a:solidFill>
                  <a:srgbClr val="262626"/>
                </a:solidFill>
                <a:latin typeface="Cambria Math"/>
                <a:ea typeface="Cambria Math"/>
                <a:cs typeface="Cambria Math"/>
                <a:sym typeface="Cambria Math"/>
              </a:rPr>
              <a:t>𝒯</a:t>
            </a:r>
            <a:r>
              <a:rPr lang="en-GB" sz="1800" dirty="0">
                <a:solidFill>
                  <a:srgbClr val="262626"/>
                </a:solidFill>
              </a:rPr>
              <a:t>, and the score is maximized on </a:t>
            </a:r>
            <a:r>
              <a:rPr lang="en-GB" sz="1800" dirty="0">
                <a:solidFill>
                  <a:srgbClr val="262626"/>
                </a:solidFill>
                <a:latin typeface="Cambria Math"/>
                <a:ea typeface="Cambria Math"/>
                <a:cs typeface="Cambria Math"/>
                <a:sym typeface="Cambria Math"/>
              </a:rPr>
              <a:t>ℳ</a:t>
            </a:r>
            <a:r>
              <a:rPr lang="en-GB" sz="1800" dirty="0">
                <a:solidFill>
                  <a:srgbClr val="262626"/>
                </a:solidFill>
              </a:rPr>
              <a:t> only.</a:t>
            </a:r>
          </a:p>
          <a:p>
            <a:pPr algn="l">
              <a:spcBef>
                <a:spcPts val="900"/>
              </a:spcBef>
            </a:pPr>
            <a:r>
              <a:rPr lang="en-GB" sz="1800" b="1" dirty="0">
                <a:solidFill>
                  <a:srgbClr val="262626"/>
                </a:solidFill>
              </a:rPr>
              <a:t>Existence. </a:t>
            </a:r>
            <a:r>
              <a:rPr lang="en-GB" sz="1800" dirty="0">
                <a:solidFill>
                  <a:srgbClr val="262626"/>
                </a:solidFill>
              </a:rPr>
              <a:t>The maximum is attained on </a:t>
            </a:r>
            <a:r>
              <a:rPr lang="en-GB" sz="1800" dirty="0">
                <a:solidFill>
                  <a:srgbClr val="262626"/>
                </a:solidFill>
                <a:latin typeface="Cambria Math"/>
                <a:ea typeface="Cambria Math"/>
                <a:cs typeface="Cambria Math"/>
                <a:sym typeface="Cambria Math"/>
              </a:rPr>
              <a:t>ℳ</a:t>
            </a:r>
            <a:r>
              <a:rPr lang="en-GB" sz="1800" dirty="0">
                <a:solidFill>
                  <a:srgbClr val="262626"/>
                </a:solidFill>
              </a:rPr>
              <a:t>, even where the unconstrained supremum is unattained or infinite, as for pure safety. Compactness of </a:t>
            </a:r>
            <a:r>
              <a:rPr lang="en-GB" sz="1800" dirty="0">
                <a:solidFill>
                  <a:srgbClr val="262626"/>
                </a:solidFill>
                <a:latin typeface="Cambria Math"/>
                <a:ea typeface="Cambria Math"/>
                <a:cs typeface="Cambria Math"/>
                <a:sym typeface="Cambria Math"/>
              </a:rPr>
              <a:t>ℳ</a:t>
            </a:r>
            <a:r>
              <a:rPr lang="en-GB" sz="1800" dirty="0">
                <a:solidFill>
                  <a:srgbClr val="262626"/>
                </a:solidFill>
              </a:rPr>
              <a:t> provides the bound that the requirement lacks.</a:t>
            </a:r>
          </a:p>
          <a:p>
            <a:pPr algn="l">
              <a:spcBef>
                <a:spcPts val="900"/>
              </a:spcBef>
            </a:pPr>
            <a:r>
              <a:rPr lang="en-GB" sz="1800" b="1" dirty="0">
                <a:solidFill>
                  <a:srgbClr val="262626"/>
                </a:solidFill>
              </a:rPr>
              <a:t>Determinacy. </a:t>
            </a:r>
            <a:r>
              <a:rPr lang="en-GB" sz="1800" dirty="0">
                <a:solidFill>
                  <a:srgbClr val="262626"/>
                </a:solidFill>
              </a:rPr>
              <a:t>For a generic embedding of </a:t>
            </a:r>
            <a:r>
              <a:rPr lang="en-GB" sz="1800" dirty="0">
                <a:solidFill>
                  <a:srgbClr val="262626"/>
                </a:solidFill>
                <a:latin typeface="Cambria Math"/>
                <a:ea typeface="Cambria Math"/>
                <a:cs typeface="Cambria Math"/>
                <a:sym typeface="Cambria Math"/>
              </a:rPr>
              <a:t>ℳ</a:t>
            </a:r>
            <a:r>
              <a:rPr lang="en-GB" sz="1800" dirty="0">
                <a:solidFill>
                  <a:srgbClr val="262626"/>
                </a:solidFill>
              </a:rPr>
              <a:t> the maximizers on </a:t>
            </a:r>
            <a:r>
              <a:rPr lang="en-GB" sz="1800" dirty="0">
                <a:solidFill>
                  <a:srgbClr val="262626"/>
                </a:solidFill>
                <a:latin typeface="Cambria Math"/>
                <a:ea typeface="Cambria Math"/>
                <a:cs typeface="Cambria Math"/>
                <a:sym typeface="Cambria Math"/>
              </a:rPr>
              <a:t>ℳ</a:t>
            </a:r>
            <a:r>
              <a:rPr lang="en-GB" sz="1800" dirty="0">
                <a:solidFill>
                  <a:srgbClr val="262626"/>
                </a:solidFill>
              </a:rPr>
              <a:t> are isolated, except where </a:t>
            </a:r>
            <a:r>
              <a:rPr lang="en-GB" sz="1800" dirty="0">
                <a:solidFill>
                  <a:srgbClr val="262626"/>
                </a:solidFill>
                <a:latin typeface="Cambria Math"/>
                <a:ea typeface="Cambria Math"/>
                <a:cs typeface="Cambria Math"/>
                <a:sym typeface="Cambria Math"/>
              </a:rPr>
              <a:t>ℳ</a:t>
            </a:r>
            <a:r>
              <a:rPr lang="en-GB" sz="1800" dirty="0">
                <a:solidFill>
                  <a:srgbClr val="262626"/>
                </a:solidFill>
              </a:rPr>
              <a:t> is tangent to the flat directions. In </a:t>
            </a:r>
            <a:r>
              <a:rPr lang="en-GB" sz="1800" dirty="0">
                <a:solidFill>
                  <a:srgbClr val="262626"/>
                </a:solidFill>
                <a:latin typeface="Cambria Math"/>
                <a:ea typeface="Cambria Math"/>
                <a:cs typeface="Cambria Math"/>
                <a:sym typeface="Cambria Math"/>
              </a:rPr>
              <a:t>𝒯</a:t>
            </a:r>
            <a:r>
              <a:rPr lang="en-GB" sz="1800" dirty="0">
                <a:solidFill>
                  <a:srgbClr val="262626"/>
                </a:solidFill>
              </a:rPr>
              <a:t> they are not isolated, as the sparsity and reach results show.</a:t>
            </a:r>
          </a:p>
          <a:p>
            <a:pPr algn="l">
              <a:spcBef>
                <a:spcPts val="900"/>
              </a:spcBef>
            </a:pPr>
            <a:r>
              <a:rPr lang="en-GB" sz="1800" b="1" dirty="0">
                <a:solidFill>
                  <a:srgbClr val="262626"/>
                </a:solidFill>
              </a:rPr>
              <a:t>Plausibility. </a:t>
            </a:r>
            <a:r>
              <a:rPr lang="en-GB" sz="1800" dirty="0">
                <a:solidFill>
                  <a:srgbClr val="262626"/>
                </a:solidFill>
              </a:rPr>
              <a:t>Every constrained maximizer lies in </a:t>
            </a:r>
            <a:r>
              <a:rPr lang="en-GB" sz="1800" dirty="0">
                <a:solidFill>
                  <a:srgbClr val="262626"/>
                </a:solidFill>
                <a:latin typeface="Cambria Math"/>
                <a:ea typeface="Cambria Math"/>
                <a:cs typeface="Cambria Math"/>
                <a:sym typeface="Cambria Math"/>
              </a:rPr>
              <a:t>ℳ</a:t>
            </a:r>
            <a:r>
              <a:rPr lang="en-GB" sz="1800" dirty="0">
                <a:solidFill>
                  <a:srgbClr val="262626"/>
                </a:solidFill>
              </a:rPr>
              <a:t>, so the implausible maximizers of a reach requirement are excluded whenever they lie off </a:t>
            </a:r>
            <a:r>
              <a:rPr lang="en-GB" sz="1800" dirty="0">
                <a:solidFill>
                  <a:srgbClr val="262626"/>
                </a:solidFill>
                <a:latin typeface="Cambria Math"/>
                <a:ea typeface="Cambria Math"/>
                <a:cs typeface="Cambria Math"/>
                <a:sym typeface="Cambria Math"/>
              </a:rPr>
              <a:t>ℳ</a:t>
            </a:r>
            <a:r>
              <a:rPr lang="en-GB" sz="1800" dirty="0">
                <a:solidFill>
                  <a:srgbClr val="262626"/>
                </a:solidFill>
              </a:rPr>
              <a:t>.</a:t>
            </a:r>
          </a:p>
        </p:txBody>
      </p:sp>
      <p:sp>
        <p:nvSpPr>
          <p:cNvPr id="15" name="Label"/>
          <p:cNvSpPr txBox="1"/>
          <p:nvPr/>
        </p:nvSpPr>
        <p:spPr>
          <a:xfrm>
            <a:off x="603504" y="5760720"/>
            <a:ext cx="10991088" cy="365760"/>
          </a:xfrm>
          <a:prstGeom prst="rect">
            <a:avLst/>
          </a:prstGeom>
          <a:noFill/>
        </p:spPr>
        <p:txBody>
          <a:bodyPr wrap="square" lIns="45720" tIns="0" rIns="45720" bIns="0" anchor="t">
            <a:noAutofit/>
          </a:bodyPr>
          <a:lstStyle/>
          <a:p>
            <a:pPr algn="l"/>
            <a:r>
              <a:rPr lang="en-GB" sz="1500" dirty="0">
                <a:solidFill>
                  <a:srgbClr val="6E6E6E"/>
                </a:solidFill>
              </a:rPr>
              <a:t>The learned prior satisfies neither hypothesis, so whether it provides the bound is measured in the experiments, not assumed.</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solidFill>
                  <a:srgbClr val="6E6E6E"/>
                </a:solidFill>
              </a:rPr>
              <a:t>Constant guidance strength</a:t>
            </a:r>
          </a:p>
        </p:txBody>
      </p:sp>
      <p:sp>
        <p:nvSpPr>
          <p:cNvPr id="12" name="Slide Number"/>
          <p:cNvSpPr>
            <a:spLocks noGrp="1"/>
          </p:cNvSpPr>
          <p:nvPr>
            <p:ph type="sldNum" sz="quarter" idx="12"/>
          </p:nvPr>
        </p:nvSpPr>
        <p:spPr/>
        <p:txBody>
          <a:bodyPr/>
          <a:lstStyle/>
          <a:p>
            <a:fld id="{619F89D8-7AE3-494A-97F3-03D680869632}" type="slidenum">
              <a:rPr lang="en-GB"/>
              <a:t>1</a:t>
            </a:fld>
            <a:endParaRPr lang="en-GB"/>
          </a:p>
        </p:txBody>
      </p:sp>
      <p:pic>
        <p:nvPicPr>
          <p:cNvPr id="13" name="Equation" descr="Diffusion score, flow-matching target velocity, and the bound on the guided velocity"/>
          <p:cNvPicPr>
            <a:picLocks noChangeAspect="1"/>
          </p:cNvPicPr>
          <p:nvPr/>
        </p:nvPicPr>
        <p:blipFill>
          <a:blip r:embed="rId2"/>
          <a:stretch>
            <a:fillRect/>
          </a:stretch>
        </p:blipFill>
        <p:spPr>
          <a:xfrm>
            <a:off x="1439418" y="2057400"/>
            <a:ext cx="9319260" cy="1719072"/>
          </a:xfrm>
          <a:prstGeom prst="rect">
            <a:avLst/>
          </a:prstGeom>
        </p:spPr>
      </p:pic>
      <p:sp>
        <p:nvSpPr>
          <p:cNvPr id="14" name="Label"/>
          <p:cNvSpPr txBox="1"/>
          <p:nvPr/>
        </p:nvSpPr>
        <p:spPr>
          <a:xfrm>
            <a:off x="603504" y="4160520"/>
            <a:ext cx="10991088" cy="731520"/>
          </a:xfrm>
          <a:prstGeom prst="rect">
            <a:avLst/>
          </a:prstGeom>
          <a:noFill/>
        </p:spPr>
        <p:txBody>
          <a:bodyPr wrap="square" lIns="45720" tIns="0" rIns="45720" bIns="0" anchor="t">
            <a:noAutofit/>
          </a:bodyPr>
          <a:lstStyle/>
          <a:p>
            <a:pPr algn="ctr"/>
            <a:r>
              <a:rPr lang="en-GB" sz="1700" dirty="0">
                <a:solidFill>
                  <a:srgbClr val="262626"/>
                </a:solidFill>
              </a:rPr>
              <a:t>Both terms are of the same bounded order at every flow time, so the ratio of guidance to prior is </a:t>
            </a:r>
            <a:r>
              <a:rPr lang="en-GB" sz="1700" dirty="0">
                <a:solidFill>
                  <a:srgbClr val="262626"/>
                </a:solidFill>
                <a:latin typeface="Cambria Math"/>
                <a:ea typeface="Cambria Math"/>
                <a:cs typeface="Cambria Math"/>
                <a:sym typeface="Cambria Math"/>
              </a:rPr>
              <a:t>Θ(λ</a:t>
            </a:r>
            <a:r>
              <a:rPr lang="en-GB" sz="1700" baseline="-25000" dirty="0">
                <a:solidFill>
                  <a:srgbClr val="262626"/>
                </a:solidFill>
              </a:rPr>
              <a:t>0</a:t>
            </a:r>
            <a:r>
              <a:rPr lang="en-GB" sz="1700" dirty="0">
                <a:solidFill>
                  <a:srgbClr val="262626"/>
                </a:solidFill>
                <a:latin typeface="Cambria Math"/>
                <a:ea typeface="Cambria Math"/>
                <a:cs typeface="Cambria Math"/>
                <a:sym typeface="Cambria Math"/>
              </a:rPr>
              <a:t>)</a:t>
            </a:r>
          </a:p>
          <a:p>
            <a:pPr algn="ctr"/>
            <a:r>
              <a:rPr lang="en-GB" sz="1700" dirty="0">
                <a:solidFill>
                  <a:srgbClr val="262626"/>
                </a:solidFill>
              </a:rPr>
              <a:t>and a constant </a:t>
            </a:r>
            <a:r>
              <a:rPr lang="en-GB" sz="1700" dirty="0">
                <a:solidFill>
                  <a:srgbClr val="262626"/>
                </a:solidFill>
                <a:latin typeface="Cambria Math"/>
                <a:ea typeface="Cambria Math"/>
                <a:cs typeface="Cambria Math"/>
                <a:sym typeface="Cambria Math"/>
              </a:rPr>
              <a:t>λ</a:t>
            </a:r>
            <a:r>
              <a:rPr lang="en-GB" sz="1700" baseline="-25000" dirty="0">
                <a:solidFill>
                  <a:srgbClr val="262626"/>
                </a:solidFill>
              </a:rPr>
              <a:t>0</a:t>
            </a:r>
            <a:r>
              <a:rPr lang="en-GB" sz="1700" dirty="0">
                <a:solidFill>
                  <a:srgbClr val="262626"/>
                </a:solidFill>
              </a:rPr>
              <a:t> is well posed without a schedule.  </a:t>
            </a:r>
            <a:r>
              <a:rPr lang="en-GB" sz="1700" dirty="0">
                <a:solidFill>
                  <a:srgbClr val="262626"/>
                </a:solidFill>
                <a:latin typeface="Cambria Math"/>
                <a:ea typeface="Cambria Math"/>
                <a:cs typeface="Cambria Math"/>
                <a:sym typeface="Cambria Math"/>
              </a:rPr>
              <a:t>λ</a:t>
            </a:r>
            <a:r>
              <a:rPr lang="en-GB" sz="1700" baseline="-25000" dirty="0">
                <a:solidFill>
                  <a:srgbClr val="262626"/>
                </a:solidFill>
              </a:rPr>
              <a:t>0</a:t>
            </a:r>
            <a:r>
              <a:rPr lang="en-GB" sz="1700" dirty="0">
                <a:solidFill>
                  <a:srgbClr val="262626"/>
                </a:solidFill>
              </a:rPr>
              <a:t> = 50 in navigation and cube, without retuning.</a:t>
            </a:r>
          </a:p>
        </p:txBody>
      </p:sp>
      <p:sp>
        <p:nvSpPr>
          <p:cNvPr id="15" name="Label"/>
          <p:cNvSpPr txBox="1"/>
          <p:nvPr/>
        </p:nvSpPr>
        <p:spPr>
          <a:xfrm>
            <a:off x="603504" y="5074920"/>
            <a:ext cx="10991088" cy="640080"/>
          </a:xfrm>
          <a:prstGeom prst="rect">
            <a:avLst/>
          </a:prstGeom>
          <a:noFill/>
        </p:spPr>
        <p:txBody>
          <a:bodyPr wrap="square" lIns="45720" tIns="0" rIns="45720" bIns="0" anchor="t">
            <a:noAutofit/>
          </a:bodyPr>
          <a:lstStyle/>
          <a:p>
            <a:pPr algn="ctr"/>
            <a:r>
              <a:rPr lang="en-GB" sz="1500" dirty="0">
                <a:solidFill>
                  <a:srgbClr val="6E6E6E"/>
                </a:solidFill>
              </a:rPr>
              <a:t>On a diffusion substrate the guidance weight is coupled to the noise schedule,</a:t>
            </a:r>
          </a:p>
          <a:p>
            <a:pPr algn="ctr"/>
            <a:r>
              <a:rPr lang="en-GB" sz="1500" dirty="0">
                <a:solidFill>
                  <a:srgbClr val="6E6E6E"/>
                </a:solidFill>
              </a:rPr>
              <a:t>λ(t) ∝ σ</a:t>
            </a:r>
            <a:r>
              <a:rPr lang="en-GB" sz="1500" baseline="-25000" dirty="0">
                <a:solidFill>
                  <a:srgbClr val="6E6E6E"/>
                </a:solidFill>
              </a:rPr>
              <a:t>t</a:t>
            </a:r>
            <a:r>
              <a:rPr lang="en-GB" sz="1500" baseline="30000" dirty="0">
                <a:solidFill>
                  <a:srgbClr val="6E6E6E"/>
                </a:solidFill>
              </a:rPr>
              <a:t>k</a:t>
            </a:r>
            <a:r>
              <a:rPr lang="en-GB" sz="1500" dirty="0">
                <a:solidFill>
                  <a:srgbClr val="6E6E6E"/>
                </a:solidFill>
              </a:rPr>
              <a:t> with k ∈ {1, 2}.</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solidFill>
                  <a:srgbClr val="6E6E6E"/>
                </a:solidFill>
              </a:rPr>
              <a:t>Compilation and smoothing bias</a:t>
            </a:r>
          </a:p>
        </p:txBody>
      </p:sp>
      <p:sp>
        <p:nvSpPr>
          <p:cNvPr id="12" name="Slide Number"/>
          <p:cNvSpPr>
            <a:spLocks noGrp="1"/>
          </p:cNvSpPr>
          <p:nvPr>
            <p:ph type="sldNum" sz="quarter" idx="12"/>
          </p:nvPr>
        </p:nvSpPr>
        <p:spPr/>
        <p:txBody>
          <a:bodyPr/>
          <a:lstStyle/>
          <a:p>
            <a:fld id="{619F89D8-7AE3-494A-97F3-03D680869632}" type="slidenum">
              <a:rPr lang="en-GB"/>
              <a:t>1</a:t>
            </a:fld>
            <a:endParaRPr lang="en-GB"/>
          </a:p>
        </p:txBody>
      </p:sp>
      <p:pic>
        <p:nvPicPr>
          <p:cNvPr id="13" name="Equation" descr="Log-sum-exp brackets the exact maximum and minimum within log n over kappa, and a compiled score above L kappa to the minus one log n implies satisfaction"/>
          <p:cNvPicPr>
            <a:picLocks noChangeAspect="1"/>
          </p:cNvPicPr>
          <p:nvPr/>
        </p:nvPicPr>
        <p:blipFill>
          <a:blip r:embed="rId2"/>
          <a:stretch>
            <a:fillRect/>
          </a:stretch>
        </p:blipFill>
        <p:spPr>
          <a:xfrm>
            <a:off x="2064258" y="1965960"/>
            <a:ext cx="8069580" cy="1016508"/>
          </a:xfrm>
          <a:prstGeom prst="rect">
            <a:avLst/>
          </a:prstGeom>
        </p:spPr>
      </p:pic>
      <p:sp>
        <p:nvSpPr>
          <p:cNvPr id="14" name="Label"/>
          <p:cNvSpPr txBox="1"/>
          <p:nvPr/>
        </p:nvSpPr>
        <p:spPr>
          <a:xfrm>
            <a:off x="603504" y="3348228"/>
            <a:ext cx="10991088" cy="2275332"/>
          </a:xfrm>
          <a:prstGeom prst="rect">
            <a:avLst/>
          </a:prstGeom>
          <a:noFill/>
        </p:spPr>
        <p:txBody>
          <a:bodyPr wrap="square" lIns="45720" tIns="0" rIns="45720" bIns="0" anchor="t">
            <a:noAutofit/>
          </a:bodyPr>
          <a:lstStyle/>
          <a:p>
            <a:pPr algn="l"/>
            <a:r>
              <a:rPr lang="en-GB" sz="1600" dirty="0">
                <a:solidFill>
                  <a:srgbClr val="262626"/>
                </a:solidFill>
              </a:rPr>
              <a:t>A formula is compiled by a post-order traversal of its syntax tree, with no learned component.</a:t>
            </a:r>
          </a:p>
          <a:p>
            <a:pPr algn="l">
              <a:spcBef>
                <a:spcPts val="900"/>
              </a:spcBef>
            </a:pPr>
            <a:r>
              <a:rPr lang="en-GB" sz="1600" dirty="0">
                <a:solidFill>
                  <a:srgbClr val="262626"/>
                </a:solidFill>
              </a:rPr>
              <a:t>A predicate returns its margin </a:t>
            </a:r>
            <a:r>
              <a:rPr lang="en-GB" sz="1600" dirty="0">
                <a:solidFill>
                  <a:srgbClr val="262626"/>
                </a:solidFill>
                <a:latin typeface="Cambria Math"/>
                <a:ea typeface="Cambria Math"/>
                <a:cs typeface="Cambria Math"/>
                <a:sym typeface="Cambria Math"/>
              </a:rPr>
              <a:t>h</a:t>
            </a:r>
            <a:r>
              <a:rPr lang="en-GB" sz="1600" dirty="0">
                <a:solidFill>
                  <a:srgbClr val="262626"/>
                </a:solidFill>
              </a:rPr>
              <a:t> at every step, and negation changes the sign.</a:t>
            </a:r>
          </a:p>
          <a:p>
            <a:pPr algn="l">
              <a:spcBef>
                <a:spcPts val="900"/>
              </a:spcBef>
            </a:pPr>
            <a:r>
              <a:rPr lang="en-GB" sz="1600" dirty="0">
                <a:solidFill>
                  <a:srgbClr val="262626"/>
                </a:solidFill>
              </a:rPr>
              <a:t>Conjunction and always return smin, disjunction and eventually smax, and until a nested combination of both.</a:t>
            </a:r>
          </a:p>
          <a:p>
            <a:pPr algn="l">
              <a:spcBef>
                <a:spcPts val="900"/>
              </a:spcBef>
            </a:pPr>
            <a:r>
              <a:rPr lang="en-GB" sz="1600" dirty="0">
                <a:solidFill>
                  <a:srgbClr val="262626"/>
                </a:solidFill>
              </a:rPr>
              <a:t>Over </a:t>
            </a:r>
            <a:r>
              <a:rPr lang="en-GB" sz="1600" dirty="0">
                <a:solidFill>
                  <a:srgbClr val="262626"/>
                </a:solidFill>
                <a:latin typeface="Cambria Math"/>
                <a:ea typeface="Cambria Math"/>
                <a:cs typeface="Cambria Math"/>
                <a:sym typeface="Cambria Math"/>
              </a:rPr>
              <a:t>n</a:t>
            </a:r>
            <a:r>
              <a:rPr lang="en-GB" sz="1600" dirty="0">
                <a:solidFill>
                  <a:srgbClr val="262626"/>
                </a:solidFill>
              </a:rPr>
              <a:t> arguments the surrogate lies within </a:t>
            </a:r>
            <a:r>
              <a:rPr lang="en-GB" sz="1600" dirty="0">
                <a:solidFill>
                  <a:srgbClr val="262626"/>
                </a:solidFill>
                <a:latin typeface="Cambria Math"/>
                <a:ea typeface="Cambria Math"/>
                <a:cs typeface="Cambria Math"/>
                <a:sym typeface="Cambria Math"/>
              </a:rPr>
              <a:t>log n / κ</a:t>
            </a:r>
            <a:r>
              <a:rPr lang="en-GB" sz="1600" dirty="0">
                <a:solidFill>
                  <a:srgbClr val="262626"/>
                </a:solidFill>
              </a:rPr>
              <a:t> of the exact extremum, so the compiled score converges to the exact score as </a:t>
            </a:r>
            <a:r>
              <a:rPr lang="en-GB" sz="1600" dirty="0">
                <a:solidFill>
                  <a:srgbClr val="262626"/>
                </a:solidFill>
                <a:latin typeface="Cambria Math"/>
                <a:ea typeface="Cambria Math"/>
                <a:cs typeface="Cambria Math"/>
                <a:sym typeface="Cambria Math"/>
              </a:rPr>
              <a:t>κ</a:t>
            </a:r>
            <a:r>
              <a:rPr lang="en-GB" sz="1600" dirty="0">
                <a:solidFill>
                  <a:srgbClr val="262626"/>
                </a:solidFill>
              </a:rPr>
              <a:t> grows.</a:t>
            </a:r>
          </a:p>
          <a:p>
            <a:pPr algn="l">
              <a:spcBef>
                <a:spcPts val="900"/>
              </a:spcBef>
            </a:pPr>
            <a:r>
              <a:rPr lang="en-GB" sz="1600" dirty="0">
                <a:solidFill>
                  <a:srgbClr val="262626"/>
                </a:solidFill>
              </a:rPr>
              <a:t>At finite </a:t>
            </a:r>
            <a:r>
              <a:rPr lang="en-GB" sz="1600" dirty="0">
                <a:solidFill>
                  <a:srgbClr val="262626"/>
                </a:solidFill>
                <a:latin typeface="Cambria Math"/>
                <a:ea typeface="Cambria Math"/>
                <a:cs typeface="Cambria Math"/>
                <a:sym typeface="Cambria Math"/>
              </a:rPr>
              <a:t>κ</a:t>
            </a:r>
            <a:r>
              <a:rPr lang="en-GB" sz="1600" dirty="0">
                <a:solidFill>
                  <a:srgbClr val="262626"/>
                </a:solidFill>
              </a:rPr>
              <a:t> a compiled score above </a:t>
            </a:r>
            <a:r>
              <a:rPr lang="en-GB" sz="1600" dirty="0">
                <a:solidFill>
                  <a:srgbClr val="262626"/>
                </a:solidFill>
                <a:latin typeface="Cambria Math"/>
                <a:ea typeface="Cambria Math"/>
                <a:cs typeface="Cambria Math"/>
                <a:sym typeface="Cambria Math"/>
              </a:rPr>
              <a:t>Lκ</a:t>
            </a:r>
            <a:r>
              <a:rPr lang="en-GB" sz="1600" baseline="30000" dirty="0">
                <a:solidFill>
                  <a:srgbClr val="262626"/>
                </a:solidFill>
                <a:latin typeface="Cambria Math"/>
                <a:ea typeface="Cambria Math"/>
                <a:cs typeface="Cambria Math"/>
                <a:sym typeface="Cambria Math"/>
              </a:rPr>
              <a:t>−1</a:t>
            </a:r>
            <a:r>
              <a:rPr lang="en-GB" sz="1600" dirty="0">
                <a:solidFill>
                  <a:srgbClr val="262626"/>
                </a:solidFill>
                <a:latin typeface="Cambria Math"/>
                <a:ea typeface="Cambria Math"/>
                <a:cs typeface="Cambria Math"/>
                <a:sym typeface="Cambria Math"/>
              </a:rPr>
              <a:t> log n</a:t>
            </a:r>
            <a:r>
              <a:rPr lang="en-GB" sz="1600" dirty="0">
                <a:solidFill>
                  <a:srgbClr val="262626"/>
                </a:solidFill>
              </a:rPr>
              <a:t> implies satisfaction, where </a:t>
            </a:r>
            <a:r>
              <a:rPr lang="en-GB" sz="1600" dirty="0">
                <a:solidFill>
                  <a:srgbClr val="262626"/>
                </a:solidFill>
                <a:latin typeface="Cambria Math"/>
                <a:ea typeface="Cambria Math"/>
                <a:cs typeface="Cambria Math"/>
                <a:sym typeface="Cambria Math"/>
              </a:rPr>
              <a:t>L</a:t>
            </a:r>
            <a:r>
              <a:rPr lang="en-GB" sz="1600" dirty="0">
                <a:solidFill>
                  <a:srgbClr val="262626"/>
                </a:solidFill>
              </a:rPr>
              <a:t> is the depth of the syntax tree and </a:t>
            </a:r>
            <a:r>
              <a:rPr lang="en-GB" sz="1600" dirty="0">
                <a:solidFill>
                  <a:srgbClr val="262626"/>
                </a:solidFill>
                <a:latin typeface="Cambria Math"/>
                <a:ea typeface="Cambria Math"/>
                <a:cs typeface="Cambria Math"/>
                <a:sym typeface="Cambria Math"/>
              </a:rPr>
              <a:t>n</a:t>
            </a:r>
            <a:r>
              <a:rPr lang="en-GB" sz="1600" dirty="0">
                <a:solidFill>
                  <a:srgbClr val="262626"/>
                </a:solidFill>
              </a:rPr>
              <a:t> the largest arity of its nodes.</a:t>
            </a:r>
          </a:p>
        </p:txBody>
      </p:sp>
      <p:sp>
        <p:nvSpPr>
          <p:cNvPr id="15" name="Label"/>
          <p:cNvSpPr txBox="1"/>
          <p:nvPr/>
        </p:nvSpPr>
        <p:spPr>
          <a:xfrm>
            <a:off x="603504" y="5760720"/>
            <a:ext cx="10991088" cy="365760"/>
          </a:xfrm>
          <a:prstGeom prst="rect">
            <a:avLst/>
          </a:prstGeom>
          <a:noFill/>
        </p:spPr>
        <p:txBody>
          <a:bodyPr wrap="square" lIns="45720" tIns="0" rIns="45720" bIns="0" anchor="t">
            <a:noAutofit/>
          </a:bodyPr>
          <a:lstStyle/>
          <a:p>
            <a:pPr algn="l"/>
            <a:r>
              <a:rPr lang="en-GB" sz="1500" dirty="0">
                <a:solidFill>
                  <a:srgbClr val="6E6E6E"/>
                </a:solidFill>
              </a:rPr>
              <a:t>Guidance uses </a:t>
            </a:r>
            <a:r>
              <a:rPr lang="en-GB" sz="1500" dirty="0">
                <a:solidFill>
                  <a:srgbClr val="6E6E6E"/>
                </a:solidFill>
                <a:latin typeface="Cambria Math"/>
                <a:ea typeface="Cambria Math"/>
                <a:cs typeface="Cambria Math"/>
                <a:sym typeface="Cambria Math"/>
              </a:rPr>
              <a:t>κ</a:t>
            </a:r>
            <a:r>
              <a:rPr lang="en-GB" sz="1500" dirty="0">
                <a:solidFill>
                  <a:srgbClr val="6E6E6E"/>
                </a:solidFill>
              </a:rPr>
              <a:t> = 10, and satisfaction is always scored with the exact semantics.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solidFill>
                  <a:srgbClr val="6E6E6E"/>
                </a:solidFill>
              </a:rPr>
              <a:t>Steps of the guided sampler</a:t>
            </a:r>
          </a:p>
        </p:txBody>
      </p:sp>
      <p:sp>
        <p:nvSpPr>
          <p:cNvPr id="12" name="Slide Number"/>
          <p:cNvSpPr>
            <a:spLocks noGrp="1"/>
          </p:cNvSpPr>
          <p:nvPr>
            <p:ph type="sldNum" sz="quarter" idx="12"/>
          </p:nvPr>
        </p:nvSpPr>
        <p:spPr/>
        <p:txBody>
          <a:bodyPr/>
          <a:lstStyle/>
          <a:p>
            <a:fld id="{619F89D8-7AE3-494A-97F3-03D680869632}" type="slidenum">
              <a:rPr lang="en-GB"/>
              <a:t>1</a:t>
            </a:fld>
            <a:endParaRPr lang="en-GB"/>
          </a:p>
        </p:txBody>
      </p:sp>
      <p:pic>
        <p:nvPicPr>
          <p:cNvPr id="13" name="Equation" descr="Predicted endpoint, and the constant-strength step of the guided sampler"/>
          <p:cNvPicPr>
            <a:picLocks noChangeAspect="1"/>
          </p:cNvPicPr>
          <p:nvPr/>
        </p:nvPicPr>
        <p:blipFill>
          <a:blip r:embed="rId2"/>
          <a:stretch>
            <a:fillRect/>
          </a:stretch>
        </p:blipFill>
        <p:spPr>
          <a:xfrm>
            <a:off x="2673096" y="1965960"/>
            <a:ext cx="6851904" cy="323088"/>
          </a:xfrm>
          <a:prstGeom prst="rect">
            <a:avLst/>
          </a:prstGeom>
        </p:spPr>
      </p:pic>
      <p:sp>
        <p:nvSpPr>
          <p:cNvPr id="14" name="Label"/>
          <p:cNvSpPr txBox="1"/>
          <p:nvPr/>
        </p:nvSpPr>
        <p:spPr>
          <a:xfrm>
            <a:off x="603504" y="2654808"/>
            <a:ext cx="10991088" cy="2968752"/>
          </a:xfrm>
          <a:prstGeom prst="rect">
            <a:avLst/>
          </a:prstGeom>
          <a:noFill/>
        </p:spPr>
        <p:txBody>
          <a:bodyPr wrap="square" lIns="45720" tIns="0" rIns="45720" bIns="0" anchor="t">
            <a:noAutofit/>
          </a:bodyPr>
          <a:lstStyle/>
          <a:p>
            <a:pPr algn="l"/>
            <a:r>
              <a:rPr lang="en-GB" sz="1800" dirty="0">
                <a:solidFill>
                  <a:srgbClr val="262626"/>
                </a:solidFill>
              </a:rPr>
              <a:t>The sampler takes the requirement score </a:t>
            </a:r>
            <a:r>
              <a:rPr lang="en-GB" sz="1800" dirty="0">
                <a:solidFill>
                  <a:srgbClr val="262626"/>
                </a:solidFill>
                <a:latin typeface="Cambria Math"/>
                <a:ea typeface="Cambria Math"/>
                <a:cs typeface="Cambria Math"/>
                <a:sym typeface="Cambria Math"/>
              </a:rPr>
              <a:t>ρ</a:t>
            </a:r>
            <a:r>
              <a:rPr lang="en-GB" sz="1800" baseline="-25000" dirty="0">
                <a:solidFill>
                  <a:srgbClr val="262626"/>
                </a:solidFill>
                <a:latin typeface="Cambria Math"/>
                <a:ea typeface="Cambria Math"/>
                <a:cs typeface="Cambria Math"/>
                <a:sym typeface="Cambria Math"/>
              </a:rPr>
              <a:t>φ</a:t>
            </a:r>
            <a:r>
              <a:rPr lang="en-GB" sz="1800" dirty="0">
                <a:solidFill>
                  <a:srgbClr val="262626"/>
                </a:solidFill>
              </a:rPr>
              <a:t>, the start state, the prior field </a:t>
            </a:r>
            <a:r>
              <a:rPr lang="en-GB" sz="1800" dirty="0">
                <a:solidFill>
                  <a:srgbClr val="262626"/>
                </a:solidFill>
                <a:latin typeface="Cambria Math"/>
                <a:ea typeface="Cambria Math"/>
                <a:cs typeface="Cambria Math"/>
                <a:sym typeface="Cambria Math"/>
              </a:rPr>
              <a:t>v</a:t>
            </a:r>
            <a:r>
              <a:rPr lang="en-GB" sz="1800" baseline="-25000" dirty="0">
                <a:solidFill>
                  <a:srgbClr val="262626"/>
                </a:solidFill>
                <a:latin typeface="Cambria Math"/>
                <a:ea typeface="Cambria Math"/>
                <a:cs typeface="Cambria Math"/>
                <a:sym typeface="Cambria Math"/>
              </a:rPr>
              <a:t>θ</a:t>
            </a:r>
            <a:r>
              <a:rPr lang="en-GB" sz="1800" dirty="0">
                <a:solidFill>
                  <a:srgbClr val="262626"/>
                </a:solidFill>
              </a:rPr>
              <a:t>, the guidance strength </a:t>
            </a:r>
            <a:r>
              <a:rPr lang="en-GB" sz="1800" dirty="0">
                <a:solidFill>
                  <a:srgbClr val="262626"/>
                </a:solidFill>
                <a:latin typeface="Cambria Math"/>
                <a:ea typeface="Cambria Math"/>
                <a:cs typeface="Cambria Math"/>
                <a:sym typeface="Cambria Math"/>
              </a:rPr>
              <a:t>λ</a:t>
            </a:r>
            <a:r>
              <a:rPr lang="en-GB" sz="1800" baseline="-25000" dirty="0">
                <a:solidFill>
                  <a:srgbClr val="262626"/>
                </a:solidFill>
              </a:rPr>
              <a:t>0</a:t>
            </a:r>
            <a:r>
              <a:rPr lang="en-GB" sz="1800" dirty="0">
                <a:solidFill>
                  <a:srgbClr val="262626"/>
                </a:solidFill>
              </a:rPr>
              <a:t>, the smoothness weight </a:t>
            </a:r>
            <a:r>
              <a:rPr lang="en-GB" sz="1800" dirty="0">
                <a:solidFill>
                  <a:srgbClr val="262626"/>
                </a:solidFill>
                <a:latin typeface="Cambria Math"/>
                <a:ea typeface="Cambria Math"/>
                <a:cs typeface="Cambria Math"/>
                <a:sym typeface="Cambria Math"/>
              </a:rPr>
              <a:t>γ</a:t>
            </a:r>
            <a:r>
              <a:rPr lang="en-GB" sz="1800" dirty="0">
                <a:solidFill>
                  <a:srgbClr val="262626"/>
                </a:solidFill>
              </a:rPr>
              <a:t> and the number of steps </a:t>
            </a:r>
            <a:r>
              <a:rPr lang="en-GB" sz="1800" dirty="0">
                <a:solidFill>
                  <a:srgbClr val="262626"/>
                </a:solidFill>
                <a:latin typeface="Cambria Math"/>
                <a:ea typeface="Cambria Math"/>
                <a:cs typeface="Cambria Math"/>
                <a:sym typeface="Cambria Math"/>
              </a:rPr>
              <a:t>K</a:t>
            </a:r>
            <a:r>
              <a:rPr lang="en-GB" sz="1800" dirty="0">
                <a:solidFill>
                  <a:srgbClr val="262626"/>
                </a:solidFill>
              </a:rPr>
              <a:t>.</a:t>
            </a:r>
          </a:p>
          <a:p>
            <a:pPr algn="l">
              <a:spcBef>
                <a:spcPts val="900"/>
              </a:spcBef>
            </a:pPr>
            <a:r>
              <a:rPr lang="en-GB" sz="1800" b="1" dirty="0">
                <a:solidFill>
                  <a:srgbClr val="262626"/>
                </a:solidFill>
              </a:rPr>
              <a:t>1.   </a:t>
            </a:r>
            <a:r>
              <a:rPr lang="en-GB" sz="1800" dirty="0">
                <a:solidFill>
                  <a:srgbClr val="262626"/>
                </a:solidFill>
                <a:latin typeface="Cambria Math"/>
                <a:ea typeface="Cambria Math"/>
                <a:cs typeface="Cambria Math"/>
                <a:sym typeface="Cambria Math"/>
              </a:rPr>
              <a:t>τ</a:t>
            </a:r>
            <a:r>
              <a:rPr lang="en-GB" sz="1800" dirty="0">
                <a:solidFill>
                  <a:srgbClr val="262626"/>
                </a:solidFill>
              </a:rPr>
              <a:t> is drawn from </a:t>
            </a:r>
            <a:r>
              <a:rPr lang="en-GB" sz="1800" dirty="0">
                <a:solidFill>
                  <a:srgbClr val="262626"/>
                </a:solidFill>
                <a:latin typeface="Cambria Math"/>
                <a:ea typeface="Cambria Math"/>
                <a:cs typeface="Cambria Math"/>
                <a:sym typeface="Cambria Math"/>
              </a:rPr>
              <a:t>𝒩(0, I)</a:t>
            </a:r>
            <a:r>
              <a:rPr lang="en-GB" sz="1800" dirty="0">
                <a:solidFill>
                  <a:srgbClr val="262626"/>
                </a:solidFill>
              </a:rPr>
              <a:t>, and its start state is pinned.</a:t>
            </a:r>
          </a:p>
          <a:p>
            <a:pPr algn="l">
              <a:spcBef>
                <a:spcPts val="900"/>
              </a:spcBef>
            </a:pPr>
            <a:r>
              <a:rPr lang="en-GB" sz="1800" b="1" dirty="0">
                <a:solidFill>
                  <a:srgbClr val="262626"/>
                </a:solidFill>
              </a:rPr>
              <a:t>2.   </a:t>
            </a:r>
            <a:r>
              <a:rPr lang="en-GB" sz="1800" dirty="0">
                <a:solidFill>
                  <a:srgbClr val="262626"/>
                </a:solidFill>
              </a:rPr>
              <a:t>At each step </a:t>
            </a:r>
            <a:r>
              <a:rPr lang="en-GB" sz="1800" dirty="0">
                <a:solidFill>
                  <a:srgbClr val="262626"/>
                </a:solidFill>
                <a:latin typeface="Cambria Math"/>
                <a:ea typeface="Cambria Math"/>
                <a:cs typeface="Cambria Math"/>
                <a:sym typeface="Cambria Math"/>
              </a:rPr>
              <a:t>k = 0, …, K − 1</a:t>
            </a:r>
            <a:r>
              <a:rPr lang="en-GB" sz="1800" dirty="0">
                <a:solidFill>
                  <a:srgbClr val="262626"/>
                </a:solidFill>
              </a:rPr>
              <a:t>, with </a:t>
            </a:r>
            <a:r>
              <a:rPr lang="en-GB" sz="1800" dirty="0">
                <a:solidFill>
                  <a:srgbClr val="262626"/>
                </a:solidFill>
                <a:latin typeface="Cambria Math"/>
                <a:ea typeface="Cambria Math"/>
                <a:cs typeface="Cambria Math"/>
                <a:sym typeface="Cambria Math"/>
              </a:rPr>
              <a:t>s = kΔs</a:t>
            </a:r>
            <a:r>
              <a:rPr lang="en-GB" sz="1800" dirty="0">
                <a:solidFill>
                  <a:srgbClr val="262626"/>
                </a:solidFill>
              </a:rPr>
              <a:t> and </a:t>
            </a:r>
            <a:r>
              <a:rPr lang="en-GB" sz="1800" dirty="0">
                <a:solidFill>
                  <a:srgbClr val="262626"/>
                </a:solidFill>
                <a:latin typeface="Cambria Math"/>
                <a:ea typeface="Cambria Math"/>
                <a:cs typeface="Cambria Math"/>
                <a:sym typeface="Cambria Math"/>
              </a:rPr>
              <a:t>Δs = 1/K</a:t>
            </a:r>
            <a:r>
              <a:rPr lang="en-GB" sz="1800" dirty="0">
                <a:solidFill>
                  <a:srgbClr val="262626"/>
                </a:solidFill>
              </a:rPr>
              <a:t>, the prior velocity </a:t>
            </a:r>
            <a:r>
              <a:rPr lang="en-GB" sz="1800" dirty="0">
                <a:solidFill>
                  <a:srgbClr val="262626"/>
                </a:solidFill>
                <a:latin typeface="Cambria Math"/>
                <a:ea typeface="Cambria Math"/>
                <a:cs typeface="Cambria Math"/>
                <a:sym typeface="Cambria Math"/>
              </a:rPr>
              <a:t>v</a:t>
            </a:r>
            <a:r>
              <a:rPr lang="en-GB" sz="1800" baseline="-25000" dirty="0">
                <a:solidFill>
                  <a:srgbClr val="262626"/>
                </a:solidFill>
                <a:latin typeface="Cambria Math"/>
                <a:ea typeface="Cambria Math"/>
                <a:cs typeface="Cambria Math"/>
                <a:sym typeface="Cambria Math"/>
              </a:rPr>
              <a:t>θ</a:t>
            </a:r>
            <a:r>
              <a:rPr lang="en-GB" sz="1800" dirty="0">
                <a:solidFill>
                  <a:srgbClr val="262626"/>
                </a:solidFill>
                <a:latin typeface="Cambria Math"/>
                <a:ea typeface="Cambria Math"/>
                <a:cs typeface="Cambria Math"/>
                <a:sym typeface="Cambria Math"/>
              </a:rPr>
              <a:t>(τ, s)</a:t>
            </a:r>
            <a:r>
              <a:rPr lang="en-GB" sz="1800" dirty="0">
                <a:solidFill>
                  <a:srgbClr val="262626"/>
                </a:solidFill>
              </a:rPr>
              <a:t> is evaluated.</a:t>
            </a:r>
          </a:p>
          <a:p>
            <a:pPr algn="l">
              <a:spcBef>
                <a:spcPts val="900"/>
              </a:spcBef>
            </a:pPr>
            <a:r>
              <a:rPr lang="en-GB" sz="1800" b="1" dirty="0">
                <a:solidFill>
                  <a:srgbClr val="262626"/>
                </a:solidFill>
              </a:rPr>
              <a:t>3.   </a:t>
            </a:r>
            <a:r>
              <a:rPr lang="en-GB" sz="1800" dirty="0">
                <a:solidFill>
                  <a:srgbClr val="262626"/>
                </a:solidFill>
              </a:rPr>
              <a:t>The predicted endpoint </a:t>
            </a:r>
            <a:r>
              <a:rPr lang="en-GB" sz="1800" dirty="0">
                <a:solidFill>
                  <a:srgbClr val="262626"/>
                </a:solidFill>
                <a:latin typeface="Cambria Math"/>
                <a:ea typeface="Cambria Math"/>
                <a:cs typeface="Cambria Math"/>
                <a:sym typeface="Cambria Math"/>
              </a:rPr>
              <a:t>τ̂</a:t>
            </a:r>
            <a:r>
              <a:rPr lang="en-GB" sz="1800" dirty="0">
                <a:solidFill>
                  <a:srgbClr val="262626"/>
                </a:solidFill>
              </a:rPr>
              <a:t> is formed from the straight-line path.</a:t>
            </a:r>
          </a:p>
          <a:p>
            <a:pPr algn="l">
              <a:spcBef>
                <a:spcPts val="900"/>
              </a:spcBef>
            </a:pPr>
            <a:r>
              <a:rPr lang="en-GB" sz="1800" b="1" dirty="0">
                <a:solidFill>
                  <a:srgbClr val="262626"/>
                </a:solidFill>
              </a:rPr>
              <a:t>4.   </a:t>
            </a:r>
            <a:r>
              <a:rPr lang="en-GB" sz="1800" dirty="0">
                <a:solidFill>
                  <a:srgbClr val="262626"/>
                </a:solidFill>
              </a:rPr>
              <a:t>The gradient </a:t>
            </a:r>
            <a:r>
              <a:rPr lang="en-GB" sz="1800" dirty="0">
                <a:solidFill>
                  <a:srgbClr val="262626"/>
                </a:solidFill>
                <a:latin typeface="Cambria Math"/>
                <a:ea typeface="Cambria Math"/>
                <a:cs typeface="Cambria Math"/>
                <a:sym typeface="Cambria Math"/>
              </a:rPr>
              <a:t>g</a:t>
            </a:r>
            <a:r>
              <a:rPr lang="en-GB" sz="1800" dirty="0">
                <a:solidFill>
                  <a:srgbClr val="262626"/>
                </a:solidFill>
              </a:rPr>
              <a:t> of the penalized objective is taken at </a:t>
            </a:r>
            <a:r>
              <a:rPr lang="en-GB" sz="1800" dirty="0">
                <a:solidFill>
                  <a:srgbClr val="262626"/>
                </a:solidFill>
                <a:latin typeface="Cambria Math"/>
                <a:ea typeface="Cambria Math"/>
                <a:cs typeface="Cambria Math"/>
                <a:sym typeface="Cambria Math"/>
              </a:rPr>
              <a:t>τ̂</a:t>
            </a:r>
            <a:r>
              <a:rPr lang="en-GB" sz="1800" dirty="0">
                <a:solidFill>
                  <a:srgbClr val="262626"/>
                </a:solidFill>
              </a:rPr>
              <a:t>, masked to the position coordinates and normalized.</a:t>
            </a:r>
          </a:p>
          <a:p>
            <a:pPr algn="l">
              <a:spcBef>
                <a:spcPts val="900"/>
              </a:spcBef>
            </a:pPr>
            <a:r>
              <a:rPr lang="en-GB" sz="1800" b="1" dirty="0">
                <a:solidFill>
                  <a:srgbClr val="262626"/>
                </a:solidFill>
              </a:rPr>
              <a:t>5.   </a:t>
            </a:r>
            <a:r>
              <a:rPr lang="en-GB" sz="1800" dirty="0">
                <a:solidFill>
                  <a:srgbClr val="262626"/>
                </a:solidFill>
              </a:rPr>
              <a:t>The iterate is advanced by the prior step plus </a:t>
            </a:r>
            <a:r>
              <a:rPr lang="en-GB" sz="1800" dirty="0">
                <a:solidFill>
                  <a:srgbClr val="262626"/>
                </a:solidFill>
                <a:latin typeface="Cambria Math"/>
                <a:ea typeface="Cambria Math"/>
                <a:cs typeface="Cambria Math"/>
                <a:sym typeface="Cambria Math"/>
              </a:rPr>
              <a:t>λ</a:t>
            </a:r>
            <a:r>
              <a:rPr lang="en-GB" sz="1800" baseline="-25000" dirty="0">
                <a:solidFill>
                  <a:srgbClr val="262626"/>
                </a:solidFill>
              </a:rPr>
              <a:t>0</a:t>
            </a:r>
            <a:r>
              <a:rPr lang="en-GB" sz="1800" dirty="0">
                <a:solidFill>
                  <a:srgbClr val="262626"/>
                </a:solidFill>
                <a:latin typeface="Cambria Math"/>
                <a:ea typeface="Cambria Math"/>
                <a:cs typeface="Cambria Math"/>
                <a:sym typeface="Cambria Math"/>
              </a:rPr>
              <a:t> g Δs</a:t>
            </a:r>
            <a:r>
              <a:rPr lang="en-GB" sz="1800" dirty="0">
                <a:solidFill>
                  <a:srgbClr val="262626"/>
                </a:solidFill>
              </a:rPr>
              <a:t>, and the start state is pinned again.</a:t>
            </a:r>
          </a:p>
        </p:txBody>
      </p:sp>
      <p:sp>
        <p:nvSpPr>
          <p:cNvPr id="15" name="Label"/>
          <p:cNvSpPr txBox="1"/>
          <p:nvPr/>
        </p:nvSpPr>
        <p:spPr>
          <a:xfrm>
            <a:off x="603504" y="5760720"/>
            <a:ext cx="10991088" cy="365760"/>
          </a:xfrm>
          <a:prstGeom prst="rect">
            <a:avLst/>
          </a:prstGeom>
          <a:noFill/>
        </p:spPr>
        <p:txBody>
          <a:bodyPr wrap="square" lIns="45720" tIns="0" rIns="45720" bIns="0" anchor="t">
            <a:noAutofit/>
          </a:bodyPr>
          <a:lstStyle/>
          <a:p>
            <a:pPr algn="l"/>
            <a:r>
              <a:rPr lang="en-GB" sz="1500" dirty="0">
                <a:solidFill>
                  <a:srgbClr val="6E6E6E"/>
                </a:solidFill>
              </a:rPr>
              <a:t>An optional clamp on the guidance increment is part of the sampler and is off in all reported runs.</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solidFill>
                  <a:srgbClr val="6E6E6E"/>
                </a:solidFill>
              </a:rPr>
              <a:t>Reproducing the STL Optimizer</a:t>
            </a:r>
          </a:p>
        </p:txBody>
      </p:sp>
      <p:sp>
        <p:nvSpPr>
          <p:cNvPr id="12" name="Subtitle"/>
          <p:cNvSpPr txBox="1"/>
          <p:nvPr/>
        </p:nvSpPr>
        <p:spPr>
          <a:xfrm>
            <a:off x="603504" y="1700784"/>
            <a:ext cx="10991088" cy="329184"/>
          </a:xfrm>
          <a:prstGeom prst="rect">
            <a:avLst/>
          </a:prstGeom>
          <a:noFill/>
        </p:spPr>
        <p:txBody>
          <a:bodyPr wrap="square" lIns="45720" tIns="0" rIns="45720" bIns="0" anchor="t">
            <a:noAutofit/>
          </a:bodyPr>
          <a:lstStyle/>
          <a:p>
            <a:pPr algn="l"/>
            <a:r>
              <a:rPr lang="en-GB" sz="1800" dirty="0">
                <a:solidFill>
                  <a:srgbClr val="6E6E6E"/>
                </a:solidFill>
              </a:rPr>
              <a:t>Removes the learned prior and optimizes the robustness score directly, instead of sampling from a trained generative model</a:t>
            </a:r>
          </a:p>
        </p:txBody>
      </p:sp>
      <p:sp>
        <p:nvSpPr>
          <p:cNvPr id="13" name="Slide Number"/>
          <p:cNvSpPr>
            <a:spLocks noGrp="1"/>
          </p:cNvSpPr>
          <p:nvPr>
            <p:ph type="sldNum" sz="quarter" idx="12"/>
          </p:nvPr>
        </p:nvSpPr>
        <p:spPr/>
        <p:txBody>
          <a:bodyPr/>
          <a:lstStyle/>
          <a:p>
            <a:fld id="{619F89D8-7AE3-494A-97F3-03D680869632}" type="slidenum">
              <a:rPr lang="en-GB"/>
              <a:t>1</a:t>
            </a:fld>
            <a:endParaRPr lang="en-GB"/>
          </a:p>
        </p:txBody>
      </p:sp>
      <p:sp>
        <p:nvSpPr>
          <p:cNvPr id="14" name="Label"/>
          <p:cNvSpPr txBox="1"/>
          <p:nvPr/>
        </p:nvSpPr>
        <p:spPr>
          <a:xfrm>
            <a:off x="640080" y="2194560"/>
            <a:ext cx="3017520" cy="603504"/>
          </a:xfrm>
          <a:prstGeom prst="rect">
            <a:avLst/>
          </a:prstGeom>
          <a:noFill/>
        </p:spPr>
        <p:txBody>
          <a:bodyPr wrap="square" lIns="45720" tIns="0" rIns="45720" bIns="0" anchor="ctr">
            <a:noAutofit/>
          </a:bodyPr>
          <a:lstStyle/>
          <a:p>
            <a:pPr algn="l"/>
            <a:r>
              <a:rPr lang="en-GB" sz="1600" b="1" dirty="0">
                <a:solidFill>
                  <a:srgbClr val="262626"/>
                </a:solidFill>
              </a:rPr>
              <a:t>Controls, not states</a:t>
            </a:r>
          </a:p>
        </p:txBody>
      </p:sp>
      <p:sp>
        <p:nvSpPr>
          <p:cNvPr id="15" name="Label"/>
          <p:cNvSpPr txBox="1"/>
          <p:nvPr/>
        </p:nvSpPr>
        <p:spPr>
          <a:xfrm>
            <a:off x="3749040" y="2194560"/>
            <a:ext cx="7845552" cy="603504"/>
          </a:xfrm>
          <a:prstGeom prst="rect">
            <a:avLst/>
          </a:prstGeom>
          <a:noFill/>
        </p:spPr>
        <p:txBody>
          <a:bodyPr wrap="square" lIns="45720" tIns="0" rIns="45720" bIns="0" anchor="ctr">
            <a:noAutofit/>
          </a:bodyPr>
          <a:lstStyle/>
          <a:p>
            <a:pPr algn="l"/>
            <a:r>
              <a:rPr lang="en-GB" sz="1500" dirty="0">
                <a:solidFill>
                  <a:srgbClr val="262626"/>
                </a:solidFill>
              </a:rPr>
              <a:t>A free control sequence u, one 2D step per time index, starts from small random noise</a:t>
            </a:r>
          </a:p>
        </p:txBody>
      </p:sp>
      <p:sp>
        <p:nvSpPr>
          <p:cNvPr id="16" name="Label"/>
          <p:cNvSpPr txBox="1"/>
          <p:nvPr/>
        </p:nvSpPr>
        <p:spPr>
          <a:xfrm>
            <a:off x="640080" y="2834640"/>
            <a:ext cx="3017520" cy="603504"/>
          </a:xfrm>
          <a:prstGeom prst="rect">
            <a:avLst/>
          </a:prstGeom>
          <a:noFill/>
        </p:spPr>
        <p:txBody>
          <a:bodyPr wrap="square" lIns="45720" tIns="0" rIns="45720" bIns="0" anchor="ctr">
            <a:noAutofit/>
          </a:bodyPr>
          <a:lstStyle/>
          <a:p>
            <a:pPr algn="l"/>
            <a:r>
              <a:rPr lang="en-GB" sz="1600" b="1" dirty="0">
                <a:solidFill>
                  <a:srgbClr val="262626"/>
                </a:solidFill>
              </a:rPr>
              <a:t>Single-integrator dynamics</a:t>
            </a:r>
          </a:p>
        </p:txBody>
      </p:sp>
      <p:sp>
        <p:nvSpPr>
          <p:cNvPr id="17" name="Label"/>
          <p:cNvSpPr txBox="1"/>
          <p:nvPr/>
        </p:nvSpPr>
        <p:spPr>
          <a:xfrm>
            <a:off x="3749040" y="2834640"/>
            <a:ext cx="7845552" cy="603504"/>
          </a:xfrm>
          <a:prstGeom prst="rect">
            <a:avLst/>
          </a:prstGeom>
          <a:noFill/>
        </p:spPr>
        <p:txBody>
          <a:bodyPr wrap="square" lIns="45720" tIns="0" rIns="45720" bIns="0" anchor="ctr">
            <a:noAutofit/>
          </a:bodyPr>
          <a:lstStyle/>
          <a:p>
            <a:pPr algn="l"/>
            <a:r>
              <a:rPr lang="en-GB" sz="1500" dirty="0">
                <a:solidFill>
                  <a:srgbClr val="262626"/>
                </a:solidFill>
              </a:rPr>
              <a:t>p[t+1] = p[t] + u[t]·Δt turns the controls into the trajectory that gets scored</a:t>
            </a:r>
          </a:p>
        </p:txBody>
      </p:sp>
      <p:sp>
        <p:nvSpPr>
          <p:cNvPr id="18" name="Label"/>
          <p:cNvSpPr txBox="1"/>
          <p:nvPr/>
        </p:nvSpPr>
        <p:spPr>
          <a:xfrm>
            <a:off x="640080" y="3474720"/>
            <a:ext cx="3017520" cy="603504"/>
          </a:xfrm>
          <a:prstGeom prst="rect">
            <a:avLst/>
          </a:prstGeom>
          <a:noFill/>
        </p:spPr>
        <p:txBody>
          <a:bodyPr wrap="square" lIns="45720" tIns="0" rIns="45720" bIns="0" anchor="ctr">
            <a:noAutofit/>
          </a:bodyPr>
          <a:lstStyle/>
          <a:p>
            <a:pPr algn="l"/>
            <a:r>
              <a:rPr lang="en-GB" sz="1600" b="1" dirty="0">
                <a:solidFill>
                  <a:srgbClr val="262626"/>
                </a:solidFill>
              </a:rPr>
              <a:t>Same compiled score</a:t>
            </a:r>
          </a:p>
        </p:txBody>
      </p:sp>
      <p:sp>
        <p:nvSpPr>
          <p:cNvPr id="19" name="Label"/>
          <p:cNvSpPr txBox="1"/>
          <p:nvPr/>
        </p:nvSpPr>
        <p:spPr>
          <a:xfrm>
            <a:off x="3749040" y="3474720"/>
            <a:ext cx="7845552" cy="603504"/>
          </a:xfrm>
          <a:prstGeom prst="rect">
            <a:avLst/>
          </a:prstGeom>
          <a:noFill/>
        </p:spPr>
        <p:txBody>
          <a:bodyPr wrap="square" lIns="45720" tIns="0" rIns="45720" bIns="0" anchor="ctr">
            <a:noAutofit/>
          </a:bodyPr>
          <a:lstStyle/>
          <a:p>
            <a:pPr algn="l"/>
            <a:r>
              <a:rPr lang="en-GB" sz="1500" dirty="0">
                <a:solidFill>
                  <a:srgbClr val="262626"/>
                </a:solidFill>
              </a:rPr>
              <a:t>The requirement is scored by the masked, differentiable ρφ that STL-FM's guidance also uses (stljax / STLCG++)</a:t>
            </a:r>
          </a:p>
        </p:txBody>
      </p:sp>
      <p:sp>
        <p:nvSpPr>
          <p:cNvPr id="20" name="Label"/>
          <p:cNvSpPr txBox="1"/>
          <p:nvPr/>
        </p:nvSpPr>
        <p:spPr>
          <a:xfrm>
            <a:off x="640080" y="4114800"/>
            <a:ext cx="3017520" cy="603504"/>
          </a:xfrm>
          <a:prstGeom prst="rect">
            <a:avLst/>
          </a:prstGeom>
          <a:noFill/>
        </p:spPr>
        <p:txBody>
          <a:bodyPr wrap="square" lIns="45720" tIns="0" rIns="45720" bIns="0" anchor="ctr">
            <a:noAutofit/>
          </a:bodyPr>
          <a:lstStyle/>
          <a:p>
            <a:pPr algn="l"/>
            <a:r>
              <a:rPr lang="en-GB" sz="1600" b="1" dirty="0">
                <a:solidFill>
                  <a:srgbClr val="262626"/>
                </a:solidFill>
              </a:rPr>
              <a:t>Violation objective, no prior</a:t>
            </a:r>
          </a:p>
        </p:txBody>
      </p:sp>
      <p:sp>
        <p:nvSpPr>
          <p:cNvPr id="21" name="Label"/>
          <p:cNvSpPr txBox="1"/>
          <p:nvPr/>
        </p:nvSpPr>
        <p:spPr>
          <a:xfrm>
            <a:off x="3749040" y="4114800"/>
            <a:ext cx="7845552" cy="603504"/>
          </a:xfrm>
          <a:prstGeom prst="rect">
            <a:avLst/>
          </a:prstGeom>
          <a:noFill/>
        </p:spPr>
        <p:txBody>
          <a:bodyPr wrap="square" lIns="45720" tIns="0" rIns="45720" bIns="0" anchor="ctr">
            <a:noAutofit/>
          </a:bodyPr>
          <a:lstStyle/>
          <a:p>
            <a:pPr algn="l"/>
            <a:r>
              <a:rPr lang="en-GB" sz="1500" dirty="0">
                <a:solidFill>
                  <a:srgbClr val="262626"/>
                </a:solidFill>
              </a:rPr>
              <a:t>Plain gradient descent on max(0, −ρφ); a finite-difference smoothness penalty and a velocity limit stand in for a learned prior</a:t>
            </a:r>
          </a:p>
        </p:txBody>
      </p:sp>
      <p:sp>
        <p:nvSpPr>
          <p:cNvPr id="22" name="Label"/>
          <p:cNvSpPr txBox="1"/>
          <p:nvPr/>
        </p:nvSpPr>
        <p:spPr>
          <a:xfrm>
            <a:off x="640080" y="4754880"/>
            <a:ext cx="3017520" cy="603504"/>
          </a:xfrm>
          <a:prstGeom prst="rect">
            <a:avLst/>
          </a:prstGeom>
          <a:noFill/>
        </p:spPr>
        <p:txBody>
          <a:bodyPr wrap="square" lIns="45720" tIns="0" rIns="45720" bIns="0" anchor="ctr">
            <a:noAutofit/>
          </a:bodyPr>
          <a:lstStyle/>
          <a:p>
            <a:pPr algn="l"/>
            <a:r>
              <a:rPr lang="en-GB" sz="1600" b="1" dirty="0">
                <a:solidFill>
                  <a:srgbClr val="262626"/>
                </a:solidFill>
              </a:rPr>
              <a:t>Budget</a:t>
            </a:r>
          </a:p>
        </p:txBody>
      </p:sp>
      <p:sp>
        <p:nvSpPr>
          <p:cNvPr id="23" name="Label"/>
          <p:cNvSpPr txBox="1"/>
          <p:nvPr/>
        </p:nvSpPr>
        <p:spPr>
          <a:xfrm>
            <a:off x="3749040" y="4754880"/>
            <a:ext cx="7845552" cy="603504"/>
          </a:xfrm>
          <a:prstGeom prst="rect">
            <a:avLst/>
          </a:prstGeom>
          <a:noFill/>
        </p:spPr>
        <p:txBody>
          <a:bodyPr wrap="square" lIns="45720" tIns="0" rIns="45720" bIns="0" anchor="ctr">
            <a:noAutofit/>
          </a:bodyPr>
          <a:lstStyle/>
          <a:p>
            <a:pPr algn="l"/>
            <a:r>
              <a:rPr lang="en-GB" sz="1500" dirty="0">
                <a:solidFill>
                  <a:srgbClr val="262626"/>
                </a:solidFill>
              </a:rPr>
              <a:t>1,500–6,000 gradient steps, with the smoothing sharpness annealed from soft to sharp</a:t>
            </a:r>
          </a:p>
        </p:txBody>
      </p:sp>
      <p:sp>
        <p:nvSpPr>
          <p:cNvPr id="24" name="Label"/>
          <p:cNvSpPr txBox="1"/>
          <p:nvPr/>
        </p:nvSpPr>
        <p:spPr>
          <a:xfrm>
            <a:off x="603504" y="5760720"/>
            <a:ext cx="10991088" cy="502920"/>
          </a:xfrm>
          <a:prstGeom prst="rect">
            <a:avLst/>
          </a:prstGeom>
          <a:noFill/>
        </p:spPr>
        <p:txBody>
          <a:bodyPr wrap="square" lIns="45720" tIns="0" rIns="45720" bIns="0" anchor="t">
            <a:noAutofit/>
          </a:bodyPr>
          <a:lstStyle/>
          <a:p>
            <a:pPr algn="l"/>
            <a:r>
              <a:rPr lang="en-GB" sz="1400" dirty="0">
                <a:solidFill>
                  <a:srgbClr val="6E6E6E"/>
                </a:solidFill>
              </a:rPr>
              <a:t>The robustness engine is shared with STL-FM; the optimization built around it, single-integrator dynamics and the violation penalty, is a standard direct-optimization baseline, not something STLCG++ itself proposes.</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solidFill>
                  <a:srgbClr val="6E6E6E"/>
                </a:solidFill>
              </a:rPr>
              <a:t>Navigation results, all four planners</a:t>
            </a:r>
          </a:p>
        </p:txBody>
      </p:sp>
      <p:sp>
        <p:nvSpPr>
          <p:cNvPr id="12" name="Slide Number"/>
          <p:cNvSpPr>
            <a:spLocks noGrp="1"/>
          </p:cNvSpPr>
          <p:nvPr>
            <p:ph type="sldNum" sz="quarter" idx="12"/>
          </p:nvPr>
        </p:nvSpPr>
        <p:spPr/>
        <p:txBody>
          <a:bodyPr/>
          <a:lstStyle/>
          <a:p>
            <a:fld id="{619F89D8-7AE3-494A-97F3-03D680869632}" type="slidenum">
              <a:rPr lang="en-GB"/>
              <a:t>1</a:t>
            </a:fld>
            <a:endParaRPr lang="en-GB"/>
          </a:p>
        </p:txBody>
      </p:sp>
      <p:pic>
        <p:nvPicPr>
          <p:cNvPr id="13" name="Figure" descr="Navigation results, all four planners"/>
          <p:cNvPicPr>
            <a:picLocks noChangeAspect="1"/>
          </p:cNvPicPr>
          <p:nvPr/>
        </p:nvPicPr>
        <p:blipFill>
          <a:blip r:embed="rId2"/>
          <a:stretch>
            <a:fillRect/>
          </a:stretch>
        </p:blipFill>
        <p:spPr>
          <a:xfrm>
            <a:off x="4254032" y="1874520"/>
            <a:ext cx="3690031" cy="2057400"/>
          </a:xfrm>
          <a:prstGeom prst="rect">
            <a:avLst/>
          </a:prstGeom>
        </p:spPr>
      </p:pic>
      <p:pic>
        <p:nvPicPr>
          <p:cNvPr id="14" name="Figure" descr="Navigation results, all four planners"/>
          <p:cNvPicPr>
            <a:picLocks noChangeAspect="1"/>
          </p:cNvPicPr>
          <p:nvPr/>
        </p:nvPicPr>
        <p:blipFill>
          <a:blip r:embed="rId3"/>
          <a:stretch>
            <a:fillRect/>
          </a:stretch>
        </p:blipFill>
        <p:spPr>
          <a:xfrm>
            <a:off x="4124198" y="4206240"/>
            <a:ext cx="3949700" cy="205740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solidFill>
                  <a:srgbClr val="6E6E6E"/>
                </a:solidFill>
              </a:rPr>
              <a:t>Disjunction and until in navigation</a:t>
            </a:r>
          </a:p>
        </p:txBody>
      </p:sp>
      <p:sp>
        <p:nvSpPr>
          <p:cNvPr id="12" name="Slide Number"/>
          <p:cNvSpPr>
            <a:spLocks noGrp="1"/>
          </p:cNvSpPr>
          <p:nvPr>
            <p:ph type="sldNum" sz="quarter" idx="12"/>
          </p:nvPr>
        </p:nvSpPr>
        <p:spPr/>
        <p:txBody>
          <a:bodyPr/>
          <a:lstStyle/>
          <a:p>
            <a:fld id="{619F89D8-7AE3-494A-97F3-03D680869632}" type="slidenum">
              <a:rPr lang="en-GB"/>
              <a:t>1</a:t>
            </a:fld>
            <a:endParaRPr lang="en-GB"/>
          </a:p>
        </p:txBody>
      </p:sp>
      <p:sp>
        <p:nvSpPr>
          <p:cNvPr id="13" name="Label"/>
          <p:cNvSpPr txBox="1"/>
          <p:nvPr/>
        </p:nvSpPr>
        <p:spPr>
          <a:xfrm>
            <a:off x="603504" y="1828800"/>
            <a:ext cx="2651760" cy="256032"/>
          </a:xfrm>
          <a:prstGeom prst="rect">
            <a:avLst/>
          </a:prstGeom>
          <a:noFill/>
        </p:spPr>
        <p:txBody>
          <a:bodyPr wrap="square" lIns="45720" tIns="0" rIns="45720" bIns="0" anchor="t">
            <a:noAutofit/>
          </a:bodyPr>
          <a:lstStyle/>
          <a:p>
            <a:pPr algn="ctr"/>
            <a:r>
              <a:rPr lang="en-GB" sz="1300" b="1" dirty="0">
                <a:solidFill>
                  <a:srgbClr val="262626"/>
                </a:solidFill>
              </a:rPr>
              <a:t>Choice of target</a:t>
            </a:r>
          </a:p>
        </p:txBody>
      </p:sp>
      <p:sp>
        <p:nvSpPr>
          <p:cNvPr id="14" name="Label"/>
          <p:cNvSpPr txBox="1"/>
          <p:nvPr/>
        </p:nvSpPr>
        <p:spPr>
          <a:xfrm>
            <a:off x="603504" y="2084832"/>
            <a:ext cx="2651760" cy="237744"/>
          </a:xfrm>
          <a:prstGeom prst="rect">
            <a:avLst/>
          </a:prstGeom>
          <a:noFill/>
        </p:spPr>
        <p:txBody>
          <a:bodyPr wrap="square" lIns="45720" tIns="0" rIns="45720" bIns="0" anchor="t">
            <a:noAutofit/>
          </a:bodyPr>
          <a:lstStyle/>
          <a:p>
            <a:pPr algn="ctr"/>
            <a:r>
              <a:rPr lang="en-GB" sz="1200" dirty="0">
                <a:solidFill>
                  <a:srgbClr val="262626"/>
                </a:solidFill>
              </a:rPr>
              <a:t>◇μ₁ ∨ ◇μ₂</a:t>
            </a:r>
          </a:p>
        </p:txBody>
      </p:sp>
      <p:pic>
        <p:nvPicPr>
          <p:cNvPr id="15" name="Figure" descr="STL-FM plans, Choice of target"/>
          <p:cNvPicPr>
            <a:picLocks noChangeAspect="1"/>
          </p:cNvPicPr>
          <p:nvPr/>
        </p:nvPicPr>
        <p:blipFill>
          <a:blip r:embed="rId2"/>
          <a:stretch>
            <a:fillRect/>
          </a:stretch>
        </p:blipFill>
        <p:spPr>
          <a:xfrm>
            <a:off x="1151506" y="2340864"/>
            <a:ext cx="1555756" cy="1691640"/>
          </a:xfrm>
          <a:prstGeom prst="rect">
            <a:avLst/>
          </a:prstGeom>
        </p:spPr>
      </p:pic>
      <p:sp>
        <p:nvSpPr>
          <p:cNvPr id="16" name="Label"/>
          <p:cNvSpPr txBox="1"/>
          <p:nvPr/>
        </p:nvSpPr>
        <p:spPr>
          <a:xfrm>
            <a:off x="3374136" y="1828800"/>
            <a:ext cx="2651760" cy="256032"/>
          </a:xfrm>
          <a:prstGeom prst="rect">
            <a:avLst/>
          </a:prstGeom>
          <a:noFill/>
        </p:spPr>
        <p:txBody>
          <a:bodyPr wrap="square" lIns="45720" tIns="0" rIns="45720" bIns="0" anchor="t">
            <a:noAutofit/>
          </a:bodyPr>
          <a:lstStyle/>
          <a:p>
            <a:pPr algn="ctr"/>
            <a:r>
              <a:rPr lang="en-GB" sz="1300" b="1" dirty="0">
                <a:solidFill>
                  <a:srgbClr val="262626"/>
                </a:solidFill>
              </a:rPr>
              <a:t>Choice of sequence</a:t>
            </a:r>
          </a:p>
        </p:txBody>
      </p:sp>
      <p:sp>
        <p:nvSpPr>
          <p:cNvPr id="17" name="Label"/>
          <p:cNvSpPr txBox="1"/>
          <p:nvPr/>
        </p:nvSpPr>
        <p:spPr>
          <a:xfrm>
            <a:off x="3374136" y="2084832"/>
            <a:ext cx="2651760" cy="237744"/>
          </a:xfrm>
          <a:prstGeom prst="rect">
            <a:avLst/>
          </a:prstGeom>
          <a:noFill/>
        </p:spPr>
        <p:txBody>
          <a:bodyPr wrap="square" lIns="45720" tIns="0" rIns="45720" bIns="0" anchor="t">
            <a:noAutofit/>
          </a:bodyPr>
          <a:lstStyle/>
          <a:p>
            <a:pPr algn="ctr"/>
            <a:r>
              <a:rPr lang="en-GB" sz="1200" dirty="0">
                <a:solidFill>
                  <a:srgbClr val="262626"/>
                </a:solidFill>
              </a:rPr>
              <a:t>(◇μ₁ ∧ ◇μ₃) ∨ (◇μ₂ ∧ ◇μ₃)</a:t>
            </a:r>
          </a:p>
        </p:txBody>
      </p:sp>
      <p:pic>
        <p:nvPicPr>
          <p:cNvPr id="18" name="Figure" descr="STL-FM plans, Choice of sequence"/>
          <p:cNvPicPr>
            <a:picLocks noChangeAspect="1"/>
          </p:cNvPicPr>
          <p:nvPr/>
        </p:nvPicPr>
        <p:blipFill>
          <a:blip r:embed="rId3"/>
          <a:stretch>
            <a:fillRect/>
          </a:stretch>
        </p:blipFill>
        <p:spPr>
          <a:xfrm>
            <a:off x="3922138" y="2340864"/>
            <a:ext cx="1555756" cy="1691640"/>
          </a:xfrm>
          <a:prstGeom prst="rect">
            <a:avLst/>
          </a:prstGeom>
        </p:spPr>
      </p:pic>
      <p:sp>
        <p:nvSpPr>
          <p:cNvPr id="19" name="Label"/>
          <p:cNvSpPr txBox="1"/>
          <p:nvPr/>
        </p:nvSpPr>
        <p:spPr>
          <a:xfrm>
            <a:off x="6144768" y="1828800"/>
            <a:ext cx="2651760" cy="256032"/>
          </a:xfrm>
          <a:prstGeom prst="rect">
            <a:avLst/>
          </a:prstGeom>
          <a:noFill/>
        </p:spPr>
        <p:txBody>
          <a:bodyPr wrap="square" lIns="45720" tIns="0" rIns="45720" bIns="0" anchor="t">
            <a:noAutofit/>
          </a:bodyPr>
          <a:lstStyle/>
          <a:p>
            <a:pPr algn="ctr"/>
            <a:r>
              <a:rPr lang="en-GB" sz="1300" b="1" dirty="0">
                <a:solidFill>
                  <a:srgbClr val="262626"/>
                </a:solidFill>
              </a:rPr>
              <a:t>Ordered visit</a:t>
            </a:r>
          </a:p>
        </p:txBody>
      </p:sp>
      <p:sp>
        <p:nvSpPr>
          <p:cNvPr id="20" name="Label"/>
          <p:cNvSpPr txBox="1"/>
          <p:nvPr/>
        </p:nvSpPr>
        <p:spPr>
          <a:xfrm>
            <a:off x="6144768" y="2084832"/>
            <a:ext cx="2651760" cy="237744"/>
          </a:xfrm>
          <a:prstGeom prst="rect">
            <a:avLst/>
          </a:prstGeom>
          <a:noFill/>
        </p:spPr>
        <p:txBody>
          <a:bodyPr wrap="square" lIns="45720" tIns="0" rIns="45720" bIns="0" anchor="t">
            <a:noAutofit/>
          </a:bodyPr>
          <a:lstStyle/>
          <a:p>
            <a:pPr algn="ctr"/>
            <a:r>
              <a:rPr lang="en-GB" sz="1200" dirty="0">
                <a:solidFill>
                  <a:srgbClr val="262626"/>
                </a:solidFill>
              </a:rPr>
              <a:t>(¬μ₂ U μ₁) ∧ ◇μ₂</a:t>
            </a:r>
          </a:p>
        </p:txBody>
      </p:sp>
      <p:pic>
        <p:nvPicPr>
          <p:cNvPr id="21" name="Figure" descr="STL-FM plans, Ordered visit"/>
          <p:cNvPicPr>
            <a:picLocks noChangeAspect="1"/>
          </p:cNvPicPr>
          <p:nvPr/>
        </p:nvPicPr>
        <p:blipFill>
          <a:blip r:embed="rId4"/>
          <a:stretch>
            <a:fillRect/>
          </a:stretch>
        </p:blipFill>
        <p:spPr>
          <a:xfrm>
            <a:off x="6692770" y="2340864"/>
            <a:ext cx="1555756" cy="1691640"/>
          </a:xfrm>
          <a:prstGeom prst="rect">
            <a:avLst/>
          </a:prstGeom>
        </p:spPr>
      </p:pic>
      <p:sp>
        <p:nvSpPr>
          <p:cNvPr id="22" name="Label"/>
          <p:cNvSpPr txBox="1"/>
          <p:nvPr/>
        </p:nvSpPr>
        <p:spPr>
          <a:xfrm>
            <a:off x="8915400" y="1828800"/>
            <a:ext cx="2651760" cy="256032"/>
          </a:xfrm>
          <a:prstGeom prst="rect">
            <a:avLst/>
          </a:prstGeom>
          <a:noFill/>
        </p:spPr>
        <p:txBody>
          <a:bodyPr wrap="square" lIns="45720" tIns="0" rIns="45720" bIns="0" anchor="t">
            <a:noAutofit/>
          </a:bodyPr>
          <a:lstStyle/>
          <a:p>
            <a:pPr algn="ctr"/>
            <a:r>
              <a:rPr lang="en-GB" sz="1300" b="1" dirty="0">
                <a:solidFill>
                  <a:srgbClr val="262626"/>
                </a:solidFill>
              </a:rPr>
              <a:t>Avoidance until reach</a:t>
            </a:r>
          </a:p>
        </p:txBody>
      </p:sp>
      <p:sp>
        <p:nvSpPr>
          <p:cNvPr id="23" name="Label"/>
          <p:cNvSpPr txBox="1"/>
          <p:nvPr/>
        </p:nvSpPr>
        <p:spPr>
          <a:xfrm>
            <a:off x="8915400" y="2084832"/>
            <a:ext cx="2651760" cy="237744"/>
          </a:xfrm>
          <a:prstGeom prst="rect">
            <a:avLst/>
          </a:prstGeom>
          <a:noFill/>
        </p:spPr>
        <p:txBody>
          <a:bodyPr wrap="square" lIns="45720" tIns="0" rIns="45720" bIns="0" anchor="t">
            <a:noAutofit/>
          </a:bodyPr>
          <a:lstStyle/>
          <a:p>
            <a:pPr algn="ctr"/>
            <a:r>
              <a:rPr lang="en-GB" sz="1200" dirty="0">
                <a:solidFill>
                  <a:srgbClr val="262626"/>
                </a:solidFill>
              </a:rPr>
              <a:t>(¬μ₃ ∧ ¬μ₄) U μ₁</a:t>
            </a:r>
          </a:p>
        </p:txBody>
      </p:sp>
      <p:pic>
        <p:nvPicPr>
          <p:cNvPr id="24" name="Figure" descr="STL-FM plans, Avoidance until reach"/>
          <p:cNvPicPr>
            <a:picLocks noChangeAspect="1"/>
          </p:cNvPicPr>
          <p:nvPr/>
        </p:nvPicPr>
        <p:blipFill>
          <a:blip r:embed="rId5"/>
          <a:stretch>
            <a:fillRect/>
          </a:stretch>
        </p:blipFill>
        <p:spPr>
          <a:xfrm>
            <a:off x="9463402" y="2340864"/>
            <a:ext cx="1555756" cy="1691640"/>
          </a:xfrm>
          <a:prstGeom prst="rect">
            <a:avLst/>
          </a:prstGeom>
        </p:spPr>
      </p:pic>
      <p:sp>
        <p:nvSpPr>
          <p:cNvPr id="25" name="Label"/>
          <p:cNvSpPr txBox="1"/>
          <p:nvPr/>
        </p:nvSpPr>
        <p:spPr>
          <a:xfrm>
            <a:off x="603504" y="4133088"/>
            <a:ext cx="2103120" cy="274320"/>
          </a:xfrm>
          <a:prstGeom prst="rect">
            <a:avLst/>
          </a:prstGeom>
          <a:noFill/>
        </p:spPr>
        <p:txBody>
          <a:bodyPr wrap="square" lIns="45720" tIns="0" rIns="45720" bIns="0" anchor="t">
            <a:noAutofit/>
          </a:bodyPr>
          <a:lstStyle/>
          <a:p>
            <a:pPr algn="l"/>
            <a:r>
              <a:rPr lang="en-GB" sz="1200" b="1" dirty="0">
                <a:solidFill>
                  <a:srgbClr val="262626"/>
                </a:solidFill>
              </a:rPr>
              <a:t>Class</a:t>
            </a:r>
          </a:p>
        </p:txBody>
      </p:sp>
      <p:sp>
        <p:nvSpPr>
          <p:cNvPr id="26" name="Label"/>
          <p:cNvSpPr txBox="1"/>
          <p:nvPr/>
        </p:nvSpPr>
        <p:spPr>
          <a:xfrm>
            <a:off x="2706624" y="4133088"/>
            <a:ext cx="1417320" cy="274320"/>
          </a:xfrm>
          <a:prstGeom prst="rect">
            <a:avLst/>
          </a:prstGeom>
          <a:noFill/>
        </p:spPr>
        <p:txBody>
          <a:bodyPr wrap="square" lIns="45720" tIns="0" rIns="45720" bIns="0" anchor="t">
            <a:noAutofit/>
          </a:bodyPr>
          <a:lstStyle/>
          <a:p>
            <a:pPr algn="ctr"/>
            <a:r>
              <a:rPr lang="en-GB" sz="1200" b="1" dirty="0">
                <a:solidFill>
                  <a:srgbClr val="262626"/>
                </a:solidFill>
              </a:rPr>
              <a:t>Endpoint-inpaint</a:t>
            </a:r>
          </a:p>
        </p:txBody>
      </p:sp>
      <p:sp>
        <p:nvSpPr>
          <p:cNvPr id="27" name="Label"/>
          <p:cNvSpPr txBox="1"/>
          <p:nvPr/>
        </p:nvSpPr>
        <p:spPr>
          <a:xfrm>
            <a:off x="4123944" y="4133088"/>
            <a:ext cx="1188720" cy="274320"/>
          </a:xfrm>
          <a:prstGeom prst="rect">
            <a:avLst/>
          </a:prstGeom>
          <a:noFill/>
        </p:spPr>
        <p:txBody>
          <a:bodyPr wrap="square" lIns="45720" tIns="0" rIns="45720" bIns="0" anchor="t">
            <a:noAutofit/>
          </a:bodyPr>
          <a:lstStyle/>
          <a:p>
            <a:pPr algn="ctr"/>
            <a:r>
              <a:rPr lang="en-GB" sz="1200" b="1" dirty="0">
                <a:solidFill>
                  <a:srgbClr val="262626"/>
                </a:solidFill>
              </a:rPr>
              <a:t>STL-FM</a:t>
            </a:r>
          </a:p>
        </p:txBody>
      </p:sp>
      <p:sp>
        <p:nvSpPr>
          <p:cNvPr id="28" name="Label"/>
          <p:cNvSpPr txBox="1"/>
          <p:nvPr/>
        </p:nvSpPr>
        <p:spPr>
          <a:xfrm>
            <a:off x="5312664" y="4133088"/>
            <a:ext cx="1417320" cy="274320"/>
          </a:xfrm>
          <a:prstGeom prst="rect">
            <a:avLst/>
          </a:prstGeom>
          <a:noFill/>
        </p:spPr>
        <p:txBody>
          <a:bodyPr wrap="square" lIns="45720" tIns="0" rIns="45720" bIns="0" anchor="t">
            <a:noAutofit/>
          </a:bodyPr>
          <a:lstStyle/>
          <a:p>
            <a:pPr algn="ctr"/>
            <a:r>
              <a:rPr lang="en-GB" sz="1200" b="1" dirty="0">
                <a:solidFill>
                  <a:srgbClr val="262626"/>
                </a:solidFill>
              </a:rPr>
              <a:t>STL-FM with pin</a:t>
            </a:r>
          </a:p>
        </p:txBody>
      </p:sp>
      <p:sp>
        <p:nvSpPr>
          <p:cNvPr id="29" name="Label"/>
          <p:cNvSpPr txBox="1"/>
          <p:nvPr/>
        </p:nvSpPr>
        <p:spPr>
          <a:xfrm>
            <a:off x="6729984" y="4133088"/>
            <a:ext cx="1508760" cy="274320"/>
          </a:xfrm>
          <a:prstGeom prst="rect">
            <a:avLst/>
          </a:prstGeom>
          <a:noFill/>
        </p:spPr>
        <p:txBody>
          <a:bodyPr wrap="square" lIns="45720" tIns="0" rIns="45720" bIns="0" anchor="t">
            <a:noAutofit/>
          </a:bodyPr>
          <a:lstStyle/>
          <a:p>
            <a:pPr algn="ctr"/>
            <a:r>
              <a:rPr lang="en-GB" sz="1200" b="1" dirty="0">
                <a:solidFill>
                  <a:srgbClr val="262626"/>
                </a:solidFill>
              </a:rPr>
              <a:t>STL Optimizer</a:t>
            </a:r>
          </a:p>
        </p:txBody>
      </p:sp>
      <p:sp>
        <p:nvSpPr>
          <p:cNvPr id="30" name="Label"/>
          <p:cNvSpPr txBox="1"/>
          <p:nvPr/>
        </p:nvSpPr>
        <p:spPr>
          <a:xfrm>
            <a:off x="8238744" y="4133088"/>
            <a:ext cx="1645920" cy="274320"/>
          </a:xfrm>
          <a:prstGeom prst="rect">
            <a:avLst/>
          </a:prstGeom>
          <a:noFill/>
        </p:spPr>
        <p:txBody>
          <a:bodyPr wrap="square" lIns="45720" tIns="0" rIns="45720" bIns="0" anchor="t">
            <a:noAutofit/>
          </a:bodyPr>
          <a:lstStyle/>
          <a:p>
            <a:pPr algn="ctr"/>
            <a:r>
              <a:rPr lang="en-GB" sz="1200" b="1" dirty="0">
                <a:solidFill>
                  <a:srgbClr val="262626"/>
                </a:solidFill>
              </a:rPr>
              <a:t>Plan time, STL-FM</a:t>
            </a:r>
          </a:p>
        </p:txBody>
      </p:sp>
      <p:sp>
        <p:nvSpPr>
          <p:cNvPr id="31" name="Label"/>
          <p:cNvSpPr txBox="1"/>
          <p:nvPr/>
        </p:nvSpPr>
        <p:spPr>
          <a:xfrm>
            <a:off x="9884664" y="4133088"/>
            <a:ext cx="1709928" cy="274320"/>
          </a:xfrm>
          <a:prstGeom prst="rect">
            <a:avLst/>
          </a:prstGeom>
          <a:noFill/>
        </p:spPr>
        <p:txBody>
          <a:bodyPr wrap="square" lIns="45720" tIns="0" rIns="45720" bIns="0" anchor="t">
            <a:noAutofit/>
          </a:bodyPr>
          <a:lstStyle/>
          <a:p>
            <a:pPr algn="ctr"/>
            <a:r>
              <a:rPr lang="en-GB" sz="1200" b="1" dirty="0">
                <a:solidFill>
                  <a:srgbClr val="262626"/>
                </a:solidFill>
              </a:rPr>
              <a:t>Plan time, STL Optimizer</a:t>
            </a:r>
          </a:p>
        </p:txBody>
      </p:sp>
      <p:cxnSp>
        <p:nvCxnSpPr>
          <p:cNvPr id="32" name="Rule"/>
          <p:cNvCxnSpPr/>
          <p:nvPr/>
        </p:nvCxnSpPr>
        <p:spPr>
          <a:xfrm>
            <a:off x="603504" y="4434840"/>
            <a:ext cx="10991088" cy="0"/>
          </a:xfrm>
          <a:prstGeom prst="straightConnector1">
            <a:avLst/>
          </a:prstGeom>
          <a:ln w="9525">
            <a:solidFill>
              <a:srgbClr val="D2D2D2"/>
            </a:solidFill>
          </a:ln>
        </p:spPr>
      </p:cxnSp>
      <p:sp>
        <p:nvSpPr>
          <p:cNvPr id="33" name="Label"/>
          <p:cNvSpPr txBox="1"/>
          <p:nvPr/>
        </p:nvSpPr>
        <p:spPr>
          <a:xfrm>
            <a:off x="603504" y="4498848"/>
            <a:ext cx="2103120" cy="274320"/>
          </a:xfrm>
          <a:prstGeom prst="rect">
            <a:avLst/>
          </a:prstGeom>
          <a:noFill/>
        </p:spPr>
        <p:txBody>
          <a:bodyPr wrap="square" lIns="45720" tIns="0" rIns="45720" bIns="0" anchor="t">
            <a:noAutofit/>
          </a:bodyPr>
          <a:lstStyle/>
          <a:p>
            <a:pPr algn="l"/>
            <a:r>
              <a:rPr lang="en-GB" sz="1200" dirty="0">
                <a:solidFill>
                  <a:srgbClr val="262626"/>
                </a:solidFill>
              </a:rPr>
              <a:t>Choice of target</a:t>
            </a:r>
          </a:p>
        </p:txBody>
      </p:sp>
      <p:sp>
        <p:nvSpPr>
          <p:cNvPr id="34" name="Label"/>
          <p:cNvSpPr txBox="1"/>
          <p:nvPr/>
        </p:nvSpPr>
        <p:spPr>
          <a:xfrm>
            <a:off x="2706624" y="4498848"/>
            <a:ext cx="1417320" cy="274320"/>
          </a:xfrm>
          <a:prstGeom prst="rect">
            <a:avLst/>
          </a:prstGeom>
          <a:noFill/>
        </p:spPr>
        <p:txBody>
          <a:bodyPr wrap="square" lIns="45720" tIns="0" rIns="45720" bIns="0" anchor="t">
            <a:noAutofit/>
          </a:bodyPr>
          <a:lstStyle/>
          <a:p>
            <a:pPr algn="ctr"/>
            <a:r>
              <a:rPr lang="en-GB" sz="1200" dirty="0">
                <a:solidFill>
                  <a:srgbClr val="262626"/>
                </a:solidFill>
              </a:rPr>
              <a:t>0.18</a:t>
            </a:r>
          </a:p>
        </p:txBody>
      </p:sp>
      <p:sp>
        <p:nvSpPr>
          <p:cNvPr id="35" name="Label"/>
          <p:cNvSpPr txBox="1"/>
          <p:nvPr/>
        </p:nvSpPr>
        <p:spPr>
          <a:xfrm>
            <a:off x="4123944" y="4498848"/>
            <a:ext cx="1188720" cy="274320"/>
          </a:xfrm>
          <a:prstGeom prst="rect">
            <a:avLst/>
          </a:prstGeom>
          <a:noFill/>
        </p:spPr>
        <p:txBody>
          <a:bodyPr wrap="square" lIns="45720" tIns="0" rIns="45720" bIns="0" anchor="t">
            <a:noAutofit/>
          </a:bodyPr>
          <a:lstStyle/>
          <a:p>
            <a:pPr algn="ctr"/>
            <a:r>
              <a:rPr lang="en-GB" sz="1200" dirty="0">
                <a:solidFill>
                  <a:srgbClr val="262626"/>
                </a:solidFill>
              </a:rPr>
              <a:t>0.98</a:t>
            </a:r>
          </a:p>
        </p:txBody>
      </p:sp>
      <p:sp>
        <p:nvSpPr>
          <p:cNvPr id="36" name="Label"/>
          <p:cNvSpPr txBox="1"/>
          <p:nvPr/>
        </p:nvSpPr>
        <p:spPr>
          <a:xfrm>
            <a:off x="5312664" y="4498848"/>
            <a:ext cx="1417320" cy="274320"/>
          </a:xfrm>
          <a:prstGeom prst="rect">
            <a:avLst/>
          </a:prstGeom>
          <a:noFill/>
        </p:spPr>
        <p:txBody>
          <a:bodyPr wrap="square" lIns="45720" tIns="0" rIns="45720" bIns="0" anchor="t">
            <a:noAutofit/>
          </a:bodyPr>
          <a:lstStyle/>
          <a:p>
            <a:pPr algn="ctr"/>
            <a:r>
              <a:rPr lang="en-GB" sz="1200" dirty="0">
                <a:solidFill>
                  <a:srgbClr val="262626"/>
                </a:solidFill>
              </a:rPr>
              <a:t>0.97</a:t>
            </a:r>
          </a:p>
        </p:txBody>
      </p:sp>
      <p:sp>
        <p:nvSpPr>
          <p:cNvPr id="37" name="Label"/>
          <p:cNvSpPr txBox="1"/>
          <p:nvPr/>
        </p:nvSpPr>
        <p:spPr>
          <a:xfrm>
            <a:off x="6729984" y="4498848"/>
            <a:ext cx="1508760" cy="274320"/>
          </a:xfrm>
          <a:prstGeom prst="rect">
            <a:avLst/>
          </a:prstGeom>
          <a:noFill/>
        </p:spPr>
        <p:txBody>
          <a:bodyPr wrap="square" lIns="45720" tIns="0" rIns="45720" bIns="0" anchor="t">
            <a:noAutofit/>
          </a:bodyPr>
          <a:lstStyle/>
          <a:p>
            <a:pPr algn="ctr"/>
            <a:r>
              <a:rPr lang="en-GB" sz="1200" dirty="0">
                <a:solidFill>
                  <a:srgbClr val="262626"/>
                </a:solidFill>
              </a:rPr>
              <a:t>0.98</a:t>
            </a:r>
          </a:p>
        </p:txBody>
      </p:sp>
      <p:sp>
        <p:nvSpPr>
          <p:cNvPr id="38" name="Label"/>
          <p:cNvSpPr txBox="1"/>
          <p:nvPr/>
        </p:nvSpPr>
        <p:spPr>
          <a:xfrm>
            <a:off x="8238744" y="4498848"/>
            <a:ext cx="1645920" cy="274320"/>
          </a:xfrm>
          <a:prstGeom prst="rect">
            <a:avLst/>
          </a:prstGeom>
          <a:noFill/>
        </p:spPr>
        <p:txBody>
          <a:bodyPr wrap="square" lIns="45720" tIns="0" rIns="45720" bIns="0" anchor="t">
            <a:noAutofit/>
          </a:bodyPr>
          <a:lstStyle/>
          <a:p>
            <a:pPr algn="ctr"/>
            <a:r>
              <a:rPr lang="en-GB" sz="1200" dirty="0">
                <a:solidFill>
                  <a:srgbClr val="262626"/>
                </a:solidFill>
              </a:rPr>
              <a:t>0.54 s</a:t>
            </a:r>
          </a:p>
        </p:txBody>
      </p:sp>
      <p:sp>
        <p:nvSpPr>
          <p:cNvPr id="39" name="Label"/>
          <p:cNvSpPr txBox="1"/>
          <p:nvPr/>
        </p:nvSpPr>
        <p:spPr>
          <a:xfrm>
            <a:off x="9884664" y="4498848"/>
            <a:ext cx="1709928" cy="274320"/>
          </a:xfrm>
          <a:prstGeom prst="rect">
            <a:avLst/>
          </a:prstGeom>
          <a:noFill/>
        </p:spPr>
        <p:txBody>
          <a:bodyPr wrap="square" lIns="45720" tIns="0" rIns="45720" bIns="0" anchor="t">
            <a:noAutofit/>
          </a:bodyPr>
          <a:lstStyle/>
          <a:p>
            <a:pPr algn="ctr"/>
            <a:r>
              <a:rPr lang="en-GB" sz="1200" dirty="0">
                <a:solidFill>
                  <a:srgbClr val="262626"/>
                </a:solidFill>
              </a:rPr>
              <a:t>23.02 s</a:t>
            </a:r>
          </a:p>
        </p:txBody>
      </p:sp>
      <p:sp>
        <p:nvSpPr>
          <p:cNvPr id="40" name="Label"/>
          <p:cNvSpPr txBox="1"/>
          <p:nvPr/>
        </p:nvSpPr>
        <p:spPr>
          <a:xfrm>
            <a:off x="603504" y="4782312"/>
            <a:ext cx="2103120" cy="274320"/>
          </a:xfrm>
          <a:prstGeom prst="rect">
            <a:avLst/>
          </a:prstGeom>
          <a:noFill/>
        </p:spPr>
        <p:txBody>
          <a:bodyPr wrap="square" lIns="45720" tIns="0" rIns="45720" bIns="0" anchor="t">
            <a:noAutofit/>
          </a:bodyPr>
          <a:lstStyle/>
          <a:p>
            <a:pPr algn="l"/>
            <a:r>
              <a:rPr lang="en-GB" sz="1200" dirty="0">
                <a:solidFill>
                  <a:srgbClr val="262626"/>
                </a:solidFill>
              </a:rPr>
              <a:t>Choice of sequence</a:t>
            </a:r>
          </a:p>
        </p:txBody>
      </p:sp>
      <p:sp>
        <p:nvSpPr>
          <p:cNvPr id="41" name="Label"/>
          <p:cNvSpPr txBox="1"/>
          <p:nvPr/>
        </p:nvSpPr>
        <p:spPr>
          <a:xfrm>
            <a:off x="2706624" y="4782312"/>
            <a:ext cx="1417320" cy="274320"/>
          </a:xfrm>
          <a:prstGeom prst="rect">
            <a:avLst/>
          </a:prstGeom>
          <a:noFill/>
        </p:spPr>
        <p:txBody>
          <a:bodyPr wrap="square" lIns="45720" tIns="0" rIns="45720" bIns="0" anchor="t">
            <a:noAutofit/>
          </a:bodyPr>
          <a:lstStyle/>
          <a:p>
            <a:pPr algn="ctr"/>
            <a:r>
              <a:rPr lang="en-GB" sz="1200" dirty="0">
                <a:solidFill>
                  <a:srgbClr val="262626"/>
                </a:solidFill>
              </a:rPr>
              <a:t>0.02</a:t>
            </a:r>
          </a:p>
        </p:txBody>
      </p:sp>
      <p:sp>
        <p:nvSpPr>
          <p:cNvPr id="42" name="Label"/>
          <p:cNvSpPr txBox="1"/>
          <p:nvPr/>
        </p:nvSpPr>
        <p:spPr>
          <a:xfrm>
            <a:off x="4123944" y="4782312"/>
            <a:ext cx="1188720" cy="274320"/>
          </a:xfrm>
          <a:prstGeom prst="rect">
            <a:avLst/>
          </a:prstGeom>
          <a:noFill/>
        </p:spPr>
        <p:txBody>
          <a:bodyPr wrap="square" lIns="45720" tIns="0" rIns="45720" bIns="0" anchor="t">
            <a:noAutofit/>
          </a:bodyPr>
          <a:lstStyle/>
          <a:p>
            <a:pPr algn="ctr"/>
            <a:r>
              <a:rPr lang="en-GB" sz="1200" dirty="0">
                <a:solidFill>
                  <a:srgbClr val="262626"/>
                </a:solidFill>
              </a:rPr>
              <a:t>0.96</a:t>
            </a:r>
          </a:p>
        </p:txBody>
      </p:sp>
      <p:sp>
        <p:nvSpPr>
          <p:cNvPr id="43" name="Label"/>
          <p:cNvSpPr txBox="1"/>
          <p:nvPr/>
        </p:nvSpPr>
        <p:spPr>
          <a:xfrm>
            <a:off x="5312664" y="4782312"/>
            <a:ext cx="1417320" cy="274320"/>
          </a:xfrm>
          <a:prstGeom prst="rect">
            <a:avLst/>
          </a:prstGeom>
          <a:noFill/>
        </p:spPr>
        <p:txBody>
          <a:bodyPr wrap="square" lIns="45720" tIns="0" rIns="45720" bIns="0" anchor="t">
            <a:noAutofit/>
          </a:bodyPr>
          <a:lstStyle/>
          <a:p>
            <a:pPr algn="ctr"/>
            <a:r>
              <a:rPr lang="en-GB" sz="1200" dirty="0">
                <a:solidFill>
                  <a:srgbClr val="262626"/>
                </a:solidFill>
              </a:rPr>
              <a:t>0.94</a:t>
            </a:r>
          </a:p>
        </p:txBody>
      </p:sp>
      <p:sp>
        <p:nvSpPr>
          <p:cNvPr id="44" name="Label"/>
          <p:cNvSpPr txBox="1"/>
          <p:nvPr/>
        </p:nvSpPr>
        <p:spPr>
          <a:xfrm>
            <a:off x="6729984" y="4782312"/>
            <a:ext cx="1508760" cy="274320"/>
          </a:xfrm>
          <a:prstGeom prst="rect">
            <a:avLst/>
          </a:prstGeom>
          <a:noFill/>
        </p:spPr>
        <p:txBody>
          <a:bodyPr wrap="square" lIns="45720" tIns="0" rIns="45720" bIns="0" anchor="t">
            <a:noAutofit/>
          </a:bodyPr>
          <a:lstStyle/>
          <a:p>
            <a:pPr algn="ctr"/>
            <a:r>
              <a:rPr lang="en-GB" sz="1200" dirty="0">
                <a:solidFill>
                  <a:srgbClr val="262626"/>
                </a:solidFill>
              </a:rPr>
              <a:t>1.00†</a:t>
            </a:r>
          </a:p>
        </p:txBody>
      </p:sp>
      <p:sp>
        <p:nvSpPr>
          <p:cNvPr id="45" name="Label"/>
          <p:cNvSpPr txBox="1"/>
          <p:nvPr/>
        </p:nvSpPr>
        <p:spPr>
          <a:xfrm>
            <a:off x="8238744" y="4782312"/>
            <a:ext cx="1645920" cy="274320"/>
          </a:xfrm>
          <a:prstGeom prst="rect">
            <a:avLst/>
          </a:prstGeom>
          <a:noFill/>
        </p:spPr>
        <p:txBody>
          <a:bodyPr wrap="square" lIns="45720" tIns="0" rIns="45720" bIns="0" anchor="t">
            <a:noAutofit/>
          </a:bodyPr>
          <a:lstStyle/>
          <a:p>
            <a:pPr algn="ctr"/>
            <a:r>
              <a:rPr lang="en-GB" sz="1200" dirty="0">
                <a:solidFill>
                  <a:srgbClr val="262626"/>
                </a:solidFill>
              </a:rPr>
              <a:t>0.75 s</a:t>
            </a:r>
          </a:p>
        </p:txBody>
      </p:sp>
      <p:sp>
        <p:nvSpPr>
          <p:cNvPr id="46" name="Label"/>
          <p:cNvSpPr txBox="1"/>
          <p:nvPr/>
        </p:nvSpPr>
        <p:spPr>
          <a:xfrm>
            <a:off x="9884664" y="4782312"/>
            <a:ext cx="1709928" cy="274320"/>
          </a:xfrm>
          <a:prstGeom prst="rect">
            <a:avLst/>
          </a:prstGeom>
          <a:noFill/>
        </p:spPr>
        <p:txBody>
          <a:bodyPr wrap="square" lIns="45720" tIns="0" rIns="45720" bIns="0" anchor="t">
            <a:noAutofit/>
          </a:bodyPr>
          <a:lstStyle/>
          <a:p>
            <a:pPr algn="ctr"/>
            <a:r>
              <a:rPr lang="en-GB" sz="1200" dirty="0">
                <a:solidFill>
                  <a:srgbClr val="262626"/>
                </a:solidFill>
              </a:rPr>
              <a:t>22.92 s</a:t>
            </a:r>
          </a:p>
        </p:txBody>
      </p:sp>
      <p:sp>
        <p:nvSpPr>
          <p:cNvPr id="47" name="Label"/>
          <p:cNvSpPr txBox="1"/>
          <p:nvPr/>
        </p:nvSpPr>
        <p:spPr>
          <a:xfrm>
            <a:off x="603504" y="5065776"/>
            <a:ext cx="2103120" cy="274320"/>
          </a:xfrm>
          <a:prstGeom prst="rect">
            <a:avLst/>
          </a:prstGeom>
          <a:noFill/>
        </p:spPr>
        <p:txBody>
          <a:bodyPr wrap="square" lIns="45720" tIns="0" rIns="45720" bIns="0" anchor="t">
            <a:noAutofit/>
          </a:bodyPr>
          <a:lstStyle/>
          <a:p>
            <a:pPr algn="l"/>
            <a:r>
              <a:rPr lang="en-GB" sz="1200" dirty="0">
                <a:solidFill>
                  <a:srgbClr val="262626"/>
                </a:solidFill>
              </a:rPr>
              <a:t>Ordered visit</a:t>
            </a:r>
          </a:p>
        </p:txBody>
      </p:sp>
      <p:sp>
        <p:nvSpPr>
          <p:cNvPr id="48" name="Label"/>
          <p:cNvSpPr txBox="1"/>
          <p:nvPr/>
        </p:nvSpPr>
        <p:spPr>
          <a:xfrm>
            <a:off x="2706624" y="5065776"/>
            <a:ext cx="1417320" cy="274320"/>
          </a:xfrm>
          <a:prstGeom prst="rect">
            <a:avLst/>
          </a:prstGeom>
          <a:noFill/>
        </p:spPr>
        <p:txBody>
          <a:bodyPr wrap="square" lIns="45720" tIns="0" rIns="45720" bIns="0" anchor="t">
            <a:noAutofit/>
          </a:bodyPr>
          <a:lstStyle/>
          <a:p>
            <a:pPr algn="ctr"/>
            <a:r>
              <a:rPr lang="en-GB" sz="1200" dirty="0">
                <a:solidFill>
                  <a:srgbClr val="262626"/>
                </a:solidFill>
              </a:rPr>
              <a:t>0.05</a:t>
            </a:r>
          </a:p>
        </p:txBody>
      </p:sp>
      <p:sp>
        <p:nvSpPr>
          <p:cNvPr id="49" name="Label"/>
          <p:cNvSpPr txBox="1"/>
          <p:nvPr/>
        </p:nvSpPr>
        <p:spPr>
          <a:xfrm>
            <a:off x="4123944" y="5065776"/>
            <a:ext cx="1188720" cy="274320"/>
          </a:xfrm>
          <a:prstGeom prst="rect">
            <a:avLst/>
          </a:prstGeom>
          <a:noFill/>
        </p:spPr>
        <p:txBody>
          <a:bodyPr wrap="square" lIns="45720" tIns="0" rIns="45720" bIns="0" anchor="t">
            <a:noAutofit/>
          </a:bodyPr>
          <a:lstStyle/>
          <a:p>
            <a:pPr algn="ctr"/>
            <a:r>
              <a:rPr lang="en-GB" sz="1200" dirty="0">
                <a:solidFill>
                  <a:srgbClr val="262626"/>
                </a:solidFill>
              </a:rPr>
              <a:t>0.27</a:t>
            </a:r>
          </a:p>
        </p:txBody>
      </p:sp>
      <p:sp>
        <p:nvSpPr>
          <p:cNvPr id="50" name="Label"/>
          <p:cNvSpPr txBox="1"/>
          <p:nvPr/>
        </p:nvSpPr>
        <p:spPr>
          <a:xfrm>
            <a:off x="5312664" y="5065776"/>
            <a:ext cx="1417320" cy="274320"/>
          </a:xfrm>
          <a:prstGeom prst="rect">
            <a:avLst/>
          </a:prstGeom>
          <a:noFill/>
        </p:spPr>
        <p:txBody>
          <a:bodyPr wrap="square" lIns="45720" tIns="0" rIns="45720" bIns="0" anchor="t">
            <a:noAutofit/>
          </a:bodyPr>
          <a:lstStyle/>
          <a:p>
            <a:pPr algn="ctr"/>
            <a:r>
              <a:rPr lang="en-GB" sz="1200" dirty="0">
                <a:solidFill>
                  <a:srgbClr val="262626"/>
                </a:solidFill>
              </a:rPr>
              <a:t>0.96</a:t>
            </a:r>
          </a:p>
        </p:txBody>
      </p:sp>
      <p:sp>
        <p:nvSpPr>
          <p:cNvPr id="51" name="Label"/>
          <p:cNvSpPr txBox="1"/>
          <p:nvPr/>
        </p:nvSpPr>
        <p:spPr>
          <a:xfrm>
            <a:off x="6729984" y="5065776"/>
            <a:ext cx="1508760" cy="274320"/>
          </a:xfrm>
          <a:prstGeom prst="rect">
            <a:avLst/>
          </a:prstGeom>
          <a:noFill/>
        </p:spPr>
        <p:txBody>
          <a:bodyPr wrap="square" lIns="45720" tIns="0" rIns="45720" bIns="0" anchor="t">
            <a:noAutofit/>
          </a:bodyPr>
          <a:lstStyle/>
          <a:p>
            <a:pPr algn="ctr"/>
            <a:r>
              <a:rPr lang="en-GB" sz="1200" dirty="0">
                <a:solidFill>
                  <a:srgbClr val="262626"/>
                </a:solidFill>
              </a:rPr>
              <a:t>0.00†</a:t>
            </a:r>
          </a:p>
        </p:txBody>
      </p:sp>
      <p:sp>
        <p:nvSpPr>
          <p:cNvPr id="52" name="Label"/>
          <p:cNvSpPr txBox="1"/>
          <p:nvPr/>
        </p:nvSpPr>
        <p:spPr>
          <a:xfrm>
            <a:off x="8238744" y="5065776"/>
            <a:ext cx="1645920" cy="274320"/>
          </a:xfrm>
          <a:prstGeom prst="rect">
            <a:avLst/>
          </a:prstGeom>
          <a:noFill/>
        </p:spPr>
        <p:txBody>
          <a:bodyPr wrap="square" lIns="45720" tIns="0" rIns="45720" bIns="0" anchor="t">
            <a:noAutofit/>
          </a:bodyPr>
          <a:lstStyle/>
          <a:p>
            <a:pPr algn="ctr"/>
            <a:r>
              <a:rPr lang="en-GB" sz="1200" dirty="0">
                <a:solidFill>
                  <a:srgbClr val="262626"/>
                </a:solidFill>
              </a:rPr>
              <a:t>5.72 s</a:t>
            </a:r>
          </a:p>
        </p:txBody>
      </p:sp>
      <p:sp>
        <p:nvSpPr>
          <p:cNvPr id="53" name="Label"/>
          <p:cNvSpPr txBox="1"/>
          <p:nvPr/>
        </p:nvSpPr>
        <p:spPr>
          <a:xfrm>
            <a:off x="9884664" y="5065776"/>
            <a:ext cx="1709928" cy="274320"/>
          </a:xfrm>
          <a:prstGeom prst="rect">
            <a:avLst/>
          </a:prstGeom>
          <a:noFill/>
        </p:spPr>
        <p:txBody>
          <a:bodyPr wrap="square" lIns="45720" tIns="0" rIns="45720" bIns="0" anchor="t">
            <a:noAutofit/>
          </a:bodyPr>
          <a:lstStyle/>
          <a:p>
            <a:pPr algn="ctr"/>
            <a:r>
              <a:rPr lang="en-GB" sz="1200" dirty="0">
                <a:solidFill>
                  <a:srgbClr val="262626"/>
                </a:solidFill>
              </a:rPr>
              <a:t>–</a:t>
            </a:r>
          </a:p>
        </p:txBody>
      </p:sp>
      <p:sp>
        <p:nvSpPr>
          <p:cNvPr id="54" name="Label"/>
          <p:cNvSpPr txBox="1"/>
          <p:nvPr/>
        </p:nvSpPr>
        <p:spPr>
          <a:xfrm>
            <a:off x="603504" y="5349240"/>
            <a:ext cx="2103120" cy="274320"/>
          </a:xfrm>
          <a:prstGeom prst="rect">
            <a:avLst/>
          </a:prstGeom>
          <a:noFill/>
        </p:spPr>
        <p:txBody>
          <a:bodyPr wrap="square" lIns="45720" tIns="0" rIns="45720" bIns="0" anchor="t">
            <a:noAutofit/>
          </a:bodyPr>
          <a:lstStyle/>
          <a:p>
            <a:pPr algn="l"/>
            <a:r>
              <a:rPr lang="en-GB" sz="1200" dirty="0">
                <a:solidFill>
                  <a:srgbClr val="262626"/>
                </a:solidFill>
              </a:rPr>
              <a:t>Avoidance until reach</a:t>
            </a:r>
          </a:p>
        </p:txBody>
      </p:sp>
      <p:sp>
        <p:nvSpPr>
          <p:cNvPr id="55" name="Label"/>
          <p:cNvSpPr txBox="1"/>
          <p:nvPr/>
        </p:nvSpPr>
        <p:spPr>
          <a:xfrm>
            <a:off x="2706624" y="5349240"/>
            <a:ext cx="1417320" cy="274320"/>
          </a:xfrm>
          <a:prstGeom prst="rect">
            <a:avLst/>
          </a:prstGeom>
          <a:noFill/>
        </p:spPr>
        <p:txBody>
          <a:bodyPr wrap="square" lIns="45720" tIns="0" rIns="45720" bIns="0" anchor="t">
            <a:noAutofit/>
          </a:bodyPr>
          <a:lstStyle/>
          <a:p>
            <a:pPr algn="ctr"/>
            <a:r>
              <a:rPr lang="en-GB" sz="1200" dirty="0">
                <a:solidFill>
                  <a:srgbClr val="262626"/>
                </a:solidFill>
              </a:rPr>
              <a:t>0.03</a:t>
            </a:r>
          </a:p>
        </p:txBody>
      </p:sp>
      <p:sp>
        <p:nvSpPr>
          <p:cNvPr id="56" name="Label"/>
          <p:cNvSpPr txBox="1"/>
          <p:nvPr/>
        </p:nvSpPr>
        <p:spPr>
          <a:xfrm>
            <a:off x="4123944" y="5349240"/>
            <a:ext cx="1188720" cy="274320"/>
          </a:xfrm>
          <a:prstGeom prst="rect">
            <a:avLst/>
          </a:prstGeom>
          <a:noFill/>
        </p:spPr>
        <p:txBody>
          <a:bodyPr wrap="square" lIns="45720" tIns="0" rIns="45720" bIns="0" anchor="t">
            <a:noAutofit/>
          </a:bodyPr>
          <a:lstStyle/>
          <a:p>
            <a:pPr algn="ctr"/>
            <a:r>
              <a:rPr lang="en-GB" sz="1200" dirty="0">
                <a:solidFill>
                  <a:srgbClr val="262626"/>
                </a:solidFill>
              </a:rPr>
              <a:t>0.97</a:t>
            </a:r>
          </a:p>
        </p:txBody>
      </p:sp>
      <p:sp>
        <p:nvSpPr>
          <p:cNvPr id="57" name="Label"/>
          <p:cNvSpPr txBox="1"/>
          <p:nvPr/>
        </p:nvSpPr>
        <p:spPr>
          <a:xfrm>
            <a:off x="5312664" y="5349240"/>
            <a:ext cx="1417320" cy="274320"/>
          </a:xfrm>
          <a:prstGeom prst="rect">
            <a:avLst/>
          </a:prstGeom>
          <a:noFill/>
        </p:spPr>
        <p:txBody>
          <a:bodyPr wrap="square" lIns="45720" tIns="0" rIns="45720" bIns="0" anchor="t">
            <a:noAutofit/>
          </a:bodyPr>
          <a:lstStyle/>
          <a:p>
            <a:pPr algn="ctr"/>
            <a:r>
              <a:rPr lang="en-GB" sz="1200" dirty="0">
                <a:solidFill>
                  <a:srgbClr val="262626"/>
                </a:solidFill>
              </a:rPr>
              <a:t>0.98</a:t>
            </a:r>
          </a:p>
        </p:txBody>
      </p:sp>
      <p:sp>
        <p:nvSpPr>
          <p:cNvPr id="58" name="Label"/>
          <p:cNvSpPr txBox="1"/>
          <p:nvPr/>
        </p:nvSpPr>
        <p:spPr>
          <a:xfrm>
            <a:off x="6729984" y="5349240"/>
            <a:ext cx="1508760" cy="274320"/>
          </a:xfrm>
          <a:prstGeom prst="rect">
            <a:avLst/>
          </a:prstGeom>
          <a:noFill/>
        </p:spPr>
        <p:txBody>
          <a:bodyPr wrap="square" lIns="45720" tIns="0" rIns="45720" bIns="0" anchor="t">
            <a:noAutofit/>
          </a:bodyPr>
          <a:lstStyle/>
          <a:p>
            <a:pPr algn="ctr"/>
            <a:r>
              <a:rPr lang="en-GB" sz="1200" dirty="0">
                <a:solidFill>
                  <a:srgbClr val="262626"/>
                </a:solidFill>
              </a:rPr>
              <a:t>1.00†</a:t>
            </a:r>
          </a:p>
        </p:txBody>
      </p:sp>
      <p:sp>
        <p:nvSpPr>
          <p:cNvPr id="59" name="Label"/>
          <p:cNvSpPr txBox="1"/>
          <p:nvPr/>
        </p:nvSpPr>
        <p:spPr>
          <a:xfrm>
            <a:off x="8238744" y="5349240"/>
            <a:ext cx="1645920" cy="274320"/>
          </a:xfrm>
          <a:prstGeom prst="rect">
            <a:avLst/>
          </a:prstGeom>
          <a:noFill/>
        </p:spPr>
        <p:txBody>
          <a:bodyPr wrap="square" lIns="45720" tIns="0" rIns="45720" bIns="0" anchor="t">
            <a:noAutofit/>
          </a:bodyPr>
          <a:lstStyle/>
          <a:p>
            <a:pPr algn="ctr"/>
            <a:r>
              <a:rPr lang="en-GB" sz="1200" dirty="0">
                <a:solidFill>
                  <a:srgbClr val="262626"/>
                </a:solidFill>
              </a:rPr>
              <a:t>4.69 s</a:t>
            </a:r>
          </a:p>
        </p:txBody>
      </p:sp>
      <p:sp>
        <p:nvSpPr>
          <p:cNvPr id="60" name="Label"/>
          <p:cNvSpPr txBox="1"/>
          <p:nvPr/>
        </p:nvSpPr>
        <p:spPr>
          <a:xfrm>
            <a:off x="9884664" y="5349240"/>
            <a:ext cx="1709928" cy="274320"/>
          </a:xfrm>
          <a:prstGeom prst="rect">
            <a:avLst/>
          </a:prstGeom>
          <a:noFill/>
        </p:spPr>
        <p:txBody>
          <a:bodyPr wrap="square" lIns="45720" tIns="0" rIns="45720" bIns="0" anchor="t">
            <a:noAutofit/>
          </a:bodyPr>
          <a:lstStyle/>
          <a:p>
            <a:pPr algn="ctr"/>
            <a:r>
              <a:rPr lang="en-GB" sz="1200" dirty="0">
                <a:solidFill>
                  <a:srgbClr val="262626"/>
                </a:solidFill>
              </a:rPr>
              <a:t>32.03 s</a:t>
            </a:r>
          </a:p>
        </p:txBody>
      </p:sp>
      <p:cxnSp>
        <p:nvCxnSpPr>
          <p:cNvPr id="61" name="Rule"/>
          <p:cNvCxnSpPr/>
          <p:nvPr/>
        </p:nvCxnSpPr>
        <p:spPr>
          <a:xfrm>
            <a:off x="603504" y="5650992"/>
            <a:ext cx="10991088" cy="0"/>
          </a:xfrm>
          <a:prstGeom prst="straightConnector1">
            <a:avLst/>
          </a:prstGeom>
          <a:ln w="9525">
            <a:solidFill>
              <a:srgbClr val="D2D2D2"/>
            </a:solidFill>
          </a:ln>
        </p:spPr>
      </p:cxnSp>
      <p:sp>
        <p:nvSpPr>
          <p:cNvPr id="62" name="Label"/>
          <p:cNvSpPr txBox="1"/>
          <p:nvPr/>
        </p:nvSpPr>
        <p:spPr>
          <a:xfrm>
            <a:off x="603504" y="5760720"/>
            <a:ext cx="10991088" cy="274320"/>
          </a:xfrm>
          <a:prstGeom prst="rect">
            <a:avLst/>
          </a:prstGeom>
          <a:noFill/>
        </p:spPr>
        <p:txBody>
          <a:bodyPr wrap="square" lIns="45720" tIns="0" rIns="45720" bIns="0" anchor="t">
            <a:noAutofit/>
          </a:bodyPr>
          <a:lstStyle/>
          <a:p>
            <a:pPr algn="l"/>
            <a:r>
              <a:rPr lang="en-GB" sz="1200" dirty="0">
                <a:solidFill>
                  <a:srgbClr val="6E6E6E"/>
                </a:solidFill>
              </a:rPr>
              <a:t>Satisfaction over 100 runs, and plan time as a median over satisfying timing runs. † every plan leaves the arena. The STL Optimizer fails ordered visit at a local optimum of its objective</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solidFill>
                  <a:srgbClr val="6E6E6E"/>
                </a:solidFill>
              </a:rPr>
              <a:t>Robustness against budget</a:t>
            </a:r>
          </a:p>
        </p:txBody>
      </p:sp>
      <p:sp>
        <p:nvSpPr>
          <p:cNvPr id="12" name="Slide Number"/>
          <p:cNvSpPr>
            <a:spLocks noGrp="1"/>
          </p:cNvSpPr>
          <p:nvPr>
            <p:ph type="sldNum" sz="quarter" idx="12"/>
          </p:nvPr>
        </p:nvSpPr>
        <p:spPr/>
        <p:txBody>
          <a:bodyPr/>
          <a:lstStyle/>
          <a:p>
            <a:fld id="{619F89D8-7AE3-494A-97F3-03D680869632}" type="slidenum">
              <a:rPr lang="en-GB"/>
              <a:t>1</a:t>
            </a:fld>
            <a:endParaRPr lang="en-GB"/>
          </a:p>
        </p:txBody>
      </p:sp>
      <p:sp>
        <p:nvSpPr>
          <p:cNvPr id="13" name="Label"/>
          <p:cNvSpPr txBox="1"/>
          <p:nvPr/>
        </p:nvSpPr>
        <p:spPr>
          <a:xfrm>
            <a:off x="603504" y="1874520"/>
            <a:ext cx="2121408" cy="274320"/>
          </a:xfrm>
          <a:prstGeom prst="rect">
            <a:avLst/>
          </a:prstGeom>
          <a:noFill/>
        </p:spPr>
        <p:txBody>
          <a:bodyPr wrap="square" lIns="45720" tIns="0" rIns="45720" bIns="0" anchor="t">
            <a:noAutofit/>
          </a:bodyPr>
          <a:lstStyle/>
          <a:p>
            <a:pPr algn="ctr"/>
            <a:r>
              <a:rPr lang="en-GB" sz="1200" b="1" dirty="0">
                <a:solidFill>
                  <a:srgbClr val="262626"/>
                </a:solidFill>
              </a:rPr>
              <a:t>Reach</a:t>
            </a:r>
          </a:p>
        </p:txBody>
      </p:sp>
      <p:pic>
        <p:nvPicPr>
          <p:cNvPr id="14" name="Figure" descr="Robustness against budget, Reach"/>
          <p:cNvPicPr>
            <a:picLocks noChangeAspect="1"/>
          </p:cNvPicPr>
          <p:nvPr/>
        </p:nvPicPr>
        <p:blipFill>
          <a:blip r:embed="rId2"/>
          <a:stretch>
            <a:fillRect/>
          </a:stretch>
        </p:blipFill>
        <p:spPr>
          <a:xfrm>
            <a:off x="603504" y="2213623"/>
            <a:ext cx="2121408" cy="1653514"/>
          </a:xfrm>
          <a:prstGeom prst="rect">
            <a:avLst/>
          </a:prstGeom>
        </p:spPr>
      </p:pic>
      <p:sp>
        <p:nvSpPr>
          <p:cNvPr id="15" name="Label"/>
          <p:cNvSpPr txBox="1"/>
          <p:nvPr/>
        </p:nvSpPr>
        <p:spPr>
          <a:xfrm>
            <a:off x="2816352" y="1874520"/>
            <a:ext cx="2121408" cy="274320"/>
          </a:xfrm>
          <a:prstGeom prst="rect">
            <a:avLst/>
          </a:prstGeom>
          <a:noFill/>
        </p:spPr>
        <p:txBody>
          <a:bodyPr wrap="square" lIns="45720" tIns="0" rIns="45720" bIns="0" anchor="t">
            <a:noAutofit/>
          </a:bodyPr>
          <a:lstStyle/>
          <a:p>
            <a:pPr algn="ctr"/>
            <a:r>
              <a:rPr lang="en-GB" sz="1200" b="1" dirty="0">
                <a:solidFill>
                  <a:srgbClr val="262626"/>
                </a:solidFill>
              </a:rPr>
              <a:t>Nested reach-and-dwell</a:t>
            </a:r>
          </a:p>
        </p:txBody>
      </p:sp>
      <p:pic>
        <p:nvPicPr>
          <p:cNvPr id="16" name="Figure" descr="Robustness against budget, Nested reach-and-dwell"/>
          <p:cNvPicPr>
            <a:picLocks noChangeAspect="1"/>
          </p:cNvPicPr>
          <p:nvPr/>
        </p:nvPicPr>
        <p:blipFill>
          <a:blip r:embed="rId3"/>
          <a:stretch>
            <a:fillRect/>
          </a:stretch>
        </p:blipFill>
        <p:spPr>
          <a:xfrm>
            <a:off x="2816352" y="2213623"/>
            <a:ext cx="2121408" cy="1653514"/>
          </a:xfrm>
          <a:prstGeom prst="rect">
            <a:avLst/>
          </a:prstGeom>
        </p:spPr>
      </p:pic>
      <p:sp>
        <p:nvSpPr>
          <p:cNvPr id="17" name="Label"/>
          <p:cNvSpPr txBox="1"/>
          <p:nvPr/>
        </p:nvSpPr>
        <p:spPr>
          <a:xfrm>
            <a:off x="5029200" y="1874520"/>
            <a:ext cx="2121408" cy="274320"/>
          </a:xfrm>
          <a:prstGeom prst="rect">
            <a:avLst/>
          </a:prstGeom>
          <a:noFill/>
        </p:spPr>
        <p:txBody>
          <a:bodyPr wrap="square" lIns="45720" tIns="0" rIns="45720" bIns="0" anchor="t">
            <a:noAutofit/>
          </a:bodyPr>
          <a:lstStyle/>
          <a:p>
            <a:pPr algn="ctr"/>
            <a:r>
              <a:rPr lang="en-GB" sz="1200" b="1" dirty="0">
                <a:solidFill>
                  <a:srgbClr val="262626"/>
                </a:solidFill>
              </a:rPr>
              <a:t>Recurrence</a:t>
            </a:r>
          </a:p>
        </p:txBody>
      </p:sp>
      <p:pic>
        <p:nvPicPr>
          <p:cNvPr id="18" name="Figure" descr="Robustness against budget, Recurrence"/>
          <p:cNvPicPr>
            <a:picLocks noChangeAspect="1"/>
          </p:cNvPicPr>
          <p:nvPr/>
        </p:nvPicPr>
        <p:blipFill>
          <a:blip r:embed="rId4"/>
          <a:stretch>
            <a:fillRect/>
          </a:stretch>
        </p:blipFill>
        <p:spPr>
          <a:xfrm>
            <a:off x="5029200" y="2213623"/>
            <a:ext cx="2121408" cy="1653514"/>
          </a:xfrm>
          <a:prstGeom prst="rect">
            <a:avLst/>
          </a:prstGeom>
        </p:spPr>
      </p:pic>
      <p:sp>
        <p:nvSpPr>
          <p:cNvPr id="19" name="Label"/>
          <p:cNvSpPr txBox="1"/>
          <p:nvPr/>
        </p:nvSpPr>
        <p:spPr>
          <a:xfrm>
            <a:off x="7242048" y="1874520"/>
            <a:ext cx="2121408" cy="274320"/>
          </a:xfrm>
          <a:prstGeom prst="rect">
            <a:avLst/>
          </a:prstGeom>
          <a:noFill/>
        </p:spPr>
        <p:txBody>
          <a:bodyPr wrap="square" lIns="45720" tIns="0" rIns="45720" bIns="0" anchor="t">
            <a:noAutofit/>
          </a:bodyPr>
          <a:lstStyle/>
          <a:p>
            <a:pPr algn="ctr"/>
            <a:r>
              <a:rPr lang="en-GB" sz="1200" b="1" dirty="0">
                <a:solidFill>
                  <a:srgbClr val="262626"/>
                </a:solidFill>
              </a:rPr>
              <a:t>Sequence</a:t>
            </a:r>
          </a:p>
        </p:txBody>
      </p:sp>
      <p:pic>
        <p:nvPicPr>
          <p:cNvPr id="20" name="Figure" descr="Robustness against budget, Sequence"/>
          <p:cNvPicPr>
            <a:picLocks noChangeAspect="1"/>
          </p:cNvPicPr>
          <p:nvPr/>
        </p:nvPicPr>
        <p:blipFill>
          <a:blip r:embed="rId5"/>
          <a:stretch>
            <a:fillRect/>
          </a:stretch>
        </p:blipFill>
        <p:spPr>
          <a:xfrm>
            <a:off x="7242048" y="2213623"/>
            <a:ext cx="2121408" cy="1653514"/>
          </a:xfrm>
          <a:prstGeom prst="rect">
            <a:avLst/>
          </a:prstGeom>
        </p:spPr>
      </p:pic>
      <p:sp>
        <p:nvSpPr>
          <p:cNvPr id="21" name="Label"/>
          <p:cNvSpPr txBox="1"/>
          <p:nvPr/>
        </p:nvSpPr>
        <p:spPr>
          <a:xfrm>
            <a:off x="9454896" y="1874520"/>
            <a:ext cx="2121408" cy="274320"/>
          </a:xfrm>
          <a:prstGeom prst="rect">
            <a:avLst/>
          </a:prstGeom>
          <a:noFill/>
        </p:spPr>
        <p:txBody>
          <a:bodyPr wrap="square" lIns="45720" tIns="0" rIns="45720" bIns="0" anchor="t">
            <a:noAutofit/>
          </a:bodyPr>
          <a:lstStyle/>
          <a:p>
            <a:pPr algn="ctr"/>
            <a:r>
              <a:rPr lang="en-GB" sz="1200" b="1" dirty="0">
                <a:solidFill>
                  <a:srgbClr val="262626"/>
                </a:solidFill>
              </a:rPr>
              <a:t>Sequence with avoidance</a:t>
            </a:r>
          </a:p>
        </p:txBody>
      </p:sp>
      <p:pic>
        <p:nvPicPr>
          <p:cNvPr id="22" name="Figure" descr="Robustness against budget, Sequence with avoidance"/>
          <p:cNvPicPr>
            <a:picLocks noChangeAspect="1"/>
          </p:cNvPicPr>
          <p:nvPr/>
        </p:nvPicPr>
        <p:blipFill>
          <a:blip r:embed="rId6"/>
          <a:stretch>
            <a:fillRect/>
          </a:stretch>
        </p:blipFill>
        <p:spPr>
          <a:xfrm>
            <a:off x="9454896" y="2213623"/>
            <a:ext cx="2121408" cy="1653514"/>
          </a:xfrm>
          <a:prstGeom prst="rect">
            <a:avLst/>
          </a:prstGeom>
        </p:spPr>
      </p:pic>
      <p:sp>
        <p:nvSpPr>
          <p:cNvPr id="23" name="Label"/>
          <p:cNvSpPr txBox="1"/>
          <p:nvPr/>
        </p:nvSpPr>
        <p:spPr>
          <a:xfrm>
            <a:off x="603504" y="3977640"/>
            <a:ext cx="2121408" cy="274320"/>
          </a:xfrm>
          <a:prstGeom prst="rect">
            <a:avLst/>
          </a:prstGeom>
          <a:noFill/>
        </p:spPr>
        <p:txBody>
          <a:bodyPr wrap="square" lIns="45720" tIns="0" rIns="45720" bIns="0" anchor="t">
            <a:noAutofit/>
          </a:bodyPr>
          <a:lstStyle/>
          <a:p>
            <a:pPr algn="ctr"/>
            <a:r>
              <a:rPr lang="en-GB" sz="1200" b="1" dirty="0">
                <a:solidFill>
                  <a:srgbClr val="262626"/>
                </a:solidFill>
              </a:rPr>
              <a:t>Composite</a:t>
            </a:r>
          </a:p>
        </p:txBody>
      </p:sp>
      <p:pic>
        <p:nvPicPr>
          <p:cNvPr id="24" name="Figure" descr="Robustness against budget, Composite"/>
          <p:cNvPicPr>
            <a:picLocks noChangeAspect="1"/>
          </p:cNvPicPr>
          <p:nvPr/>
        </p:nvPicPr>
        <p:blipFill>
          <a:blip r:embed="rId7"/>
          <a:stretch>
            <a:fillRect/>
          </a:stretch>
        </p:blipFill>
        <p:spPr>
          <a:xfrm>
            <a:off x="603504" y="4316743"/>
            <a:ext cx="2121408" cy="1653514"/>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solidFill>
                  <a:srgbClr val="6E6E6E"/>
                </a:solidFill>
              </a:rPr>
              <a:t>Cube results, all three classes</a:t>
            </a:r>
          </a:p>
        </p:txBody>
      </p:sp>
      <p:sp>
        <p:nvSpPr>
          <p:cNvPr id="12" name="Slide Number"/>
          <p:cNvSpPr>
            <a:spLocks noGrp="1"/>
          </p:cNvSpPr>
          <p:nvPr>
            <p:ph type="sldNum" sz="quarter" idx="12"/>
          </p:nvPr>
        </p:nvSpPr>
        <p:spPr/>
        <p:txBody>
          <a:bodyPr/>
          <a:lstStyle/>
          <a:p>
            <a:fld id="{619F89D8-7AE3-494A-97F3-03D680869632}" type="slidenum">
              <a:rPr lang="en-GB"/>
              <a:t>1</a:t>
            </a:fld>
            <a:endParaRPr lang="en-GB"/>
          </a:p>
        </p:txBody>
      </p:sp>
      <p:pic>
        <p:nvPicPr>
          <p:cNvPr id="13" name="Figure" descr="Cube results, all three classes"/>
          <p:cNvPicPr>
            <a:picLocks noChangeAspect="1"/>
          </p:cNvPicPr>
          <p:nvPr/>
        </p:nvPicPr>
        <p:blipFill>
          <a:blip r:embed="rId2"/>
          <a:stretch>
            <a:fillRect/>
          </a:stretch>
        </p:blipFill>
        <p:spPr>
          <a:xfrm>
            <a:off x="969264" y="2515300"/>
            <a:ext cx="10259568" cy="310756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solidFill>
                  <a:srgbClr val="6E6E6E"/>
                </a:solidFill>
              </a:rPr>
              <a:t>Kitchen study</a:t>
            </a:r>
          </a:p>
        </p:txBody>
      </p:sp>
      <p:sp>
        <p:nvSpPr>
          <p:cNvPr id="12" name="Slide Number"/>
          <p:cNvSpPr>
            <a:spLocks noGrp="1"/>
          </p:cNvSpPr>
          <p:nvPr>
            <p:ph type="sldNum" sz="quarter" idx="12"/>
          </p:nvPr>
        </p:nvSpPr>
        <p:spPr/>
        <p:txBody>
          <a:bodyPr/>
          <a:lstStyle/>
          <a:p>
            <a:fld id="{619F89D8-7AE3-494A-97F3-03D680869632}" type="slidenum">
              <a:rPr lang="en-GB"/>
              <a:t>1</a:t>
            </a:fld>
            <a:endParaRPr lang="en-GB"/>
          </a:p>
        </p:txBody>
      </p:sp>
      <p:pic>
        <p:nvPicPr>
          <p:cNvPr id="13" name="Figure" descr="Planned against executed robustness, eighty runs"/>
          <p:cNvPicPr>
            <a:picLocks noChangeAspect="1"/>
          </p:cNvPicPr>
          <p:nvPr/>
        </p:nvPicPr>
        <p:blipFill>
          <a:blip r:embed="rId2"/>
          <a:stretch>
            <a:fillRect/>
          </a:stretch>
        </p:blipFill>
        <p:spPr>
          <a:xfrm>
            <a:off x="782416" y="2514600"/>
            <a:ext cx="6865935" cy="3657600"/>
          </a:xfrm>
          <a:prstGeom prst="rect">
            <a:avLst/>
          </a:prstGeom>
        </p:spPr>
      </p:pic>
      <p:pic>
        <p:nvPicPr>
          <p:cNvPr id="14" name="Equation" descr="phi equals eventually microwave and eventually kettle"/>
          <p:cNvPicPr>
            <a:picLocks noChangeAspect="1"/>
          </p:cNvPicPr>
          <p:nvPr/>
        </p:nvPicPr>
        <p:blipFill>
          <a:blip r:embed="rId3"/>
          <a:stretch>
            <a:fillRect/>
          </a:stretch>
        </p:blipFill>
        <p:spPr>
          <a:xfrm>
            <a:off x="1779270" y="1965960"/>
            <a:ext cx="4872228" cy="329184"/>
          </a:xfrm>
          <a:prstGeom prst="rect">
            <a:avLst/>
          </a:prstGeom>
        </p:spPr>
      </p:pic>
      <p:pic>
        <p:nvPicPr>
          <p:cNvPr id="15" name="Figure" descr="The kitchen"/>
          <p:cNvPicPr>
            <a:picLocks noChangeAspect="1"/>
          </p:cNvPicPr>
          <p:nvPr/>
        </p:nvPicPr>
        <p:blipFill>
          <a:blip r:embed="rId4"/>
          <a:stretch>
            <a:fillRect/>
          </a:stretch>
        </p:blipFill>
        <p:spPr>
          <a:xfrm>
            <a:off x="8471916" y="1874520"/>
            <a:ext cx="2743200" cy="2743200"/>
          </a:xfrm>
          <a:prstGeom prst="rect">
            <a:avLst/>
          </a:prstGeom>
        </p:spPr>
      </p:pic>
      <p:sp>
        <p:nvSpPr>
          <p:cNvPr id="16" name="Label"/>
          <p:cNvSpPr txBox="1"/>
          <p:nvPr/>
        </p:nvSpPr>
        <p:spPr>
          <a:xfrm>
            <a:off x="8092440" y="4709160"/>
            <a:ext cx="3502152" cy="1554480"/>
          </a:xfrm>
          <a:prstGeom prst="rect">
            <a:avLst/>
          </a:prstGeom>
          <a:noFill/>
        </p:spPr>
        <p:txBody>
          <a:bodyPr wrap="square" lIns="45720" tIns="0" rIns="45720" bIns="0" anchor="t">
            <a:noAutofit/>
          </a:bodyPr>
          <a:lstStyle/>
          <a:p>
            <a:pPr algn="l"/>
            <a:r>
              <a:rPr lang="en-GB" sz="1400" dirty="0">
                <a:solidFill>
                  <a:srgbClr val="262626"/>
                </a:solidFill>
              </a:rPr>
              <a:t>Complete-v2 prior, unguided,</a:t>
            </a:r>
          </a:p>
          <a:p>
            <a:pPr algn="l"/>
            <a:r>
              <a:rPr lang="en-GB" sz="1400" dirty="0">
                <a:solidFill>
                  <a:srgbClr val="262626"/>
                </a:solidFill>
              </a:rPr>
              <a:t>mean robustness of plan +0.23</a:t>
            </a:r>
          </a:p>
          <a:p>
            <a:pPr algn="l"/>
            <a:r>
              <a:rPr lang="en-GB" sz="1400" dirty="0">
                <a:solidFill>
                  <a:srgbClr val="262626"/>
                </a:solidFill>
              </a:rPr>
              <a:t>and of execution −0.45, a fall of 0.68</a:t>
            </a:r>
          </a:p>
          <a:p>
            <a:pPr algn="l"/>
            <a:r>
              <a:rPr lang="en-GB" sz="1400" dirty="0">
                <a:solidFill>
                  <a:srgbClr val="262626"/>
                </a:solidFill>
              </a:rPr>
              <a:t>against a margin of at most 0.3</a:t>
            </a:r>
          </a:p>
          <a:p>
            <a:pPr algn="l"/>
            <a:r>
              <a:rPr lang="en-GB" sz="1400" dirty="0">
                <a:solidFill>
                  <a:srgbClr val="262626"/>
                </a:solidFill>
              </a:rPr>
              <a:t/>
            </a:r>
          </a:p>
          <a:p>
            <a:pPr algn="l"/>
            <a:r>
              <a:rPr lang="en-GB" sz="1400" dirty="0">
                <a:solidFill>
                  <a:srgbClr val="262626"/>
                </a:solidFill>
              </a:rPr>
              <a:t>Task success in 0 of 80 executions</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solidFill>
                  <a:srgbClr val="6E6E6E"/>
                </a:solidFill>
              </a:rPr>
              <a:t>Physical platform</a:t>
            </a:r>
          </a:p>
        </p:txBody>
      </p:sp>
      <p:sp>
        <p:nvSpPr>
          <p:cNvPr id="12" name="Slide Number"/>
          <p:cNvSpPr>
            <a:spLocks noGrp="1"/>
          </p:cNvSpPr>
          <p:nvPr>
            <p:ph type="sldNum" sz="quarter" idx="12"/>
          </p:nvPr>
        </p:nvSpPr>
        <p:spPr/>
        <p:txBody>
          <a:bodyPr/>
          <a:lstStyle/>
          <a:p>
            <a:fld id="{619F89D8-7AE3-494A-97F3-03D680869632}" type="slidenum">
              <a:rPr lang="en-GB"/>
              <a:t>1</a:t>
            </a:fld>
            <a:endParaRPr lang="en-GB"/>
          </a:p>
        </p:txBody>
      </p:sp>
      <p:pic>
        <p:nvPicPr>
          <p:cNvPr id="13" name="Figure" descr="The GoFA work cell"/>
          <p:cNvPicPr>
            <a:picLocks noChangeAspect="1"/>
          </p:cNvPicPr>
          <p:nvPr/>
        </p:nvPicPr>
        <p:blipFill>
          <a:blip r:embed="rId2"/>
          <a:stretch>
            <a:fillRect/>
          </a:stretch>
        </p:blipFill>
        <p:spPr>
          <a:xfrm>
            <a:off x="603504" y="1919809"/>
            <a:ext cx="5897880" cy="3338423"/>
          </a:xfrm>
          <a:prstGeom prst="rect">
            <a:avLst/>
          </a:prstGeom>
        </p:spPr>
      </p:pic>
      <p:pic>
        <p:nvPicPr>
          <p:cNvPr id="14" name="Equation" descr="phi equals always between grasp and place, roll, pitch and yaw below 5 degrees"/>
          <p:cNvPicPr>
            <a:picLocks noChangeAspect="1"/>
          </p:cNvPicPr>
          <p:nvPr/>
        </p:nvPicPr>
        <p:blipFill>
          <a:blip r:embed="rId3"/>
          <a:stretch>
            <a:fillRect/>
          </a:stretch>
        </p:blipFill>
        <p:spPr>
          <a:xfrm>
            <a:off x="1315212" y="5532120"/>
            <a:ext cx="4465320" cy="323088"/>
          </a:xfrm>
          <a:prstGeom prst="rect">
            <a:avLst/>
          </a:prstGeom>
        </p:spPr>
      </p:pic>
      <p:pic>
        <p:nvPicPr>
          <p:cNvPr id="15" name="Figure" descr="Prior samples against the demonstration, joint by joint"/>
          <p:cNvPicPr>
            <a:picLocks noChangeAspect="1"/>
          </p:cNvPicPr>
          <p:nvPr/>
        </p:nvPicPr>
        <p:blipFill>
          <a:blip r:embed="rId4"/>
          <a:stretch>
            <a:fillRect/>
          </a:stretch>
        </p:blipFill>
        <p:spPr>
          <a:xfrm>
            <a:off x="6766560" y="1874520"/>
            <a:ext cx="2468880" cy="4389120"/>
          </a:xfrm>
          <a:prstGeom prst="rect">
            <a:avLst/>
          </a:prstGeom>
        </p:spPr>
      </p:pic>
      <p:sp>
        <p:nvSpPr>
          <p:cNvPr id="16" name="Label"/>
          <p:cNvSpPr txBox="1"/>
          <p:nvPr/>
        </p:nvSpPr>
        <p:spPr>
          <a:xfrm>
            <a:off x="9418320" y="2011680"/>
            <a:ext cx="2176272" cy="3474720"/>
          </a:xfrm>
          <a:prstGeom prst="rect">
            <a:avLst/>
          </a:prstGeom>
          <a:noFill/>
        </p:spPr>
        <p:txBody>
          <a:bodyPr wrap="square" lIns="45720" tIns="0" rIns="45720" bIns="0" anchor="t">
            <a:noAutofit/>
          </a:bodyPr>
          <a:lstStyle/>
          <a:p>
            <a:pPr algn="l"/>
            <a:r>
              <a:rPr lang="en-GB" sz="1500" dirty="0">
                <a:solidFill>
                  <a:srgbClr val="262626"/>
                </a:solidFill>
              </a:rPr>
              <a:t>ABB GoFA CRB 15000,</a:t>
            </a:r>
          </a:p>
          <a:p>
            <a:pPr algn="l"/>
            <a:r>
              <a:rPr lang="en-GB" sz="1500" dirty="0">
                <a:solidFill>
                  <a:srgbClr val="262626"/>
                </a:solidFill>
              </a:rPr>
              <a:t>five door-opening</a:t>
            </a:r>
          </a:p>
          <a:p>
            <a:pPr algn="l"/>
            <a:r>
              <a:rPr lang="en-GB" sz="1500" dirty="0">
                <a:solidFill>
                  <a:srgbClr val="262626"/>
                </a:solidFill>
              </a:rPr>
              <a:t>demonstrations,</a:t>
            </a:r>
          </a:p>
          <a:p>
            <a:pPr algn="l"/>
            <a:r>
              <a:rPr lang="en-GB" sz="1500" dirty="0">
                <a:solidFill>
                  <a:srgbClr val="262626"/>
                </a:solidFill>
              </a:rPr>
              <a:t>six joint angles and</a:t>
            </a:r>
          </a:p>
          <a:p>
            <a:pPr algn="l"/>
            <a:r>
              <a:rPr lang="en-GB" sz="1500" dirty="0">
                <a:solidFill>
                  <a:srgbClr val="262626"/>
                </a:solidFill>
              </a:rPr>
              <a:t>the gripper state,</a:t>
            </a:r>
          </a:p>
          <a:p>
            <a:pPr algn="l"/>
            <a:r>
              <a:rPr lang="en-GB" sz="1500" dirty="0">
                <a:solidFill>
                  <a:srgbClr val="262626"/>
                </a:solidFill>
              </a:rPr>
              <a:t>H = 128</a:t>
            </a:r>
          </a:p>
          <a:p>
            <a:pPr algn="l"/>
            <a:r>
              <a:rPr lang="en-GB" sz="1500" dirty="0">
                <a:solidFill>
                  <a:srgbClr val="262626"/>
                </a:solidFill>
              </a:rPr>
              <a:t/>
            </a:r>
          </a:p>
          <a:p>
            <a:pPr algn="l"/>
            <a:r>
              <a:rPr lang="en-GB" sz="1500" dirty="0">
                <a:solidFill>
                  <a:srgbClr val="262626"/>
                </a:solidFill>
              </a:rPr>
              <a:t>No demonstration</a:t>
            </a:r>
          </a:p>
          <a:p>
            <a:pPr algn="l"/>
            <a:r>
              <a:rPr lang="en-GB" sz="1500" dirty="0">
                <a:solidFill>
                  <a:srgbClr val="262626"/>
                </a:solidFill>
              </a:rPr>
              <a:t>satisfies the carry</a:t>
            </a:r>
          </a:p>
          <a:p>
            <a:pPr algn="l"/>
            <a:r>
              <a:rPr lang="en-GB" sz="1500" dirty="0">
                <a:solidFill>
                  <a:srgbClr val="262626"/>
                </a:solidFill>
              </a:rPr>
              <a:t>requirement</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solidFill>
                  <a:srgbClr val="6E6E6E"/>
                </a:solidFill>
              </a:rPr>
              <a:t>Roughness of guided plans</a:t>
            </a:r>
          </a:p>
        </p:txBody>
      </p:sp>
      <p:sp>
        <p:nvSpPr>
          <p:cNvPr id="12" name="Slide Number"/>
          <p:cNvSpPr>
            <a:spLocks noGrp="1"/>
          </p:cNvSpPr>
          <p:nvPr>
            <p:ph type="sldNum" sz="quarter" idx="12"/>
          </p:nvPr>
        </p:nvSpPr>
        <p:spPr/>
        <p:txBody>
          <a:bodyPr/>
          <a:lstStyle/>
          <a:p>
            <a:fld id="{619F89D8-7AE3-494A-97F3-03D680869632}" type="slidenum">
              <a:rPr lang="en-GB"/>
              <a:t>1</a:t>
            </a:fld>
            <a:endParaRPr lang="en-GB"/>
          </a:p>
        </p:txBody>
      </p:sp>
      <p:sp>
        <p:nvSpPr>
          <p:cNvPr id="13" name="Label"/>
          <p:cNvSpPr txBox="1"/>
          <p:nvPr/>
        </p:nvSpPr>
        <p:spPr>
          <a:xfrm>
            <a:off x="640080" y="1938528"/>
            <a:ext cx="4846320" cy="292608"/>
          </a:xfrm>
          <a:prstGeom prst="rect">
            <a:avLst/>
          </a:prstGeom>
          <a:noFill/>
        </p:spPr>
        <p:txBody>
          <a:bodyPr wrap="square" lIns="45720" tIns="0" rIns="45720" bIns="0" anchor="t">
            <a:noAutofit/>
          </a:bodyPr>
          <a:lstStyle/>
          <a:p>
            <a:pPr algn="l"/>
            <a:r>
              <a:rPr lang="en-GB" sz="1400" dirty="0">
                <a:solidFill>
                  <a:srgbClr val="6E6E6E"/>
                </a:solidFill>
              </a:rPr>
              <a:t>Trajectories</a:t>
            </a:r>
          </a:p>
        </p:txBody>
      </p:sp>
      <p:sp>
        <p:nvSpPr>
          <p:cNvPr id="14" name="Label"/>
          <p:cNvSpPr txBox="1"/>
          <p:nvPr/>
        </p:nvSpPr>
        <p:spPr>
          <a:xfrm>
            <a:off x="5669280" y="1938528"/>
            <a:ext cx="2011680" cy="292608"/>
          </a:xfrm>
          <a:prstGeom prst="rect">
            <a:avLst/>
          </a:prstGeom>
          <a:noFill/>
        </p:spPr>
        <p:txBody>
          <a:bodyPr wrap="square" lIns="45720" tIns="0" rIns="45720" bIns="0" anchor="t">
            <a:noAutofit/>
          </a:bodyPr>
          <a:lstStyle/>
          <a:p>
            <a:pPr algn="ctr"/>
            <a:r>
              <a:rPr lang="en-GB" sz="1400" dirty="0">
                <a:solidFill>
                  <a:srgbClr val="6E6E6E"/>
                </a:solidFill>
              </a:rPr>
              <a:t>Median turn angle</a:t>
            </a:r>
          </a:p>
        </p:txBody>
      </p:sp>
      <p:sp>
        <p:nvSpPr>
          <p:cNvPr id="15" name="Label"/>
          <p:cNvSpPr txBox="1"/>
          <p:nvPr/>
        </p:nvSpPr>
        <p:spPr>
          <a:xfrm>
            <a:off x="7863840" y="1938528"/>
            <a:ext cx="2011680" cy="292608"/>
          </a:xfrm>
          <a:prstGeom prst="rect">
            <a:avLst/>
          </a:prstGeom>
          <a:noFill/>
        </p:spPr>
        <p:txBody>
          <a:bodyPr wrap="square" lIns="45720" tIns="0" rIns="45720" bIns="0" anchor="t">
            <a:noAutofit/>
          </a:bodyPr>
          <a:lstStyle/>
          <a:p>
            <a:pPr algn="ctr"/>
            <a:r>
              <a:rPr lang="en-GB" sz="1400" dirty="0">
                <a:solidFill>
                  <a:srgbClr val="6E6E6E"/>
                </a:solidFill>
              </a:rPr>
              <a:t>Turns above 90°</a:t>
            </a:r>
          </a:p>
        </p:txBody>
      </p:sp>
      <p:cxnSp>
        <p:nvCxnSpPr>
          <p:cNvPr id="16" name="Rule"/>
          <p:cNvCxnSpPr/>
          <p:nvPr/>
        </p:nvCxnSpPr>
        <p:spPr>
          <a:xfrm>
            <a:off x="640080" y="2304288"/>
            <a:ext cx="9235440" cy="0"/>
          </a:xfrm>
          <a:prstGeom prst="straightConnector1">
            <a:avLst/>
          </a:prstGeom>
          <a:ln w="9525">
            <a:solidFill>
              <a:srgbClr val="D2D2D2"/>
            </a:solidFill>
          </a:ln>
        </p:spPr>
      </p:cxnSp>
      <p:sp>
        <p:nvSpPr>
          <p:cNvPr id="17" name="Label"/>
          <p:cNvSpPr txBox="1"/>
          <p:nvPr/>
        </p:nvSpPr>
        <p:spPr>
          <a:xfrm>
            <a:off x="640080" y="2350008"/>
            <a:ext cx="4846320" cy="347472"/>
          </a:xfrm>
          <a:prstGeom prst="rect">
            <a:avLst/>
          </a:prstGeom>
          <a:noFill/>
        </p:spPr>
        <p:txBody>
          <a:bodyPr wrap="square" lIns="45720" tIns="0" rIns="45720" bIns="0" anchor="ctr">
            <a:noAutofit/>
          </a:bodyPr>
          <a:lstStyle/>
          <a:p>
            <a:pPr algn="l"/>
            <a:r>
              <a:rPr lang="en-GB" sz="1700" dirty="0">
                <a:solidFill>
                  <a:srgbClr val="262626"/>
                </a:solidFill>
              </a:rPr>
              <a:t>Demonstrations</a:t>
            </a:r>
          </a:p>
        </p:txBody>
      </p:sp>
      <p:sp>
        <p:nvSpPr>
          <p:cNvPr id="18" name="Label"/>
          <p:cNvSpPr txBox="1"/>
          <p:nvPr/>
        </p:nvSpPr>
        <p:spPr>
          <a:xfrm>
            <a:off x="5669280" y="2350008"/>
            <a:ext cx="2011680" cy="347472"/>
          </a:xfrm>
          <a:prstGeom prst="rect">
            <a:avLst/>
          </a:prstGeom>
          <a:noFill/>
        </p:spPr>
        <p:txBody>
          <a:bodyPr wrap="square" lIns="45720" tIns="0" rIns="45720" bIns="0" anchor="ctr">
            <a:noAutofit/>
          </a:bodyPr>
          <a:lstStyle/>
          <a:p>
            <a:pPr algn="ctr"/>
            <a:r>
              <a:rPr lang="en-GB" sz="1700" dirty="0">
                <a:solidFill>
                  <a:srgbClr val="262626"/>
                </a:solidFill>
              </a:rPr>
              <a:t>0.6°</a:t>
            </a:r>
          </a:p>
        </p:txBody>
      </p:sp>
      <p:sp>
        <p:nvSpPr>
          <p:cNvPr id="19" name="Label"/>
          <p:cNvSpPr txBox="1"/>
          <p:nvPr/>
        </p:nvSpPr>
        <p:spPr>
          <a:xfrm>
            <a:off x="7863840" y="2350008"/>
            <a:ext cx="2011680" cy="347472"/>
          </a:xfrm>
          <a:prstGeom prst="rect">
            <a:avLst/>
          </a:prstGeom>
          <a:noFill/>
        </p:spPr>
        <p:txBody>
          <a:bodyPr wrap="square" lIns="45720" tIns="0" rIns="45720" bIns="0" anchor="ctr">
            <a:noAutofit/>
          </a:bodyPr>
          <a:lstStyle/>
          <a:p>
            <a:pPr algn="ctr"/>
            <a:r>
              <a:rPr lang="en-GB" sz="1700" dirty="0">
                <a:solidFill>
                  <a:srgbClr val="262626"/>
                </a:solidFill>
              </a:rPr>
              <a:t>2 %</a:t>
            </a:r>
          </a:p>
        </p:txBody>
      </p:sp>
      <p:cxnSp>
        <p:nvCxnSpPr>
          <p:cNvPr id="20" name="Rule"/>
          <p:cNvCxnSpPr/>
          <p:nvPr/>
        </p:nvCxnSpPr>
        <p:spPr>
          <a:xfrm>
            <a:off x="640080" y="2734056"/>
            <a:ext cx="9235440" cy="0"/>
          </a:xfrm>
          <a:prstGeom prst="straightConnector1">
            <a:avLst/>
          </a:prstGeom>
          <a:ln w="9525">
            <a:solidFill>
              <a:srgbClr val="D2D2D2"/>
            </a:solidFill>
          </a:ln>
        </p:spPr>
      </p:cxnSp>
      <p:sp>
        <p:nvSpPr>
          <p:cNvPr id="21" name="Label"/>
          <p:cNvSpPr txBox="1"/>
          <p:nvPr/>
        </p:nvSpPr>
        <p:spPr>
          <a:xfrm>
            <a:off x="640080" y="2779776"/>
            <a:ext cx="4846320" cy="347472"/>
          </a:xfrm>
          <a:prstGeom prst="rect">
            <a:avLst/>
          </a:prstGeom>
          <a:noFill/>
        </p:spPr>
        <p:txBody>
          <a:bodyPr wrap="square" lIns="45720" tIns="0" rIns="45720" bIns="0" anchor="ctr">
            <a:noAutofit/>
          </a:bodyPr>
          <a:lstStyle/>
          <a:p>
            <a:pPr algn="l"/>
            <a:r>
              <a:rPr lang="en-GB" sz="1700" dirty="0">
                <a:solidFill>
                  <a:srgbClr val="262626"/>
                </a:solidFill>
              </a:rPr>
              <a:t>Unguided prior, start pinned</a:t>
            </a:r>
          </a:p>
        </p:txBody>
      </p:sp>
      <p:sp>
        <p:nvSpPr>
          <p:cNvPr id="22" name="Label"/>
          <p:cNvSpPr txBox="1"/>
          <p:nvPr/>
        </p:nvSpPr>
        <p:spPr>
          <a:xfrm>
            <a:off x="5669280" y="2779776"/>
            <a:ext cx="2011680" cy="347472"/>
          </a:xfrm>
          <a:prstGeom prst="rect">
            <a:avLst/>
          </a:prstGeom>
          <a:noFill/>
        </p:spPr>
        <p:txBody>
          <a:bodyPr wrap="square" lIns="45720" tIns="0" rIns="45720" bIns="0" anchor="ctr">
            <a:noAutofit/>
          </a:bodyPr>
          <a:lstStyle/>
          <a:p>
            <a:pPr algn="ctr"/>
            <a:r>
              <a:rPr lang="en-GB" sz="1700" dirty="0">
                <a:solidFill>
                  <a:srgbClr val="262626"/>
                </a:solidFill>
              </a:rPr>
              <a:t>6.4°</a:t>
            </a:r>
          </a:p>
        </p:txBody>
      </p:sp>
      <p:sp>
        <p:nvSpPr>
          <p:cNvPr id="23" name="Label"/>
          <p:cNvSpPr txBox="1"/>
          <p:nvPr/>
        </p:nvSpPr>
        <p:spPr>
          <a:xfrm>
            <a:off x="7863840" y="2779776"/>
            <a:ext cx="2011680" cy="347472"/>
          </a:xfrm>
          <a:prstGeom prst="rect">
            <a:avLst/>
          </a:prstGeom>
          <a:noFill/>
        </p:spPr>
        <p:txBody>
          <a:bodyPr wrap="square" lIns="45720" tIns="0" rIns="45720" bIns="0" anchor="ctr">
            <a:noAutofit/>
          </a:bodyPr>
          <a:lstStyle/>
          <a:p>
            <a:pPr algn="ctr"/>
            <a:r>
              <a:rPr lang="en-GB" sz="1700" dirty="0">
                <a:solidFill>
                  <a:srgbClr val="262626"/>
                </a:solidFill>
              </a:rPr>
              <a:t>4 %</a:t>
            </a:r>
          </a:p>
        </p:txBody>
      </p:sp>
      <p:cxnSp>
        <p:nvCxnSpPr>
          <p:cNvPr id="24" name="Rule"/>
          <p:cNvCxnSpPr/>
          <p:nvPr/>
        </p:nvCxnSpPr>
        <p:spPr>
          <a:xfrm>
            <a:off x="640080" y="3163824"/>
            <a:ext cx="9235440" cy="0"/>
          </a:xfrm>
          <a:prstGeom prst="straightConnector1">
            <a:avLst/>
          </a:prstGeom>
          <a:ln w="9525">
            <a:solidFill>
              <a:srgbClr val="D2D2D2"/>
            </a:solidFill>
          </a:ln>
        </p:spPr>
      </p:cxnSp>
      <p:sp>
        <p:nvSpPr>
          <p:cNvPr id="25" name="Label"/>
          <p:cNvSpPr txBox="1"/>
          <p:nvPr/>
        </p:nvSpPr>
        <p:spPr>
          <a:xfrm>
            <a:off x="640080" y="3209544"/>
            <a:ext cx="4846320" cy="347472"/>
          </a:xfrm>
          <a:prstGeom prst="rect">
            <a:avLst/>
          </a:prstGeom>
          <a:noFill/>
        </p:spPr>
        <p:txBody>
          <a:bodyPr wrap="square" lIns="45720" tIns="0" rIns="45720" bIns="0" anchor="ctr">
            <a:noAutofit/>
          </a:bodyPr>
          <a:lstStyle/>
          <a:p>
            <a:pPr algn="l"/>
            <a:r>
              <a:rPr lang="en-GB" sz="1700" dirty="0">
                <a:solidFill>
                  <a:srgbClr val="262626"/>
                </a:solidFill>
              </a:rPr>
              <a:t>Unguided prior, both endpoints pinned</a:t>
            </a:r>
          </a:p>
        </p:txBody>
      </p:sp>
      <p:sp>
        <p:nvSpPr>
          <p:cNvPr id="26" name="Label"/>
          <p:cNvSpPr txBox="1"/>
          <p:nvPr/>
        </p:nvSpPr>
        <p:spPr>
          <a:xfrm>
            <a:off x="5669280" y="3209544"/>
            <a:ext cx="2011680" cy="347472"/>
          </a:xfrm>
          <a:prstGeom prst="rect">
            <a:avLst/>
          </a:prstGeom>
          <a:noFill/>
        </p:spPr>
        <p:txBody>
          <a:bodyPr wrap="square" lIns="45720" tIns="0" rIns="45720" bIns="0" anchor="ctr">
            <a:noAutofit/>
          </a:bodyPr>
          <a:lstStyle/>
          <a:p>
            <a:pPr algn="ctr"/>
            <a:r>
              <a:rPr lang="en-GB" sz="1700" dirty="0">
                <a:solidFill>
                  <a:srgbClr val="262626"/>
                </a:solidFill>
              </a:rPr>
              <a:t>8.2°</a:t>
            </a:r>
          </a:p>
        </p:txBody>
      </p:sp>
      <p:sp>
        <p:nvSpPr>
          <p:cNvPr id="27" name="Label"/>
          <p:cNvSpPr txBox="1"/>
          <p:nvPr/>
        </p:nvSpPr>
        <p:spPr>
          <a:xfrm>
            <a:off x="7863840" y="3209544"/>
            <a:ext cx="2011680" cy="347472"/>
          </a:xfrm>
          <a:prstGeom prst="rect">
            <a:avLst/>
          </a:prstGeom>
          <a:noFill/>
        </p:spPr>
        <p:txBody>
          <a:bodyPr wrap="square" lIns="45720" tIns="0" rIns="45720" bIns="0" anchor="ctr">
            <a:noAutofit/>
          </a:bodyPr>
          <a:lstStyle/>
          <a:p>
            <a:pPr algn="ctr"/>
            <a:r>
              <a:rPr lang="en-GB" sz="1700" dirty="0">
                <a:solidFill>
                  <a:srgbClr val="262626"/>
                </a:solidFill>
              </a:rPr>
              <a:t>7 %</a:t>
            </a:r>
          </a:p>
        </p:txBody>
      </p:sp>
      <p:cxnSp>
        <p:nvCxnSpPr>
          <p:cNvPr id="28" name="Rule"/>
          <p:cNvCxnSpPr/>
          <p:nvPr/>
        </p:nvCxnSpPr>
        <p:spPr>
          <a:xfrm>
            <a:off x="640080" y="3593592"/>
            <a:ext cx="9235440" cy="0"/>
          </a:xfrm>
          <a:prstGeom prst="straightConnector1">
            <a:avLst/>
          </a:prstGeom>
          <a:ln w="9525">
            <a:solidFill>
              <a:srgbClr val="D2D2D2"/>
            </a:solidFill>
          </a:ln>
        </p:spPr>
      </p:cxnSp>
      <p:sp>
        <p:nvSpPr>
          <p:cNvPr id="29" name="Label"/>
          <p:cNvSpPr txBox="1"/>
          <p:nvPr/>
        </p:nvSpPr>
        <p:spPr>
          <a:xfrm>
            <a:off x="640080" y="3639312"/>
            <a:ext cx="4846320" cy="347472"/>
          </a:xfrm>
          <a:prstGeom prst="rect">
            <a:avLst/>
          </a:prstGeom>
          <a:noFill/>
        </p:spPr>
        <p:txBody>
          <a:bodyPr wrap="square" lIns="45720" tIns="0" rIns="45720" bIns="0" anchor="ctr">
            <a:noAutofit/>
          </a:bodyPr>
          <a:lstStyle/>
          <a:p>
            <a:pPr algn="l"/>
            <a:r>
              <a:rPr lang="en-GB" sz="1700" dirty="0">
                <a:solidFill>
                  <a:srgbClr val="1954A6"/>
                </a:solidFill>
              </a:rPr>
              <a:t>STL-FM, nested reach-and-dwell</a:t>
            </a:r>
          </a:p>
        </p:txBody>
      </p:sp>
      <p:sp>
        <p:nvSpPr>
          <p:cNvPr id="30" name="Label"/>
          <p:cNvSpPr txBox="1"/>
          <p:nvPr/>
        </p:nvSpPr>
        <p:spPr>
          <a:xfrm>
            <a:off x="5669280" y="3639312"/>
            <a:ext cx="2011680" cy="347472"/>
          </a:xfrm>
          <a:prstGeom prst="rect">
            <a:avLst/>
          </a:prstGeom>
          <a:noFill/>
        </p:spPr>
        <p:txBody>
          <a:bodyPr wrap="square" lIns="45720" tIns="0" rIns="45720" bIns="0" anchor="ctr">
            <a:noAutofit/>
          </a:bodyPr>
          <a:lstStyle/>
          <a:p>
            <a:pPr algn="ctr"/>
            <a:r>
              <a:rPr lang="en-GB" sz="1700" dirty="0">
                <a:solidFill>
                  <a:srgbClr val="1954A6"/>
                </a:solidFill>
              </a:rPr>
              <a:t>30.9°</a:t>
            </a:r>
          </a:p>
        </p:txBody>
      </p:sp>
      <p:sp>
        <p:nvSpPr>
          <p:cNvPr id="31" name="Label"/>
          <p:cNvSpPr txBox="1"/>
          <p:nvPr/>
        </p:nvSpPr>
        <p:spPr>
          <a:xfrm>
            <a:off x="7863840" y="3639312"/>
            <a:ext cx="2011680" cy="347472"/>
          </a:xfrm>
          <a:prstGeom prst="rect">
            <a:avLst/>
          </a:prstGeom>
          <a:noFill/>
        </p:spPr>
        <p:txBody>
          <a:bodyPr wrap="square" lIns="45720" tIns="0" rIns="45720" bIns="0" anchor="ctr">
            <a:noAutofit/>
          </a:bodyPr>
          <a:lstStyle/>
          <a:p>
            <a:pPr algn="ctr"/>
            <a:r>
              <a:rPr lang="en-GB" sz="1700" dirty="0">
                <a:solidFill>
                  <a:srgbClr val="1954A6"/>
                </a:solidFill>
              </a:rPr>
              <a:t>47 %</a:t>
            </a:r>
          </a:p>
        </p:txBody>
      </p:sp>
      <p:cxnSp>
        <p:nvCxnSpPr>
          <p:cNvPr id="32" name="Rule"/>
          <p:cNvCxnSpPr/>
          <p:nvPr/>
        </p:nvCxnSpPr>
        <p:spPr>
          <a:xfrm>
            <a:off x="640080" y="4023360"/>
            <a:ext cx="9235440" cy="0"/>
          </a:xfrm>
          <a:prstGeom prst="straightConnector1">
            <a:avLst/>
          </a:prstGeom>
          <a:ln w="9525">
            <a:solidFill>
              <a:srgbClr val="D2D2D2"/>
            </a:solidFill>
          </a:ln>
        </p:spPr>
      </p:cxnSp>
      <p:sp>
        <p:nvSpPr>
          <p:cNvPr id="33" name="Label"/>
          <p:cNvSpPr txBox="1"/>
          <p:nvPr/>
        </p:nvSpPr>
        <p:spPr>
          <a:xfrm>
            <a:off x="640080" y="4069080"/>
            <a:ext cx="4846320" cy="347472"/>
          </a:xfrm>
          <a:prstGeom prst="rect">
            <a:avLst/>
          </a:prstGeom>
          <a:noFill/>
        </p:spPr>
        <p:txBody>
          <a:bodyPr wrap="square" lIns="45720" tIns="0" rIns="45720" bIns="0" anchor="ctr">
            <a:noAutofit/>
          </a:bodyPr>
          <a:lstStyle/>
          <a:p>
            <a:pPr algn="l"/>
            <a:r>
              <a:rPr lang="en-GB" sz="1700" dirty="0">
                <a:solidFill>
                  <a:srgbClr val="1954A6"/>
                </a:solidFill>
              </a:rPr>
              <a:t>STL-FM, recurrence</a:t>
            </a:r>
          </a:p>
        </p:txBody>
      </p:sp>
      <p:sp>
        <p:nvSpPr>
          <p:cNvPr id="34" name="Label"/>
          <p:cNvSpPr txBox="1"/>
          <p:nvPr/>
        </p:nvSpPr>
        <p:spPr>
          <a:xfrm>
            <a:off x="5669280" y="4069080"/>
            <a:ext cx="2011680" cy="347472"/>
          </a:xfrm>
          <a:prstGeom prst="rect">
            <a:avLst/>
          </a:prstGeom>
          <a:noFill/>
        </p:spPr>
        <p:txBody>
          <a:bodyPr wrap="square" lIns="45720" tIns="0" rIns="45720" bIns="0" anchor="ctr">
            <a:noAutofit/>
          </a:bodyPr>
          <a:lstStyle/>
          <a:p>
            <a:pPr algn="ctr"/>
            <a:r>
              <a:rPr lang="en-GB" sz="1700" dirty="0">
                <a:solidFill>
                  <a:srgbClr val="1954A6"/>
                </a:solidFill>
              </a:rPr>
              <a:t>9.9°</a:t>
            </a:r>
          </a:p>
        </p:txBody>
      </p:sp>
      <p:sp>
        <p:nvSpPr>
          <p:cNvPr id="35" name="Label"/>
          <p:cNvSpPr txBox="1"/>
          <p:nvPr/>
        </p:nvSpPr>
        <p:spPr>
          <a:xfrm>
            <a:off x="7863840" y="4069080"/>
            <a:ext cx="2011680" cy="347472"/>
          </a:xfrm>
          <a:prstGeom prst="rect">
            <a:avLst/>
          </a:prstGeom>
          <a:noFill/>
        </p:spPr>
        <p:txBody>
          <a:bodyPr wrap="square" lIns="45720" tIns="0" rIns="45720" bIns="0" anchor="ctr">
            <a:noAutofit/>
          </a:bodyPr>
          <a:lstStyle/>
          <a:p>
            <a:pPr algn="ctr"/>
            <a:r>
              <a:rPr lang="en-GB" sz="1700" dirty="0">
                <a:solidFill>
                  <a:srgbClr val="1954A6"/>
                </a:solidFill>
              </a:rPr>
              <a:t/>
            </a:r>
          </a:p>
        </p:txBody>
      </p:sp>
      <p:cxnSp>
        <p:nvCxnSpPr>
          <p:cNvPr id="36" name="Rule"/>
          <p:cNvCxnSpPr/>
          <p:nvPr/>
        </p:nvCxnSpPr>
        <p:spPr>
          <a:xfrm>
            <a:off x="640080" y="4453128"/>
            <a:ext cx="9235440" cy="0"/>
          </a:xfrm>
          <a:prstGeom prst="straightConnector1">
            <a:avLst/>
          </a:prstGeom>
          <a:ln w="9525">
            <a:solidFill>
              <a:srgbClr val="D2D2D2"/>
            </a:solidFill>
          </a:ln>
        </p:spPr>
      </p:cxnSp>
      <p:sp>
        <p:nvSpPr>
          <p:cNvPr id="37" name="Label"/>
          <p:cNvSpPr txBox="1"/>
          <p:nvPr/>
        </p:nvSpPr>
        <p:spPr>
          <a:xfrm>
            <a:off x="640080" y="4498848"/>
            <a:ext cx="4846320" cy="347472"/>
          </a:xfrm>
          <a:prstGeom prst="rect">
            <a:avLst/>
          </a:prstGeom>
          <a:noFill/>
        </p:spPr>
        <p:txBody>
          <a:bodyPr wrap="square" lIns="45720" tIns="0" rIns="45720" bIns="0" anchor="ctr">
            <a:noAutofit/>
          </a:bodyPr>
          <a:lstStyle/>
          <a:p>
            <a:pPr algn="l"/>
            <a:r>
              <a:rPr lang="en-GB" sz="1700" dirty="0">
                <a:solidFill>
                  <a:srgbClr val="1954A6"/>
                </a:solidFill>
              </a:rPr>
              <a:t>STL-FM, composite</a:t>
            </a:r>
          </a:p>
        </p:txBody>
      </p:sp>
      <p:sp>
        <p:nvSpPr>
          <p:cNvPr id="38" name="Label"/>
          <p:cNvSpPr txBox="1"/>
          <p:nvPr/>
        </p:nvSpPr>
        <p:spPr>
          <a:xfrm>
            <a:off x="5669280" y="4498848"/>
            <a:ext cx="2011680" cy="347472"/>
          </a:xfrm>
          <a:prstGeom prst="rect">
            <a:avLst/>
          </a:prstGeom>
          <a:noFill/>
        </p:spPr>
        <p:txBody>
          <a:bodyPr wrap="square" lIns="45720" tIns="0" rIns="45720" bIns="0" anchor="ctr">
            <a:noAutofit/>
          </a:bodyPr>
          <a:lstStyle/>
          <a:p>
            <a:pPr algn="ctr"/>
            <a:r>
              <a:rPr lang="en-GB" sz="1700" dirty="0">
                <a:solidFill>
                  <a:srgbClr val="1954A6"/>
                </a:solidFill>
              </a:rPr>
              <a:t/>
            </a:r>
          </a:p>
        </p:txBody>
      </p:sp>
      <p:sp>
        <p:nvSpPr>
          <p:cNvPr id="39" name="Label"/>
          <p:cNvSpPr txBox="1"/>
          <p:nvPr/>
        </p:nvSpPr>
        <p:spPr>
          <a:xfrm>
            <a:off x="7863840" y="4498848"/>
            <a:ext cx="2011680" cy="347472"/>
          </a:xfrm>
          <a:prstGeom prst="rect">
            <a:avLst/>
          </a:prstGeom>
          <a:noFill/>
        </p:spPr>
        <p:txBody>
          <a:bodyPr wrap="square" lIns="45720" tIns="0" rIns="45720" bIns="0" anchor="ctr">
            <a:noAutofit/>
          </a:bodyPr>
          <a:lstStyle/>
          <a:p>
            <a:pPr algn="ctr"/>
            <a:r>
              <a:rPr lang="en-GB" sz="1700" dirty="0">
                <a:solidFill>
                  <a:srgbClr val="1954A6"/>
                </a:solidFill>
              </a:rPr>
              <a:t>18.5 %</a:t>
            </a:r>
          </a:p>
        </p:txBody>
      </p:sp>
      <p:cxnSp>
        <p:nvCxnSpPr>
          <p:cNvPr id="40" name="Rule"/>
          <p:cNvCxnSpPr/>
          <p:nvPr/>
        </p:nvCxnSpPr>
        <p:spPr>
          <a:xfrm>
            <a:off x="640080" y="4882896"/>
            <a:ext cx="9235440" cy="0"/>
          </a:xfrm>
          <a:prstGeom prst="straightConnector1">
            <a:avLst/>
          </a:prstGeom>
          <a:ln w="9525">
            <a:solidFill>
              <a:srgbClr val="D2D2D2"/>
            </a:solidFill>
          </a:ln>
        </p:spPr>
      </p:cxnSp>
      <p:sp>
        <p:nvSpPr>
          <p:cNvPr id="41" name="Label"/>
          <p:cNvSpPr txBox="1"/>
          <p:nvPr/>
        </p:nvSpPr>
        <p:spPr>
          <a:xfrm>
            <a:off x="640080" y="4928616"/>
            <a:ext cx="4846320" cy="347472"/>
          </a:xfrm>
          <a:prstGeom prst="rect">
            <a:avLst/>
          </a:prstGeom>
          <a:noFill/>
        </p:spPr>
        <p:txBody>
          <a:bodyPr wrap="square" lIns="45720" tIns="0" rIns="45720" bIns="0" anchor="ctr">
            <a:noAutofit/>
          </a:bodyPr>
          <a:lstStyle/>
          <a:p>
            <a:pPr algn="l"/>
            <a:r>
              <a:rPr lang="en-GB" sz="1700" dirty="0">
                <a:solidFill>
                  <a:srgbClr val="1954A6"/>
                </a:solidFill>
              </a:rPr>
              <a:t>STL Optimizer, pooled</a:t>
            </a:r>
          </a:p>
        </p:txBody>
      </p:sp>
      <p:sp>
        <p:nvSpPr>
          <p:cNvPr id="42" name="Label"/>
          <p:cNvSpPr txBox="1"/>
          <p:nvPr/>
        </p:nvSpPr>
        <p:spPr>
          <a:xfrm>
            <a:off x="5669280" y="4928616"/>
            <a:ext cx="2011680" cy="347472"/>
          </a:xfrm>
          <a:prstGeom prst="rect">
            <a:avLst/>
          </a:prstGeom>
          <a:noFill/>
        </p:spPr>
        <p:txBody>
          <a:bodyPr wrap="square" lIns="45720" tIns="0" rIns="45720" bIns="0" anchor="ctr">
            <a:noAutofit/>
          </a:bodyPr>
          <a:lstStyle/>
          <a:p>
            <a:pPr algn="ctr"/>
            <a:r>
              <a:rPr lang="en-GB" sz="1700" dirty="0">
                <a:solidFill>
                  <a:srgbClr val="1954A6"/>
                </a:solidFill>
              </a:rPr>
              <a:t>0.3°</a:t>
            </a:r>
          </a:p>
        </p:txBody>
      </p:sp>
      <p:sp>
        <p:nvSpPr>
          <p:cNvPr id="43" name="Label"/>
          <p:cNvSpPr txBox="1"/>
          <p:nvPr/>
        </p:nvSpPr>
        <p:spPr>
          <a:xfrm>
            <a:off x="7863840" y="4928616"/>
            <a:ext cx="2011680" cy="347472"/>
          </a:xfrm>
          <a:prstGeom prst="rect">
            <a:avLst/>
          </a:prstGeom>
          <a:noFill/>
        </p:spPr>
        <p:txBody>
          <a:bodyPr wrap="square" lIns="45720" tIns="0" rIns="45720" bIns="0" anchor="ctr">
            <a:noAutofit/>
          </a:bodyPr>
          <a:lstStyle/>
          <a:p>
            <a:pPr algn="ctr"/>
            <a:r>
              <a:rPr lang="en-GB" sz="1700" dirty="0">
                <a:solidFill>
                  <a:srgbClr val="1954A6"/>
                </a:solidFill>
              </a:rPr>
              <a:t/>
            </a:r>
          </a:p>
        </p:txBody>
      </p:sp>
      <p:cxnSp>
        <p:nvCxnSpPr>
          <p:cNvPr id="44" name="Rule"/>
          <p:cNvCxnSpPr/>
          <p:nvPr/>
        </p:nvCxnSpPr>
        <p:spPr>
          <a:xfrm>
            <a:off x="640080" y="5312664"/>
            <a:ext cx="9235440" cy="0"/>
          </a:xfrm>
          <a:prstGeom prst="straightConnector1">
            <a:avLst/>
          </a:prstGeom>
          <a:ln w="9525">
            <a:solidFill>
              <a:srgbClr val="D2D2D2"/>
            </a:solidFill>
          </a:ln>
        </p:spPr>
      </p:cxnSp>
      <p:sp>
        <p:nvSpPr>
          <p:cNvPr id="45" name="Label"/>
          <p:cNvSpPr txBox="1"/>
          <p:nvPr/>
        </p:nvSpPr>
        <p:spPr>
          <a:xfrm>
            <a:off x="640080" y="5440680"/>
            <a:ext cx="10972800" cy="822960"/>
          </a:xfrm>
          <a:prstGeom prst="rect">
            <a:avLst/>
          </a:prstGeom>
          <a:noFill/>
        </p:spPr>
        <p:txBody>
          <a:bodyPr wrap="square" lIns="45720" tIns="0" rIns="45720" bIns="0" anchor="t">
            <a:noAutofit/>
          </a:bodyPr>
          <a:lstStyle/>
          <a:p>
            <a:pPr algn="l"/>
            <a:r>
              <a:rPr lang="en-GB" sz="1500" dirty="0">
                <a:solidFill>
                  <a:srgbClr val="6E6E6E"/>
                </a:solidFill>
              </a:rPr>
              <a:t>The evaluation does not distinguish two explanations. Either the prior is undertrained, or guidance</a:t>
            </a:r>
          </a:p>
          <a:p>
            <a:pPr algn="l"/>
            <a:r>
              <a:rPr lang="en-GB" sz="1500" dirty="0">
                <a:solidFill>
                  <a:srgbClr val="6E6E6E"/>
                </a:solidFill>
              </a:rPr>
              <a:t>moves iterates away from plausible trajectories faster than the prior moves them back. The evidence</a:t>
            </a:r>
          </a:p>
          <a:p>
            <a:pPr algn="l"/>
            <a:r>
              <a:rPr lang="en-GB" sz="1500" dirty="0">
                <a:solidFill>
                  <a:srgbClr val="6E6E6E"/>
                </a:solidFill>
              </a:rPr>
              <a:t>for the contribution of the prior is the carry gap and the arena excursion.</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solidFill>
                  <a:srgbClr val="6E6E6E"/>
                </a:solidFill>
              </a:rPr>
              <a:t>Limitations</a:t>
            </a:r>
          </a:p>
        </p:txBody>
      </p:sp>
      <p:sp>
        <p:nvSpPr>
          <p:cNvPr id="12" name="Slide Number"/>
          <p:cNvSpPr>
            <a:spLocks noGrp="1"/>
          </p:cNvSpPr>
          <p:nvPr>
            <p:ph type="sldNum" sz="quarter" idx="12"/>
          </p:nvPr>
        </p:nvSpPr>
        <p:spPr/>
        <p:txBody>
          <a:bodyPr/>
          <a:lstStyle/>
          <a:p>
            <a:fld id="{619F89D8-7AE3-494A-97F3-03D680869632}" type="slidenum">
              <a:rPr lang="en-GB"/>
              <a:t>1</a:t>
            </a:fld>
            <a:endParaRPr lang="en-GB"/>
          </a:p>
        </p:txBody>
      </p:sp>
      <p:sp>
        <p:nvSpPr>
          <p:cNvPr id="13" name="Label"/>
          <p:cNvSpPr txBox="1"/>
          <p:nvPr/>
        </p:nvSpPr>
        <p:spPr>
          <a:xfrm>
            <a:off x="640080" y="1920240"/>
            <a:ext cx="3657600" cy="512064"/>
          </a:xfrm>
          <a:prstGeom prst="rect">
            <a:avLst/>
          </a:prstGeom>
          <a:noFill/>
        </p:spPr>
        <p:txBody>
          <a:bodyPr wrap="square" lIns="45720" tIns="0" rIns="45720" bIns="0" anchor="ctr">
            <a:noAutofit/>
          </a:bodyPr>
          <a:lstStyle/>
          <a:p>
            <a:pPr algn="l"/>
            <a:r>
              <a:rPr lang="en-GB" sz="1700" b="1" dirty="0">
                <a:solidFill>
                  <a:srgbClr val="262626"/>
                </a:solidFill>
              </a:rPr>
              <a:t>Fixed requirement instances</a:t>
            </a:r>
          </a:p>
        </p:txBody>
      </p:sp>
      <p:sp>
        <p:nvSpPr>
          <p:cNvPr id="14" name="Label"/>
          <p:cNvSpPr txBox="1"/>
          <p:nvPr/>
        </p:nvSpPr>
        <p:spPr>
          <a:xfrm>
            <a:off x="4389120" y="1920240"/>
            <a:ext cx="7205472" cy="512064"/>
          </a:xfrm>
          <a:prstGeom prst="rect">
            <a:avLst/>
          </a:prstGeom>
          <a:noFill/>
        </p:spPr>
        <p:txBody>
          <a:bodyPr wrap="square" lIns="45720" tIns="0" rIns="45720" bIns="0" anchor="ctr">
            <a:noAutofit/>
          </a:bodyPr>
          <a:lstStyle/>
          <a:p>
            <a:pPr algn="l"/>
            <a:r>
              <a:rPr lang="en-GB" sz="1600" dirty="0">
                <a:solidFill>
                  <a:srgbClr val="262626"/>
                </a:solidFill>
              </a:rPr>
              <a:t>every rate is measured on one instance per class</a:t>
            </a:r>
          </a:p>
        </p:txBody>
      </p:sp>
      <p:sp>
        <p:nvSpPr>
          <p:cNvPr id="15" name="Label"/>
          <p:cNvSpPr txBox="1"/>
          <p:nvPr/>
        </p:nvSpPr>
        <p:spPr>
          <a:xfrm>
            <a:off x="640080" y="2505456"/>
            <a:ext cx="3657600" cy="512064"/>
          </a:xfrm>
          <a:prstGeom prst="rect">
            <a:avLst/>
          </a:prstGeom>
          <a:noFill/>
        </p:spPr>
        <p:txBody>
          <a:bodyPr wrap="square" lIns="45720" tIns="0" rIns="45720" bIns="0" anchor="ctr">
            <a:noAutofit/>
          </a:bodyPr>
          <a:lstStyle/>
          <a:p>
            <a:pPr algn="l"/>
            <a:r>
              <a:rPr lang="en-GB" sz="1700" b="1" dirty="0">
                <a:solidFill>
                  <a:srgbClr val="262626"/>
                </a:solidFill>
              </a:rPr>
              <a:t>No certificate</a:t>
            </a:r>
          </a:p>
        </p:txBody>
      </p:sp>
      <p:sp>
        <p:nvSpPr>
          <p:cNvPr id="16" name="Label"/>
          <p:cNvSpPr txBox="1"/>
          <p:nvPr/>
        </p:nvSpPr>
        <p:spPr>
          <a:xfrm>
            <a:off x="4389120" y="2505456"/>
            <a:ext cx="7205472" cy="512064"/>
          </a:xfrm>
          <a:prstGeom prst="rect">
            <a:avLst/>
          </a:prstGeom>
          <a:noFill/>
        </p:spPr>
        <p:txBody>
          <a:bodyPr wrap="square" lIns="45720" tIns="0" rIns="45720" bIns="0" anchor="ctr">
            <a:noAutofit/>
          </a:bodyPr>
          <a:lstStyle/>
          <a:p>
            <a:pPr algn="l"/>
            <a:r>
              <a:rPr lang="en-GB" sz="1600" dirty="0">
                <a:solidFill>
                  <a:srgbClr val="262626"/>
                </a:solidFill>
              </a:rPr>
              <a:t>the guided sampler is a soft realization, so it gives a rate, not a guarantee</a:t>
            </a:r>
          </a:p>
        </p:txBody>
      </p:sp>
      <p:sp>
        <p:nvSpPr>
          <p:cNvPr id="17" name="Label"/>
          <p:cNvSpPr txBox="1"/>
          <p:nvPr/>
        </p:nvSpPr>
        <p:spPr>
          <a:xfrm>
            <a:off x="640080" y="3090672"/>
            <a:ext cx="3657600" cy="512064"/>
          </a:xfrm>
          <a:prstGeom prst="rect">
            <a:avLst/>
          </a:prstGeom>
          <a:noFill/>
        </p:spPr>
        <p:txBody>
          <a:bodyPr wrap="square" lIns="45720" tIns="0" rIns="45720" bIns="0" anchor="ctr">
            <a:noAutofit/>
          </a:bodyPr>
          <a:lstStyle/>
          <a:p>
            <a:pPr algn="l"/>
            <a:r>
              <a:rPr lang="en-GB" sz="1700" b="1" dirty="0">
                <a:solidFill>
                  <a:srgbClr val="262626"/>
                </a:solidFill>
              </a:rPr>
              <a:t>Sampled-state semantics</a:t>
            </a:r>
          </a:p>
        </p:txBody>
      </p:sp>
      <p:sp>
        <p:nvSpPr>
          <p:cNvPr id="18" name="Label"/>
          <p:cNvSpPr txBox="1"/>
          <p:nvPr/>
        </p:nvSpPr>
        <p:spPr>
          <a:xfrm>
            <a:off x="4389120" y="3090672"/>
            <a:ext cx="7205472" cy="512064"/>
          </a:xfrm>
          <a:prstGeom prst="rect">
            <a:avLst/>
          </a:prstGeom>
          <a:noFill/>
        </p:spPr>
        <p:txBody>
          <a:bodyPr wrap="square" lIns="45720" tIns="0" rIns="45720" bIns="0" anchor="ctr">
            <a:noAutofit/>
          </a:bodyPr>
          <a:lstStyle/>
          <a:p>
            <a:pPr algn="l"/>
            <a:r>
              <a:rPr lang="en-GB" sz="1600" dirty="0">
                <a:solidFill>
                  <a:srgbClr val="262626"/>
                </a:solidFill>
              </a:rPr>
              <a:t>robustness does not constrain the path between two sampled states</a:t>
            </a:r>
          </a:p>
        </p:txBody>
      </p:sp>
      <p:sp>
        <p:nvSpPr>
          <p:cNvPr id="19" name="Label"/>
          <p:cNvSpPr txBox="1"/>
          <p:nvPr/>
        </p:nvSpPr>
        <p:spPr>
          <a:xfrm>
            <a:off x="640080" y="3675888"/>
            <a:ext cx="3657600" cy="512064"/>
          </a:xfrm>
          <a:prstGeom prst="rect">
            <a:avLst/>
          </a:prstGeom>
          <a:noFill/>
        </p:spPr>
        <p:txBody>
          <a:bodyPr wrap="square" lIns="45720" tIns="0" rIns="45720" bIns="0" anchor="ctr">
            <a:noAutofit/>
          </a:bodyPr>
          <a:lstStyle/>
          <a:p>
            <a:pPr algn="l"/>
            <a:r>
              <a:rPr lang="en-GB" sz="1700" b="1" dirty="0">
                <a:solidFill>
                  <a:srgbClr val="262626"/>
                </a:solidFill>
              </a:rPr>
              <a:t>Requirement-neutral prior</a:t>
            </a:r>
          </a:p>
        </p:txBody>
      </p:sp>
      <p:sp>
        <p:nvSpPr>
          <p:cNvPr id="20" name="Label"/>
          <p:cNvSpPr txBox="1"/>
          <p:nvPr/>
        </p:nvSpPr>
        <p:spPr>
          <a:xfrm>
            <a:off x="4389120" y="3675888"/>
            <a:ext cx="7205472" cy="512064"/>
          </a:xfrm>
          <a:prstGeom prst="rect">
            <a:avLst/>
          </a:prstGeom>
          <a:noFill/>
        </p:spPr>
        <p:txBody>
          <a:bodyPr wrap="square" lIns="45720" tIns="0" rIns="45720" bIns="0" anchor="ctr">
            <a:noAutofit/>
          </a:bodyPr>
          <a:lstStyle/>
          <a:p>
            <a:pPr algn="l"/>
            <a:r>
              <a:rPr lang="en-GB" sz="1600" dirty="0">
                <a:solidFill>
                  <a:srgbClr val="262626"/>
                </a:solidFill>
              </a:rPr>
              <a:t>a modelling assumption, although demonstrations can retain task structure</a:t>
            </a:r>
          </a:p>
        </p:txBody>
      </p:sp>
      <p:sp>
        <p:nvSpPr>
          <p:cNvPr id="21" name="Label"/>
          <p:cNvSpPr txBox="1"/>
          <p:nvPr/>
        </p:nvSpPr>
        <p:spPr>
          <a:xfrm>
            <a:off x="640080" y="4261104"/>
            <a:ext cx="3657600" cy="512064"/>
          </a:xfrm>
          <a:prstGeom prst="rect">
            <a:avLst/>
          </a:prstGeom>
          <a:noFill/>
        </p:spPr>
        <p:txBody>
          <a:bodyPr wrap="square" lIns="45720" tIns="0" rIns="45720" bIns="0" anchor="ctr">
            <a:noAutofit/>
          </a:bodyPr>
          <a:lstStyle/>
          <a:p>
            <a:pPr algn="l"/>
            <a:r>
              <a:rPr lang="en-GB" sz="1700" b="1" dirty="0">
                <a:solidFill>
                  <a:srgbClr val="262626"/>
                </a:solidFill>
              </a:rPr>
              <a:t>Reproducibility</a:t>
            </a:r>
          </a:p>
        </p:txBody>
      </p:sp>
      <p:sp>
        <p:nvSpPr>
          <p:cNvPr id="22" name="Label"/>
          <p:cNvSpPr txBox="1"/>
          <p:nvPr/>
        </p:nvSpPr>
        <p:spPr>
          <a:xfrm>
            <a:off x="4389120" y="4261104"/>
            <a:ext cx="7205472" cy="512064"/>
          </a:xfrm>
          <a:prstGeom prst="rect">
            <a:avLst/>
          </a:prstGeom>
          <a:noFill/>
        </p:spPr>
        <p:txBody>
          <a:bodyPr wrap="square" lIns="45720" tIns="0" rIns="45720" bIns="0" anchor="ctr">
            <a:noAutofit/>
          </a:bodyPr>
          <a:lstStyle/>
          <a:p>
            <a:pPr algn="l"/>
            <a:r>
              <a:rPr lang="en-GB" sz="1600" dirty="0">
                <a:solidFill>
                  <a:srgbClr val="262626"/>
                </a:solidFill>
              </a:rPr>
              <a:t>runs with identical seeds agree on the satisfaction count in 27 of 28 cells and differ by one run in the other</a:t>
            </a:r>
          </a:p>
        </p:txBody>
      </p:sp>
      <p:sp>
        <p:nvSpPr>
          <p:cNvPr id="23" name="Label"/>
          <p:cNvSpPr txBox="1"/>
          <p:nvPr/>
        </p:nvSpPr>
        <p:spPr>
          <a:xfrm>
            <a:off x="640080" y="4846320"/>
            <a:ext cx="3657600" cy="512064"/>
          </a:xfrm>
          <a:prstGeom prst="rect">
            <a:avLst/>
          </a:prstGeom>
          <a:noFill/>
        </p:spPr>
        <p:txBody>
          <a:bodyPr wrap="square" lIns="45720" tIns="0" rIns="45720" bIns="0" anchor="ctr">
            <a:noAutofit/>
          </a:bodyPr>
          <a:lstStyle/>
          <a:p>
            <a:pPr algn="l"/>
            <a:r>
              <a:rPr lang="en-GB" sz="1700" b="1" dirty="0">
                <a:solidFill>
                  <a:srgbClr val="262626"/>
                </a:solidFill>
              </a:rPr>
              <a:t>Physical carry interval</a:t>
            </a:r>
          </a:p>
        </p:txBody>
      </p:sp>
      <p:sp>
        <p:nvSpPr>
          <p:cNvPr id="24" name="Label"/>
          <p:cNvSpPr txBox="1"/>
          <p:nvPr/>
        </p:nvSpPr>
        <p:spPr>
          <a:xfrm>
            <a:off x="4389120" y="4846320"/>
            <a:ext cx="7205472" cy="512064"/>
          </a:xfrm>
          <a:prstGeom prst="rect">
            <a:avLst/>
          </a:prstGeom>
          <a:noFill/>
        </p:spPr>
        <p:txBody>
          <a:bodyPr wrap="square" lIns="45720" tIns="0" rIns="45720" bIns="0" anchor="ctr">
            <a:noAutofit/>
          </a:bodyPr>
          <a:lstStyle/>
          <a:p>
            <a:pPr algn="l"/>
            <a:r>
              <a:rPr lang="en-GB" sz="1600" dirty="0">
                <a:solidFill>
                  <a:srgbClr val="262626"/>
                </a:solidFill>
              </a:rPr>
              <a:t>a proxy read from the gripper trace, longer than the planning horizon</a:t>
            </a:r>
          </a:p>
        </p:txBody>
      </p:sp>
    </p:spTree>
  </p:cSld>
  <p:clrMapOvr>
    <a:masterClrMapping/>
  </p:clrMapOvr>
</p:sld>
</file>

<file path=ppt/theme/theme1.xml><?xml version="1.0" encoding="utf-8"?>
<a:theme xmlns:a="http://schemas.openxmlformats.org/drawingml/2006/main" name="Office-tema">
  <a:themeElements>
    <a:clrScheme name="KTH">
      <a:dk1>
        <a:srgbClr val="000000"/>
      </a:dk1>
      <a:lt1>
        <a:srgbClr val="FFFFFF"/>
      </a:lt1>
      <a:dk2>
        <a:srgbClr val="000061"/>
      </a:dk2>
      <a:lt2>
        <a:srgbClr val="EBE5E0"/>
      </a:lt2>
      <a:accent1>
        <a:srgbClr val="004791"/>
      </a:accent1>
      <a:accent2>
        <a:srgbClr val="6198D2"/>
      </a:accent2>
      <a:accent3>
        <a:srgbClr val="000061"/>
      </a:accent3>
      <a:accent4>
        <a:srgbClr val="DEF0FF"/>
      </a:accent4>
      <a:accent5>
        <a:srgbClr val="EBE5DF"/>
      </a:accent5>
      <a:accent6>
        <a:srgbClr val="0028ED"/>
      </a:accent6>
      <a:hlink>
        <a:srgbClr val="3878C2"/>
      </a:hlink>
      <a:folHlink>
        <a:srgbClr val="004691"/>
      </a:folHlink>
    </a:clrScheme>
    <a:fontScheme name="Office">
      <a:majorFont>
        <a:latin typeface="Figtree"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igtree"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custClrLst>
    <a:custClr name="Sand">
      <a:srgbClr val="EBE5E0"/>
    </a:custClr>
    <a:custClr name="KTH blue">
      <a:srgbClr val="004791"/>
    </a:custClr>
    <a:custClr name="Sky blue">
      <a:srgbClr val="6298D2"/>
    </a:custClr>
    <a:custClr name="Navy blue">
      <a:srgbClr val="000061"/>
    </a:custClr>
    <a:custClr name="Light blue">
      <a:srgbClr val="DEF0FF"/>
    </a:custClr>
    <a:custClr name="Digital blue">
      <a:srgbClr val="0029ED"/>
    </a:custClr>
    <a:custClr name="Blank">
      <a:srgbClr val="FFFFFF"/>
    </a:custClr>
    <a:custClr name="Blank">
      <a:srgbClr val="FFFFFF"/>
    </a:custClr>
    <a:custClr name="Blank">
      <a:srgbClr val="FFFFFF"/>
    </a:custClr>
    <a:custClr name="Blank">
      <a:srgbClr val="FFFFFF"/>
    </a:custClr>
    <a:custClr name="Dark green">
      <a:srgbClr val="0D4A21"/>
    </a:custClr>
    <a:custClr name="Dark turquoise">
      <a:srgbClr val="1C434C"/>
    </a:custClr>
    <a:custClr name="Dark brick">
      <a:srgbClr val="78001A"/>
    </a:custClr>
    <a:custClr name="Dark yellow">
      <a:srgbClr val="A65900"/>
    </a:custClr>
    <a:custClr name="Dark grey">
      <a:srgbClr val="323232"/>
    </a:custClr>
    <a:custClr name="Blank">
      <a:srgbClr val="FFFFFF"/>
    </a:custClr>
    <a:custClr name="Blank">
      <a:srgbClr val="FFFFFF"/>
    </a:custClr>
    <a:custClr name="Blank">
      <a:srgbClr val="FFFFFF"/>
    </a:custClr>
    <a:custClr name="Blank">
      <a:srgbClr val="FFFFFF"/>
    </a:custClr>
    <a:custClr name="Blank">
      <a:srgbClr val="FFFFFF"/>
    </a:custClr>
    <a:custClr name="Green">
      <a:srgbClr val="4DA060"/>
    </a:custClr>
    <a:custClr name="Turquoise">
      <a:srgbClr val="339C9C"/>
    </a:custClr>
    <a:custClr name="Brick">
      <a:srgbClr val="E86A58"/>
    </a:custClr>
    <a:custClr name="Yellow">
      <a:srgbClr val="FFBE00"/>
    </a:custClr>
    <a:custClr name="Grey">
      <a:srgbClr val="A5A5A5"/>
    </a:custClr>
    <a:custClr name="Blank">
      <a:srgbClr val="FFFFFF"/>
    </a:custClr>
    <a:custClr name="Blank">
      <a:srgbClr val="FFFFFF"/>
    </a:custClr>
    <a:custClr name="Blank">
      <a:srgbClr val="FFFFFF"/>
    </a:custClr>
    <a:custClr name="Blank">
      <a:srgbClr val="FFFFFF"/>
    </a:custClr>
    <a:custClr name="Blank">
      <a:srgbClr val="FFFFFF"/>
    </a:custClr>
    <a:custClr name="Light green">
      <a:srgbClr val="C7EBBA"/>
    </a:custClr>
    <a:custClr name="Light turquoise">
      <a:srgbClr val="B2E0E0"/>
    </a:custClr>
    <a:custClr name="Light brick">
      <a:srgbClr val="FFCCC4"/>
    </a:custClr>
    <a:custClr name="Light yellow">
      <a:srgbClr val="FFF0B0"/>
    </a:custClr>
    <a:custClr name="Light grey">
      <a:srgbClr val="E6E6E6"/>
    </a:custClr>
  </a:custClrLst>
  <a:extLst>
    <a:ext uri="{05A4C25C-085E-4340-85A3-A5531E510DB2}">
      <thm15:themeFamily xmlns:thm15="http://schemas.microsoft.com/office/thememl/2012/main" name="KTH PPT template 251203.potx" id="{B9D87BD4-659E-40F0-9595-7EDEBA7F7B08}" vid="{8372EC08-571E-42EA-AAF5-CEC4489AF2D9}"/>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TotalTime>
  <Words>0</Words>
  <Application>Microsoft Office PowerPoint</Application>
  <PresentationFormat>Widescreen</PresentationFormat>
  <Paragraphs>0</Paragraphs>
  <Slides>3</Slides>
  <Notes>0</Notes>
  <HiddenSlides>1</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Calibri</vt:lpstr>
      <vt:lpstr>Arial</vt:lpstr>
      <vt:lpstr>Figtree</vt:lpstr>
      <vt:lpstr>Office-tema</vt:lpstr>
      <vt:lpstr>PowerPoint Presentation</vt:lpstr>
      <vt:lpstr>PowerPoint Presentation</vt:lpstr>
      <vt:lpstr>PowerPoint Presentation</vt:lpstr>
    </vt:vector>
  </TitlesOfParts>
  <Company>KTH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Malin Modig</dc:creator>
  <cp:lastModifiedBy>Tove Guldbrand</cp:lastModifiedBy>
  <cp:revision>7</cp:revision>
  <dcterms:created xsi:type="dcterms:W3CDTF">2025-11-27T14:16:18Z</dcterms:created>
  <dcterms:modified xsi:type="dcterms:W3CDTF">2025-12-03T08:33:26Z</dcterms:modified>
</cp:coreProperties>
</file>