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0.svg" ContentType="image/svg+xml"/>
  <Override PartName="/ppt/media/image11.svg" ContentType="image/svg+xml"/>
  <Override PartName="/ppt/media/image12.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62" r:id="rId2"/>
    <p:sldId id="263" r:id="rId3"/>
    <p:sldId id="264" r:id="rId4"/>
    <p:sldId id="265" r:id="rId5"/>
    <p:sldId id="266" r:id="rId11"/>
    <p:sldId id="267" r:id="rId12"/>
    <p:sldId id="268" r:id="rId13"/>
    <p:sldId id="269" r:id="rId14"/>
    <p:sldId id="270" r:id="rId15"/>
    <p:sldId id="271" r:id="rId16"/>
    <p:sldId id="272" r:id="rId17"/>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4" autoAdjust="0"/>
    <p:restoredTop sz="96327"/>
  </p:normalViewPr>
  <p:slideViewPr>
    <p:cSldViewPr snapToGrid="0">
      <p:cViewPr>
        <p:scale>
          <a:sx n="125" d="100"/>
          <a:sy n="125" d="100"/>
        </p:scale>
        <p:origin x="1200"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2026-10-23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Exact native redraw of the thesis figure fig_guided_sampler.tex (one guided Euler step as a dataflow), for reference. Standalone file; not part of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1E51B-8C43-D906-C05B-341FF0123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51B0F-8024-C31A-AC78-AC7E30E422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CE400-B450-9843-9DF3-0AE82976D887}"/>
              </a:ext>
            </a:extLst>
          </p:cNvPr>
          <p:cNvSpPr>
            <a:spLocks noGrp="1"/>
          </p:cNvSpPr>
          <p:nvPr>
            <p:ph type="body" idx="1"/>
          </p:nvPr>
        </p:nvSpPr>
        <p:spPr/>
        <p:txBody>
          <a:bodyPr/>
          <a:lstStyle/>
          <a:p>
            <a:r>
              <a:rPr lang="en-GB" dirty="0"/>
              <a:t>Exact native redraw of the thesis figure fig_guided_sampler.tex (one guided Euler step as a dataflow), for reference. Standalone file; not part of the talk.</a:t>
            </a:r>
          </a:p>
        </p:txBody>
      </p:sp>
    </p:spTree>
    <p:extLst>
      <p:ext uri="{BB962C8B-B14F-4D97-AF65-F5344CB8AC3E}">
        <p14:creationId xmlns:p14="http://schemas.microsoft.com/office/powerpoint/2010/main" val="274323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A6A93-9A71-7402-2888-86D311899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638C5-EFE4-05F9-B759-56A6B126D4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D998F5-E590-B9E2-4A06-07EC5ED30785}"/>
              </a:ext>
            </a:extLst>
          </p:cNvPr>
          <p:cNvSpPr>
            <a:spLocks noGrp="1"/>
          </p:cNvSpPr>
          <p:nvPr>
            <p:ph type="body" idx="1"/>
          </p:nvPr>
        </p:nvSpPr>
        <p:spPr/>
        <p:txBody>
          <a:bodyPr/>
          <a:lstStyle/>
          <a:p>
            <a:r>
              <a:rPr lang="en-GB" dirty="0"/>
              <a:t>Exact native redraw of the thesis figure fig_guided_sampler.tex (one guided Euler step as a dataflow), for reference. Standalone file; not part of the talk.</a:t>
            </a:r>
          </a:p>
        </p:txBody>
      </p:sp>
    </p:spTree>
    <p:extLst>
      <p:ext uri="{BB962C8B-B14F-4D97-AF65-F5344CB8AC3E}">
        <p14:creationId xmlns:p14="http://schemas.microsoft.com/office/powerpoint/2010/main" val="2644657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C7280-934C-73C1-4578-6518FA782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A0647-966D-0A2C-60BD-C73671CF3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4D84C-D050-F385-673A-307555EAC7BF}"/>
              </a:ext>
            </a:extLst>
          </p:cNvPr>
          <p:cNvSpPr>
            <a:spLocks noGrp="1"/>
          </p:cNvSpPr>
          <p:nvPr>
            <p:ph type="body" idx="1"/>
          </p:nvPr>
        </p:nvSpPr>
        <p:spPr/>
        <p:txBody>
          <a:bodyPr/>
          <a:lstStyle/>
          <a:p>
            <a:r>
              <a:rPr lang="en-GB" dirty="0"/>
              <a:t>Exact native redraw of the thesis figure fig_guided_sampler.tex (one guided Euler step as a dataflow), for reference. Standalone file; not part of the talk.</a:t>
            </a:r>
          </a:p>
        </p:txBody>
      </p:sp>
    </p:spTree>
    <p:extLst>
      <p:ext uri="{BB962C8B-B14F-4D97-AF65-F5344CB8AC3E}">
        <p14:creationId xmlns:p14="http://schemas.microsoft.com/office/powerpoint/2010/main" val="1672873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3.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6.svg"/><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8.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2.svg"/><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2026-10-23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2026-10-23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2026-10-23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2026-10-23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2026-10-23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2026-10-23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2026-10-23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2026-10-23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2026-10-23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2026-10-23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2026-10-23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2026-10-23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theme" Target="../theme/theme1.xml"/><Relationship Id="rId4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2026-10-23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24.png"/><Relationship Id="rId7"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0.png"/><Relationship Id="rId3" Type="http://schemas.openxmlformats.org/officeDocument/2006/relationships/image" Target="../media/image24.png"/><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2.png"/><Relationship Id="rId3" Type="http://schemas.openxmlformats.org/officeDocument/2006/relationships/image" Target="../media/image24.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2.png"/><Relationship Id="rId3" Type="http://schemas.openxmlformats.org/officeDocument/2006/relationships/image" Target="../media/image24.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3.png"/><Relationship Id="rId3" Type="http://schemas.openxmlformats.org/officeDocument/2006/relationships/image" Target="../media/image24.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3.png"/><Relationship Id="rId3" Type="http://schemas.openxmlformats.org/officeDocument/2006/relationships/image" Target="../media/image35.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33.png"/><Relationship Id="rId3" Type="http://schemas.openxmlformats.org/officeDocument/2006/relationships/image" Target="../media/image35.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cNvSpPr>
            <a:spLocks noGrp="1"/>
          </p:cNvSpPr>
          <p:nvPr>
            <p:ph type="title"/>
          </p:nvPr>
        </p:nvSpPr>
        <p:spPr/>
        <p:txBody>
          <a:bodyPr/>
          <a:lstStyle/>
          <a:p>
            <a:r>
              <a:rPr lang="en-GB" dirty="0"/>
              <a:t>Guided velocity field</a:t>
            </a:r>
          </a:p>
        </p:txBody>
      </p:sp>
      <p:sp>
        <p:nvSpPr>
          <p:cNvPr id="12" name="Slide Number"/>
          <p:cNvSpPr>
            <a:spLocks noGrp="1"/>
          </p:cNvSpPr>
          <p:nvPr>
            <p:ph type="sldNum" sz="quarter" idx="12"/>
          </p:nvPr>
        </p:nvSpPr>
        <p:spPr/>
        <p:txBody>
          <a:bodyPr/>
          <a:lstStyle/>
          <a:p>
            <a:fld id="{619F89D8-7AE3-494A-97F3-03D680869632}" type="slidenum">
              <a:rPr lang="en-GB"/>
              <a:t>1</a:t>
            </a:fld>
            <a:endParaRPr lang="en-GB"/>
          </a:p>
        </p:txBody>
      </p:sp>
      <p:sp>
        <p:nvSpPr>
          <p:cNvPr id="13" name="Inset"/>
          <p:cNvSpPr/>
          <p:nvPr/>
        </p:nvSpPr>
        <p:spPr>
          <a:xfrm>
            <a:off x="7203115" y="1490721"/>
            <a:ext cx="1879305" cy="669851"/>
          </a:xfrm>
          <a:prstGeom prst="roundRect">
            <a:avLst>
              <a:gd name="adj" fmla="val 3000"/>
            </a:avLst>
          </a:prstGeom>
          <a:noFill/>
          <a:ln w="9525">
            <a:solidFill>
              <a:srgbClr val="D2D2D2"/>
            </a:solidFill>
            <a:prstDash val="dash"/>
          </a:ln>
        </p:spPr>
        <p:txBody>
          <a:bodyPr wrap="square" lIns="64008" tIns="27432" rIns="64008" bIns="27432" anchor="ctr">
            <a:noAutofit/>
          </a:bodyPr>
          <a:lstStyle/>
          <a:p>
            <a:pPr algn="ctr"/>
            <a:endParaRPr/>
          </a:p>
        </p:txBody>
      </p:sp>
      <p:sp>
        <p:nvSpPr>
          <p:cNvPr id="14" name="Inset label"/>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A9A9A9"/>
                </a:solidFill>
              </a:rPr>
              <a:t>extrapolation to s = 1</a:t>
            </a:r>
          </a:p>
        </p:txBody>
      </p:sp>
      <p:sp>
        <p:nvSpPr>
          <p:cNvPr id="15" name="prio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p:cNvSpPr/>
          <p:nvPr/>
        </p:nvSpPr>
        <p:spPr>
          <a:xfrm>
            <a:off x="7324060" y="2774603"/>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τ̂ = τ</a:t>
            </a:r>
            <a:r>
              <a:rPr lang="en-GB" sz="1300" baseline="-25000" dirty="0">
                <a:solidFill>
                  <a:srgbClr val="A9A9A9"/>
                </a:solidFill>
              </a:rPr>
              <a:t>s</a:t>
            </a:r>
            <a:r>
              <a:rPr lang="en-GB" sz="1300" dirty="0">
                <a:solidFill>
                  <a:srgbClr val="A9A9A9"/>
                </a:solidFill>
              </a:rPr>
              <a:t> + (1 − s) v</a:t>
            </a:r>
            <a:r>
              <a:rPr lang="en-GB" sz="1300" baseline="-25000" dirty="0">
                <a:solidFill>
                  <a:srgbClr val="A9A9A9"/>
                </a:solidFill>
              </a:rPr>
              <a:t>θ</a:t>
            </a:r>
          </a:p>
          <a:p>
            <a:pPr algn="ctr"/>
            <a:r>
              <a:rPr lang="en-GB" sz="1100" dirty="0">
                <a:solidFill>
                  <a:srgbClr val="A9A9A9"/>
                </a:solidFill>
              </a:rPr>
              <a:t>predicted endpoint</a:t>
            </a:r>
          </a:p>
        </p:txBody>
      </p:sp>
      <p:sp>
        <p:nvSpPr>
          <p:cNvPr id="17" name="rho"/>
          <p:cNvSpPr/>
          <p:nvPr/>
        </p:nvSpPr>
        <p:spPr>
          <a:xfrm>
            <a:off x="9594111" y="2774603"/>
            <a:ext cx="126527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ρ</a:t>
            </a:r>
            <a:r>
              <a:rPr lang="en-GB" sz="1300" baseline="-25000" dirty="0">
                <a:solidFill>
                  <a:srgbClr val="A9A9A9"/>
                </a:solidFill>
              </a:rPr>
              <a:t>φ</a:t>
            </a:r>
            <a:r>
              <a:rPr lang="en-GB" sz="1300" dirty="0">
                <a:solidFill>
                  <a:srgbClr val="A9A9A9"/>
                </a:solidFill>
              </a:rPr>
              <a:t>(τ̂)</a:t>
            </a:r>
          </a:p>
          <a:p>
            <a:pPr algn="ctr"/>
            <a:r>
              <a:rPr lang="en-GB" sz="1100" dirty="0">
                <a:solidFill>
                  <a:srgbClr val="A9A9A9"/>
                </a:solidFill>
              </a:rPr>
              <a:t>requirement score</a:t>
            </a:r>
          </a:p>
        </p:txBody>
      </p:sp>
      <p:cxnSp>
        <p:nvCxnSpPr>
          <p:cNvPr id="18" name="Arrow"/>
          <p:cNvCxnSpPr/>
          <p:nvPr/>
        </p:nvCxnSpPr>
        <p:spPr>
          <a:xfrm>
            <a:off x="6840279" y="3035100"/>
            <a:ext cx="483781" cy="0"/>
          </a:xfrm>
          <a:prstGeom prst="straightConnector1">
            <a:avLst/>
          </a:prstGeom>
          <a:ln w="19050">
            <a:solidFill>
              <a:srgbClr val="D2D2D2"/>
            </a:solidFill>
            <a:tailEnd type="triangle" w="med" len="med"/>
          </a:ln>
        </p:spPr>
      </p:cxnSp>
      <p:sp>
        <p:nvSpPr>
          <p:cNvPr id="19" name="Edge label"/>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vθ</a:t>
            </a:r>
          </a:p>
        </p:txBody>
      </p:sp>
      <p:cxnSp>
        <p:nvCxnSpPr>
          <p:cNvPr id="20" name="Arrow"/>
          <p:cNvCxnSpPr/>
          <p:nvPr/>
        </p:nvCxnSpPr>
        <p:spPr>
          <a:xfrm>
            <a:off x="8961474" y="3035100"/>
            <a:ext cx="632637" cy="0"/>
          </a:xfrm>
          <a:prstGeom prst="straightConnector1">
            <a:avLst/>
          </a:prstGeom>
          <a:ln w="19050">
            <a:solidFill>
              <a:srgbClr val="D2D2D2"/>
            </a:solidFill>
            <a:tailEnd type="triangle" w="med" len="med"/>
          </a:ln>
        </p:spPr>
      </p:cxnSp>
      <p:sp>
        <p:nvSpPr>
          <p:cNvPr id="21" name="smth"/>
          <p:cNvSpPr/>
          <p:nvPr/>
        </p:nvSpPr>
        <p:spPr>
          <a:xfrm>
            <a:off x="9631326" y="1695398"/>
            <a:ext cx="166532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γ Σ</a:t>
            </a:r>
            <a:r>
              <a:rPr lang="en-GB" sz="1300" baseline="-25000" dirty="0">
                <a:solidFill>
                  <a:srgbClr val="A9A9A9"/>
                </a:solidFill>
              </a:rPr>
              <a:t>t</a:t>
            </a:r>
            <a:r>
              <a:rPr lang="en-GB" sz="1300" dirty="0">
                <a:solidFill>
                  <a:srgbClr val="A9A9A9"/>
                </a:solidFill>
              </a:rPr>
              <a:t> ‖p</a:t>
            </a:r>
            <a:r>
              <a:rPr lang="en-GB" sz="1300" baseline="-25000" dirty="0">
                <a:solidFill>
                  <a:srgbClr val="A9A9A9"/>
                </a:solidFill>
              </a:rPr>
              <a:t>t+1</a:t>
            </a:r>
            <a:r>
              <a:rPr lang="en-GB" sz="1300" dirty="0">
                <a:solidFill>
                  <a:srgbClr val="A9A9A9"/>
                </a:solidFill>
              </a:rPr>
              <a:t> − 2p</a:t>
            </a:r>
            <a:r>
              <a:rPr lang="en-GB" sz="1300" baseline="-25000" dirty="0">
                <a:solidFill>
                  <a:srgbClr val="A9A9A9"/>
                </a:solidFill>
              </a:rPr>
              <a:t>t</a:t>
            </a:r>
            <a:r>
              <a:rPr lang="en-GB" sz="1300" dirty="0">
                <a:solidFill>
                  <a:srgbClr val="A9A9A9"/>
                </a:solidFill>
              </a:rPr>
              <a:t> + p</a:t>
            </a:r>
            <a:r>
              <a:rPr lang="en-GB" sz="1300" baseline="-25000" dirty="0">
                <a:solidFill>
                  <a:srgbClr val="A9A9A9"/>
                </a:solidFill>
              </a:rPr>
              <a:t>t−1</a:t>
            </a:r>
            <a:r>
              <a:rPr lang="en-GB" sz="1300" dirty="0">
                <a:solidFill>
                  <a:srgbClr val="A9A9A9"/>
                </a:solidFill>
              </a:rPr>
              <a:t>‖</a:t>
            </a:r>
            <a:r>
              <a:rPr lang="en-GB" sz="1300" baseline="30000" dirty="0">
                <a:solidFill>
                  <a:srgbClr val="A9A9A9"/>
                </a:solidFill>
              </a:rPr>
              <a:t>2</a:t>
            </a:r>
          </a:p>
          <a:p>
            <a:pPr algn="ctr"/>
            <a:r>
              <a:rPr lang="en-GB" sz="1100" dirty="0">
                <a:solidFill>
                  <a:srgbClr val="A9A9A9"/>
                </a:solidFill>
              </a:rPr>
              <a:t>smoothness penalty</a:t>
            </a:r>
          </a:p>
        </p:txBody>
      </p:sp>
      <p:cxnSp>
        <p:nvCxnSpPr>
          <p:cNvPr id="22" name="Arrow"/>
          <p:cNvCxnSpPr/>
          <p:nvPr/>
        </p:nvCxnSpPr>
        <p:spPr>
          <a:xfrm flipV="1">
            <a:off x="9296400" y="1955896"/>
            <a:ext cx="0" cy="1079205"/>
          </a:xfrm>
          <a:prstGeom prst="straightConnector1">
            <a:avLst/>
          </a:prstGeom>
          <a:ln w="19050">
            <a:solidFill>
              <a:srgbClr val="D2D2D2"/>
            </a:solidFill>
            <a:tailEnd type="triangle" w="med" len="med"/>
          </a:ln>
        </p:spPr>
      </p:cxnSp>
      <p:cxnSp>
        <p:nvCxnSpPr>
          <p:cNvPr id="23" name="Arrow"/>
          <p:cNvCxnSpPr/>
          <p:nvPr/>
        </p:nvCxnSpPr>
        <p:spPr>
          <a:xfrm>
            <a:off x="9296400" y="1955896"/>
            <a:ext cx="334926" cy="0"/>
          </a:xfrm>
          <a:prstGeom prst="straightConnector1">
            <a:avLst/>
          </a:prstGeom>
          <a:ln w="19050">
            <a:solidFill>
              <a:srgbClr val="D2D2D2"/>
            </a:solidFill>
            <a:tailEnd type="triangle" w="med" len="med"/>
          </a:ln>
        </p:spPr>
      </p:cxnSp>
      <p:sp>
        <p:nvSpPr>
          <p:cNvPr id="24" name="objsum"/>
          <p:cNvSpPr/>
          <p:nvPr/>
        </p:nvSpPr>
        <p:spPr>
          <a:xfrm>
            <a:off x="11417595" y="2886245"/>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Σ</a:t>
            </a:r>
          </a:p>
        </p:txBody>
      </p:sp>
      <p:cxnSp>
        <p:nvCxnSpPr>
          <p:cNvPr id="25" name="Arrow"/>
          <p:cNvCxnSpPr/>
          <p:nvPr/>
        </p:nvCxnSpPr>
        <p:spPr>
          <a:xfrm>
            <a:off x="10859386" y="3035100"/>
            <a:ext cx="558209" cy="0"/>
          </a:xfrm>
          <a:prstGeom prst="straightConnector1">
            <a:avLst/>
          </a:prstGeom>
          <a:ln w="19050">
            <a:solidFill>
              <a:srgbClr val="D2D2D2"/>
            </a:solidFill>
            <a:tailEnd type="triangle" w="med" len="med"/>
          </a:ln>
        </p:spPr>
      </p:cxnSp>
      <p:cxnSp>
        <p:nvCxnSpPr>
          <p:cNvPr id="26" name="Arrow"/>
          <p:cNvCxnSpPr>
            <a:cxnSpLocks/>
          </p:cNvCxnSpPr>
          <p:nvPr/>
        </p:nvCxnSpPr>
        <p:spPr>
          <a:xfrm>
            <a:off x="11566451" y="1967611"/>
            <a:ext cx="0" cy="918634"/>
          </a:xfrm>
          <a:prstGeom prst="straightConnector1">
            <a:avLst/>
          </a:prstGeom>
          <a:ln w="19050">
            <a:solidFill>
              <a:srgbClr val="D2D2D2"/>
            </a:solidFill>
            <a:tailEnd type="triangle" w="med" len="med"/>
          </a:ln>
        </p:spPr>
      </p:cxnSp>
      <p:sp>
        <p:nvSpPr>
          <p:cNvPr id="27" name="Label"/>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8" name="Label"/>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9" name="grad"/>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p:cNvCxnSpPr/>
          <p:nvPr/>
        </p:nvCxnSpPr>
        <p:spPr>
          <a:xfrm>
            <a:off x="11566451" y="3183956"/>
            <a:ext cx="0" cy="446567"/>
          </a:xfrm>
          <a:prstGeom prst="straightConnector1">
            <a:avLst/>
          </a:prstGeom>
          <a:ln w="19050">
            <a:solidFill>
              <a:srgbClr val="D2D2D2"/>
            </a:solidFill>
            <a:tailEnd type="triangle" w="med" len="med"/>
          </a:ln>
        </p:spPr>
      </p:cxnSp>
      <p:cxnSp>
        <p:nvCxnSpPr>
          <p:cNvPr id="33" name="Arrow"/>
          <p:cNvCxnSpPr/>
          <p:nvPr/>
        </p:nvCxnSpPr>
        <p:spPr>
          <a:xfrm flipH="1">
            <a:off x="10747744" y="3630524"/>
            <a:ext cx="818707" cy="0"/>
          </a:xfrm>
          <a:prstGeom prst="straightConnector1">
            <a:avLst/>
          </a:prstGeom>
          <a:ln w="19050">
            <a:solidFill>
              <a:srgbClr val="D2D2D2"/>
            </a:solidFill>
            <a:tailEnd type="triangle" w="med" len="med"/>
          </a:ln>
        </p:spPr>
      </p:cxnSp>
      <p:cxnSp>
        <p:nvCxnSpPr>
          <p:cNvPr id="34" name="Arrow"/>
          <p:cNvCxnSpPr/>
          <p:nvPr/>
        </p:nvCxnSpPr>
        <p:spPr>
          <a:xfrm>
            <a:off x="10747744" y="3630524"/>
            <a:ext cx="0" cy="446567"/>
          </a:xfrm>
          <a:prstGeom prst="straightConnector1">
            <a:avLst/>
          </a:prstGeom>
          <a:ln w="19050">
            <a:solidFill>
              <a:srgbClr val="D2D2D2"/>
            </a:solidFill>
            <a:tailEnd type="triangle" w="med" len="med"/>
          </a:ln>
        </p:spPr>
      </p:cxnSp>
      <p:sp>
        <p:nvSpPr>
          <p:cNvPr id="35" name="Edge label"/>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A9A9A9"/>
                </a:solidFill>
              </a:rPr>
              <a:t>objective 𝒥(τ̂)</a:t>
            </a:r>
          </a:p>
        </p:txBody>
      </p:sp>
      <p:cxnSp>
        <p:nvCxnSpPr>
          <p:cNvPr id="36" name="Arrow"/>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p:cNvCxnSpPr/>
          <p:nvPr/>
        </p:nvCxnSpPr>
        <p:spPr>
          <a:xfrm>
            <a:off x="7314757" y="1918682"/>
            <a:ext cx="1711842" cy="0"/>
          </a:xfrm>
          <a:prstGeom prst="straightConnector1">
            <a:avLst/>
          </a:prstGeom>
          <a:ln w="6350">
            <a:solidFill>
              <a:srgbClr val="D2D2D2"/>
            </a:solidFill>
          </a:ln>
        </p:spPr>
      </p:cxnSp>
      <p:sp>
        <p:nvSpPr>
          <p:cNvPr id="58" name="pt1"/>
          <p:cNvSpPr/>
          <p:nvPr/>
        </p:nvSpPr>
        <p:spPr>
          <a:xfrm>
            <a:off x="7417574" y="1883807"/>
            <a:ext cx="54864" cy="54864"/>
          </a:xfrm>
          <a:prstGeom prst="roundRect">
            <a:avLst>
              <a:gd name="adj" fmla="val 50000"/>
            </a:avLst>
          </a:prstGeom>
          <a:solidFill>
            <a:srgbClr val="D2D2D2"/>
          </a:solidFill>
          <a:ln>
            <a:noFill/>
          </a:ln>
        </p:spPr>
        <p:txBody>
          <a:bodyPr wrap="square" lIns="64008" tIns="27432" rIns="64008" bIns="27432" anchor="ctr">
            <a:noAutofit/>
          </a:bodyPr>
          <a:lstStyle/>
          <a:p>
            <a:pPr algn="ctr"/>
            <a:endParaRPr/>
          </a:p>
        </p:txBody>
      </p:sp>
      <p:sp>
        <p:nvSpPr>
          <p:cNvPr id="59" name="pt1 label"/>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9A9A9"/>
                </a:solidFill>
              </a:rPr>
              <a:t>τ</a:t>
            </a:r>
            <a:r>
              <a:rPr lang="en-GB" sz="900" baseline="-25000" dirty="0">
                <a:solidFill>
                  <a:srgbClr val="A9A9A9"/>
                </a:solidFill>
              </a:rPr>
              <a:t>s</a:t>
            </a:r>
            <a:r>
              <a:rPr lang="en-GB" sz="900" dirty="0">
                <a:solidFill>
                  <a:srgbClr val="A9A9A9"/>
                </a:solidFill>
              </a:rPr>
              <a:t>, s</a:t>
            </a:r>
          </a:p>
        </p:txBody>
      </p:sp>
      <p:sp>
        <p:nvSpPr>
          <p:cNvPr id="60" name="pt2"/>
          <p:cNvSpPr/>
          <p:nvPr/>
        </p:nvSpPr>
        <p:spPr>
          <a:xfrm>
            <a:off x="8803953" y="1684872"/>
            <a:ext cx="73152" cy="73152"/>
          </a:xfrm>
          <a:prstGeom prst="roundRect">
            <a:avLst>
              <a:gd name="adj" fmla="val 50000"/>
            </a:avLst>
          </a:prstGeom>
          <a:solidFill>
            <a:srgbClr val="D2D2D2"/>
          </a:solidFill>
          <a:ln>
            <a:noFill/>
          </a:ln>
        </p:spPr>
        <p:txBody>
          <a:bodyPr wrap="square" lIns="64008" tIns="27432" rIns="64008" bIns="27432" anchor="ctr">
            <a:noAutofit/>
          </a:bodyPr>
          <a:lstStyle/>
          <a:p>
            <a:pPr algn="ctr"/>
            <a:endParaRPr/>
          </a:p>
        </p:txBody>
      </p:sp>
      <p:sp>
        <p:nvSpPr>
          <p:cNvPr id="61" name="pt2 label"/>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A9A9A9"/>
                </a:solidFill>
              </a:rPr>
              <a:t>τ̂, s = 1</a:t>
            </a:r>
          </a:p>
        </p:txBody>
      </p:sp>
      <p:cxnSp>
        <p:nvCxnSpPr>
          <p:cNvPr id="62" name="Arrow"/>
          <p:cNvCxnSpPr/>
          <p:nvPr/>
        </p:nvCxnSpPr>
        <p:spPr>
          <a:xfrm flipV="1">
            <a:off x="7482220" y="1725169"/>
            <a:ext cx="1339702" cy="171184"/>
          </a:xfrm>
          <a:prstGeom prst="straightConnector1">
            <a:avLst/>
          </a:prstGeom>
          <a:ln w="11430">
            <a:solidFill>
              <a:srgbClr val="D2D2D2"/>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CB272905-A87F-6C15-45BD-B1B02B757EDE}"/>
              </a:ext>
            </a:extLst>
          </p:cNvPr>
          <p:cNvPicPr>
            <a:picLocks noChangeAspect="1"/>
          </p:cNvPicPr>
          <p:nvPr/>
        </p:nvPicPr>
        <p:blipFill>
          <a:blip r:embed="rId4"/>
          <a:stretch>
            <a:fillRect/>
          </a:stretch>
        </p:blipFill>
        <p:spPr>
          <a:xfrm>
            <a:off x="577314" y="3370617"/>
            <a:ext cx="3976990" cy="702080"/>
          </a:xfrm>
          <a:prstGeom prst="rect">
            <a:avLst/>
          </a:prstGeom>
        </p:spPr>
      </p:pic>
      <p:cxnSp>
        <p:nvCxnSpPr>
          <p:cNvPr id="6" name="Arrow">
            <a:extLst>
              <a:ext uri="{FF2B5EF4-FFF2-40B4-BE49-F238E27FC236}">
                <a16:creationId xmlns:a16="http://schemas.microsoft.com/office/drawing/2014/main" id="{315457D1-CB43-F1DA-E3CE-1D28384984E0}"/>
              </a:ext>
            </a:extLst>
          </p:cNvPr>
          <p:cNvCxnSpPr>
            <a:cxnSpLocks/>
          </p:cNvCxnSpPr>
          <p:nvPr/>
        </p:nvCxnSpPr>
        <p:spPr>
          <a:xfrm>
            <a:off x="11296650" y="1967611"/>
            <a:ext cx="269801" cy="0"/>
          </a:xfrm>
          <a:prstGeom prst="straightConnector1">
            <a:avLst/>
          </a:prstGeom>
          <a:ln w="19050">
            <a:solidFill>
              <a:srgbClr val="D2D2D2"/>
            </a:solidFill>
            <a:tailEnd type="triangle" w="med" len="med"/>
          </a:ln>
        </p:spPr>
      </p:cxnSp>
      <p:pic>
        <p:nvPicPr>
          <p:cNvPr id="63"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5"/>
          <a:stretch>
            <a:fillRect/>
          </a:stretch>
        </p:blipFill>
        <p:spPr>
          <a:xfrm>
            <a:off x="888682" y="4689065"/>
            <a:ext cx="2999877" cy="607181"/>
          </a:xfrm>
          <a:prstGeom prst="rect">
            <a:avLst/>
          </a:prstGeom>
        </p:spPr>
      </p:pic>
      <p:pic>
        <p:nvPicPr>
          <p:cNvPr id="64"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6"/>
          <a:stretch>
            <a:fillRect/>
          </a:stretch>
        </p:blipFill>
        <p:spPr>
          <a:xfrm>
            <a:off x="577314" y="4182425"/>
            <a:ext cx="3904937" cy="3708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736FF-50B1-787E-AFFB-5334D989A34D}"/>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A8117A4B-85F7-8572-4DF9-97572063F64D}"/>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8252B50C-4407-C0C2-BCAC-0C73D13C3313}"/>
              </a:ext>
            </a:extLst>
          </p:cNvPr>
          <p:cNvSpPr>
            <a:spLocks noGrp="1"/>
          </p:cNvSpPr>
          <p:nvPr>
            <p:ph type="sldNum" sz="quarter" idx="12"/>
          </p:nvPr>
        </p:nvSpPr>
        <p:spPr/>
        <p:txBody>
          <a:bodyPr/>
          <a:lstStyle/>
          <a:p>
            <a:fld id="{619F89D8-7AE3-494A-97F3-03D680869632}" type="slidenum">
              <a:rPr lang="en-GB"/>
              <a:t>2</a:t>
            </a:fld>
            <a:endParaRPr lang="en-GB"/>
          </a:p>
        </p:txBody>
      </p:sp>
      <p:sp>
        <p:nvSpPr>
          <p:cNvPr id="13" name="Inset">
            <a:extLst>
              <a:ext uri="{FF2B5EF4-FFF2-40B4-BE49-F238E27FC236}">
                <a16:creationId xmlns:a16="http://schemas.microsoft.com/office/drawing/2014/main" id="{30EA22E7-98A2-19EF-665D-7B7E3D891C41}"/>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79508A6F-D941-EDE2-5C67-C49F8DEC12E7}"/>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072BB8D2-4409-8BE3-2EE8-939CFB9542A2}"/>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6D4F65DD-9F92-80A4-BC8B-9C081470FC33}"/>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73CEAB28-2A76-125D-6CEC-6FCE79B53170}"/>
              </a:ext>
            </a:extLst>
          </p:cNvPr>
          <p:cNvSpPr/>
          <p:nvPr/>
        </p:nvSpPr>
        <p:spPr>
          <a:xfrm>
            <a:off x="9594111" y="2774603"/>
            <a:ext cx="126527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ρ</a:t>
            </a:r>
            <a:r>
              <a:rPr lang="en-GB" sz="1300" baseline="-25000" dirty="0">
                <a:solidFill>
                  <a:srgbClr val="A9A9A9"/>
                </a:solidFill>
              </a:rPr>
              <a:t>φ</a:t>
            </a:r>
            <a:r>
              <a:rPr lang="en-GB" sz="1300" dirty="0">
                <a:solidFill>
                  <a:srgbClr val="A9A9A9"/>
                </a:solidFill>
              </a:rPr>
              <a:t>(τ̂)</a:t>
            </a:r>
          </a:p>
          <a:p>
            <a:pPr algn="ctr"/>
            <a:r>
              <a:rPr lang="en-GB" sz="1100" dirty="0">
                <a:solidFill>
                  <a:srgbClr val="A9A9A9"/>
                </a:solidFill>
              </a:rPr>
              <a:t>requirement score</a:t>
            </a:r>
          </a:p>
        </p:txBody>
      </p:sp>
      <p:cxnSp>
        <p:nvCxnSpPr>
          <p:cNvPr id="18" name="Arrow">
            <a:extLst>
              <a:ext uri="{FF2B5EF4-FFF2-40B4-BE49-F238E27FC236}">
                <a16:creationId xmlns:a16="http://schemas.microsoft.com/office/drawing/2014/main" id="{E6907A49-BF56-69D3-41E5-31F87F043C43}"/>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7BCECA1F-F813-CA13-7E34-EEAB7376C97C}"/>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8BA13BC4-7AEE-FDA6-30D5-4233E264D351}"/>
              </a:ext>
            </a:extLst>
          </p:cNvPr>
          <p:cNvCxnSpPr/>
          <p:nvPr/>
        </p:nvCxnSpPr>
        <p:spPr>
          <a:xfrm>
            <a:off x="8961474" y="3035100"/>
            <a:ext cx="632637" cy="0"/>
          </a:xfrm>
          <a:prstGeom prst="straightConnector1">
            <a:avLst/>
          </a:prstGeom>
          <a:ln w="19050">
            <a:solidFill>
              <a:srgbClr val="D2D2D2"/>
            </a:solidFill>
            <a:tailEnd type="triangle" w="med" len="med"/>
          </a:ln>
        </p:spPr>
      </p:cxnSp>
      <p:sp>
        <p:nvSpPr>
          <p:cNvPr id="21" name="smth">
            <a:extLst>
              <a:ext uri="{FF2B5EF4-FFF2-40B4-BE49-F238E27FC236}">
                <a16:creationId xmlns:a16="http://schemas.microsoft.com/office/drawing/2014/main" id="{3CB585A9-A2F9-902D-3995-D0BDF10943E4}"/>
              </a:ext>
            </a:extLst>
          </p:cNvPr>
          <p:cNvSpPr/>
          <p:nvPr/>
        </p:nvSpPr>
        <p:spPr>
          <a:xfrm>
            <a:off x="9631326" y="1695398"/>
            <a:ext cx="166532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γ Σ</a:t>
            </a:r>
            <a:r>
              <a:rPr lang="en-GB" sz="1300" baseline="-25000" dirty="0">
                <a:solidFill>
                  <a:srgbClr val="A9A9A9"/>
                </a:solidFill>
              </a:rPr>
              <a:t>t</a:t>
            </a:r>
            <a:r>
              <a:rPr lang="en-GB" sz="1300" dirty="0">
                <a:solidFill>
                  <a:srgbClr val="A9A9A9"/>
                </a:solidFill>
              </a:rPr>
              <a:t> ‖p</a:t>
            </a:r>
            <a:r>
              <a:rPr lang="en-GB" sz="1300" baseline="-25000" dirty="0">
                <a:solidFill>
                  <a:srgbClr val="A9A9A9"/>
                </a:solidFill>
              </a:rPr>
              <a:t>t+1</a:t>
            </a:r>
            <a:r>
              <a:rPr lang="en-GB" sz="1300" dirty="0">
                <a:solidFill>
                  <a:srgbClr val="A9A9A9"/>
                </a:solidFill>
              </a:rPr>
              <a:t> − 2p</a:t>
            </a:r>
            <a:r>
              <a:rPr lang="en-GB" sz="1300" baseline="-25000" dirty="0">
                <a:solidFill>
                  <a:srgbClr val="A9A9A9"/>
                </a:solidFill>
              </a:rPr>
              <a:t>t</a:t>
            </a:r>
            <a:r>
              <a:rPr lang="en-GB" sz="1300" dirty="0">
                <a:solidFill>
                  <a:srgbClr val="A9A9A9"/>
                </a:solidFill>
              </a:rPr>
              <a:t> + p</a:t>
            </a:r>
            <a:r>
              <a:rPr lang="en-GB" sz="1300" baseline="-25000" dirty="0">
                <a:solidFill>
                  <a:srgbClr val="A9A9A9"/>
                </a:solidFill>
              </a:rPr>
              <a:t>t−1</a:t>
            </a:r>
            <a:r>
              <a:rPr lang="en-GB" sz="1300" dirty="0">
                <a:solidFill>
                  <a:srgbClr val="A9A9A9"/>
                </a:solidFill>
              </a:rPr>
              <a:t>‖</a:t>
            </a:r>
            <a:r>
              <a:rPr lang="en-GB" sz="1300" baseline="30000" dirty="0">
                <a:solidFill>
                  <a:srgbClr val="A9A9A9"/>
                </a:solidFill>
              </a:rPr>
              <a:t>2</a:t>
            </a:r>
          </a:p>
          <a:p>
            <a:pPr algn="ctr"/>
            <a:r>
              <a:rPr lang="en-GB" sz="1100" dirty="0">
                <a:solidFill>
                  <a:srgbClr val="A9A9A9"/>
                </a:solidFill>
              </a:rPr>
              <a:t>smoothness penalty</a:t>
            </a:r>
          </a:p>
        </p:txBody>
      </p:sp>
      <p:cxnSp>
        <p:nvCxnSpPr>
          <p:cNvPr id="22" name="Arrow">
            <a:extLst>
              <a:ext uri="{FF2B5EF4-FFF2-40B4-BE49-F238E27FC236}">
                <a16:creationId xmlns:a16="http://schemas.microsoft.com/office/drawing/2014/main" id="{1C7AF5B2-6E34-B91B-6AC5-DC959A8D854A}"/>
              </a:ext>
            </a:extLst>
          </p:cNvPr>
          <p:cNvCxnSpPr/>
          <p:nvPr/>
        </p:nvCxnSpPr>
        <p:spPr>
          <a:xfrm flipV="1">
            <a:off x="9296400" y="1955896"/>
            <a:ext cx="0" cy="1079205"/>
          </a:xfrm>
          <a:prstGeom prst="straightConnector1">
            <a:avLst/>
          </a:prstGeom>
          <a:ln w="19050">
            <a:solidFill>
              <a:srgbClr val="D2D2D2"/>
            </a:solidFill>
            <a:tailEnd type="triangle" w="med" len="med"/>
          </a:ln>
        </p:spPr>
      </p:cxnSp>
      <p:cxnSp>
        <p:nvCxnSpPr>
          <p:cNvPr id="23" name="Arrow">
            <a:extLst>
              <a:ext uri="{FF2B5EF4-FFF2-40B4-BE49-F238E27FC236}">
                <a16:creationId xmlns:a16="http://schemas.microsoft.com/office/drawing/2014/main" id="{9B5AD0CE-2166-8B8B-12D1-FA084274EEC4}"/>
              </a:ext>
            </a:extLst>
          </p:cNvPr>
          <p:cNvCxnSpPr/>
          <p:nvPr/>
        </p:nvCxnSpPr>
        <p:spPr>
          <a:xfrm>
            <a:off x="9296400" y="1955896"/>
            <a:ext cx="334926" cy="0"/>
          </a:xfrm>
          <a:prstGeom prst="straightConnector1">
            <a:avLst/>
          </a:prstGeom>
          <a:ln w="19050">
            <a:solidFill>
              <a:srgbClr val="D2D2D2"/>
            </a:solidFill>
            <a:tailEnd type="triangle" w="med" len="med"/>
          </a:ln>
        </p:spPr>
      </p:cxnSp>
      <p:sp>
        <p:nvSpPr>
          <p:cNvPr id="24" name="objsum">
            <a:extLst>
              <a:ext uri="{FF2B5EF4-FFF2-40B4-BE49-F238E27FC236}">
                <a16:creationId xmlns:a16="http://schemas.microsoft.com/office/drawing/2014/main" id="{FA059293-CCAD-687F-6C26-18A74E25CC57}"/>
              </a:ext>
            </a:extLst>
          </p:cNvPr>
          <p:cNvSpPr/>
          <p:nvPr/>
        </p:nvSpPr>
        <p:spPr>
          <a:xfrm>
            <a:off x="11417595" y="2886245"/>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Σ</a:t>
            </a:r>
          </a:p>
        </p:txBody>
      </p:sp>
      <p:cxnSp>
        <p:nvCxnSpPr>
          <p:cNvPr id="25" name="Arrow">
            <a:extLst>
              <a:ext uri="{FF2B5EF4-FFF2-40B4-BE49-F238E27FC236}">
                <a16:creationId xmlns:a16="http://schemas.microsoft.com/office/drawing/2014/main" id="{9FB5037B-9CC4-895D-582B-5DFBD45F19B6}"/>
              </a:ext>
            </a:extLst>
          </p:cNvPr>
          <p:cNvCxnSpPr/>
          <p:nvPr/>
        </p:nvCxnSpPr>
        <p:spPr>
          <a:xfrm>
            <a:off x="10859386" y="3035100"/>
            <a:ext cx="558209" cy="0"/>
          </a:xfrm>
          <a:prstGeom prst="straightConnector1">
            <a:avLst/>
          </a:prstGeom>
          <a:ln w="19050">
            <a:solidFill>
              <a:srgbClr val="D2D2D2"/>
            </a:solidFill>
            <a:tailEnd type="triangle" w="med" len="med"/>
          </a:ln>
        </p:spPr>
      </p:cxnSp>
      <p:cxnSp>
        <p:nvCxnSpPr>
          <p:cNvPr id="26" name="Arrow">
            <a:extLst>
              <a:ext uri="{FF2B5EF4-FFF2-40B4-BE49-F238E27FC236}">
                <a16:creationId xmlns:a16="http://schemas.microsoft.com/office/drawing/2014/main" id="{6B42988D-C178-D92C-A85F-C6EF0546A38D}"/>
              </a:ext>
            </a:extLst>
          </p:cNvPr>
          <p:cNvCxnSpPr>
            <a:cxnSpLocks/>
          </p:cNvCxnSpPr>
          <p:nvPr/>
        </p:nvCxnSpPr>
        <p:spPr>
          <a:xfrm>
            <a:off x="11566451" y="1967611"/>
            <a:ext cx="0" cy="918634"/>
          </a:xfrm>
          <a:prstGeom prst="straightConnector1">
            <a:avLst/>
          </a:prstGeom>
          <a:ln w="19050">
            <a:solidFill>
              <a:srgbClr val="D2D2D2"/>
            </a:solidFill>
            <a:tailEnd type="triangle" w="med" len="med"/>
          </a:ln>
        </p:spPr>
      </p:cxnSp>
      <p:sp>
        <p:nvSpPr>
          <p:cNvPr id="27" name="Label">
            <a:extLst>
              <a:ext uri="{FF2B5EF4-FFF2-40B4-BE49-F238E27FC236}">
                <a16:creationId xmlns:a16="http://schemas.microsoft.com/office/drawing/2014/main" id="{92EC942E-D6A8-9809-194F-0792AB74E5F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8" name="Label">
            <a:extLst>
              <a:ext uri="{FF2B5EF4-FFF2-40B4-BE49-F238E27FC236}">
                <a16:creationId xmlns:a16="http://schemas.microsoft.com/office/drawing/2014/main" id="{1BF7FFDC-0D35-12E3-1F1A-ED2BCB19A7A7}"/>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9" name="grad">
            <a:extLst>
              <a:ext uri="{FF2B5EF4-FFF2-40B4-BE49-F238E27FC236}">
                <a16:creationId xmlns:a16="http://schemas.microsoft.com/office/drawing/2014/main" id="{29A31D18-C66A-003A-E7F7-D57CA0185223}"/>
              </a:ext>
            </a:extLst>
          </p:cNvPr>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a:extLst>
              <a:ext uri="{FF2B5EF4-FFF2-40B4-BE49-F238E27FC236}">
                <a16:creationId xmlns:a16="http://schemas.microsoft.com/office/drawing/2014/main" id="{72ACC0C9-AE10-6383-0A50-02017EB10DAA}"/>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106BBC06-84F9-461E-05A9-815BAA47363E}"/>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A0AF5BE5-61B3-D3E9-EA4A-B9408BDE8FEA}"/>
              </a:ext>
            </a:extLst>
          </p:cNvPr>
          <p:cNvCxnSpPr/>
          <p:nvPr/>
        </p:nvCxnSpPr>
        <p:spPr>
          <a:xfrm>
            <a:off x="11566451" y="3183956"/>
            <a:ext cx="0" cy="446567"/>
          </a:xfrm>
          <a:prstGeom prst="straightConnector1">
            <a:avLst/>
          </a:prstGeom>
          <a:ln w="19050">
            <a:solidFill>
              <a:srgbClr val="D2D2D2"/>
            </a:solidFill>
            <a:tailEnd type="triangle" w="med" len="med"/>
          </a:ln>
        </p:spPr>
      </p:cxnSp>
      <p:cxnSp>
        <p:nvCxnSpPr>
          <p:cNvPr id="33" name="Arrow">
            <a:extLst>
              <a:ext uri="{FF2B5EF4-FFF2-40B4-BE49-F238E27FC236}">
                <a16:creationId xmlns:a16="http://schemas.microsoft.com/office/drawing/2014/main" id="{65E15698-9A90-2B78-CA4F-F4CD5235AECB}"/>
              </a:ext>
            </a:extLst>
          </p:cNvPr>
          <p:cNvCxnSpPr/>
          <p:nvPr/>
        </p:nvCxnSpPr>
        <p:spPr>
          <a:xfrm flipH="1">
            <a:off x="10747744" y="3630524"/>
            <a:ext cx="818707" cy="0"/>
          </a:xfrm>
          <a:prstGeom prst="straightConnector1">
            <a:avLst/>
          </a:prstGeom>
          <a:ln w="19050">
            <a:solidFill>
              <a:srgbClr val="D2D2D2"/>
            </a:solidFill>
            <a:tailEnd type="triangle" w="med" len="med"/>
          </a:ln>
        </p:spPr>
      </p:cxnSp>
      <p:cxnSp>
        <p:nvCxnSpPr>
          <p:cNvPr id="34" name="Arrow">
            <a:extLst>
              <a:ext uri="{FF2B5EF4-FFF2-40B4-BE49-F238E27FC236}">
                <a16:creationId xmlns:a16="http://schemas.microsoft.com/office/drawing/2014/main" id="{430A9BD6-0811-6777-A8D8-6331A55B5E74}"/>
              </a:ext>
            </a:extLst>
          </p:cNvPr>
          <p:cNvCxnSpPr/>
          <p:nvPr/>
        </p:nvCxnSpPr>
        <p:spPr>
          <a:xfrm>
            <a:off x="10747744" y="3630524"/>
            <a:ext cx="0" cy="446567"/>
          </a:xfrm>
          <a:prstGeom prst="straightConnector1">
            <a:avLst/>
          </a:prstGeom>
          <a:ln w="19050">
            <a:solidFill>
              <a:srgbClr val="D2D2D2"/>
            </a:solidFill>
            <a:tailEnd type="triangle" w="med" len="med"/>
          </a:ln>
        </p:spPr>
      </p:cxnSp>
      <p:sp>
        <p:nvSpPr>
          <p:cNvPr id="35" name="Edge label">
            <a:extLst>
              <a:ext uri="{FF2B5EF4-FFF2-40B4-BE49-F238E27FC236}">
                <a16:creationId xmlns:a16="http://schemas.microsoft.com/office/drawing/2014/main" id="{9B5A0522-9D1A-D9F0-3438-362EAC650762}"/>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A9A9A9"/>
                </a:solidFill>
              </a:rPr>
              <a:t>objective 𝒥(τ̂)</a:t>
            </a:r>
          </a:p>
        </p:txBody>
      </p:sp>
      <p:cxnSp>
        <p:nvCxnSpPr>
          <p:cNvPr id="36" name="Arrow">
            <a:extLst>
              <a:ext uri="{FF2B5EF4-FFF2-40B4-BE49-F238E27FC236}">
                <a16:creationId xmlns:a16="http://schemas.microsoft.com/office/drawing/2014/main" id="{7A33A512-6E28-5DCE-03C2-3D755997B0DD}"/>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2C3C6ED2-D327-CC35-D54C-0F71E1C7A6C1}"/>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08FB32C0-57BF-EA9C-6E2B-7CFD013E7627}"/>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F605CE97-6512-F732-8E2E-8289D2DB987B}"/>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EEC7E4DC-09CA-6A2E-9489-306F1E22557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4796795F-0DDA-A1BE-409F-E2B2CD7BAA5B}"/>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982E3008-0412-CB83-5FC2-B6BF84F118EA}"/>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B8B298A8-7A31-1CBE-913A-5BD73429B488}"/>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C6BE9074-D894-3CC9-AA5A-3F3EA0D794D8}"/>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B1E23859-7D1A-456C-2FA9-65697A6F570E}"/>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89DF46F4-5191-2CE0-206A-E468B9D0D2C0}"/>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28CA343C-1EA6-DC51-6A11-5C2029B8FF57}"/>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70E5B57E-8F98-E8ED-F910-C327B74BF858}"/>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22567633-E269-7B9A-8483-CC256E550BD0}"/>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41E4DC8D-462F-1ECC-327C-539DAF0AFECB}"/>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C6311DE5-F08C-95EB-94D4-675712C29938}"/>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6FFBF5DE-6EFB-143E-228E-DD5C2B44D449}"/>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9699D544-F597-A568-62AE-874CDD94677F}"/>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6B537EC2-89D9-7D72-FAE6-82BE30987528}"/>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9CFDDDAB-CDE6-6D96-58A7-564E5E4D0D7C}"/>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526FE119-A227-482E-5F92-B1FF0EA318B4}"/>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B1B3C12A-DA51-A926-37F3-9825A9310744}"/>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CF75A3C-3D90-77CA-CE1C-DF295AA6F6F0}"/>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B24D19B0-96BC-B7A9-430E-4907E4686D4D}"/>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8577F0B1-A545-5CF8-261D-D29FCB77F1AA}"/>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623B2BA2-86B0-49CC-9505-77E054F9F329}"/>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2E938A4B-8436-F439-8C26-37BDAA027F17}"/>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10DB9D9D-FFDE-B5BF-4130-D670EF28E5C4}"/>
              </a:ext>
            </a:extLst>
          </p:cNvPr>
          <p:cNvPicPr>
            <a:picLocks noChangeAspect="1"/>
          </p:cNvPicPr>
          <p:nvPr/>
        </p:nvPicPr>
        <p:blipFill>
          <a:blip r:embed="rId4"/>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6A28E4B5-17A3-0AC6-4CF2-8975EC815B48}"/>
              </a:ext>
            </a:extLst>
          </p:cNvPr>
          <p:cNvCxnSpPr>
            <a:cxnSpLocks/>
          </p:cNvCxnSpPr>
          <p:nvPr/>
        </p:nvCxnSpPr>
        <p:spPr>
          <a:xfrm>
            <a:off x="11296650" y="1967611"/>
            <a:ext cx="269801" cy="0"/>
          </a:xfrm>
          <a:prstGeom prst="straightConnector1">
            <a:avLst/>
          </a:prstGeom>
          <a:ln w="19050">
            <a:solidFill>
              <a:srgbClr val="D2D2D2"/>
            </a:solidFill>
            <a:tailEnd type="triangle" w="med" len="med"/>
          </a:ln>
        </p:spPr>
      </p:cxnSp>
      <p:pic>
        <p:nvPicPr>
          <p:cNvPr id="63"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5"/>
          <a:stretch>
            <a:fillRect/>
          </a:stretch>
        </p:blipFill>
        <p:spPr>
          <a:xfrm>
            <a:off x="888682" y="4689065"/>
            <a:ext cx="2999877" cy="607181"/>
          </a:xfrm>
          <a:prstGeom prst="rect">
            <a:avLst/>
          </a:prstGeom>
        </p:spPr>
      </p:pic>
      <p:pic>
        <p:nvPicPr>
          <p:cNvPr id="64"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6"/>
          <a:stretch>
            <a:fillRect/>
          </a:stretch>
        </p:blipFill>
        <p:spPr>
          <a:xfrm>
            <a:off x="577314" y="4182425"/>
            <a:ext cx="3904937" cy="370811"/>
          </a:xfrm>
          <a:prstGeom prst="rect">
            <a:avLst/>
          </a:prstGeom>
        </p:spPr>
      </p:pic>
    </p:spTree>
    <p:extLst>
      <p:ext uri="{BB962C8B-B14F-4D97-AF65-F5344CB8AC3E}">
        <p14:creationId xmlns:p14="http://schemas.microsoft.com/office/powerpoint/2010/main" val="4186635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00487-2368-4299-6D14-CBBE5678D434}"/>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AD07D225-FEA5-69C0-3F0A-B58C4AC24FBD}"/>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44FD967B-CA46-A381-3EBD-1D2A27E6B503}"/>
              </a:ext>
            </a:extLst>
          </p:cNvPr>
          <p:cNvSpPr>
            <a:spLocks noGrp="1"/>
          </p:cNvSpPr>
          <p:nvPr>
            <p:ph type="sldNum" sz="quarter" idx="12"/>
          </p:nvPr>
        </p:nvSpPr>
        <p:spPr/>
        <p:txBody>
          <a:bodyPr/>
          <a:lstStyle/>
          <a:p>
            <a:fld id="{619F89D8-7AE3-494A-97F3-03D680869632}" type="slidenum">
              <a:rPr lang="en-GB"/>
              <a:t>3</a:t>
            </a:fld>
            <a:endParaRPr lang="en-GB"/>
          </a:p>
        </p:txBody>
      </p:sp>
      <p:sp>
        <p:nvSpPr>
          <p:cNvPr id="13" name="Inset">
            <a:extLst>
              <a:ext uri="{FF2B5EF4-FFF2-40B4-BE49-F238E27FC236}">
                <a16:creationId xmlns:a16="http://schemas.microsoft.com/office/drawing/2014/main" id="{869EECFD-7FED-7D92-EA39-4AB9BAB7C021}"/>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09B8144A-3822-D4AB-A2AC-F33352E89482}"/>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C613623B-5457-1D51-819F-69CD4EB48745}"/>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EC9F1E88-C4C5-AEDB-C29B-51D07BB4AFA1}"/>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26464C4-3C2B-E492-A9FD-36B4DCE42A8B}"/>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477979AC-E6D5-5D97-3796-5C9C8317D9C6}"/>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7F0248A2-CC8D-DC98-059A-E5293C891AC5}"/>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31663673-044B-1485-5015-E42C34FA9B72}"/>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71D2D750-920C-7851-85DA-FFF127C971B4}"/>
              </a:ext>
            </a:extLst>
          </p:cNvPr>
          <p:cNvSpPr/>
          <p:nvPr/>
        </p:nvSpPr>
        <p:spPr>
          <a:xfrm>
            <a:off x="9631326" y="1695398"/>
            <a:ext cx="166532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γ Σ</a:t>
            </a:r>
            <a:r>
              <a:rPr lang="en-GB" sz="1300" baseline="-25000" dirty="0">
                <a:solidFill>
                  <a:srgbClr val="A9A9A9"/>
                </a:solidFill>
              </a:rPr>
              <a:t>t</a:t>
            </a:r>
            <a:r>
              <a:rPr lang="en-GB" sz="1300" dirty="0">
                <a:solidFill>
                  <a:srgbClr val="A9A9A9"/>
                </a:solidFill>
              </a:rPr>
              <a:t> ‖p</a:t>
            </a:r>
            <a:r>
              <a:rPr lang="en-GB" sz="1300" baseline="-25000" dirty="0">
                <a:solidFill>
                  <a:srgbClr val="A9A9A9"/>
                </a:solidFill>
              </a:rPr>
              <a:t>t+1</a:t>
            </a:r>
            <a:r>
              <a:rPr lang="en-GB" sz="1300" dirty="0">
                <a:solidFill>
                  <a:srgbClr val="A9A9A9"/>
                </a:solidFill>
              </a:rPr>
              <a:t> − 2p</a:t>
            </a:r>
            <a:r>
              <a:rPr lang="en-GB" sz="1300" baseline="-25000" dirty="0">
                <a:solidFill>
                  <a:srgbClr val="A9A9A9"/>
                </a:solidFill>
              </a:rPr>
              <a:t>t</a:t>
            </a:r>
            <a:r>
              <a:rPr lang="en-GB" sz="1300" dirty="0">
                <a:solidFill>
                  <a:srgbClr val="A9A9A9"/>
                </a:solidFill>
              </a:rPr>
              <a:t> + p</a:t>
            </a:r>
            <a:r>
              <a:rPr lang="en-GB" sz="1300" baseline="-25000" dirty="0">
                <a:solidFill>
                  <a:srgbClr val="A9A9A9"/>
                </a:solidFill>
              </a:rPr>
              <a:t>t−1</a:t>
            </a:r>
            <a:r>
              <a:rPr lang="en-GB" sz="1300" dirty="0">
                <a:solidFill>
                  <a:srgbClr val="A9A9A9"/>
                </a:solidFill>
              </a:rPr>
              <a:t>‖</a:t>
            </a:r>
            <a:r>
              <a:rPr lang="en-GB" sz="1300" baseline="30000" dirty="0">
                <a:solidFill>
                  <a:srgbClr val="A9A9A9"/>
                </a:solidFill>
              </a:rPr>
              <a:t>2</a:t>
            </a:r>
          </a:p>
          <a:p>
            <a:pPr algn="ctr"/>
            <a:r>
              <a:rPr lang="en-GB" sz="1100" dirty="0">
                <a:solidFill>
                  <a:srgbClr val="A9A9A9"/>
                </a:solidFill>
              </a:rPr>
              <a:t>smoothness penalty</a:t>
            </a:r>
          </a:p>
        </p:txBody>
      </p:sp>
      <p:cxnSp>
        <p:nvCxnSpPr>
          <p:cNvPr id="22" name="Arrow">
            <a:extLst>
              <a:ext uri="{FF2B5EF4-FFF2-40B4-BE49-F238E27FC236}">
                <a16:creationId xmlns:a16="http://schemas.microsoft.com/office/drawing/2014/main" id="{D81CCCC6-D545-B375-80CB-843B66FE0F66}"/>
              </a:ext>
            </a:extLst>
          </p:cNvPr>
          <p:cNvCxnSpPr/>
          <p:nvPr/>
        </p:nvCxnSpPr>
        <p:spPr>
          <a:xfrm flipV="1">
            <a:off x="9296400" y="1955896"/>
            <a:ext cx="0" cy="1079205"/>
          </a:xfrm>
          <a:prstGeom prst="straightConnector1">
            <a:avLst/>
          </a:prstGeom>
          <a:ln w="19050">
            <a:solidFill>
              <a:srgbClr val="D2D2D2"/>
            </a:solidFill>
            <a:tailEnd type="triangle" w="med" len="med"/>
          </a:ln>
        </p:spPr>
      </p:cxnSp>
      <p:cxnSp>
        <p:nvCxnSpPr>
          <p:cNvPr id="23" name="Arrow">
            <a:extLst>
              <a:ext uri="{FF2B5EF4-FFF2-40B4-BE49-F238E27FC236}">
                <a16:creationId xmlns:a16="http://schemas.microsoft.com/office/drawing/2014/main" id="{4EA44ACB-873F-63A6-94FD-A4EBB65FF4A3}"/>
              </a:ext>
            </a:extLst>
          </p:cNvPr>
          <p:cNvCxnSpPr/>
          <p:nvPr/>
        </p:nvCxnSpPr>
        <p:spPr>
          <a:xfrm>
            <a:off x="9296400" y="1955896"/>
            <a:ext cx="334926" cy="0"/>
          </a:xfrm>
          <a:prstGeom prst="straightConnector1">
            <a:avLst/>
          </a:prstGeom>
          <a:ln w="19050">
            <a:solidFill>
              <a:srgbClr val="D2D2D2"/>
            </a:solidFill>
            <a:tailEnd type="triangle" w="med" len="med"/>
          </a:ln>
        </p:spPr>
      </p:cxnSp>
      <p:sp>
        <p:nvSpPr>
          <p:cNvPr id="24" name="objsum">
            <a:extLst>
              <a:ext uri="{FF2B5EF4-FFF2-40B4-BE49-F238E27FC236}">
                <a16:creationId xmlns:a16="http://schemas.microsoft.com/office/drawing/2014/main" id="{D3924A17-B717-B871-BB7B-54FEACFE1E9C}"/>
              </a:ext>
            </a:extLst>
          </p:cNvPr>
          <p:cNvSpPr/>
          <p:nvPr/>
        </p:nvSpPr>
        <p:spPr>
          <a:xfrm>
            <a:off x="11417595" y="2886245"/>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Σ</a:t>
            </a:r>
          </a:p>
        </p:txBody>
      </p:sp>
      <p:cxnSp>
        <p:nvCxnSpPr>
          <p:cNvPr id="25" name="Arrow">
            <a:extLst>
              <a:ext uri="{FF2B5EF4-FFF2-40B4-BE49-F238E27FC236}">
                <a16:creationId xmlns:a16="http://schemas.microsoft.com/office/drawing/2014/main" id="{F23D61D1-7D74-940D-15BC-7304677CCE2B}"/>
              </a:ext>
            </a:extLst>
          </p:cNvPr>
          <p:cNvCxnSpPr/>
          <p:nvPr/>
        </p:nvCxnSpPr>
        <p:spPr>
          <a:xfrm>
            <a:off x="10859386" y="3035100"/>
            <a:ext cx="558209" cy="0"/>
          </a:xfrm>
          <a:prstGeom prst="straightConnector1">
            <a:avLst/>
          </a:prstGeom>
          <a:ln w="19050">
            <a:solidFill>
              <a:srgbClr val="D2D2D2"/>
            </a:solidFill>
            <a:tailEnd type="triangle" w="med" len="med"/>
          </a:ln>
        </p:spPr>
      </p:cxnSp>
      <p:cxnSp>
        <p:nvCxnSpPr>
          <p:cNvPr id="26" name="Arrow">
            <a:extLst>
              <a:ext uri="{FF2B5EF4-FFF2-40B4-BE49-F238E27FC236}">
                <a16:creationId xmlns:a16="http://schemas.microsoft.com/office/drawing/2014/main" id="{30587B85-5A09-A4A3-FE2A-7201538BB1B6}"/>
              </a:ext>
            </a:extLst>
          </p:cNvPr>
          <p:cNvCxnSpPr>
            <a:cxnSpLocks/>
          </p:cNvCxnSpPr>
          <p:nvPr/>
        </p:nvCxnSpPr>
        <p:spPr>
          <a:xfrm>
            <a:off x="11566451" y="1967611"/>
            <a:ext cx="0" cy="918634"/>
          </a:xfrm>
          <a:prstGeom prst="straightConnector1">
            <a:avLst/>
          </a:prstGeom>
          <a:ln w="19050">
            <a:solidFill>
              <a:srgbClr val="D2D2D2"/>
            </a:solidFill>
            <a:tailEnd type="triangle" w="med" len="med"/>
          </a:ln>
        </p:spPr>
      </p:cxnSp>
      <p:sp>
        <p:nvSpPr>
          <p:cNvPr id="27" name="Label">
            <a:extLst>
              <a:ext uri="{FF2B5EF4-FFF2-40B4-BE49-F238E27FC236}">
                <a16:creationId xmlns:a16="http://schemas.microsoft.com/office/drawing/2014/main" id="{D891BED5-4417-54F9-EB1B-8C2EF8118A48}"/>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8" name="Label">
            <a:extLst>
              <a:ext uri="{FF2B5EF4-FFF2-40B4-BE49-F238E27FC236}">
                <a16:creationId xmlns:a16="http://schemas.microsoft.com/office/drawing/2014/main" id="{D8A9C6D7-9F4A-46C5-5AF1-8A45374AB31A}"/>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9" name="grad">
            <a:extLst>
              <a:ext uri="{FF2B5EF4-FFF2-40B4-BE49-F238E27FC236}">
                <a16:creationId xmlns:a16="http://schemas.microsoft.com/office/drawing/2014/main" id="{E4D6DF91-5B62-1E0B-9856-5E582742C9A0}"/>
              </a:ext>
            </a:extLst>
          </p:cNvPr>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a:extLst>
              <a:ext uri="{FF2B5EF4-FFF2-40B4-BE49-F238E27FC236}">
                <a16:creationId xmlns:a16="http://schemas.microsoft.com/office/drawing/2014/main" id="{F5F0E449-5C46-046E-6882-15722E5E718F}"/>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CF9E344F-146F-33C3-51AD-DFC5D4DBE36D}"/>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FACEDDF3-EF44-2D55-9C4D-5111A56185CF}"/>
              </a:ext>
            </a:extLst>
          </p:cNvPr>
          <p:cNvCxnSpPr/>
          <p:nvPr/>
        </p:nvCxnSpPr>
        <p:spPr>
          <a:xfrm>
            <a:off x="11566451" y="3183956"/>
            <a:ext cx="0" cy="446567"/>
          </a:xfrm>
          <a:prstGeom prst="straightConnector1">
            <a:avLst/>
          </a:prstGeom>
          <a:ln w="19050">
            <a:solidFill>
              <a:srgbClr val="D2D2D2"/>
            </a:solidFill>
            <a:tailEnd type="triangle" w="med" len="med"/>
          </a:ln>
        </p:spPr>
      </p:cxnSp>
      <p:cxnSp>
        <p:nvCxnSpPr>
          <p:cNvPr id="33" name="Arrow">
            <a:extLst>
              <a:ext uri="{FF2B5EF4-FFF2-40B4-BE49-F238E27FC236}">
                <a16:creationId xmlns:a16="http://schemas.microsoft.com/office/drawing/2014/main" id="{3DF3E351-4817-4193-20C9-EEB996B6DDC2}"/>
              </a:ext>
            </a:extLst>
          </p:cNvPr>
          <p:cNvCxnSpPr/>
          <p:nvPr/>
        </p:nvCxnSpPr>
        <p:spPr>
          <a:xfrm flipH="1">
            <a:off x="10747744" y="3630524"/>
            <a:ext cx="818707" cy="0"/>
          </a:xfrm>
          <a:prstGeom prst="straightConnector1">
            <a:avLst/>
          </a:prstGeom>
          <a:ln w="19050">
            <a:solidFill>
              <a:srgbClr val="D2D2D2"/>
            </a:solidFill>
            <a:tailEnd type="triangle" w="med" len="med"/>
          </a:ln>
        </p:spPr>
      </p:cxnSp>
      <p:cxnSp>
        <p:nvCxnSpPr>
          <p:cNvPr id="34" name="Arrow">
            <a:extLst>
              <a:ext uri="{FF2B5EF4-FFF2-40B4-BE49-F238E27FC236}">
                <a16:creationId xmlns:a16="http://schemas.microsoft.com/office/drawing/2014/main" id="{E8CBB719-DCC6-6916-FC80-CAA410CA0E0C}"/>
              </a:ext>
            </a:extLst>
          </p:cNvPr>
          <p:cNvCxnSpPr/>
          <p:nvPr/>
        </p:nvCxnSpPr>
        <p:spPr>
          <a:xfrm>
            <a:off x="10747744" y="3630524"/>
            <a:ext cx="0" cy="446567"/>
          </a:xfrm>
          <a:prstGeom prst="straightConnector1">
            <a:avLst/>
          </a:prstGeom>
          <a:ln w="19050">
            <a:solidFill>
              <a:srgbClr val="D2D2D2"/>
            </a:solidFill>
            <a:tailEnd type="triangle" w="med" len="med"/>
          </a:ln>
        </p:spPr>
      </p:cxnSp>
      <p:sp>
        <p:nvSpPr>
          <p:cNvPr id="35" name="Edge label">
            <a:extLst>
              <a:ext uri="{FF2B5EF4-FFF2-40B4-BE49-F238E27FC236}">
                <a16:creationId xmlns:a16="http://schemas.microsoft.com/office/drawing/2014/main" id="{E15B19EE-A19D-C48F-2C27-91F056100F74}"/>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A9A9A9"/>
                </a:solidFill>
              </a:rPr>
              <a:t>objective 𝒥(τ̂)</a:t>
            </a:r>
          </a:p>
        </p:txBody>
      </p:sp>
      <p:cxnSp>
        <p:nvCxnSpPr>
          <p:cNvPr id="36" name="Arrow">
            <a:extLst>
              <a:ext uri="{FF2B5EF4-FFF2-40B4-BE49-F238E27FC236}">
                <a16:creationId xmlns:a16="http://schemas.microsoft.com/office/drawing/2014/main" id="{A4BA30D8-0919-C640-594A-2F9BA7A584EA}"/>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47E2EBFF-B43C-9DAD-F5DD-1E42D56DC3E2}"/>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C24EF5CF-4B62-E534-E91A-D4C197A92CB1}"/>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220A94A1-D971-8623-074A-5698B7184454}"/>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B966769B-3D1C-6433-D634-6CB944D819B1}"/>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F80904E0-34D9-EF17-9D11-3EAA3B7F9E33}"/>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130773A8-078E-7670-A811-D33E7AFCCA48}"/>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CD2C3150-70D7-8D13-D4E7-22A808A958A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C436F5F5-73DA-DB0B-FB68-761FC2B65399}"/>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C111F541-7DEC-A3E2-799D-6640A82F4365}"/>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67CEE3C1-3903-DD01-E4E5-F41BD0459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F63353C2-8B1B-6872-000B-6F0336F49770}"/>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821C44EA-C117-5BBD-E009-43364D9B5B78}"/>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61708AF5-7E00-ED52-906F-D5C100F0301F}"/>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0D30B4E9-A0AF-3A7D-7443-9DD04DBACD4B}"/>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B8A1863-0D34-C322-22D0-A9C43E66967E}"/>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6CF93448-0164-DD7E-1296-E481AA3753FE}"/>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93C2013C-655E-1C6A-FF85-41AFF1ACECF4}"/>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64A3587-55B5-08B7-CC7A-9F0501B373D2}"/>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66892359-EAF7-6B18-4060-3F137E772C43}"/>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8DAD6E6B-73F5-D7C2-5B90-9EE6D4070307}"/>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2A588194-6FCA-EC68-E9A0-3E594F6CBB06}"/>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7B251465-D58A-FEBE-9B08-9B5E68843B90}"/>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5BB5EF19-D5A2-8D41-5D6C-AF8B6043B53F}"/>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9F0BC8A-950A-E1D2-2CAA-D1C9A57C9983}"/>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8DB4C90F-2039-CDD3-96F1-7BF1D99ABD9C}"/>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861F81F9-D358-CE07-FDB5-430494387567}"/>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2D448584-6FA6-A411-74EF-A9A052EED0D8}"/>
              </a:ext>
            </a:extLst>
          </p:cNvPr>
          <p:cNvPicPr>
            <a:picLocks noChangeAspect="1"/>
          </p:cNvPicPr>
          <p:nvPr/>
        </p:nvPicPr>
        <p:blipFill>
          <a:blip r:embed="rId4"/>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B22A454E-3372-1234-304F-6E97A340EB4E}"/>
              </a:ext>
            </a:extLst>
          </p:cNvPr>
          <p:cNvCxnSpPr>
            <a:cxnSpLocks/>
          </p:cNvCxnSpPr>
          <p:nvPr/>
        </p:nvCxnSpPr>
        <p:spPr>
          <a:xfrm>
            <a:off x="11296650" y="1967611"/>
            <a:ext cx="269801" cy="0"/>
          </a:xfrm>
          <a:prstGeom prst="straightConnector1">
            <a:avLst/>
          </a:prstGeom>
          <a:ln w="19050">
            <a:solidFill>
              <a:srgbClr val="D2D2D2"/>
            </a:solidFill>
            <a:tailEnd type="triangle" w="med" len="med"/>
          </a:ln>
        </p:spPr>
      </p:cxnSp>
      <p:pic>
        <p:nvPicPr>
          <p:cNvPr id="63"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5"/>
          <a:stretch>
            <a:fillRect/>
          </a:stretch>
        </p:blipFill>
        <p:spPr>
          <a:xfrm>
            <a:off x="888682" y="4689065"/>
            <a:ext cx="2999877" cy="607181"/>
          </a:xfrm>
          <a:prstGeom prst="rect">
            <a:avLst/>
          </a:prstGeom>
        </p:spPr>
      </p:pic>
      <p:pic>
        <p:nvPicPr>
          <p:cNvPr id="64"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6"/>
          <a:stretch>
            <a:fillRect/>
          </a:stretch>
        </p:blipFill>
        <p:spPr>
          <a:xfrm>
            <a:off x="577314" y="4182425"/>
            <a:ext cx="3904937" cy="370811"/>
          </a:xfrm>
          <a:prstGeom prst="rect">
            <a:avLst/>
          </a:prstGeom>
        </p:spPr>
      </p:pic>
    </p:spTree>
    <p:extLst>
      <p:ext uri="{BB962C8B-B14F-4D97-AF65-F5344CB8AC3E}">
        <p14:creationId xmlns:p14="http://schemas.microsoft.com/office/powerpoint/2010/main" val="760404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01935-524D-D57C-0980-D69F6744E267}"/>
            </a:ext>
          </a:extLst>
        </p:cNvPr>
        <p:cNvGrpSpPr/>
        <p:nvPr/>
      </p:nvGrpSpPr>
      <p:grpSpPr>
        <a:xfrm>
          <a:off x="0" y="0"/>
          <a:ext cx="0" cy="0"/>
          <a:chOff x="0" y="0"/>
          <a:chExt cx="0" cy="0"/>
        </a:xfrm>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2D2D2"/>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D2D2D2"/>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A9A9A9"/>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D2D2D2"/>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D2D2D2"/>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D2D2D2"/>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A9A9A9"/>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5"/>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D2D2D2"/>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6"/>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7"/>
          <a:stretch>
            <a:fillRect/>
          </a:stretch>
        </p:blipFill>
        <p:spPr>
          <a:xfrm>
            <a:off x="577314" y="4182425"/>
            <a:ext cx="3904937" cy="370811"/>
          </a:xfrm>
          <a:prstGeom prst="rect">
            <a:avLst/>
          </a:prstGeom>
        </p:spPr>
      </p:pic>
    </p:spTree>
    <p:extLst>
      <p:ext uri="{BB962C8B-B14F-4D97-AF65-F5344CB8AC3E}">
        <p14:creationId xmlns:p14="http://schemas.microsoft.com/office/powerpoint/2010/main" val="2027051592"/>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a:t>
            </a:r>
            <a:r>
              <a:rPr lang="en-GB" sz="1200" dirty="0">
                <a:solidFill>
                  <a:srgbClr val="A9A9A9"/>
                </a:solidFill>
              </a:rPr>
              <a:t>τ̂</a:t>
            </a:r>
            <a:endParaRPr lang="en-GB" sz="1300" dirty="0">
              <a:solidFill>
                <a:srgbClr val="A9A9A9"/>
              </a:solidFill>
            </a:endParaRPr>
          </a:p>
          <a:p>
            <a:pPr algn="ctr"/>
            <a:r>
              <a:rPr lang="en-GB" sz="1100" dirty="0">
                <a:solidFill>
                  <a:srgbClr val="A9A9A9"/>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mask and normalize</a:t>
            </a:r>
          </a:p>
          <a:p>
            <a:pPr algn="ctr"/>
            <a:r>
              <a:rPr lang="en-GB" sz="1000" dirty="0">
                <a:solidFill>
                  <a:srgbClr val="A9A9A9"/>
                </a:solidFill>
              </a:rPr>
              <a:t>constrained coordinates to </a:t>
            </a:r>
          </a:p>
          <a:p>
            <a:pPr algn="ctr"/>
            <a:r>
              <a:rPr lang="en-GB" sz="1000" dirty="0">
                <a:solidFill>
                  <a:srgbClr val="A9A9A9"/>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D2D2D2"/>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λ</a:t>
            </a:r>
            <a:r>
              <a:rPr lang="en-GB" sz="1300" baseline="-25000" dirty="0">
                <a:solidFill>
                  <a:srgbClr val="A9A9A9"/>
                </a:solidFill>
              </a:rPr>
              <a:t>0</a:t>
            </a:r>
            <a:r>
              <a:rPr lang="en-GB" sz="1300" dirty="0">
                <a:solidFill>
                  <a:srgbClr val="A9A9A9"/>
                </a:solidFill>
              </a:rPr>
              <a:t> ĝ Δs</a:t>
            </a:r>
          </a:p>
          <a:p>
            <a:pPr algn="ctr"/>
            <a:r>
              <a:rPr lang="en-GB" sz="1100" dirty="0">
                <a:solidFill>
                  <a:srgbClr val="A9A9A9"/>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D2D2D2"/>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DDE1C4"/>
          </a:solidFill>
          <a:ln w="13970">
            <a:solidFill>
              <a:srgbClr val="7B8D1E"/>
            </a:solidFill>
          </a:ln>
        </p:spPr>
        <p:txBody>
          <a:bodyPr wrap="square" lIns="64008" tIns="27432" rIns="64008" bIns="27432" anchor="ctr">
            <a:noAutofit/>
          </a:bodyPr>
          <a:lstStyle/>
          <a:p>
            <a:pPr algn="ctr"/>
            <a:r>
              <a:rPr lang="en-GB" sz="1300" dirty="0">
                <a:solidFill>
                  <a:srgbClr val="262626"/>
                </a:solidFill>
              </a:rPr>
              <a:t>λ</a:t>
            </a:r>
            <a:r>
              <a:rPr lang="en-GB" sz="1300" baseline="-25000" dirty="0">
                <a:solidFill>
                  <a:srgbClr val="262626"/>
                </a:solidFill>
              </a:rPr>
              <a:t>0</a:t>
            </a:r>
            <a:r>
              <a:rPr lang="en-GB" sz="1300" dirty="0">
                <a:solidFill>
                  <a:srgbClr val="262626"/>
                </a:solidFill>
              </a:rPr>
              <a:t> ĝ Δs</a:t>
            </a:r>
          </a:p>
          <a:p>
            <a:pPr algn="ctr"/>
            <a:r>
              <a:rPr lang="en-GB" sz="1100" dirty="0">
                <a:solidFill>
                  <a:srgbClr val="262626"/>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7B8D1E"/>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F0F0F0"/>
          </a:solidFill>
          <a:ln w="13970">
            <a:solidFill>
              <a:srgbClr val="D2D2D2"/>
            </a:solidFill>
          </a:ln>
        </p:spPr>
        <p:txBody>
          <a:bodyPr wrap="square" lIns="64008" tIns="27432" rIns="64008" bIns="27432" anchor="ctr">
            <a:noAutofit/>
          </a:bodyPr>
          <a:lstStyle/>
          <a:p>
            <a:pPr algn="ctr"/>
            <a:r>
              <a:rPr lang="en-GB" sz="1600" dirty="0">
                <a:solidFill>
                  <a:srgbClr val="A9A9A9"/>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D2D2D2"/>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D2D2D2"/>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A9A9A9"/>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D2D2D2"/>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D2D2D2"/>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D2D2D2"/>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A9A9A9"/>
                </a:solidFill>
              </a:rPr>
              <a:t>λ</a:t>
            </a:r>
            <a:r>
              <a:rPr lang="en-GB" sz="900" baseline="-25000" dirty="0">
                <a:solidFill>
                  <a:srgbClr val="A9A9A9"/>
                </a:solidFill>
              </a:rPr>
              <a:t>0</a:t>
            </a:r>
            <a:r>
              <a:rPr lang="en-GB" sz="900" dirty="0">
                <a:solidFill>
                  <a:srgbClr val="A9A9A9"/>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DDE1C4"/>
          </a:solidFill>
          <a:ln w="13970">
            <a:solidFill>
              <a:srgbClr val="7B8D1E"/>
            </a:solidFill>
          </a:ln>
        </p:spPr>
        <p:txBody>
          <a:bodyPr wrap="square" lIns="64008" tIns="27432" rIns="64008" bIns="27432" anchor="ctr">
            <a:noAutofit/>
          </a:bodyPr>
          <a:lstStyle/>
          <a:p>
            <a:pPr algn="ctr"/>
            <a:r>
              <a:rPr lang="en-GB" sz="1300" dirty="0">
                <a:solidFill>
                  <a:srgbClr val="262626"/>
                </a:solidFill>
              </a:rPr>
              <a:t>λ</a:t>
            </a:r>
            <a:r>
              <a:rPr lang="en-GB" sz="1300" baseline="-25000" dirty="0">
                <a:solidFill>
                  <a:srgbClr val="262626"/>
                </a:solidFill>
              </a:rPr>
              <a:t>0</a:t>
            </a:r>
            <a:r>
              <a:rPr lang="en-GB" sz="1300" dirty="0">
                <a:solidFill>
                  <a:srgbClr val="262626"/>
                </a:solidFill>
              </a:rPr>
              <a:t> ĝ Δs</a:t>
            </a:r>
          </a:p>
          <a:p>
            <a:pPr algn="ctr"/>
            <a:r>
              <a:rPr lang="en-GB" sz="1100" dirty="0">
                <a:solidFill>
                  <a:srgbClr val="262626"/>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7B8D1E"/>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ECEDED"/>
          </a:solidFill>
          <a:ln w="13970">
            <a:solidFill>
              <a:srgbClr val="63666A"/>
            </a:solidFill>
          </a:ln>
        </p:spPr>
        <p:txBody>
          <a:bodyPr wrap="square" lIns="64008" tIns="27432" rIns="64008" bIns="27432" anchor="ctr">
            <a:noAutofit/>
          </a:bodyPr>
          <a:lstStyle/>
          <a:p>
            <a:pPr algn="ctr"/>
            <a:r>
              <a:rPr lang="en-GB" sz="1600" dirty="0">
                <a:solidFill>
                  <a:srgbClr val="262626"/>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F0F0F0"/>
          </a:solidFill>
          <a:ln w="13970">
            <a:solidFill>
              <a:srgbClr val="D2D2D2"/>
            </a:solidFill>
          </a:ln>
        </p:spPr>
        <p:txBody>
          <a:bodyPr wrap="square" lIns="64008" tIns="27432" rIns="64008" bIns="27432" anchor="ctr">
            <a:noAutofit/>
          </a:bodyPr>
          <a:lstStyle/>
          <a:p>
            <a:pPr algn="ctr"/>
            <a:r>
              <a:rPr lang="en-GB" sz="1300" dirty="0">
                <a:solidFill>
                  <a:srgbClr val="A9A9A9"/>
                </a:solidFill>
              </a:rPr>
              <a:t>re-pin</a:t>
            </a:r>
          </a:p>
          <a:p>
            <a:pPr algn="ctr"/>
            <a:r>
              <a:rPr lang="en-GB" sz="1100" dirty="0">
                <a:solidFill>
                  <a:srgbClr val="A9A9A9"/>
                </a:solidFill>
              </a:rPr>
              <a:t>π</a:t>
            </a:r>
            <a:r>
              <a:rPr lang="en-GB" sz="1100" baseline="-25000" dirty="0">
                <a:solidFill>
                  <a:srgbClr val="A9A9A9"/>
                </a:solidFill>
              </a:rPr>
              <a:t>0</a:t>
            </a:r>
            <a:r>
              <a:rPr lang="en-GB" sz="1100" dirty="0">
                <a:solidFill>
                  <a:srgbClr val="A9A9A9"/>
                </a:solidFill>
              </a:rPr>
              <a:t>(τ) = x</a:t>
            </a:r>
            <a:r>
              <a:rPr lang="en-GB" sz="1100" baseline="-25000" dirty="0">
                <a:solidFill>
                  <a:srgbClr val="A9A9A9"/>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D2D2D2"/>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A9A9A9"/>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1954A6"/>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1954A6"/>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1954A6"/>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7B8D1E"/>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7B8D1E"/>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7B8D1E"/>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7B8D1E"/>
                </a:solidFill>
              </a:rPr>
              <a:t>λ</a:t>
            </a:r>
            <a:r>
              <a:rPr lang="en-GB" sz="900" baseline="-25000" dirty="0">
                <a:solidFill>
                  <a:srgbClr val="7B8D1E"/>
                </a:solidFill>
              </a:rPr>
              <a:t>0</a:t>
            </a:r>
            <a:r>
              <a:rPr lang="en-GB" sz="900" dirty="0">
                <a:solidFill>
                  <a:srgbClr val="7B8D1E"/>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DDE1C4"/>
          </a:solidFill>
          <a:ln w="13970">
            <a:solidFill>
              <a:srgbClr val="7B8D1E"/>
            </a:solidFill>
          </a:ln>
        </p:spPr>
        <p:txBody>
          <a:bodyPr wrap="square" lIns="64008" tIns="27432" rIns="64008" bIns="27432" anchor="ctr">
            <a:noAutofit/>
          </a:bodyPr>
          <a:lstStyle/>
          <a:p>
            <a:pPr algn="ctr"/>
            <a:r>
              <a:rPr lang="en-GB" sz="1300" dirty="0">
                <a:solidFill>
                  <a:srgbClr val="262626"/>
                </a:solidFill>
              </a:rPr>
              <a:t>λ</a:t>
            </a:r>
            <a:r>
              <a:rPr lang="en-GB" sz="1300" baseline="-25000" dirty="0">
                <a:solidFill>
                  <a:srgbClr val="262626"/>
                </a:solidFill>
              </a:rPr>
              <a:t>0</a:t>
            </a:r>
            <a:r>
              <a:rPr lang="en-GB" sz="1300" dirty="0">
                <a:solidFill>
                  <a:srgbClr val="262626"/>
                </a:solidFill>
              </a:rPr>
              <a:t> ĝ Δs</a:t>
            </a:r>
          </a:p>
          <a:p>
            <a:pPr algn="ctr"/>
            <a:r>
              <a:rPr lang="en-GB" sz="1100" dirty="0">
                <a:solidFill>
                  <a:srgbClr val="262626"/>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7B8D1E"/>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ECEDED"/>
          </a:solidFill>
          <a:ln w="13970">
            <a:solidFill>
              <a:srgbClr val="63666A"/>
            </a:solidFill>
          </a:ln>
        </p:spPr>
        <p:txBody>
          <a:bodyPr wrap="square" lIns="64008" tIns="27432" rIns="64008" bIns="27432" anchor="ctr">
            <a:noAutofit/>
          </a:bodyPr>
          <a:lstStyle/>
          <a:p>
            <a:pPr algn="ctr"/>
            <a:r>
              <a:rPr lang="en-GB" sz="1600" dirty="0">
                <a:solidFill>
                  <a:srgbClr val="262626"/>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E9EAEA"/>
          </a:solidFill>
          <a:ln w="13970">
            <a:solidFill>
              <a:srgbClr val="63666A"/>
            </a:solidFill>
          </a:ln>
        </p:spPr>
        <p:txBody>
          <a:bodyPr wrap="square" lIns="64008" tIns="27432" rIns="64008" bIns="27432" anchor="ctr">
            <a:noAutofit/>
          </a:bodyPr>
          <a:lstStyle/>
          <a:p>
            <a:pPr algn="ctr"/>
            <a:r>
              <a:rPr lang="en-GB" sz="1300" dirty="0">
                <a:solidFill>
                  <a:srgbClr val="262626"/>
                </a:solidFill>
              </a:rPr>
              <a:t>re-pin</a:t>
            </a:r>
          </a:p>
          <a:p>
            <a:pPr algn="ctr"/>
            <a:r>
              <a:rPr lang="en-GB" sz="1100" dirty="0">
                <a:solidFill>
                  <a:srgbClr val="262626"/>
                </a:solidFill>
              </a:rPr>
              <a:t>π</a:t>
            </a:r>
            <a:r>
              <a:rPr lang="en-GB" sz="1100" baseline="-25000" dirty="0">
                <a:solidFill>
                  <a:srgbClr val="262626"/>
                </a:solidFill>
              </a:rPr>
              <a:t>0</a:t>
            </a:r>
            <a:r>
              <a:rPr lang="en-GB" sz="1100" dirty="0">
                <a:solidFill>
                  <a:srgbClr val="262626"/>
                </a:solidFill>
              </a:rPr>
              <a:t>(τ) = x</a:t>
            </a:r>
            <a:r>
              <a:rPr lang="en-GB" sz="1100" baseline="-25000" dirty="0">
                <a:solidFill>
                  <a:srgbClr val="262626"/>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63666A"/>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63666A"/>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1954A6"/>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1954A6"/>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1954A6"/>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7B8D1E"/>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7B8D1E"/>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7B8D1E"/>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7B8D1E"/>
                </a:solidFill>
              </a:rPr>
              <a:t>λ</a:t>
            </a:r>
            <a:r>
              <a:rPr lang="en-GB" sz="900" baseline="-25000" dirty="0">
                <a:solidFill>
                  <a:srgbClr val="7B8D1E"/>
                </a:solidFill>
              </a:rPr>
              <a:t>0</a:t>
            </a:r>
            <a:r>
              <a:rPr lang="en-GB" sz="900" dirty="0">
                <a:solidFill>
                  <a:srgbClr val="7B8D1E"/>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D2D2D2"/>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D2D2D2"/>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D2D2D2"/>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A9A9A9"/>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D2D2D2"/>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D2D2D2"/>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A9A9A9"/>
                </a:solidFill>
              </a:rPr>
              <a:t>τ</a:t>
            </a:r>
            <a:r>
              <a:rPr lang="en-GB" sz="1000" baseline="-25000" dirty="0">
                <a:solidFill>
                  <a:srgbClr val="A9A9A9"/>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 name="Title">
            <a:extLst>
              <a:ext uri="{FF2B5EF4-FFF2-40B4-BE49-F238E27FC236}">
                <a16:creationId xmlns:a16="http://schemas.microsoft.com/office/drawing/2014/main" id="{A59B2DFE-ADAB-1408-4811-19BA710AA21B}"/>
              </a:ext>
            </a:extLst>
          </p:cNvPr>
          <p:cNvSpPr>
            <a:spLocks noGrp="1"/>
          </p:cNvSpPr>
          <p:nvPr>
            <p:ph type="title"/>
          </p:nvPr>
        </p:nvSpPr>
        <p:spPr/>
        <p:txBody>
          <a:bodyPr/>
          <a:lstStyle/>
          <a:p>
            <a:r>
              <a:rPr lang="en-GB" dirty="0"/>
              <a:t>Guided velocity field</a:t>
            </a:r>
          </a:p>
        </p:txBody>
      </p:sp>
      <p:sp>
        <p:nvSpPr>
          <p:cNvPr id="12" name="Slide Number">
            <a:extLst>
              <a:ext uri="{FF2B5EF4-FFF2-40B4-BE49-F238E27FC236}">
                <a16:creationId xmlns:a16="http://schemas.microsoft.com/office/drawing/2014/main" id="{BD73E919-F400-8645-BAFF-7F35192840E3}"/>
              </a:ext>
            </a:extLst>
          </p:cNvPr>
          <p:cNvSpPr>
            <a:spLocks noGrp="1"/>
          </p:cNvSpPr>
          <p:nvPr>
            <p:ph type="sldNum" sz="quarter" idx="12"/>
          </p:nvPr>
        </p:nvSpPr>
        <p:spPr/>
        <p:txBody>
          <a:bodyPr/>
          <a:lstStyle/>
          <a:p>
            <a:fld id="{619F89D8-7AE3-494A-97F3-03D680869632}" type="slidenum">
              <a:rPr lang="en-GB"/>
              <a:t>4</a:t>
            </a:fld>
            <a:endParaRPr lang="en-GB"/>
          </a:p>
        </p:txBody>
      </p:sp>
      <p:sp>
        <p:nvSpPr>
          <p:cNvPr id="13" name="Inset">
            <a:extLst>
              <a:ext uri="{FF2B5EF4-FFF2-40B4-BE49-F238E27FC236}">
                <a16:creationId xmlns:a16="http://schemas.microsoft.com/office/drawing/2014/main" id="{55416F64-6088-8324-F7CA-6A3A4AB43A0D}"/>
              </a:ext>
            </a:extLst>
          </p:cNvPr>
          <p:cNvSpPr/>
          <p:nvPr/>
        </p:nvSpPr>
        <p:spPr>
          <a:xfrm>
            <a:off x="7203115" y="1490721"/>
            <a:ext cx="1879305" cy="669851"/>
          </a:xfrm>
          <a:prstGeom prst="roundRect">
            <a:avLst>
              <a:gd name="adj" fmla="val 3000"/>
            </a:avLst>
          </a:prstGeom>
          <a:noFill/>
          <a:ln w="9525">
            <a:solidFill>
              <a:srgbClr val="A9ABAD"/>
            </a:solidFill>
            <a:prstDash val="dash"/>
          </a:ln>
        </p:spPr>
        <p:txBody>
          <a:bodyPr wrap="square" lIns="64008" tIns="27432" rIns="64008" bIns="27432" anchor="ctr">
            <a:noAutofit/>
          </a:bodyPr>
          <a:lstStyle/>
          <a:p>
            <a:pPr algn="ctr"/>
            <a:endParaRPr/>
          </a:p>
        </p:txBody>
      </p:sp>
      <p:sp>
        <p:nvSpPr>
          <p:cNvPr id="14" name="Inset label">
            <a:extLst>
              <a:ext uri="{FF2B5EF4-FFF2-40B4-BE49-F238E27FC236}">
                <a16:creationId xmlns:a16="http://schemas.microsoft.com/office/drawing/2014/main" id="{3F73AC53-C180-17D1-09ED-F8AC9363AF18}"/>
              </a:ext>
            </a:extLst>
          </p:cNvPr>
          <p:cNvSpPr txBox="1"/>
          <p:nvPr/>
        </p:nvSpPr>
        <p:spPr>
          <a:xfrm>
            <a:off x="7257979" y="1289553"/>
            <a:ext cx="1787865" cy="201168"/>
          </a:xfrm>
          <a:prstGeom prst="rect">
            <a:avLst/>
          </a:prstGeom>
          <a:noFill/>
        </p:spPr>
        <p:txBody>
          <a:bodyPr wrap="square" lIns="45720" tIns="0" rIns="45720" bIns="0" anchor="t">
            <a:noAutofit/>
          </a:bodyPr>
          <a:lstStyle/>
          <a:p>
            <a:pPr algn="l"/>
            <a:r>
              <a:rPr lang="en-GB" sz="1000" dirty="0">
                <a:solidFill>
                  <a:srgbClr val="929497"/>
                </a:solidFill>
              </a:rPr>
              <a:t>extrapolation to s = 1</a:t>
            </a:r>
          </a:p>
        </p:txBody>
      </p:sp>
      <p:sp>
        <p:nvSpPr>
          <p:cNvPr id="15" name="prior">
            <a:extLst>
              <a:ext uri="{FF2B5EF4-FFF2-40B4-BE49-F238E27FC236}">
                <a16:creationId xmlns:a16="http://schemas.microsoft.com/office/drawing/2014/main" id="{7C795A93-DD22-5E6A-6046-CF95C6FC65D3}"/>
              </a:ext>
            </a:extLst>
          </p:cNvPr>
          <p:cNvSpPr/>
          <p:nvPr/>
        </p:nvSpPr>
        <p:spPr>
          <a:xfrm>
            <a:off x="5351721" y="2774603"/>
            <a:ext cx="1488558" cy="520995"/>
          </a:xfrm>
          <a:prstGeom prst="roundRect">
            <a:avLst>
              <a:gd name="adj" fmla="val 8000"/>
            </a:avLst>
          </a:prstGeom>
          <a:solidFill>
            <a:srgbClr val="E8EEF6"/>
          </a:solidFill>
          <a:ln w="13970">
            <a:solidFill>
              <a:srgbClr val="1954A6"/>
            </a:solidFill>
          </a:ln>
        </p:spPr>
        <p:txBody>
          <a:bodyPr wrap="square" lIns="64008" tIns="27432" rIns="64008" bIns="27432" anchor="ctr">
            <a:noAutofit/>
          </a:bodyPr>
          <a:lstStyle/>
          <a:p>
            <a:pPr algn="ctr"/>
            <a:r>
              <a:rPr lang="en-GB" sz="1300" dirty="0">
                <a:solidFill>
                  <a:srgbClr val="262626"/>
                </a:solidFill>
              </a:rPr>
              <a:t>v</a:t>
            </a:r>
            <a:r>
              <a:rPr lang="en-GB" sz="1300" baseline="-25000" dirty="0">
                <a:solidFill>
                  <a:srgbClr val="262626"/>
                </a:solidFill>
              </a:rPr>
              <a:t>θ</a:t>
            </a:r>
            <a:r>
              <a:rPr lang="en-GB" sz="1300" dirty="0">
                <a:solidFill>
                  <a:srgbClr val="262626"/>
                </a:solidFill>
              </a:rPr>
              <a:t>(τ</a:t>
            </a:r>
            <a:r>
              <a:rPr lang="en-GB" sz="1300" baseline="-25000" dirty="0">
                <a:solidFill>
                  <a:srgbClr val="262626"/>
                </a:solidFill>
              </a:rPr>
              <a:t>s</a:t>
            </a:r>
            <a:r>
              <a:rPr lang="en-GB" sz="1300" dirty="0">
                <a:solidFill>
                  <a:srgbClr val="262626"/>
                </a:solidFill>
              </a:rPr>
              <a:t>, s)</a:t>
            </a:r>
          </a:p>
          <a:p>
            <a:pPr algn="ctr"/>
            <a:r>
              <a:rPr lang="en-GB" sz="1100" dirty="0">
                <a:solidFill>
                  <a:srgbClr val="262626"/>
                </a:solidFill>
              </a:rPr>
              <a:t>learned prior field</a:t>
            </a:r>
          </a:p>
          <a:p>
            <a:pPr algn="ctr"/>
            <a:r>
              <a:rPr lang="en-GB" sz="900" i="1" dirty="0">
                <a:solidFill>
                  <a:srgbClr val="262626"/>
                </a:solidFill>
              </a:rPr>
              <a:t>frozen during sampling</a:t>
            </a:r>
          </a:p>
        </p:txBody>
      </p:sp>
      <p:sp>
        <p:nvSpPr>
          <p:cNvPr id="16" name="endp">
            <a:extLst>
              <a:ext uri="{FF2B5EF4-FFF2-40B4-BE49-F238E27FC236}">
                <a16:creationId xmlns:a16="http://schemas.microsoft.com/office/drawing/2014/main" id="{8CB80942-2AFA-14AD-5622-B4CD6F62CA2C}"/>
              </a:ext>
            </a:extLst>
          </p:cNvPr>
          <p:cNvSpPr/>
          <p:nvPr/>
        </p:nvSpPr>
        <p:spPr>
          <a:xfrm>
            <a:off x="7324060" y="2774603"/>
            <a:ext cx="1637414" cy="520995"/>
          </a:xfrm>
          <a:prstGeom prst="roundRect">
            <a:avLst>
              <a:gd name="adj" fmla="val 8000"/>
            </a:avLst>
          </a:prstGeom>
          <a:solidFill>
            <a:srgbClr val="E0F2FA"/>
          </a:solidFill>
          <a:ln w="13970">
            <a:solidFill>
              <a:srgbClr val="24A0D8"/>
            </a:solidFill>
          </a:ln>
        </p:spPr>
        <p:txBody>
          <a:bodyPr wrap="square" lIns="64008" tIns="27432" rIns="64008" bIns="27432" anchor="ctr">
            <a:noAutofit/>
          </a:bodyPr>
          <a:lstStyle/>
          <a:p>
            <a:pPr algn="ctr"/>
            <a:r>
              <a:rPr lang="en-GB" sz="1300" dirty="0">
                <a:solidFill>
                  <a:srgbClr val="262626"/>
                </a:solidFill>
              </a:rPr>
              <a:t>τ̂ = τ</a:t>
            </a:r>
            <a:r>
              <a:rPr lang="en-GB" sz="1300" baseline="-25000" dirty="0">
                <a:solidFill>
                  <a:srgbClr val="262626"/>
                </a:solidFill>
              </a:rPr>
              <a:t>s</a:t>
            </a:r>
            <a:r>
              <a:rPr lang="en-GB" sz="1300" dirty="0">
                <a:solidFill>
                  <a:srgbClr val="262626"/>
                </a:solidFill>
              </a:rPr>
              <a:t> + (1 − s) v</a:t>
            </a:r>
            <a:r>
              <a:rPr lang="en-GB" sz="1300" baseline="-25000" dirty="0">
                <a:solidFill>
                  <a:srgbClr val="262626"/>
                </a:solidFill>
              </a:rPr>
              <a:t>θ</a:t>
            </a:r>
          </a:p>
          <a:p>
            <a:pPr algn="ctr"/>
            <a:r>
              <a:rPr lang="en-GB" sz="1100" dirty="0">
                <a:solidFill>
                  <a:srgbClr val="262626"/>
                </a:solidFill>
              </a:rPr>
              <a:t>predicted endpoint</a:t>
            </a:r>
          </a:p>
        </p:txBody>
      </p:sp>
      <p:sp>
        <p:nvSpPr>
          <p:cNvPr id="17" name="rho">
            <a:extLst>
              <a:ext uri="{FF2B5EF4-FFF2-40B4-BE49-F238E27FC236}">
                <a16:creationId xmlns:a16="http://schemas.microsoft.com/office/drawing/2014/main" id="{5427CFF1-EE04-DF69-C9A2-E8BDE9ADA5AA}"/>
              </a:ext>
            </a:extLst>
          </p:cNvPr>
          <p:cNvSpPr/>
          <p:nvPr/>
        </p:nvSpPr>
        <p:spPr>
          <a:xfrm>
            <a:off x="9594111" y="2774603"/>
            <a:ext cx="1265274" cy="520995"/>
          </a:xfrm>
          <a:prstGeom prst="roundRect">
            <a:avLst>
              <a:gd name="adj" fmla="val 8000"/>
            </a:avLst>
          </a:prstGeom>
          <a:solidFill>
            <a:srgbClr val="FAEAF3"/>
          </a:solidFill>
          <a:ln w="13970">
            <a:solidFill>
              <a:srgbClr val="D85497"/>
            </a:solidFill>
          </a:ln>
        </p:spPr>
        <p:txBody>
          <a:bodyPr wrap="square" lIns="64008" tIns="27432" rIns="64008" bIns="27432" anchor="ctr">
            <a:noAutofit/>
          </a:bodyPr>
          <a:lstStyle/>
          <a:p>
            <a:pPr algn="ctr"/>
            <a:r>
              <a:rPr lang="en-GB" sz="1300" dirty="0">
                <a:solidFill>
                  <a:srgbClr val="262626"/>
                </a:solidFill>
              </a:rPr>
              <a:t>ρ</a:t>
            </a:r>
            <a:r>
              <a:rPr lang="en-GB" sz="1300" baseline="-25000" dirty="0">
                <a:solidFill>
                  <a:srgbClr val="262626"/>
                </a:solidFill>
              </a:rPr>
              <a:t>φ</a:t>
            </a:r>
            <a:r>
              <a:rPr lang="en-GB" sz="1300" dirty="0">
                <a:solidFill>
                  <a:srgbClr val="262626"/>
                </a:solidFill>
              </a:rPr>
              <a:t>(τ̂)</a:t>
            </a:r>
          </a:p>
          <a:p>
            <a:pPr algn="ctr"/>
            <a:r>
              <a:rPr lang="en-GB" sz="1100" dirty="0">
                <a:solidFill>
                  <a:srgbClr val="262626"/>
                </a:solidFill>
              </a:rPr>
              <a:t>requirement score</a:t>
            </a:r>
          </a:p>
        </p:txBody>
      </p:sp>
      <p:cxnSp>
        <p:nvCxnSpPr>
          <p:cNvPr id="18" name="Arrow">
            <a:extLst>
              <a:ext uri="{FF2B5EF4-FFF2-40B4-BE49-F238E27FC236}">
                <a16:creationId xmlns:a16="http://schemas.microsoft.com/office/drawing/2014/main" id="{DE9CA266-BBF2-556C-F72F-024B4159F267}"/>
              </a:ext>
            </a:extLst>
          </p:cNvPr>
          <p:cNvCxnSpPr/>
          <p:nvPr/>
        </p:nvCxnSpPr>
        <p:spPr>
          <a:xfrm>
            <a:off x="6840279" y="3035100"/>
            <a:ext cx="483781" cy="0"/>
          </a:xfrm>
          <a:prstGeom prst="straightConnector1">
            <a:avLst/>
          </a:prstGeom>
          <a:ln w="19050">
            <a:solidFill>
              <a:srgbClr val="1954A6"/>
            </a:solidFill>
            <a:tailEnd type="triangle" w="med" len="med"/>
          </a:ln>
        </p:spPr>
      </p:cxnSp>
      <p:sp>
        <p:nvSpPr>
          <p:cNvPr id="19" name="Edge label">
            <a:extLst>
              <a:ext uri="{FF2B5EF4-FFF2-40B4-BE49-F238E27FC236}">
                <a16:creationId xmlns:a16="http://schemas.microsoft.com/office/drawing/2014/main" id="{FA6C3DFB-A49D-255B-15E3-22356ED0615F}"/>
              </a:ext>
            </a:extLst>
          </p:cNvPr>
          <p:cNvSpPr txBox="1"/>
          <p:nvPr/>
        </p:nvSpPr>
        <p:spPr>
          <a:xfrm>
            <a:off x="6814020" y="2870189"/>
            <a:ext cx="500736" cy="201168"/>
          </a:xfrm>
          <a:prstGeom prst="rect">
            <a:avLst/>
          </a:prstGeom>
          <a:noFill/>
        </p:spPr>
        <p:txBody>
          <a:bodyPr wrap="square" lIns="45720" tIns="0" rIns="45720" bIns="0" anchor="t">
            <a:noAutofit/>
          </a:bodyPr>
          <a:lstStyle/>
          <a:p>
            <a:pPr algn="ctr"/>
            <a:r>
              <a:rPr lang="en-GB" sz="1000" dirty="0">
                <a:solidFill>
                  <a:srgbClr val="1954A6"/>
                </a:solidFill>
              </a:rPr>
              <a:t>vθ</a:t>
            </a:r>
          </a:p>
        </p:txBody>
      </p:sp>
      <p:cxnSp>
        <p:nvCxnSpPr>
          <p:cNvPr id="20" name="Arrow">
            <a:extLst>
              <a:ext uri="{FF2B5EF4-FFF2-40B4-BE49-F238E27FC236}">
                <a16:creationId xmlns:a16="http://schemas.microsoft.com/office/drawing/2014/main" id="{F1E15FD4-1ADE-6BB4-13F7-65EF6BE89021}"/>
              </a:ext>
            </a:extLst>
          </p:cNvPr>
          <p:cNvCxnSpPr/>
          <p:nvPr/>
        </p:nvCxnSpPr>
        <p:spPr>
          <a:xfrm>
            <a:off x="8961474" y="3035100"/>
            <a:ext cx="632637" cy="0"/>
          </a:xfrm>
          <a:prstGeom prst="straightConnector1">
            <a:avLst/>
          </a:prstGeom>
          <a:ln w="19050">
            <a:solidFill>
              <a:srgbClr val="24A0D8"/>
            </a:solidFill>
            <a:tailEnd type="triangle" w="med" len="med"/>
          </a:ln>
        </p:spPr>
      </p:cxnSp>
      <p:sp>
        <p:nvSpPr>
          <p:cNvPr id="21" name="smth">
            <a:extLst>
              <a:ext uri="{FF2B5EF4-FFF2-40B4-BE49-F238E27FC236}">
                <a16:creationId xmlns:a16="http://schemas.microsoft.com/office/drawing/2014/main" id="{088BC086-D285-E4F6-239C-5B2244E50C84}"/>
              </a:ext>
            </a:extLst>
          </p:cNvPr>
          <p:cNvSpPr/>
          <p:nvPr/>
        </p:nvSpPr>
        <p:spPr>
          <a:xfrm>
            <a:off x="9631326" y="1695398"/>
            <a:ext cx="1665324" cy="520995"/>
          </a:xfrm>
          <a:prstGeom prst="roundRect">
            <a:avLst>
              <a:gd name="adj" fmla="val 8000"/>
            </a:avLst>
          </a:prstGeom>
          <a:solidFill>
            <a:srgbClr val="FBEFE0"/>
          </a:solidFill>
          <a:ln w="13970">
            <a:solidFill>
              <a:srgbClr val="E07B00"/>
            </a:solidFill>
          </a:ln>
        </p:spPr>
        <p:txBody>
          <a:bodyPr wrap="square" lIns="64008" tIns="27432" rIns="64008" bIns="27432" anchor="ctr">
            <a:noAutofit/>
          </a:bodyPr>
          <a:lstStyle/>
          <a:p>
            <a:pPr algn="ctr"/>
            <a:r>
              <a:rPr lang="en-GB" sz="1300" dirty="0">
                <a:solidFill>
                  <a:srgbClr val="262626"/>
                </a:solidFill>
              </a:rPr>
              <a:t>γ Σ</a:t>
            </a:r>
            <a:r>
              <a:rPr lang="en-GB" sz="1300" baseline="-25000" dirty="0">
                <a:solidFill>
                  <a:srgbClr val="262626"/>
                </a:solidFill>
              </a:rPr>
              <a:t>t</a:t>
            </a:r>
            <a:r>
              <a:rPr lang="en-GB" sz="1300" dirty="0">
                <a:solidFill>
                  <a:srgbClr val="262626"/>
                </a:solidFill>
              </a:rPr>
              <a:t> ‖p</a:t>
            </a:r>
            <a:r>
              <a:rPr lang="en-GB" sz="1300" baseline="-25000" dirty="0">
                <a:solidFill>
                  <a:srgbClr val="262626"/>
                </a:solidFill>
              </a:rPr>
              <a:t>t+1</a:t>
            </a:r>
            <a:r>
              <a:rPr lang="en-GB" sz="1300" dirty="0">
                <a:solidFill>
                  <a:srgbClr val="262626"/>
                </a:solidFill>
              </a:rPr>
              <a:t> − 2p</a:t>
            </a:r>
            <a:r>
              <a:rPr lang="en-GB" sz="1300" baseline="-25000" dirty="0">
                <a:solidFill>
                  <a:srgbClr val="262626"/>
                </a:solidFill>
              </a:rPr>
              <a:t>t</a:t>
            </a:r>
            <a:r>
              <a:rPr lang="en-GB" sz="1300" dirty="0">
                <a:solidFill>
                  <a:srgbClr val="262626"/>
                </a:solidFill>
              </a:rPr>
              <a:t> + p</a:t>
            </a:r>
            <a:r>
              <a:rPr lang="en-GB" sz="1300" baseline="-25000" dirty="0">
                <a:solidFill>
                  <a:srgbClr val="262626"/>
                </a:solidFill>
              </a:rPr>
              <a:t>t−1</a:t>
            </a:r>
            <a:r>
              <a:rPr lang="en-GB" sz="1300" dirty="0">
                <a:solidFill>
                  <a:srgbClr val="262626"/>
                </a:solidFill>
              </a:rPr>
              <a:t>‖</a:t>
            </a:r>
            <a:r>
              <a:rPr lang="en-GB" sz="1300" baseline="30000" dirty="0">
                <a:solidFill>
                  <a:srgbClr val="262626"/>
                </a:solidFill>
              </a:rPr>
              <a:t>2</a:t>
            </a:r>
          </a:p>
          <a:p>
            <a:pPr algn="ctr"/>
            <a:r>
              <a:rPr lang="en-GB" sz="1100" dirty="0">
                <a:solidFill>
                  <a:srgbClr val="262626"/>
                </a:solidFill>
              </a:rPr>
              <a:t>smoothness penalty</a:t>
            </a:r>
          </a:p>
        </p:txBody>
      </p:sp>
      <p:cxnSp>
        <p:nvCxnSpPr>
          <p:cNvPr id="22" name="Arrow">
            <a:extLst>
              <a:ext uri="{FF2B5EF4-FFF2-40B4-BE49-F238E27FC236}">
                <a16:creationId xmlns:a16="http://schemas.microsoft.com/office/drawing/2014/main" id="{3613D9B9-0A45-EF11-9DB3-116CBBD8D4B6}"/>
              </a:ext>
            </a:extLst>
          </p:cNvPr>
          <p:cNvCxnSpPr/>
          <p:nvPr/>
        </p:nvCxnSpPr>
        <p:spPr>
          <a:xfrm flipV="1">
            <a:off x="9296400" y="1955896"/>
            <a:ext cx="0" cy="1079205"/>
          </a:xfrm>
          <a:prstGeom prst="straightConnector1">
            <a:avLst/>
          </a:prstGeom>
          <a:ln w="19050">
            <a:solidFill>
              <a:srgbClr val="24A0D8"/>
            </a:solidFill>
            <a:tailEnd type="triangle" w="med" len="med"/>
          </a:ln>
        </p:spPr>
      </p:cxnSp>
      <p:cxnSp>
        <p:nvCxnSpPr>
          <p:cNvPr id="23" name="Arrow">
            <a:extLst>
              <a:ext uri="{FF2B5EF4-FFF2-40B4-BE49-F238E27FC236}">
                <a16:creationId xmlns:a16="http://schemas.microsoft.com/office/drawing/2014/main" id="{0179B494-3CB9-5241-01C8-50F7855A70B4}"/>
              </a:ext>
            </a:extLst>
          </p:cNvPr>
          <p:cNvCxnSpPr/>
          <p:nvPr/>
        </p:nvCxnSpPr>
        <p:spPr>
          <a:xfrm>
            <a:off x="9296400" y="1955896"/>
            <a:ext cx="334926" cy="0"/>
          </a:xfrm>
          <a:prstGeom prst="straightConnector1">
            <a:avLst/>
          </a:prstGeom>
          <a:ln w="19050">
            <a:solidFill>
              <a:srgbClr val="24A0D8"/>
            </a:solidFill>
            <a:tailEnd type="triangle" w="med" len="med"/>
          </a:ln>
        </p:spPr>
      </p:cxnSp>
      <p:sp>
        <p:nvSpPr>
          <p:cNvPr id="24" name="objsum">
            <a:extLst>
              <a:ext uri="{FF2B5EF4-FFF2-40B4-BE49-F238E27FC236}">
                <a16:creationId xmlns:a16="http://schemas.microsoft.com/office/drawing/2014/main" id="{5AA3FE89-9A06-3482-DDA9-62EB0169B9C9}"/>
              </a:ext>
            </a:extLst>
          </p:cNvPr>
          <p:cNvSpPr/>
          <p:nvPr/>
        </p:nvSpPr>
        <p:spPr>
          <a:xfrm>
            <a:off x="11417595" y="2886245"/>
            <a:ext cx="297712" cy="297712"/>
          </a:xfrm>
          <a:prstGeom prst="ellipse">
            <a:avLst/>
          </a:prstGeom>
          <a:solidFill>
            <a:srgbClr val="EFEAF4"/>
          </a:solidFill>
          <a:ln w="13970">
            <a:solidFill>
              <a:srgbClr val="7B4FA0"/>
            </a:solidFill>
          </a:ln>
        </p:spPr>
        <p:txBody>
          <a:bodyPr wrap="square" lIns="64008" tIns="27432" rIns="64008" bIns="27432" anchor="ctr">
            <a:noAutofit/>
          </a:bodyPr>
          <a:lstStyle/>
          <a:p>
            <a:pPr algn="ctr"/>
            <a:r>
              <a:rPr lang="en-GB" sz="1600" dirty="0">
                <a:solidFill>
                  <a:srgbClr val="262626"/>
                </a:solidFill>
              </a:rPr>
              <a:t>Σ</a:t>
            </a:r>
          </a:p>
        </p:txBody>
      </p:sp>
      <p:cxnSp>
        <p:nvCxnSpPr>
          <p:cNvPr id="25" name="Arrow">
            <a:extLst>
              <a:ext uri="{FF2B5EF4-FFF2-40B4-BE49-F238E27FC236}">
                <a16:creationId xmlns:a16="http://schemas.microsoft.com/office/drawing/2014/main" id="{26144E53-AD87-10FA-53BB-F5A292FD73C9}"/>
              </a:ext>
            </a:extLst>
          </p:cNvPr>
          <p:cNvCxnSpPr/>
          <p:nvPr/>
        </p:nvCxnSpPr>
        <p:spPr>
          <a:xfrm>
            <a:off x="10859386" y="3035100"/>
            <a:ext cx="558209" cy="0"/>
          </a:xfrm>
          <a:prstGeom prst="straightConnector1">
            <a:avLst/>
          </a:prstGeom>
          <a:ln w="19050">
            <a:solidFill>
              <a:srgbClr val="D85497"/>
            </a:solidFill>
            <a:tailEnd type="triangle" w="med" len="med"/>
          </a:ln>
        </p:spPr>
      </p:cxnSp>
      <p:cxnSp>
        <p:nvCxnSpPr>
          <p:cNvPr id="26" name="Arrow">
            <a:extLst>
              <a:ext uri="{FF2B5EF4-FFF2-40B4-BE49-F238E27FC236}">
                <a16:creationId xmlns:a16="http://schemas.microsoft.com/office/drawing/2014/main" id="{84E98615-7D67-4BF6-76A4-2E06723F89A6}"/>
              </a:ext>
            </a:extLst>
          </p:cNvPr>
          <p:cNvCxnSpPr>
            <a:cxnSpLocks/>
          </p:cNvCxnSpPr>
          <p:nvPr/>
        </p:nvCxnSpPr>
        <p:spPr>
          <a:xfrm>
            <a:off x="11566451" y="1967611"/>
            <a:ext cx="0" cy="918634"/>
          </a:xfrm>
          <a:prstGeom prst="straightConnector1">
            <a:avLst/>
          </a:prstGeom>
          <a:ln w="19050">
            <a:solidFill>
              <a:srgbClr val="E07B00"/>
            </a:solidFill>
            <a:tailEnd type="triangle" w="med" len="med"/>
          </a:ln>
        </p:spPr>
      </p:cxnSp>
      <p:sp>
        <p:nvSpPr>
          <p:cNvPr id="27" name="Label">
            <a:extLst>
              <a:ext uri="{FF2B5EF4-FFF2-40B4-BE49-F238E27FC236}">
                <a16:creationId xmlns:a16="http://schemas.microsoft.com/office/drawing/2014/main" id="{5129F718-FCB5-7910-CE66-FD63016F02C2}"/>
              </a:ext>
            </a:extLst>
          </p:cNvPr>
          <p:cNvSpPr txBox="1"/>
          <p:nvPr/>
        </p:nvSpPr>
        <p:spPr>
          <a:xfrm>
            <a:off x="11268739" y="2830424"/>
            <a:ext cx="457200" cy="274320"/>
          </a:xfrm>
          <a:prstGeom prst="rect">
            <a:avLst/>
          </a:prstGeom>
          <a:noFill/>
        </p:spPr>
        <p:txBody>
          <a:bodyPr wrap="square" lIns="45720" tIns="0" rIns="45720" bIns="0" anchor="t">
            <a:noAutofit/>
          </a:bodyPr>
          <a:lstStyle/>
          <a:p>
            <a:pPr algn="l"/>
            <a:r>
              <a:rPr lang="en-GB" sz="1300" b="1" dirty="0">
                <a:solidFill>
                  <a:srgbClr val="D85497"/>
                </a:solidFill>
              </a:rPr>
              <a:t>+</a:t>
            </a:r>
          </a:p>
        </p:txBody>
      </p:sp>
      <p:sp>
        <p:nvSpPr>
          <p:cNvPr id="28" name="Label">
            <a:extLst>
              <a:ext uri="{FF2B5EF4-FFF2-40B4-BE49-F238E27FC236}">
                <a16:creationId xmlns:a16="http://schemas.microsoft.com/office/drawing/2014/main" id="{DADFC5B9-09FE-B7AF-8413-8545356E0BCE}"/>
              </a:ext>
            </a:extLst>
          </p:cNvPr>
          <p:cNvSpPr txBox="1"/>
          <p:nvPr/>
        </p:nvSpPr>
        <p:spPr>
          <a:xfrm>
            <a:off x="11603665" y="2696453"/>
            <a:ext cx="457200" cy="274320"/>
          </a:xfrm>
          <a:prstGeom prst="rect">
            <a:avLst/>
          </a:prstGeom>
          <a:noFill/>
        </p:spPr>
        <p:txBody>
          <a:bodyPr wrap="square" lIns="45720" tIns="0" rIns="45720" bIns="0" anchor="t">
            <a:noAutofit/>
          </a:bodyPr>
          <a:lstStyle/>
          <a:p>
            <a:pPr algn="l"/>
            <a:r>
              <a:rPr lang="en-GB" sz="1300" b="1" dirty="0">
                <a:solidFill>
                  <a:srgbClr val="E07B00"/>
                </a:solidFill>
              </a:rPr>
              <a:t>−</a:t>
            </a:r>
          </a:p>
        </p:txBody>
      </p:sp>
      <p:sp>
        <p:nvSpPr>
          <p:cNvPr id="29" name="grad">
            <a:extLst>
              <a:ext uri="{FF2B5EF4-FFF2-40B4-BE49-F238E27FC236}">
                <a16:creationId xmlns:a16="http://schemas.microsoft.com/office/drawing/2014/main" id="{59CFBCDB-4D7F-9E4B-0735-96C6D2DF4AA7}"/>
              </a:ext>
            </a:extLst>
          </p:cNvPr>
          <p:cNvSpPr/>
          <p:nvPr/>
        </p:nvSpPr>
        <p:spPr>
          <a:xfrm>
            <a:off x="10152321" y="4077091"/>
            <a:ext cx="1190847"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a:t>
            </a:r>
            <a:r>
              <a:rPr lang="en-GB" sz="1200" dirty="0">
                <a:solidFill>
                  <a:srgbClr val="262626"/>
                </a:solidFill>
              </a:rPr>
              <a:t>τ̂</a:t>
            </a:r>
            <a:endParaRPr lang="en-GB" sz="1300" dirty="0">
              <a:solidFill>
                <a:srgbClr val="262626"/>
              </a:solidFill>
            </a:endParaRPr>
          </a:p>
          <a:p>
            <a:pPr algn="ctr"/>
            <a:r>
              <a:rPr lang="en-GB" sz="1100" dirty="0">
                <a:solidFill>
                  <a:srgbClr val="262626"/>
                </a:solidFill>
              </a:rPr>
              <a:t>autodiff</a:t>
            </a:r>
          </a:p>
        </p:txBody>
      </p:sp>
      <p:sp>
        <p:nvSpPr>
          <p:cNvPr id="30" name="mask">
            <a:extLst>
              <a:ext uri="{FF2B5EF4-FFF2-40B4-BE49-F238E27FC236}">
                <a16:creationId xmlns:a16="http://schemas.microsoft.com/office/drawing/2014/main" id="{D8764CB7-9EDB-8A5D-9984-AABD52BCC72C}"/>
              </a:ext>
            </a:extLst>
          </p:cNvPr>
          <p:cNvSpPr/>
          <p:nvPr/>
        </p:nvSpPr>
        <p:spPr>
          <a:xfrm>
            <a:off x="7733414" y="4077091"/>
            <a:ext cx="1860698" cy="520995"/>
          </a:xfrm>
          <a:prstGeom prst="roundRect">
            <a:avLst>
              <a:gd name="adj" fmla="val 8000"/>
            </a:avLst>
          </a:prstGeom>
          <a:solidFill>
            <a:srgbClr val="EBEEDD"/>
          </a:solidFill>
          <a:ln w="13970">
            <a:solidFill>
              <a:srgbClr val="7B8D1E"/>
            </a:solidFill>
          </a:ln>
        </p:spPr>
        <p:txBody>
          <a:bodyPr wrap="square" lIns="64008" tIns="27432" rIns="64008" bIns="27432" anchor="ctr">
            <a:noAutofit/>
          </a:bodyPr>
          <a:lstStyle/>
          <a:p>
            <a:pPr algn="ctr"/>
            <a:r>
              <a:rPr lang="en-GB" sz="1300" dirty="0">
                <a:solidFill>
                  <a:srgbClr val="262626"/>
                </a:solidFill>
              </a:rPr>
              <a:t>mask and normalize</a:t>
            </a:r>
          </a:p>
          <a:p>
            <a:pPr algn="ctr"/>
            <a:r>
              <a:rPr lang="en-GB" sz="1000" dirty="0">
                <a:solidFill>
                  <a:srgbClr val="262626"/>
                </a:solidFill>
              </a:rPr>
              <a:t>constrained coordinates to </a:t>
            </a:r>
          </a:p>
          <a:p>
            <a:pPr algn="ctr"/>
            <a:r>
              <a:rPr lang="en-GB" sz="1000" dirty="0">
                <a:solidFill>
                  <a:srgbClr val="262626"/>
                </a:solidFill>
              </a:rPr>
              <a:t>unit direction</a:t>
            </a:r>
          </a:p>
        </p:txBody>
      </p:sp>
      <p:sp>
        <p:nvSpPr>
          <p:cNvPr id="31" name="guid">
            <a:extLst>
              <a:ext uri="{FF2B5EF4-FFF2-40B4-BE49-F238E27FC236}">
                <a16:creationId xmlns:a16="http://schemas.microsoft.com/office/drawing/2014/main" id="{8A7EB082-23FE-EC82-CC88-9F58473CB5A6}"/>
              </a:ext>
            </a:extLst>
          </p:cNvPr>
          <p:cNvSpPr/>
          <p:nvPr/>
        </p:nvSpPr>
        <p:spPr>
          <a:xfrm>
            <a:off x="5835502" y="4077091"/>
            <a:ext cx="1488558" cy="520995"/>
          </a:xfrm>
          <a:prstGeom prst="roundRect">
            <a:avLst>
              <a:gd name="adj" fmla="val 8000"/>
            </a:avLst>
          </a:prstGeom>
          <a:solidFill>
            <a:srgbClr val="DDE1C4"/>
          </a:solidFill>
          <a:ln w="13970">
            <a:solidFill>
              <a:srgbClr val="7B8D1E"/>
            </a:solidFill>
          </a:ln>
        </p:spPr>
        <p:txBody>
          <a:bodyPr wrap="square" lIns="64008" tIns="27432" rIns="64008" bIns="27432" anchor="ctr">
            <a:noAutofit/>
          </a:bodyPr>
          <a:lstStyle/>
          <a:p>
            <a:pPr algn="ctr"/>
            <a:r>
              <a:rPr lang="en-GB" sz="1300" dirty="0">
                <a:solidFill>
                  <a:srgbClr val="262626"/>
                </a:solidFill>
              </a:rPr>
              <a:t>λ</a:t>
            </a:r>
            <a:r>
              <a:rPr lang="en-GB" sz="1300" baseline="-25000" dirty="0">
                <a:solidFill>
                  <a:srgbClr val="262626"/>
                </a:solidFill>
              </a:rPr>
              <a:t>0</a:t>
            </a:r>
            <a:r>
              <a:rPr lang="en-GB" sz="1300" dirty="0">
                <a:solidFill>
                  <a:srgbClr val="262626"/>
                </a:solidFill>
              </a:rPr>
              <a:t> ĝ Δs</a:t>
            </a:r>
          </a:p>
          <a:p>
            <a:pPr algn="ctr"/>
            <a:r>
              <a:rPr lang="en-GB" sz="1100" dirty="0">
                <a:solidFill>
                  <a:srgbClr val="262626"/>
                </a:solidFill>
              </a:rPr>
              <a:t>guidance term</a:t>
            </a:r>
          </a:p>
        </p:txBody>
      </p:sp>
      <p:cxnSp>
        <p:nvCxnSpPr>
          <p:cNvPr id="32" name="Arrow">
            <a:extLst>
              <a:ext uri="{FF2B5EF4-FFF2-40B4-BE49-F238E27FC236}">
                <a16:creationId xmlns:a16="http://schemas.microsoft.com/office/drawing/2014/main" id="{5E78B5C9-4A26-A430-B72D-DB86AC559B74}"/>
              </a:ext>
            </a:extLst>
          </p:cNvPr>
          <p:cNvCxnSpPr/>
          <p:nvPr/>
        </p:nvCxnSpPr>
        <p:spPr>
          <a:xfrm>
            <a:off x="11566451" y="3183956"/>
            <a:ext cx="0" cy="446567"/>
          </a:xfrm>
          <a:prstGeom prst="straightConnector1">
            <a:avLst/>
          </a:prstGeom>
          <a:ln w="19050">
            <a:solidFill>
              <a:srgbClr val="7B4FA0"/>
            </a:solidFill>
            <a:tailEnd type="triangle" w="med" len="med"/>
          </a:ln>
        </p:spPr>
      </p:cxnSp>
      <p:cxnSp>
        <p:nvCxnSpPr>
          <p:cNvPr id="33" name="Arrow">
            <a:extLst>
              <a:ext uri="{FF2B5EF4-FFF2-40B4-BE49-F238E27FC236}">
                <a16:creationId xmlns:a16="http://schemas.microsoft.com/office/drawing/2014/main" id="{E65062FE-C1BE-F495-D3CB-FE8FCD4E0DA8}"/>
              </a:ext>
            </a:extLst>
          </p:cNvPr>
          <p:cNvCxnSpPr/>
          <p:nvPr/>
        </p:nvCxnSpPr>
        <p:spPr>
          <a:xfrm flipH="1">
            <a:off x="10747744" y="3630524"/>
            <a:ext cx="818707" cy="0"/>
          </a:xfrm>
          <a:prstGeom prst="straightConnector1">
            <a:avLst/>
          </a:prstGeom>
          <a:ln w="19050">
            <a:solidFill>
              <a:srgbClr val="7B4FA0"/>
            </a:solidFill>
            <a:tailEnd type="triangle" w="med" len="med"/>
          </a:ln>
        </p:spPr>
      </p:cxnSp>
      <p:cxnSp>
        <p:nvCxnSpPr>
          <p:cNvPr id="34" name="Arrow">
            <a:extLst>
              <a:ext uri="{FF2B5EF4-FFF2-40B4-BE49-F238E27FC236}">
                <a16:creationId xmlns:a16="http://schemas.microsoft.com/office/drawing/2014/main" id="{736CBB74-900E-2554-43F1-953211FF01E0}"/>
              </a:ext>
            </a:extLst>
          </p:cNvPr>
          <p:cNvCxnSpPr/>
          <p:nvPr/>
        </p:nvCxnSpPr>
        <p:spPr>
          <a:xfrm>
            <a:off x="10747744" y="3630524"/>
            <a:ext cx="0" cy="446567"/>
          </a:xfrm>
          <a:prstGeom prst="straightConnector1">
            <a:avLst/>
          </a:prstGeom>
          <a:ln w="19050">
            <a:solidFill>
              <a:srgbClr val="7B4FA0"/>
            </a:solidFill>
            <a:tailEnd type="triangle" w="med" len="med"/>
          </a:ln>
        </p:spPr>
      </p:cxnSp>
      <p:sp>
        <p:nvSpPr>
          <p:cNvPr id="35" name="Edge label">
            <a:extLst>
              <a:ext uri="{FF2B5EF4-FFF2-40B4-BE49-F238E27FC236}">
                <a16:creationId xmlns:a16="http://schemas.microsoft.com/office/drawing/2014/main" id="{06F5E8F6-9034-4222-4B4C-EA9A04C0A04A}"/>
              </a:ext>
            </a:extLst>
          </p:cNvPr>
          <p:cNvSpPr txBox="1"/>
          <p:nvPr/>
        </p:nvSpPr>
        <p:spPr>
          <a:xfrm>
            <a:off x="10654178" y="3466570"/>
            <a:ext cx="1005840" cy="201168"/>
          </a:xfrm>
          <a:prstGeom prst="rect">
            <a:avLst/>
          </a:prstGeom>
          <a:noFill/>
        </p:spPr>
        <p:txBody>
          <a:bodyPr wrap="square" lIns="45720" tIns="0" rIns="45720" bIns="0" anchor="t">
            <a:noAutofit/>
          </a:bodyPr>
          <a:lstStyle/>
          <a:p>
            <a:pPr algn="ctr"/>
            <a:r>
              <a:rPr lang="en-GB" sz="900" dirty="0">
                <a:solidFill>
                  <a:srgbClr val="7B4FA0"/>
                </a:solidFill>
              </a:rPr>
              <a:t>objective 𝒥(τ̂)</a:t>
            </a:r>
          </a:p>
        </p:txBody>
      </p:sp>
      <p:cxnSp>
        <p:nvCxnSpPr>
          <p:cNvPr id="36" name="Arrow">
            <a:extLst>
              <a:ext uri="{FF2B5EF4-FFF2-40B4-BE49-F238E27FC236}">
                <a16:creationId xmlns:a16="http://schemas.microsoft.com/office/drawing/2014/main" id="{FC720916-C0D3-736D-9AC5-C5BC49B21C66}"/>
              </a:ext>
            </a:extLst>
          </p:cNvPr>
          <p:cNvCxnSpPr/>
          <p:nvPr/>
        </p:nvCxnSpPr>
        <p:spPr>
          <a:xfrm flipH="1">
            <a:off x="9594111" y="4337589"/>
            <a:ext cx="558209" cy="0"/>
          </a:xfrm>
          <a:prstGeom prst="straightConnector1">
            <a:avLst/>
          </a:prstGeom>
          <a:ln w="19050">
            <a:solidFill>
              <a:srgbClr val="7B8D1E"/>
            </a:solidFill>
            <a:tailEnd type="triangle" w="med" len="med"/>
          </a:ln>
        </p:spPr>
      </p:cxnSp>
      <p:cxnSp>
        <p:nvCxnSpPr>
          <p:cNvPr id="37" name="Arrow">
            <a:extLst>
              <a:ext uri="{FF2B5EF4-FFF2-40B4-BE49-F238E27FC236}">
                <a16:creationId xmlns:a16="http://schemas.microsoft.com/office/drawing/2014/main" id="{76DFC072-0BB9-9015-620B-CCDC3FD60236}"/>
              </a:ext>
            </a:extLst>
          </p:cNvPr>
          <p:cNvCxnSpPr/>
          <p:nvPr/>
        </p:nvCxnSpPr>
        <p:spPr>
          <a:xfrm flipH="1">
            <a:off x="7324060" y="4337589"/>
            <a:ext cx="409353" cy="0"/>
          </a:xfrm>
          <a:prstGeom prst="straightConnector1">
            <a:avLst/>
          </a:prstGeom>
          <a:ln w="19050">
            <a:solidFill>
              <a:srgbClr val="7B8D1E"/>
            </a:solidFill>
            <a:tailEnd type="triangle" w="med" len="med"/>
          </a:ln>
        </p:spPr>
      </p:cxnSp>
      <p:sp>
        <p:nvSpPr>
          <p:cNvPr id="38" name="sum">
            <a:extLst>
              <a:ext uri="{FF2B5EF4-FFF2-40B4-BE49-F238E27FC236}">
                <a16:creationId xmlns:a16="http://schemas.microsoft.com/office/drawing/2014/main" id="{A4E3F204-BE2F-3C57-B738-B59F43125C9B}"/>
              </a:ext>
            </a:extLst>
          </p:cNvPr>
          <p:cNvSpPr/>
          <p:nvPr/>
        </p:nvSpPr>
        <p:spPr>
          <a:xfrm>
            <a:off x="7993911" y="5491221"/>
            <a:ext cx="297712" cy="297712"/>
          </a:xfrm>
          <a:prstGeom prst="ellipse">
            <a:avLst/>
          </a:prstGeom>
          <a:solidFill>
            <a:srgbClr val="ECEDED"/>
          </a:solidFill>
          <a:ln w="13970">
            <a:solidFill>
              <a:srgbClr val="63666A"/>
            </a:solidFill>
          </a:ln>
        </p:spPr>
        <p:txBody>
          <a:bodyPr wrap="square" lIns="64008" tIns="27432" rIns="64008" bIns="27432" anchor="ctr">
            <a:noAutofit/>
          </a:bodyPr>
          <a:lstStyle/>
          <a:p>
            <a:pPr algn="ctr"/>
            <a:r>
              <a:rPr lang="en-GB" sz="1600" dirty="0">
                <a:solidFill>
                  <a:srgbClr val="262626"/>
                </a:solidFill>
              </a:rPr>
              <a:t>+</a:t>
            </a:r>
          </a:p>
        </p:txBody>
      </p:sp>
      <p:sp>
        <p:nvSpPr>
          <p:cNvPr id="39" name="repin">
            <a:extLst>
              <a:ext uri="{FF2B5EF4-FFF2-40B4-BE49-F238E27FC236}">
                <a16:creationId xmlns:a16="http://schemas.microsoft.com/office/drawing/2014/main" id="{C26CF91C-51B2-BF08-5256-A8B6A887D906}"/>
              </a:ext>
            </a:extLst>
          </p:cNvPr>
          <p:cNvSpPr/>
          <p:nvPr/>
        </p:nvSpPr>
        <p:spPr>
          <a:xfrm>
            <a:off x="9333614" y="5379579"/>
            <a:ext cx="1637414" cy="520995"/>
          </a:xfrm>
          <a:prstGeom prst="roundRect">
            <a:avLst>
              <a:gd name="adj" fmla="val 8000"/>
            </a:avLst>
          </a:prstGeom>
          <a:solidFill>
            <a:srgbClr val="E9EAEA"/>
          </a:solidFill>
          <a:ln w="13970">
            <a:solidFill>
              <a:srgbClr val="63666A"/>
            </a:solidFill>
          </a:ln>
        </p:spPr>
        <p:txBody>
          <a:bodyPr wrap="square" lIns="64008" tIns="27432" rIns="64008" bIns="27432" anchor="ctr">
            <a:noAutofit/>
          </a:bodyPr>
          <a:lstStyle/>
          <a:p>
            <a:pPr algn="ctr"/>
            <a:r>
              <a:rPr lang="en-GB" sz="1300" dirty="0">
                <a:solidFill>
                  <a:srgbClr val="262626"/>
                </a:solidFill>
              </a:rPr>
              <a:t>re-pin</a:t>
            </a:r>
          </a:p>
          <a:p>
            <a:pPr algn="ctr"/>
            <a:r>
              <a:rPr lang="en-GB" sz="1100" dirty="0">
                <a:solidFill>
                  <a:srgbClr val="262626"/>
                </a:solidFill>
              </a:rPr>
              <a:t>π</a:t>
            </a:r>
            <a:r>
              <a:rPr lang="en-GB" sz="1100" baseline="-25000" dirty="0">
                <a:solidFill>
                  <a:srgbClr val="262626"/>
                </a:solidFill>
              </a:rPr>
              <a:t>0</a:t>
            </a:r>
            <a:r>
              <a:rPr lang="en-GB" sz="1100" dirty="0">
                <a:solidFill>
                  <a:srgbClr val="262626"/>
                </a:solidFill>
              </a:rPr>
              <a:t>(τ) = x</a:t>
            </a:r>
            <a:r>
              <a:rPr lang="en-GB" sz="1100" baseline="-25000" dirty="0">
                <a:solidFill>
                  <a:srgbClr val="262626"/>
                </a:solidFill>
              </a:rPr>
              <a:t>start</a:t>
            </a:r>
          </a:p>
        </p:txBody>
      </p:sp>
      <p:cxnSp>
        <p:nvCxnSpPr>
          <p:cNvPr id="40" name="Arrow">
            <a:extLst>
              <a:ext uri="{FF2B5EF4-FFF2-40B4-BE49-F238E27FC236}">
                <a16:creationId xmlns:a16="http://schemas.microsoft.com/office/drawing/2014/main" id="{FBAB8AB5-3D2B-1B4E-222E-2FFAC2F66084}"/>
              </a:ext>
            </a:extLst>
          </p:cNvPr>
          <p:cNvCxnSpPr/>
          <p:nvPr/>
        </p:nvCxnSpPr>
        <p:spPr>
          <a:xfrm>
            <a:off x="8291623" y="5640077"/>
            <a:ext cx="1041991" cy="0"/>
          </a:xfrm>
          <a:prstGeom prst="straightConnector1">
            <a:avLst/>
          </a:prstGeom>
          <a:ln w="19050">
            <a:solidFill>
              <a:srgbClr val="63666A"/>
            </a:solidFill>
            <a:tailEnd type="triangle" w="med" len="med"/>
          </a:ln>
        </p:spPr>
      </p:cxnSp>
      <p:sp>
        <p:nvSpPr>
          <p:cNvPr id="41" name="Edge label">
            <a:extLst>
              <a:ext uri="{FF2B5EF4-FFF2-40B4-BE49-F238E27FC236}">
                <a16:creationId xmlns:a16="http://schemas.microsoft.com/office/drawing/2014/main" id="{EF681EFD-F5DA-3023-D4BC-E2B75CF8CA35}"/>
              </a:ext>
            </a:extLst>
          </p:cNvPr>
          <p:cNvSpPr txBox="1"/>
          <p:nvPr/>
        </p:nvSpPr>
        <p:spPr>
          <a:xfrm>
            <a:off x="8568292" y="5454006"/>
            <a:ext cx="560866" cy="201168"/>
          </a:xfrm>
          <a:prstGeom prst="rect">
            <a:avLst/>
          </a:prstGeom>
          <a:noFill/>
        </p:spPr>
        <p:txBody>
          <a:bodyPr wrap="square" lIns="45720" tIns="0" rIns="45720" bIns="0" anchor="t">
            <a:noAutofit/>
          </a:bodyPr>
          <a:lstStyle/>
          <a:p>
            <a:pPr algn="ctr"/>
            <a:r>
              <a:rPr lang="en-GB" sz="1000" dirty="0">
                <a:solidFill>
                  <a:srgbClr val="63666A"/>
                </a:solidFill>
              </a:rPr>
              <a:t>Δτ̃</a:t>
            </a:r>
          </a:p>
        </p:txBody>
      </p:sp>
      <p:cxnSp>
        <p:nvCxnSpPr>
          <p:cNvPr id="42" name="Arrow">
            <a:extLst>
              <a:ext uri="{FF2B5EF4-FFF2-40B4-BE49-F238E27FC236}">
                <a16:creationId xmlns:a16="http://schemas.microsoft.com/office/drawing/2014/main" id="{F408DC7D-CF3A-AF9F-F57D-C9E5855D2576}"/>
              </a:ext>
            </a:extLst>
          </p:cNvPr>
          <p:cNvCxnSpPr/>
          <p:nvPr/>
        </p:nvCxnSpPr>
        <p:spPr>
          <a:xfrm>
            <a:off x="5463363" y="3295598"/>
            <a:ext cx="0" cy="2344479"/>
          </a:xfrm>
          <a:prstGeom prst="straightConnector1">
            <a:avLst/>
          </a:prstGeom>
          <a:ln w="19050">
            <a:solidFill>
              <a:srgbClr val="1954A6"/>
            </a:solidFill>
            <a:tailEnd type="triangle" w="med" len="med"/>
          </a:ln>
        </p:spPr>
      </p:cxnSp>
      <p:cxnSp>
        <p:nvCxnSpPr>
          <p:cNvPr id="43" name="Arrow">
            <a:extLst>
              <a:ext uri="{FF2B5EF4-FFF2-40B4-BE49-F238E27FC236}">
                <a16:creationId xmlns:a16="http://schemas.microsoft.com/office/drawing/2014/main" id="{6F588ABB-3190-C43B-2FA1-44A09B7AA64C}"/>
              </a:ext>
            </a:extLst>
          </p:cNvPr>
          <p:cNvCxnSpPr/>
          <p:nvPr/>
        </p:nvCxnSpPr>
        <p:spPr>
          <a:xfrm>
            <a:off x="5463363" y="5640077"/>
            <a:ext cx="2530549" cy="0"/>
          </a:xfrm>
          <a:prstGeom prst="straightConnector1">
            <a:avLst/>
          </a:prstGeom>
          <a:ln w="19050">
            <a:solidFill>
              <a:srgbClr val="1954A6"/>
            </a:solidFill>
            <a:tailEnd type="triangle" w="med" len="med"/>
          </a:ln>
        </p:spPr>
      </p:cxnSp>
      <p:sp>
        <p:nvSpPr>
          <p:cNvPr id="44" name="Edge label">
            <a:extLst>
              <a:ext uri="{FF2B5EF4-FFF2-40B4-BE49-F238E27FC236}">
                <a16:creationId xmlns:a16="http://schemas.microsoft.com/office/drawing/2014/main" id="{8738B2BE-ADEB-8A2B-B594-E2649256ACB2}"/>
              </a:ext>
            </a:extLst>
          </p:cNvPr>
          <p:cNvSpPr txBox="1"/>
          <p:nvPr/>
        </p:nvSpPr>
        <p:spPr>
          <a:xfrm>
            <a:off x="6497701" y="5482608"/>
            <a:ext cx="500736" cy="201168"/>
          </a:xfrm>
          <a:prstGeom prst="rect">
            <a:avLst/>
          </a:prstGeom>
          <a:noFill/>
        </p:spPr>
        <p:txBody>
          <a:bodyPr wrap="square" lIns="45720" tIns="0" rIns="45720" bIns="0" anchor="t">
            <a:noAutofit/>
          </a:bodyPr>
          <a:lstStyle/>
          <a:p>
            <a:pPr algn="ctr"/>
            <a:r>
              <a:rPr lang="en-GB" sz="1000" dirty="0">
                <a:solidFill>
                  <a:srgbClr val="1954A6"/>
                </a:solidFill>
              </a:rPr>
              <a:t>vθ Δs</a:t>
            </a:r>
          </a:p>
        </p:txBody>
      </p:sp>
      <p:cxnSp>
        <p:nvCxnSpPr>
          <p:cNvPr id="45" name="Arrow">
            <a:extLst>
              <a:ext uri="{FF2B5EF4-FFF2-40B4-BE49-F238E27FC236}">
                <a16:creationId xmlns:a16="http://schemas.microsoft.com/office/drawing/2014/main" id="{A8DD79A6-1BA8-AED2-07FA-CBE2FD4CE4E2}"/>
              </a:ext>
            </a:extLst>
          </p:cNvPr>
          <p:cNvCxnSpPr/>
          <p:nvPr/>
        </p:nvCxnSpPr>
        <p:spPr>
          <a:xfrm>
            <a:off x="6579781" y="4598086"/>
            <a:ext cx="0" cy="558209"/>
          </a:xfrm>
          <a:prstGeom prst="straightConnector1">
            <a:avLst/>
          </a:prstGeom>
          <a:ln w="19050">
            <a:solidFill>
              <a:srgbClr val="7B8D1E"/>
            </a:solidFill>
            <a:tailEnd type="triangle" w="med" len="med"/>
          </a:ln>
        </p:spPr>
      </p:cxnSp>
      <p:cxnSp>
        <p:nvCxnSpPr>
          <p:cNvPr id="46" name="Arrow">
            <a:extLst>
              <a:ext uri="{FF2B5EF4-FFF2-40B4-BE49-F238E27FC236}">
                <a16:creationId xmlns:a16="http://schemas.microsoft.com/office/drawing/2014/main" id="{C5896424-D68B-8402-03B1-4D82D85C8753}"/>
              </a:ext>
            </a:extLst>
          </p:cNvPr>
          <p:cNvCxnSpPr/>
          <p:nvPr/>
        </p:nvCxnSpPr>
        <p:spPr>
          <a:xfrm>
            <a:off x="6579781" y="5156296"/>
            <a:ext cx="1562986" cy="0"/>
          </a:xfrm>
          <a:prstGeom prst="straightConnector1">
            <a:avLst/>
          </a:prstGeom>
          <a:ln w="19050">
            <a:solidFill>
              <a:srgbClr val="7B8D1E"/>
            </a:solidFill>
            <a:tailEnd type="triangle" w="med" len="med"/>
          </a:ln>
        </p:spPr>
      </p:cxnSp>
      <p:cxnSp>
        <p:nvCxnSpPr>
          <p:cNvPr id="47" name="Arrow">
            <a:extLst>
              <a:ext uri="{FF2B5EF4-FFF2-40B4-BE49-F238E27FC236}">
                <a16:creationId xmlns:a16="http://schemas.microsoft.com/office/drawing/2014/main" id="{0392EF4A-6410-1DC4-8F13-439CCA8197FA}"/>
              </a:ext>
            </a:extLst>
          </p:cNvPr>
          <p:cNvCxnSpPr/>
          <p:nvPr/>
        </p:nvCxnSpPr>
        <p:spPr>
          <a:xfrm>
            <a:off x="8142767" y="5156296"/>
            <a:ext cx="0" cy="334926"/>
          </a:xfrm>
          <a:prstGeom prst="straightConnector1">
            <a:avLst/>
          </a:prstGeom>
          <a:ln w="19050">
            <a:solidFill>
              <a:srgbClr val="7B8D1E"/>
            </a:solidFill>
            <a:tailEnd type="triangle" w="med" len="med"/>
          </a:ln>
        </p:spPr>
      </p:cxnSp>
      <p:sp>
        <p:nvSpPr>
          <p:cNvPr id="48" name="Edge label">
            <a:extLst>
              <a:ext uri="{FF2B5EF4-FFF2-40B4-BE49-F238E27FC236}">
                <a16:creationId xmlns:a16="http://schemas.microsoft.com/office/drawing/2014/main" id="{28C0396D-5DD9-F7EF-A74C-3589045610C2}"/>
              </a:ext>
            </a:extLst>
          </p:cNvPr>
          <p:cNvSpPr txBox="1"/>
          <p:nvPr/>
        </p:nvSpPr>
        <p:spPr>
          <a:xfrm>
            <a:off x="7055910" y="4998827"/>
            <a:ext cx="500736" cy="201168"/>
          </a:xfrm>
          <a:prstGeom prst="rect">
            <a:avLst/>
          </a:prstGeom>
          <a:noFill/>
        </p:spPr>
        <p:txBody>
          <a:bodyPr wrap="square" lIns="45720" tIns="0" rIns="45720" bIns="0" anchor="t">
            <a:noAutofit/>
          </a:bodyPr>
          <a:lstStyle/>
          <a:p>
            <a:pPr algn="ctr"/>
            <a:r>
              <a:rPr lang="en-GB" sz="900" dirty="0">
                <a:solidFill>
                  <a:srgbClr val="7B8D1E"/>
                </a:solidFill>
              </a:rPr>
              <a:t>λ</a:t>
            </a:r>
            <a:r>
              <a:rPr lang="en-GB" sz="900" baseline="-25000" dirty="0">
                <a:solidFill>
                  <a:srgbClr val="7B8D1E"/>
                </a:solidFill>
              </a:rPr>
              <a:t>0</a:t>
            </a:r>
            <a:r>
              <a:rPr lang="en-GB" sz="900" dirty="0">
                <a:solidFill>
                  <a:srgbClr val="7B8D1E"/>
                </a:solidFill>
              </a:rPr>
              <a:t> ĝ Δs</a:t>
            </a:r>
          </a:p>
        </p:txBody>
      </p:sp>
      <p:cxnSp>
        <p:nvCxnSpPr>
          <p:cNvPr id="49" name="Arrow">
            <a:extLst>
              <a:ext uri="{FF2B5EF4-FFF2-40B4-BE49-F238E27FC236}">
                <a16:creationId xmlns:a16="http://schemas.microsoft.com/office/drawing/2014/main" id="{F47F04C9-D548-BF5D-6C37-97B80349FDC2}"/>
              </a:ext>
            </a:extLst>
          </p:cNvPr>
          <p:cNvCxnSpPr/>
          <p:nvPr/>
        </p:nvCxnSpPr>
        <p:spPr>
          <a:xfrm>
            <a:off x="10971028" y="5640077"/>
            <a:ext cx="781493" cy="0"/>
          </a:xfrm>
          <a:prstGeom prst="straightConnector1">
            <a:avLst/>
          </a:prstGeom>
          <a:ln w="19050">
            <a:solidFill>
              <a:srgbClr val="63666A"/>
            </a:solidFill>
            <a:tailEnd type="triangle" w="med" len="med"/>
          </a:ln>
        </p:spPr>
      </p:cxnSp>
      <p:sp>
        <p:nvSpPr>
          <p:cNvPr id="50" name="Edge label">
            <a:extLst>
              <a:ext uri="{FF2B5EF4-FFF2-40B4-BE49-F238E27FC236}">
                <a16:creationId xmlns:a16="http://schemas.microsoft.com/office/drawing/2014/main" id="{B76B2570-F1E9-F765-2CBC-72859B0C8170}"/>
              </a:ext>
            </a:extLst>
          </p:cNvPr>
          <p:cNvSpPr txBox="1"/>
          <p:nvPr/>
        </p:nvSpPr>
        <p:spPr>
          <a:xfrm>
            <a:off x="11033496" y="5446459"/>
            <a:ext cx="560866" cy="201168"/>
          </a:xfrm>
          <a:prstGeom prst="rect">
            <a:avLst/>
          </a:prstGeom>
          <a:noFill/>
        </p:spPr>
        <p:txBody>
          <a:bodyPr wrap="square" lIns="45720" tIns="0" rIns="45720" bIns="0" anchor="t">
            <a:noAutofit/>
          </a:bodyPr>
          <a:lstStyle/>
          <a:p>
            <a:pPr algn="ctr"/>
            <a:r>
              <a:rPr lang="en-GB" sz="1000" dirty="0">
                <a:solidFill>
                  <a:srgbClr val="63666A"/>
                </a:solidFill>
              </a:rPr>
              <a:t>τ</a:t>
            </a:r>
            <a:r>
              <a:rPr lang="en-GB" sz="1000" baseline="-25000" dirty="0">
                <a:solidFill>
                  <a:srgbClr val="63666A"/>
                </a:solidFill>
              </a:rPr>
              <a:t>s+Δs</a:t>
            </a:r>
          </a:p>
        </p:txBody>
      </p:sp>
      <p:cxnSp>
        <p:nvCxnSpPr>
          <p:cNvPr id="51" name="Arrow">
            <a:extLst>
              <a:ext uri="{FF2B5EF4-FFF2-40B4-BE49-F238E27FC236}">
                <a16:creationId xmlns:a16="http://schemas.microsoft.com/office/drawing/2014/main" id="{96C29980-DCC9-AF64-3798-619B0B6A7993}"/>
              </a:ext>
            </a:extLst>
          </p:cNvPr>
          <p:cNvCxnSpPr/>
          <p:nvPr/>
        </p:nvCxnSpPr>
        <p:spPr>
          <a:xfrm>
            <a:off x="10152321" y="5900575"/>
            <a:ext cx="0" cy="595423"/>
          </a:xfrm>
          <a:prstGeom prst="straightConnector1">
            <a:avLst/>
          </a:prstGeom>
          <a:ln w="19050">
            <a:solidFill>
              <a:srgbClr val="63666A"/>
            </a:solidFill>
            <a:tailEnd type="triangle" w="med" len="med"/>
          </a:ln>
        </p:spPr>
      </p:cxnSp>
      <p:cxnSp>
        <p:nvCxnSpPr>
          <p:cNvPr id="52" name="Arrow">
            <a:extLst>
              <a:ext uri="{FF2B5EF4-FFF2-40B4-BE49-F238E27FC236}">
                <a16:creationId xmlns:a16="http://schemas.microsoft.com/office/drawing/2014/main" id="{E1A3E760-0332-31D7-9E42-9D62A9D634D0}"/>
              </a:ext>
            </a:extLst>
          </p:cNvPr>
          <p:cNvCxnSpPr>
            <a:cxnSpLocks/>
          </p:cNvCxnSpPr>
          <p:nvPr/>
        </p:nvCxnSpPr>
        <p:spPr>
          <a:xfrm flipH="1">
            <a:off x="5074800" y="6495998"/>
            <a:ext cx="5077520" cy="0"/>
          </a:xfrm>
          <a:prstGeom prst="straightConnector1">
            <a:avLst/>
          </a:prstGeom>
          <a:ln w="19050">
            <a:solidFill>
              <a:srgbClr val="63666A"/>
            </a:solidFill>
            <a:tailEnd type="triangle" w="med" len="med"/>
          </a:ln>
        </p:spPr>
      </p:cxnSp>
      <p:sp>
        <p:nvSpPr>
          <p:cNvPr id="53" name="Edge label">
            <a:extLst>
              <a:ext uri="{FF2B5EF4-FFF2-40B4-BE49-F238E27FC236}">
                <a16:creationId xmlns:a16="http://schemas.microsoft.com/office/drawing/2014/main" id="{FC388A4B-17C1-FB0F-2FDA-5B2F41AD2841}"/>
              </a:ext>
            </a:extLst>
          </p:cNvPr>
          <p:cNvSpPr txBox="1"/>
          <p:nvPr/>
        </p:nvSpPr>
        <p:spPr>
          <a:xfrm>
            <a:off x="7118852" y="6212959"/>
            <a:ext cx="1005840" cy="201168"/>
          </a:xfrm>
          <a:prstGeom prst="rect">
            <a:avLst/>
          </a:prstGeom>
          <a:noFill/>
        </p:spPr>
        <p:txBody>
          <a:bodyPr wrap="square" lIns="45720" tIns="0" rIns="45720" bIns="0" anchor="t">
            <a:noAutofit/>
          </a:bodyPr>
          <a:lstStyle/>
          <a:p>
            <a:pPr algn="ctr"/>
            <a:r>
              <a:rPr lang="en-GB" sz="1000" dirty="0">
                <a:solidFill>
                  <a:srgbClr val="63666A"/>
                </a:solidFill>
              </a:rPr>
              <a:t>K steps</a:t>
            </a:r>
          </a:p>
        </p:txBody>
      </p:sp>
      <p:cxnSp>
        <p:nvCxnSpPr>
          <p:cNvPr id="54" name="Arrow">
            <a:extLst>
              <a:ext uri="{FF2B5EF4-FFF2-40B4-BE49-F238E27FC236}">
                <a16:creationId xmlns:a16="http://schemas.microsoft.com/office/drawing/2014/main" id="{EFD4B4FE-9FCF-EFB8-58F1-DC21C79E55BA}"/>
              </a:ext>
            </a:extLst>
          </p:cNvPr>
          <p:cNvCxnSpPr/>
          <p:nvPr/>
        </p:nvCxnSpPr>
        <p:spPr>
          <a:xfrm flipV="1">
            <a:off x="5074800" y="3035100"/>
            <a:ext cx="0" cy="3460898"/>
          </a:xfrm>
          <a:prstGeom prst="straightConnector1">
            <a:avLst/>
          </a:prstGeom>
          <a:ln w="19050">
            <a:solidFill>
              <a:srgbClr val="63666A"/>
            </a:solidFill>
            <a:tailEnd type="triangle" w="med" len="med"/>
          </a:ln>
        </p:spPr>
      </p:cxnSp>
      <p:cxnSp>
        <p:nvCxnSpPr>
          <p:cNvPr id="55" name="Arrow">
            <a:extLst>
              <a:ext uri="{FF2B5EF4-FFF2-40B4-BE49-F238E27FC236}">
                <a16:creationId xmlns:a16="http://schemas.microsoft.com/office/drawing/2014/main" id="{22E44C66-00F5-4F1C-B2D7-DC9F568F4A07}"/>
              </a:ext>
            </a:extLst>
          </p:cNvPr>
          <p:cNvCxnSpPr>
            <a:cxnSpLocks/>
          </p:cNvCxnSpPr>
          <p:nvPr/>
        </p:nvCxnSpPr>
        <p:spPr>
          <a:xfrm>
            <a:off x="4663263" y="3035100"/>
            <a:ext cx="688457" cy="0"/>
          </a:xfrm>
          <a:prstGeom prst="straightConnector1">
            <a:avLst/>
          </a:prstGeom>
          <a:ln w="19050">
            <a:solidFill>
              <a:srgbClr val="63666A"/>
            </a:solidFill>
            <a:tailEnd type="triangle" w="med" len="med"/>
          </a:ln>
        </p:spPr>
      </p:cxnSp>
      <p:sp>
        <p:nvSpPr>
          <p:cNvPr id="56" name="Edge label">
            <a:extLst>
              <a:ext uri="{FF2B5EF4-FFF2-40B4-BE49-F238E27FC236}">
                <a16:creationId xmlns:a16="http://schemas.microsoft.com/office/drawing/2014/main" id="{D3F54183-1C1F-FF85-D448-1CAFC63691B6}"/>
              </a:ext>
            </a:extLst>
          </p:cNvPr>
          <p:cNvSpPr txBox="1"/>
          <p:nvPr/>
        </p:nvSpPr>
        <p:spPr>
          <a:xfrm>
            <a:off x="4767252" y="2870189"/>
            <a:ext cx="500736" cy="201168"/>
          </a:xfrm>
          <a:prstGeom prst="rect">
            <a:avLst/>
          </a:prstGeom>
          <a:noFill/>
        </p:spPr>
        <p:txBody>
          <a:bodyPr wrap="square" lIns="45720" tIns="0" rIns="45720" bIns="0" anchor="t">
            <a:noAutofit/>
          </a:bodyPr>
          <a:lstStyle/>
          <a:p>
            <a:pPr algn="ctr"/>
            <a:r>
              <a:rPr lang="en-GB" sz="1000" dirty="0">
                <a:solidFill>
                  <a:srgbClr val="63666A"/>
                </a:solidFill>
              </a:rPr>
              <a:t>τ</a:t>
            </a:r>
            <a:r>
              <a:rPr lang="en-GB" sz="1000" baseline="-25000" dirty="0">
                <a:solidFill>
                  <a:srgbClr val="63666A"/>
                </a:solidFill>
              </a:rPr>
              <a:t>s</a:t>
            </a:r>
          </a:p>
        </p:txBody>
      </p:sp>
      <p:cxnSp>
        <p:nvCxnSpPr>
          <p:cNvPr id="57" name="Arrow">
            <a:extLst>
              <a:ext uri="{FF2B5EF4-FFF2-40B4-BE49-F238E27FC236}">
                <a16:creationId xmlns:a16="http://schemas.microsoft.com/office/drawing/2014/main" id="{11224B11-3E5E-1ED1-BC3B-400639015003}"/>
              </a:ext>
            </a:extLst>
          </p:cNvPr>
          <p:cNvCxnSpPr/>
          <p:nvPr/>
        </p:nvCxnSpPr>
        <p:spPr>
          <a:xfrm>
            <a:off x="7314757" y="1918682"/>
            <a:ext cx="1711842" cy="0"/>
          </a:xfrm>
          <a:prstGeom prst="straightConnector1">
            <a:avLst/>
          </a:prstGeom>
          <a:ln w="6350">
            <a:solidFill>
              <a:srgbClr val="B9BABC"/>
            </a:solidFill>
          </a:ln>
        </p:spPr>
      </p:cxnSp>
      <p:sp>
        <p:nvSpPr>
          <p:cNvPr id="58" name="pt1">
            <a:extLst>
              <a:ext uri="{FF2B5EF4-FFF2-40B4-BE49-F238E27FC236}">
                <a16:creationId xmlns:a16="http://schemas.microsoft.com/office/drawing/2014/main" id="{149544D8-19CB-02AA-54A6-811DECE2FD4B}"/>
              </a:ext>
            </a:extLst>
          </p:cNvPr>
          <p:cNvSpPr/>
          <p:nvPr/>
        </p:nvSpPr>
        <p:spPr>
          <a:xfrm>
            <a:off x="7417574" y="1883807"/>
            <a:ext cx="54864" cy="54864"/>
          </a:xfrm>
          <a:prstGeom prst="roundRect">
            <a:avLst>
              <a:gd name="adj" fmla="val 50000"/>
            </a:avLst>
          </a:prstGeom>
          <a:solidFill>
            <a:srgbClr val="63666A"/>
          </a:solidFill>
          <a:ln>
            <a:noFill/>
          </a:ln>
        </p:spPr>
        <p:txBody>
          <a:bodyPr wrap="square" lIns="64008" tIns="27432" rIns="64008" bIns="27432" anchor="ctr">
            <a:noAutofit/>
          </a:bodyPr>
          <a:lstStyle/>
          <a:p>
            <a:pPr algn="ctr"/>
            <a:endParaRPr/>
          </a:p>
        </p:txBody>
      </p:sp>
      <p:sp>
        <p:nvSpPr>
          <p:cNvPr id="59" name="pt1 label">
            <a:extLst>
              <a:ext uri="{FF2B5EF4-FFF2-40B4-BE49-F238E27FC236}">
                <a16:creationId xmlns:a16="http://schemas.microsoft.com/office/drawing/2014/main" id="{7BCDBB5F-EBDE-ABF8-7BD7-A9362C7F3994}"/>
              </a:ext>
            </a:extLst>
          </p:cNvPr>
          <p:cNvSpPr txBox="1"/>
          <p:nvPr/>
        </p:nvSpPr>
        <p:spPr>
          <a:xfrm>
            <a:off x="7124966" y="1947815"/>
            <a:ext cx="640080" cy="182880"/>
          </a:xfrm>
          <a:prstGeom prst="rect">
            <a:avLst/>
          </a:prstGeom>
          <a:noFill/>
        </p:spPr>
        <p:txBody>
          <a:bodyPr wrap="square" lIns="45720" tIns="0" rIns="45720" bIns="0" anchor="t">
            <a:noAutofit/>
          </a:bodyPr>
          <a:lstStyle/>
          <a:p>
            <a:pPr algn="ctr"/>
            <a:r>
              <a:rPr lang="en-GB" sz="900" dirty="0">
                <a:solidFill>
                  <a:srgbClr val="A1A3A6"/>
                </a:solidFill>
              </a:rPr>
              <a:t>τ</a:t>
            </a:r>
            <a:r>
              <a:rPr lang="en-GB" sz="900" baseline="-25000" dirty="0">
                <a:solidFill>
                  <a:srgbClr val="A1A3A6"/>
                </a:solidFill>
              </a:rPr>
              <a:t>s</a:t>
            </a:r>
            <a:r>
              <a:rPr lang="en-GB" sz="900" dirty="0">
                <a:solidFill>
                  <a:srgbClr val="A1A3A6"/>
                </a:solidFill>
              </a:rPr>
              <a:t>, s</a:t>
            </a:r>
          </a:p>
        </p:txBody>
      </p:sp>
      <p:sp>
        <p:nvSpPr>
          <p:cNvPr id="60" name="pt2">
            <a:extLst>
              <a:ext uri="{FF2B5EF4-FFF2-40B4-BE49-F238E27FC236}">
                <a16:creationId xmlns:a16="http://schemas.microsoft.com/office/drawing/2014/main" id="{7318AB02-A497-F7CE-5E30-AB372E1354A8}"/>
              </a:ext>
            </a:extLst>
          </p:cNvPr>
          <p:cNvSpPr/>
          <p:nvPr/>
        </p:nvSpPr>
        <p:spPr>
          <a:xfrm>
            <a:off x="8803953" y="1684872"/>
            <a:ext cx="73152" cy="73152"/>
          </a:xfrm>
          <a:prstGeom prst="roundRect">
            <a:avLst>
              <a:gd name="adj" fmla="val 50000"/>
            </a:avLst>
          </a:prstGeom>
          <a:solidFill>
            <a:srgbClr val="24A0D8"/>
          </a:solidFill>
          <a:ln>
            <a:noFill/>
          </a:ln>
        </p:spPr>
        <p:txBody>
          <a:bodyPr wrap="square" lIns="64008" tIns="27432" rIns="64008" bIns="27432" anchor="ctr">
            <a:noAutofit/>
          </a:bodyPr>
          <a:lstStyle/>
          <a:p>
            <a:pPr algn="ctr"/>
            <a:endParaRPr/>
          </a:p>
        </p:txBody>
      </p:sp>
      <p:sp>
        <p:nvSpPr>
          <p:cNvPr id="61" name="pt2 label">
            <a:extLst>
              <a:ext uri="{FF2B5EF4-FFF2-40B4-BE49-F238E27FC236}">
                <a16:creationId xmlns:a16="http://schemas.microsoft.com/office/drawing/2014/main" id="{023B42BC-58F1-EF08-D6DD-3AFFB042A185}"/>
              </a:ext>
            </a:extLst>
          </p:cNvPr>
          <p:cNvSpPr txBox="1"/>
          <p:nvPr/>
        </p:nvSpPr>
        <p:spPr>
          <a:xfrm>
            <a:off x="7240329" y="1483704"/>
            <a:ext cx="1645920" cy="182880"/>
          </a:xfrm>
          <a:prstGeom prst="rect">
            <a:avLst/>
          </a:prstGeom>
          <a:noFill/>
        </p:spPr>
        <p:txBody>
          <a:bodyPr wrap="square" lIns="45720" tIns="0" rIns="45720" bIns="0" anchor="t">
            <a:noAutofit/>
          </a:bodyPr>
          <a:lstStyle/>
          <a:p>
            <a:pPr algn="r"/>
            <a:r>
              <a:rPr lang="en-GB" sz="900" dirty="0">
                <a:solidFill>
                  <a:srgbClr val="24A0D8"/>
                </a:solidFill>
              </a:rPr>
              <a:t>τ̂, s = 1</a:t>
            </a:r>
          </a:p>
        </p:txBody>
      </p:sp>
      <p:cxnSp>
        <p:nvCxnSpPr>
          <p:cNvPr id="62" name="Arrow">
            <a:extLst>
              <a:ext uri="{FF2B5EF4-FFF2-40B4-BE49-F238E27FC236}">
                <a16:creationId xmlns:a16="http://schemas.microsoft.com/office/drawing/2014/main" id="{DC926DC2-2940-468A-AFFF-ED0A8EBE9199}"/>
              </a:ext>
            </a:extLst>
          </p:cNvPr>
          <p:cNvCxnSpPr/>
          <p:nvPr/>
        </p:nvCxnSpPr>
        <p:spPr>
          <a:xfrm flipV="1">
            <a:off x="7482220" y="1725169"/>
            <a:ext cx="1339702" cy="171184"/>
          </a:xfrm>
          <a:prstGeom prst="straightConnector1">
            <a:avLst/>
          </a:prstGeom>
          <a:ln w="11430">
            <a:solidFill>
              <a:srgbClr val="24A0D8"/>
            </a:solidFill>
            <a:tailEnd type="triangle" w="med" len="med"/>
          </a:ln>
        </p:spPr>
      </p:cxnSp>
      <p:pic>
        <p:nvPicPr>
          <p:cNvPr id="3" name="Equation" descr="The guided velocity field, prior velocity plus a constant times the conditioned requirement gradient at the predicted endpoint">
            <a:extLst>
              <a:ext uri="{FF2B5EF4-FFF2-40B4-BE49-F238E27FC236}">
                <a16:creationId xmlns:a16="http://schemas.microsoft.com/office/drawing/2014/main" id="{B5352CC5-5C78-F05A-1156-81EEEA2AF7C6}"/>
              </a:ext>
            </a:extLst>
          </p:cNvPr>
          <p:cNvPicPr>
            <a:picLocks noChangeAspect="1"/>
          </p:cNvPicPr>
          <p:nvPr/>
        </p:nvPicPr>
        <p:blipFill>
          <a:blip r:embed="rId2"/>
          <a:stretch>
            <a:fillRect/>
          </a:stretch>
        </p:blipFill>
        <p:spPr>
          <a:xfrm>
            <a:off x="577314" y="3370617"/>
            <a:ext cx="4013896" cy="702080"/>
          </a:xfrm>
          <a:prstGeom prst="rect">
            <a:avLst/>
          </a:prstGeom>
        </p:spPr>
      </p:pic>
      <p:cxnSp>
        <p:nvCxnSpPr>
          <p:cNvPr id="6" name="Arrow">
            <a:extLst>
              <a:ext uri="{FF2B5EF4-FFF2-40B4-BE49-F238E27FC236}">
                <a16:creationId xmlns:a16="http://schemas.microsoft.com/office/drawing/2014/main" id="{9F6B84A5-FCE9-82F6-584E-51A4877480F9}"/>
              </a:ext>
            </a:extLst>
          </p:cNvPr>
          <p:cNvCxnSpPr>
            <a:cxnSpLocks/>
          </p:cNvCxnSpPr>
          <p:nvPr/>
        </p:nvCxnSpPr>
        <p:spPr>
          <a:xfrm>
            <a:off x="11296650" y="1967611"/>
            <a:ext cx="269801" cy="0"/>
          </a:xfrm>
          <a:prstGeom prst="straightConnector1">
            <a:avLst/>
          </a:prstGeom>
          <a:ln w="19050">
            <a:solidFill>
              <a:srgbClr val="E07B00"/>
            </a:solidFill>
            <a:tailEnd type="triangle" w="med" len="med"/>
          </a:ln>
        </p:spPr>
      </p:cxnSp>
      <p:pic>
        <p:nvPicPr>
          <p:cNvPr id="4" name="Equation" descr="One step of the guided sampler">
            <a:extLst>
              <a:ext uri="{FF2B5EF4-FFF2-40B4-BE49-F238E27FC236}">
                <a16:creationId xmlns:a16="http://schemas.microsoft.com/office/drawing/2014/main" id="{96983154-136B-9373-191C-78CE55999F04}"/>
              </a:ext>
            </a:extLst>
          </p:cNvPr>
          <p:cNvPicPr>
            <a:picLocks noChangeAspect="1"/>
          </p:cNvPicPr>
          <p:nvPr/>
        </p:nvPicPr>
        <p:blipFill>
          <a:blip r:embed="rId3"/>
          <a:stretch>
            <a:fillRect/>
          </a:stretch>
        </p:blipFill>
        <p:spPr>
          <a:xfrm>
            <a:off x="888682" y="4689065"/>
            <a:ext cx="2999877" cy="607181"/>
          </a:xfrm>
          <a:prstGeom prst="rect">
            <a:avLst/>
          </a:prstGeom>
        </p:spPr>
      </p:pic>
      <p:pic>
        <p:nvPicPr>
          <p:cNvPr id="63" name="Equation" descr="The penalized objective: requirement score minus the smoothness penalty, at the predicted endpoint">
            <a:extLst>
              <a:ext uri="{FF2B5EF4-FFF2-40B4-BE49-F238E27FC236}">
                <a16:creationId xmlns:a16="http://schemas.microsoft.com/office/drawing/2014/main" id="{96983154-136B-9373-191C-78CE55999F04}"/>
              </a:ext>
            </a:extLst>
          </p:cNvPr>
          <p:cNvPicPr>
            <a:picLocks noChangeAspect="1"/>
          </p:cNvPicPr>
          <p:nvPr/>
        </p:nvPicPr>
        <p:blipFill>
          <a:blip r:embed="rId4"/>
          <a:stretch>
            <a:fillRect/>
          </a:stretch>
        </p:blipFill>
        <p:spPr>
          <a:xfrm>
            <a:off x="577314" y="4182425"/>
            <a:ext cx="3904937" cy="370811"/>
          </a:xfrm>
          <a:prstGeom prst="rect">
            <a:avLst/>
          </a:prstGeom>
        </p:spPr>
      </p:pic>
    </p:spTree>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 PPT template 251203.potx" id="{B9D87BD4-659E-40F0-9595-7EDEBA7F7B08}" vid="{8372EC08-571E-42EA-AAF5-CEC4489AF2D9}"/>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792d246-d363-40e2-82bc-6f0655128b68}" enabled="1" method="Standard" siteId="{372ee9e0-9ce0-4033-a64a-c07073a91ecd}" contentBits="0" removed="0"/>
</clbl:labelList>
</file>

<file path=docProps/app.xml><?xml version="1.0" encoding="utf-8"?>
<Properties xmlns="http://schemas.openxmlformats.org/officeDocument/2006/extended-properties" xmlns:vt="http://schemas.openxmlformats.org/officeDocument/2006/docPropsVTypes">
  <Template/>
  <TotalTime>22</TotalTime>
  <Words>584</Words>
  <Application>Microsoft Office PowerPoint</Application>
  <PresentationFormat>Widescreen</PresentationFormat>
  <Paragraphs>144</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Figtree</vt:lpstr>
      <vt:lpstr>Office-tema</vt:lpstr>
      <vt:lpstr>Guided velocity field</vt:lpstr>
      <vt:lpstr>Guided velocity field</vt:lpstr>
      <vt:lpstr>Guided velocity field</vt:lpstr>
      <vt:lpstr>Guided velocity field</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Malin Modig</dc:creator>
  <cp:lastModifiedBy>Gawtam Ramesh</cp:lastModifiedBy>
  <cp:revision>10</cp:revision>
  <dcterms:created xsi:type="dcterms:W3CDTF">2025-11-27T14:16:18Z</dcterms:created>
  <dcterms:modified xsi:type="dcterms:W3CDTF">2026-10-23T00:55:16Z</dcterms:modified>
</cp:coreProperties>
</file>