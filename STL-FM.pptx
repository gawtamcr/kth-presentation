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4"/>
  </p:notesMasterIdLst>
  <p:sldIdLst>
    <p:sldId id="262" r:id="rId2"/>
    <p:sldId id="326" r:id="rId3"/>
    <p:sldId id="263" r:id="rId4"/>
    <p:sldId id="266" r:id="rId5"/>
    <p:sldId id="267" r:id="rId6"/>
    <p:sldId id="268" r:id="rId7"/>
    <p:sldId id="269" r:id="rId8"/>
    <p:sldId id="270" r:id="rId9"/>
    <p:sldId id="271" r:id="rId10"/>
    <p:sldId id="272" r:id="rId11"/>
    <p:sldId id="273" r:id="rId12"/>
    <p:sldId id="274" r:id="rId13"/>
    <p:sldId id="275" r:id="rId14"/>
    <p:sldId id="276" r:id="rId15"/>
    <p:sldId id="278" r:id="rId16"/>
    <p:sldId id="321" r:id="rId17"/>
    <p:sldId id="322" r:id="rId18"/>
    <p:sldId id="323" r:id="rId19"/>
    <p:sldId id="311" r:id="rId20"/>
    <p:sldId id="312" r:id="rId21"/>
    <p:sldId id="313" r:id="rId22"/>
    <p:sldId id="314" r:id="rId23"/>
    <p:sldId id="315" r:id="rId24"/>
    <p:sldId id="316" r:id="rId25"/>
    <p:sldId id="317" r:id="rId26"/>
    <p:sldId id="318" r:id="rId27"/>
    <p:sldId id="281" r:id="rId28"/>
    <p:sldId id="282" r:id="rId29"/>
    <p:sldId id="283" r:id="rId30"/>
    <p:sldId id="284" r:id="rId31"/>
    <p:sldId id="285" r:id="rId32"/>
    <p:sldId id="286" r:id="rId33"/>
    <p:sldId id="324" r:id="rId34"/>
    <p:sldId id="288" r:id="rId35"/>
    <p:sldId id="289" r:id="rId36"/>
    <p:sldId id="290" r:id="rId37"/>
    <p:sldId id="307" r:id="rId38"/>
    <p:sldId id="327" r:id="rId39"/>
    <p:sldId id="328" r:id="rId40"/>
    <p:sldId id="291" r:id="rId41"/>
    <p:sldId id="292" r:id="rId42"/>
    <p:sldId id="293" r:id="rId43"/>
    <p:sldId id="277"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25" r:id="rId58"/>
    <p:sldId id="287" r:id="rId59"/>
    <p:sldId id="319" r:id="rId60"/>
    <p:sldId id="320" r:id="rId61"/>
    <p:sldId id="309" r:id="rId62"/>
    <p:sldId id="310" r:id="rId6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2" autoAdjust="0"/>
    <p:restoredTop sz="84407" autoAdjust="0"/>
  </p:normalViewPr>
  <p:slideViewPr>
    <p:cSldViewPr snapToGrid="0">
      <p:cViewPr varScale="1">
        <p:scale>
          <a:sx n="77" d="100"/>
          <a:sy n="77" d="100"/>
        </p:scale>
        <p:origin x="65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wtam Ramesh" userId="5a825f13-9cf5-400c-8515-d4336f232e37" providerId="ADAL" clId="{ACBCB788-5651-417B-B495-0A4CDBC77AC0}"/>
    <pc:docChg chg="addSld delSld modSld">
      <pc:chgData name="Gawtam Ramesh" userId="5a825f13-9cf5-400c-8515-d4336f232e37" providerId="ADAL" clId="{ACBCB788-5651-417B-B495-0A4CDBC77AC0}" dt="2026-10-23T11:17:00.992" v="1" actId="47"/>
      <pc:docMkLst>
        <pc:docMk/>
      </pc:docMkLst>
      <pc:sldChg chg="del">
        <pc:chgData name="Gawtam Ramesh" userId="5a825f13-9cf5-400c-8515-d4336f232e37" providerId="ADAL" clId="{ACBCB788-5651-417B-B495-0A4CDBC77AC0}" dt="2026-10-23T11:17:00.992" v="1" actId="47"/>
        <pc:sldMkLst>
          <pc:docMk/>
          <pc:sldMk cId="0" sldId="308"/>
        </pc:sldMkLst>
      </pc:sldChg>
      <pc:sldChg chg="add">
        <pc:chgData name="Gawtam Ramesh" userId="5a825f13-9cf5-400c-8515-d4336f232e37" providerId="ADAL" clId="{ACBCB788-5651-417B-B495-0A4CDBC77AC0}" dt="2026-10-23T11:16:58.623" v="0"/>
        <pc:sldMkLst>
          <pc:docMk/>
          <pc:sldMk cId="0" sldId="3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2026-10-23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 Good evening everyone,</a:t>
            </a:r>
          </a:p>
          <a:p>
            <a:r>
              <a:rPr lang="en-GB" dirty="0"/>
              <a:t>Thank you all for coming . </a:t>
            </a:r>
          </a:p>
          <a:p>
            <a:r>
              <a:rPr lang="en-GB" dirty="0"/>
              <a:t>Welcome to my Masters thesis defence on STL – FM : …. </a:t>
            </a:r>
          </a:p>
          <a:p>
            <a:endParaRPr lang="en-GB" dirty="0"/>
          </a:p>
          <a:p>
            <a:r>
              <a:rPr lang="en-GB" dirty="0"/>
              <a:t>The thesis was carried out at ABB Robotics ,</a:t>
            </a:r>
          </a:p>
          <a:p>
            <a:endParaRPr lang="en-GB" dirty="0"/>
          </a:p>
          <a:p>
            <a:endParaRPr lang="en-GB" dirty="0"/>
          </a:p>
          <a:p>
            <a:r>
              <a:rPr lang="en-GB" dirty="0"/>
              <a:t>Supervised by ….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First </a:t>
            </a:r>
            <a:r>
              <a:rPr lang="en-US" dirty="0"/>
              <a:t>we discuss the</a:t>
            </a:r>
            <a:r>
              <a:rPr dirty="0"/>
              <a:t> motivation </a:t>
            </a:r>
            <a:r>
              <a:rPr lang="en-US" dirty="0"/>
              <a:t>on why this problem is important, </a:t>
            </a:r>
          </a:p>
          <a:p>
            <a:endParaRPr lang="en-US" dirty="0"/>
          </a:p>
          <a:p>
            <a:r>
              <a:rPr lang="en-US" dirty="0"/>
              <a:t>t</a:t>
            </a:r>
            <a:r>
              <a:rPr dirty="0"/>
              <a:t>hen </a:t>
            </a:r>
            <a:r>
              <a:rPr lang="en-US" dirty="0"/>
              <a:t>briefly mention the background concepts and prior work .</a:t>
            </a:r>
          </a:p>
          <a:p>
            <a:endParaRPr lang="en-US" dirty="0"/>
          </a:p>
          <a:p>
            <a:r>
              <a:rPr dirty="0"/>
              <a:t> the method</a:t>
            </a:r>
            <a:r>
              <a:rPr lang="en-US" dirty="0"/>
              <a:t> we chose to tackle to the problem. </a:t>
            </a:r>
            <a:br>
              <a:rPr lang="en-US" dirty="0"/>
            </a:br>
            <a:br>
              <a:rPr lang="en-US" dirty="0"/>
            </a:br>
            <a:r>
              <a:rPr dirty="0"/>
              <a:t>Then the results, </a:t>
            </a:r>
            <a:endParaRPr lang="en-US" dirty="0"/>
          </a:p>
          <a:p>
            <a:endParaRPr lang="en-US" dirty="0"/>
          </a:p>
          <a:p>
            <a:r>
              <a:rPr dirty="0"/>
              <a:t>followed by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real cell from ABB. </a:t>
            </a:r>
          </a:p>
          <a:p>
            <a:endParaRPr lang="en-GB" dirty="0"/>
          </a:p>
          <a:p>
            <a:r>
              <a:rPr lang="en-GB" dirty="0"/>
              <a:t>At GE Healthcare in Helsinki a single-arm YuMi picks a prototype component from a jig, applies a bead of fast-setting glue that is hard to apply by hand, and returns the part. </a:t>
            </a:r>
          </a:p>
          <a:p>
            <a:endParaRPr lang="en-GB" dirty="0"/>
          </a:p>
          <a:p>
            <a:r>
              <a:rPr lang="en-GB" dirty="0"/>
              <a:t>The prototypes change on a rapid schedule. </a:t>
            </a:r>
          </a:p>
          <a:p>
            <a:endParaRPr lang="en-GB" dirty="0"/>
          </a:p>
          <a:p>
            <a:r>
              <a:rPr lang="en-GB" dirty="0"/>
              <a:t>The customer's own words: even in half an hour they can get major changes done to the code. </a:t>
            </a:r>
          </a:p>
          <a:p>
            <a:endParaRPr lang="en-GB" dirty="0"/>
          </a:p>
          <a:p>
            <a:endParaRPr lang="en-GB" dirty="0"/>
          </a:p>
          <a:p>
            <a:r>
              <a:rPr lang="en-GB" b="1" dirty="0"/>
              <a:t>Every change of the product or the process requires a change of the program. </a:t>
            </a:r>
          </a:p>
          <a:p>
            <a:endParaRPr lang="en-GB" dirty="0"/>
          </a:p>
          <a:p>
            <a:r>
              <a:rPr lang="en-GB" dirty="0"/>
              <a:t>And this is changing today with factories becoming more intelligent and flexible. </a:t>
            </a:r>
          </a:p>
          <a:p>
            <a:endParaRPr lang="en-GB" dirty="0"/>
          </a:p>
          <a:p>
            <a:r>
              <a:rPr lang="en-GB" dirty="0"/>
              <a:t>[ABB customer story, IRB 14050 at GE Healthcare]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 alternative to reprogramming is</a:t>
            </a:r>
            <a:r>
              <a:rPr lang="en-US" dirty="0"/>
              <a:t> way humans also perform tasks, From years of movement, humans tend to have muscle memory and we </a:t>
            </a:r>
            <a:r>
              <a:rPr lang="en-US" dirty="0" err="1"/>
              <a:t>subsconsiously</a:t>
            </a:r>
            <a:r>
              <a:rPr lang="en-US" dirty="0"/>
              <a:t> use them to meet the requirements, so for most tasks, the focus is mostly on the requirement. </a:t>
            </a:r>
          </a:p>
          <a:p>
            <a:endParaRPr lang="en-US" dirty="0"/>
          </a:p>
          <a:p>
            <a:r>
              <a:rPr lang="en-US" dirty="0"/>
              <a:t>Similarly we can teach robots</a:t>
            </a:r>
            <a:r>
              <a:rPr dirty="0"/>
              <a:t> to learn the motion from</a:t>
            </a:r>
            <a:r>
              <a:rPr lang="en-US" dirty="0"/>
              <a:t> several</a:t>
            </a:r>
            <a:r>
              <a:rPr dirty="0"/>
              <a:t> demonstrations</a:t>
            </a:r>
            <a:r>
              <a:rPr lang="en-US" dirty="0"/>
              <a:t>. And generative models is one way to teach them. </a:t>
            </a:r>
          </a:p>
          <a:p>
            <a:endParaRPr lang="en-US" dirty="0"/>
          </a:p>
          <a:p>
            <a:r>
              <a:rPr dirty="0"/>
              <a:t> </a:t>
            </a:r>
            <a:r>
              <a:rPr lang="en-US" dirty="0"/>
              <a:t>It’s particularly interesting because </a:t>
            </a:r>
            <a:r>
              <a:rPr dirty="0"/>
              <a:t>that produces many plausible motions rather than one. </a:t>
            </a:r>
            <a:endParaRPr lang="en-US" dirty="0"/>
          </a:p>
          <a:p>
            <a:endParaRPr lang="en-US" dirty="0"/>
          </a:p>
          <a:p>
            <a:r>
              <a:rPr dirty="0"/>
              <a:t>In a load-and-bond cell the robot seats a component on an adhesive bead. It must seat within the adhesive's open time, hold for a minimum duration, and keep clear of the operator's side. </a:t>
            </a:r>
            <a:endParaRPr lang="en-US" dirty="0"/>
          </a:p>
          <a:p>
            <a:endParaRPr lang="en-US" dirty="0"/>
          </a:p>
          <a:p>
            <a:r>
              <a:rPr dirty="0"/>
              <a:t>Left, samples of a model trained on demonstrations.</a:t>
            </a:r>
            <a:endParaRPr lang="en-US" dirty="0"/>
          </a:p>
          <a:p>
            <a:endParaRPr lang="en-US" dirty="0"/>
          </a:p>
          <a:p>
            <a:r>
              <a:rPr dirty="0"/>
              <a:t>The same samples satisfy the requirement for one adhesive and violate it for another.</a:t>
            </a:r>
            <a:endParaRPr lang="en-US" dirty="0"/>
          </a:p>
          <a:p>
            <a:endParaRPr lang="en-US" dirty="0"/>
          </a:p>
          <a:p>
            <a:r>
              <a:rPr dirty="0"/>
              <a:t> The window and the hold depend on the adhesive, so they can change after the demonstrations are recorded</a:t>
            </a:r>
            <a:r>
              <a:rPr lang="en-US" dirty="0"/>
              <a:t>. </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the questions in when and how does this requirement enter the planning. </a:t>
            </a:r>
          </a:p>
          <a:p>
            <a:endParaRPr lang="en-GB" dirty="0"/>
          </a:p>
          <a:p>
            <a:r>
              <a:rPr lang="en-GB" dirty="0"/>
              <a:t>A demonstration records the instant of seating, not the required window: it witnesses that the requirement can be satisfied without determining it. </a:t>
            </a:r>
          </a:p>
          <a:p>
            <a:endParaRPr lang="en-GB" dirty="0"/>
          </a:p>
          <a:p>
            <a:endParaRPr lang="en-GB" dirty="0"/>
          </a:p>
          <a:p>
            <a:r>
              <a:rPr lang="en-GB" dirty="0"/>
              <a:t>A model trained on demonstrations alone has no input for the requirement, so a sample can seat too late and still end on the housing, and a benchmark that judges the final state counts it as a success. [Click] The problem: given demonstrations recorded before training and a requirement stated after it, generate a trajectory that is plausible under the demonstrations and satisfies the requirement, without retraining. Training-time conditioning, such as TeLoGraF, learns the requirement from paired data and degrades outside its training distribution. [§1.1, §1.2, Problem 4.1]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a method for imposing STL requirements on a trained generative model at inference time. Two open questions concern the requirement itself rather than the performance of a planner: whether a demonstration determines the requirement, and whether the robustness score alone determines a trajectory. The first two contributions answer them by proof. The third contribution is the method, STL-FM, which guides the learned prior, an unconditional model trained once by flow matching, by the gradient of STL robustness at one constant strength, and which is evaluated experimentally. [§1.2, §1.3; Ch. 4, App. A; Ch. 5]</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have 2 things, one is the Prior knowledge of the demonstrations, and other is the Requirement. </a:t>
            </a:r>
          </a:p>
          <a:p>
            <a:endParaRPr lang="en-GB" dirty="0"/>
          </a:p>
          <a:p>
            <a:r>
              <a:rPr lang="en-GB" dirty="0"/>
              <a:t>The method we will be discussing today tries to sample them </a:t>
            </a: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how the requirement is written and how it is scored.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Signal Temporal Logic expresses time bounds over real-valued signals, such as a robot trajectory. [Click] Eventually, the diamond, means at some instant of its window. Always, the box, means at every instant. The requirement says: at some instant in [a, b] the part becomes seated and stays seated for d, and at every instant the robot stays out of the operator zone. [Click] The requirement bounds only the timing of the seating and the region to avoid. The grasp, the approach and the rest of the motion are hard to write as a formula and are learned from the demonstrations. Every requirement in this talk is built from a predicate, a margin function of the state; negation; conjunction; and these two bounded temporal operators. [§1.1, eq. 1.1; §3.2; Remark rem:fragment]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replaces the Boolean verdict with a real number, defined by recursion over the formula. A predicate gives its margin h, negation changes the sign, conjunction and always take a minimum, eventually a maximum over its window. Soundness: a positive score certifies satisfaction. Below, the avoidance margin of one plan over time. The exact robustness is the minimum of the margin, a single witness instant; its gradient acts on that one instant alone. Log-sum-exp replaces max and min, and at sharpness kappa = 10 in the experiments it spreads the gradient over the neighbouring instants. The formula is compiled by recursion over its syntax tree into this differentiable score, with no learned component, so a new requirement requires only a new syntax tree. The smoothed score is sound only up to a margin, so satisfaction is always scored exactly. Implementation: stljax, the JAX library of STLCG++. [§3.2, def:robustness, eq:robustness-sound; §3.2.3, eq:logsumexp; §4.2, alg:build-rho, prop:smoothing-bias]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Second, the learned prior that generates the motion.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A point of this space is a whole trajectory. Flow matching trains a velocity field v_theta by regression onto the straight-line target tau_1 minus tau_0, from noise to data. Sampling integrates the field from s = 0 to s = 1, here in K = 64 Euler steps. The density deforms from one Gaussian into two modes, two plausible behaviours, here passing a fixture on either side. The prior is unconditional, trained once on demonstrations, and its only conditioning is the start state. [§3.3, def:fm, eq:fm-loss, eq:fm-ode-bg, Fig. 3.1; §5.1.1]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Generation from noise, applied to a robot trajectory. This clip shows a diffusion model. Flow matching produces the same kind of result along straight-line paths. The prior used here is unconditional, trained once on demonstrations, and its only conditioning is the start state. [§3.3; §5.1.1]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Previous work differs in where the requirement enters. Training-time conditioning, such as TeLoGraF, learns the requirement from paired data and degrades outside the conditioning distribution. Decompose-and-stitch, such as ZSTP, splits the formula into timed waypoints before generation and fixes each operator's timing in advance. Trajectory optimization uses robustness with a known dynamics model, specified by hand. Safe-set enforcement, such as SafeDiffuser, keeps samples in a time-invariant safe set, which expresses no dwell or order. STL-FM belongs to inference-time robustness guidance, with CTG. Unlike CTG, it guides a flow-matching prior, whose velocity is bounded, so one constant strength is well posed where diffusion needs a schedule. It also evaluates long-horizon dwell, sequence and avoidance, including nested operators. [Ch. 2, §2.7]</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Third, the guided sampler that combines the learned prior with the robustness score.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1E51B-8C43-D906-C05B-341FF0123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51B0F-8024-C31A-AC78-AC7E30E42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CE400-B450-9843-9DF3-0AE82976D887}"/>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274323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6A93-9A71-7402-2888-86D311899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638C5-EFE4-05F9-B759-56A6B126D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98F5-E590-B9E2-4A06-07EC5ED30785}"/>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2644657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7280-934C-73C1-4578-6518FA782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A0647-966D-0A2C-60BD-C73671CF3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4D84C-D050-F385-673A-307555EAC7BF}"/>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1672873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the evaluation: what the plans satisfy, and what their executions achieve.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settings. Planar navigation: 100 runs per class on one fixed instance per class, plans only. Cube manipulation in OGBench: 10 runs per class on three classes, each plan executed in the simulator. Each baseline differs from STL-FM in one component. The endpoint-inpaint planner replaces the requirement by a pinned endpoint instead of the robustness gradient. The STL Optimizer (no-prior) keeps the requirement and removes the prior; it descends the violation penalty with a smoothness penalty and a velocity limit. A fourth planner, STL-FM with endpoint pin, differs from STL-FM in satisfaction rate by at most 0.05 on any of the six classes. [§5.1.2-5.1.3, tab:families, tab:planners]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same prior and the same lambda_0 for all six classes. A new requirement requires only a new syntax tree. Satisfaction rates of STL-FM: reach 0.96, nested reach-and-dwell 1.00, recurrence 0.98, sequence 0.89, sequence with avoidance 0.89, composite 0.78. The STL Optimizer satisfies every class on every run, so the panels show plan shape rather than a satisfaction gap; on sequence and sequence with avoidance its plans leave the arena (next slide). A sweep of one requirement's own parameters is future work, so this does not test adaptation to a changed parameter. If asked about roughness: on nested reach-and-dwell 47 percent of turns exceed a right angle. [tab:families; tab:openloop; §4.2; §6.1; §7.2]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 100 runs per class. The endpoint-inpaint planner satisfies reach on every run and no other class on any run: the pin fixes the end, and the prior generates the remainder of the trajectory, which contains no dwell, order or avoidance. STL-FM satisfies the five history-dependent classes at 0.78 to 1.00. The STL Optimizer satisfies every class on every run, so satisfaction alone does not separate it from STL-FM. Below, estimated wall-clock time to first satisfaction, assuming every step of a planner takes the same time: 0.10 to 1.07 seconds for STL-FM against 0.83 to 6.75 for the optimizer, and on every class the optimizer is the later. A whole plan takes 0.42 to 1.15 seconds for STL-FM and 5.67 to 28.22 seconds for the optimizer. In the cube study STL-FM plans in 0.24 seconds and the optimizer in 0.96. In the kitchen STL-FM plans in 0.25 seconds under both priors, against 0.16 and 0.21 seconds for the unguided prior. Times are medians over 20 separate timing runs per class on a laptop GPU, an NVIDIA RTX A500, without recording the robustness at every step. A repeated measurement of the cube and kitchen times was up to 20 percent slower, with the same order of the planners. [tab:openloop; §5.2.3, tab:anytime; §5.3; §5.4; app:anytime; §6.1]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STL Optimizer removes the prior and optimizes robustness directly. It descends the violation penalty with a smoothness penalty and a velocity limit. It satisfies every requirement class on every run. On sequence with avoidance every one of its plans leaves the arena, at a median largest coordinate of 10.27 against a half-width of 5.0. The excursion lies at steps 31 to 63, which no reach window covers. Deleting the avoidance conjuncts leaves the plans outside the arena, so the avoidance conjuncts do not cause the excursion. Its plans also leave the arena on sequence. Plans that use the prior cross the arena edge in at most 4 of 100 runs per class, by a small margin. [§5.1.3; §5.2.2; §6.1; app:noobs-ablation]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is computed from a few predicate evaluations combined by min and max. A formula with m predicate occurrences is determined by at most m waypoints, and m is between 1 and 5 here, against horizons of 64 to 256. Under the exact semantics the gradient is zero at every other waypoint, and the score is flat along a subspace of dimension at least (H - m) d. At steps that only avoidance constrains, the set of maximizers is unbounded. A planner guided by robustness therefore needs a component besides the requirement to determine the rest of the trajectory. Here that is the learned prior. Its contribution is measured, not assumed, because the prior does not meet the idealized conditions of the theorem in backup. [Contribution 2; §4.1.1; prop:sparse-gradient, thm:prior-resolves, prop:no-maximizer; rem:prior-idealization]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OGBench single cube. The prior generates the effector and the cube position over 128 steps, so the requirement and the environment's success criterion refer to the same cube. Three requirement classes: nested reach-and-dwell, sequence, and sequence with avoidance. Pick holds when the effector is within 5 cm of the cube; place is a 4 cm ball about the target, the environment's own tolerance; obs is a 2 cm box 20 cm from the midpoint of the pick and place sites, which the cube must avoid. Each planner runs 10 times per class, and every plan is executed: a proportional controller tracks the effector and a gripper state machine follows the plan. [Click to play] The video is the nested reach-and-dwell class, run 5, a plan that satisfies the requirement and completes the task. [§5.3, tab:closedloop]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Pooled over the three classes, 10 runs per class and planner. The STL Optimizer satisfies the requirement in 30 of 30 plans and completes no execution. STL-FM satisfies 20 and completes 10, and the endpoint-inpaint planner satisfies 1 and completes 1. A requirement written on the generated variables constrains only those variables. The converse also occurs: on nested reach-and-dwell STL-FM satisfies 1 of 10 and completes 9 (per-class plot in backup). The kitchen study shows the same gap more strongly (backup). [tab:closedloop, §6.2]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 to the two questions. RQ1: a demonstration witnesses a requirement without determining it, so the requirement is stated as a formula and the demonstrations provide plausibility. RQ2: the robustness score alone does not determine a trajectory; its gradient acts on a few waypoints and its maximizers are unbounded where only avoidance applies. The learned prior provides the rest of the trajectory, as the navigation excursion and the cube carry gap show, and its contribution is not smoothness. The method: STL-FM guides the learned prior at one constant strength, without retraining, and covers nested and recurrent operators. Finally, satisfying the requirement on the plan is not completing the task: a requirement written on the generated variables constrains only those variables. STL-FM is a soft realization without a certificate. [§7.1; §6.1-6.3]</a:t>
            </a:r>
          </a:p>
          <a:p>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First, a differentiable dynamics or world model, so that a requirement can be written on contact, an object's pose or a hinge angle and constrain the executed </a:t>
            </a:r>
            <a:r>
              <a:rPr dirty="0" err="1"/>
              <a:t>behaviour</a:t>
            </a:r>
            <a:r>
              <a:rPr dirty="0"/>
              <a:t>. [Kitchen study in backup] Second, completion of the physical study: the </a:t>
            </a:r>
            <a:r>
              <a:rPr dirty="0" err="1"/>
              <a:t>GoFA</a:t>
            </a:r>
            <a:r>
              <a:rPr dirty="0"/>
              <a:t> prior is trained and the requirement compiled, but no plan has been executed. Third, a sweep of a requirement's own parameters with the prior held fixed, such as the open time or the dwell, which tests adaptation without retraining directly. Fourth, a barrier-filtered controller paired with the planner, for an execution-time guarantee. [§7.2; §2.6]</a:t>
            </a: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262626"/>
                </a:solidFill>
              </a:rPr>
              <a:t>since FM is multimodal, they are extensively used in VLAs and World Action Models, this thesis contributes a way to directly compliment these end to end foundational models with formal specifications to make them grounded and explainable. </a:t>
            </a:r>
          </a:p>
          <a:p>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D4RL kitchen. The requirement: open the microwave within steps 60 to 130, then move the kettle onto its burner within 140 to 230, with predicates on the fixtures' own state at the environment's tolerance. Two priors, complete-v2 and mixed, and two planners, the unguided prior and STL-FM, 20 runs each. Under complete-v2 every plan satisfies the requirement under both planners, because the demonstrations operate the fixtures in the required order, so guidance performs no selection. Under mixed, 6 of 20 without and 2 of 20 with guidance, no effect detected. No execution satisfies the requirement: the planned microwave crosses the threshold in every complete-v2 plan, the executed one in none. The prior generates the state, not the actions that produce it. [§5.4, tab:kitchen, §6.2]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ABB GoFA CRB 15000-12/1.27 with a parallel gripper. Five door-opening demonstrations of 894 to 1872 frames at 15 fps. The prior generates six joint angles and the gripper state over 128 steps. The carry requirement states that between grasp and release the tool must not rotate by more than 5 degrees about any axis, compiled through differentiable forward kinematics. No recorded demonstration satisfies it. Distance to the demonstration falls from 0.451 to 0.315 in the first 10,000 steps and then stays flat; only smoothness keeps improving; diversity falls about sevenfold, measured on four samples per checkpoint. No plan has been executed on the robot. The carry interval is a proxy read from the gripper trace. [§5.5, tab:gofa-checkpoints, §6.3]</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A673-B4E0-85E1-4466-4880B2FE7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A3CE6-7800-B0EA-D440-3F94D49C2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2F05A-E7F2-CC1B-3A70-A518961C6F70}"/>
              </a:ext>
            </a:extLst>
          </p:cNvPr>
          <p:cNvSpPr>
            <a:spLocks noGrp="1"/>
          </p:cNvSpPr>
          <p:nvPr>
            <p:ph type="body" idx="1"/>
          </p:nvPr>
        </p:nvSpPr>
        <p:spPr/>
        <p:txBody>
          <a:bodyPr/>
          <a:lstStyle/>
          <a:p>
            <a:r>
              <a:rPr lang="en-GB" dirty="0"/>
              <a:t>Hi Good evening everyone,</a:t>
            </a:r>
          </a:p>
          <a:p>
            <a:r>
              <a:rPr lang="en-GB" dirty="0"/>
              <a:t>Thank you all for coming . </a:t>
            </a:r>
          </a:p>
          <a:p>
            <a:r>
              <a:rPr lang="en-GB" dirty="0"/>
              <a:t>Welcome to my Masters thesis defence on STL – FM : …. </a:t>
            </a:r>
          </a:p>
          <a:p>
            <a:endParaRPr lang="en-GB" dirty="0"/>
          </a:p>
          <a:p>
            <a:r>
              <a:rPr lang="en-GB" dirty="0"/>
              <a:t>The thesis was carried out at ABB Robotics ,</a:t>
            </a:r>
          </a:p>
          <a:p>
            <a:endParaRPr lang="en-GB" dirty="0"/>
          </a:p>
          <a:p>
            <a:endParaRPr lang="en-GB" dirty="0"/>
          </a:p>
          <a:p>
            <a:r>
              <a:rPr lang="en-GB" dirty="0"/>
              <a:t>Supervised by …. </a:t>
            </a:r>
          </a:p>
        </p:txBody>
      </p:sp>
    </p:spTree>
    <p:extLst>
      <p:ext uri="{BB962C8B-B14F-4D97-AF65-F5344CB8AC3E}">
        <p14:creationId xmlns:p14="http://schemas.microsoft.com/office/powerpoint/2010/main" val="13676860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Backup for the problem slide. The demonstrations record the instant of seating. Samples of the learned prior can satisfy the window, seat too late, or release too early, and still end with the component on the housing. [§1.1, Fig. 1.1(b)]</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compares each approach by where the requirement enters and by what determines the rest of the motion. Trajectory optimization and control synthesis with barrier functions represent the requirement explicitly, as STL-FM does, and the dynamics model and costs determine what the score leaves free; the barrier-function formulation of Lindemann and Dimarogonas also conjoins a boundedness clause to the requirement, and later work extends it to disjunctions and nested operators. Training-time conditioning learns the requirement from requirement-demonstration pairs. Decompose-and-stitch fixes the timing of each operator before generation. Safe-set enforcement gives an invariance certificate, but for a time-invariant safe set. CTG shares the guidance mechanism, on a diffusion model. STL-FM takes the rest of the motion from a learned prior, at one constant strength, and gives no certificate; a barrier-based tracker could execute an STL-FM plan, which is future work. [Ch. 2: rw-modelbased, rw-guidance, rw-decompose, rw-conditioning, rw-constraints, positioning]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result answers RQ1. Any trajectory witnesses uncountably many requirements, ordered from 'do exactly this' to 'do anything', so no map from one demonstration to a requirement is determined by its argument. The chains already contain standard STL formulae, from a tight ball at every step to a tautology. The requirement is therefore stated, not inferred. [App. A, def:requirement, prop:witness-underdetermines]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half of RQ2. Under the exact semantics the gradient is supported on at most m active waypoints, and the score is flat along a subspace of dimension at least (H - m) d. Under the smooth surrogate the gradient at the other waypoints is not zero, but it is suppressed exponentially in their robustness deficit. [App. A, prop:sparse-gradient, lem:smooth-concentration]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a reach requirement the maximizers include trajectories of arbitrarily large velocity. This is why guidance uses a penalized objective with a smoothness term rather than the score alone. [App. A, prop:spurious-maxima, eq:optimal-set; §4.5]</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second half of RQ2. Pure safety has no maximizer. With a reach conjunct the maximizers exist but are unbounded at time indices covered only by avoidance. In neither case does the requirement bound the trajectory. Control-synthesis formulations obtain the bound from the dynamics and costs, or conjoin a boundedness clause (Lindemann and Dimarogonas 2019). If asked about the STL Optimizer: it minimizes the violation penalty rather than ascending the score, so for it the result says only that no term of the requirement returns those coordinates to any region. [App. A, prop:no-maximizer, rem:violation-penalty; §2.2]</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 idealized conditions, a compact manifold of plausible trajectories, the constrained problem attains its maximum and its maximizers are isolated. The learned prior satisfies neither hypothesis. A flow-matching sampler has support on the whole trajectory space, and the guided sampler realizes a soft penalty rather than the hard constraint. The contribution of the prior is therefore measured in the experiments, not assumed. [App. A, eq:constrained-problem, thm:prior-resolves, rem:prior-idealization]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one constant strength is well posed. The diffusion score grows like 1 over sigma_t squared as the noise vanishes, so a constant guidance weight has an influence that varies with the noise level, and diffusion guidance needs a schedule. Under the straight-line path the flow-matching target is tau_1 minus tau_0, of order one at every flow time, and the conditioned gradient has unit norm, so the guided velocity is bounded uniformly in s. One lambda_0 therefore has the same meaning throughout the flow. The claim is that a constant is well posed, not that it suffices in every setting. The same lambda_0 = 50 is used in navigation and cube without retuning. [eq:tweedie; §3.3; §4.6, eq:guided-bounded; tab:diffusion-vs-fm]</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compilation is a post-order traversal of the syntax tree with no learned component. Smoothing replaces min and max by log-sum-exp. The bias is bounded by log n over kappa per node, and soundness is recovered exactly as kappa grows. kappa = 10 in the experiments, and satisfaction is scored with the exact semantics. [§4.2, alg:build-rho, prop:smoothing-bias]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 full. The predicted endpoint, the penalized requirement gradient, masking and normalization, the constant-strength update and the re-pinned start state are the steps of the guided-sampler slide. The optional clamp is off in all reported runs. [§4.7, alg:guided-ode]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STL Optimizer is actually computed, since it is named for what it scores rather than for how it works. Controls for a single integrator start as small random noise and are integrated into a trajectory at every gradient step, p of t plus 1 equals p of t plus u of t times delta t. That trajectory is scored by the same masked, differentiable robustness construction that stljax slash STLCG plus plus provides, and that STL-FM's own guidance term uses at every one of its integration steps. What differs is the objective: plain gradient descent on the violation penalty, max of zero and minus rho, with a hand-specified finite-difference smoothness penalty and a velocity limit taking the place of a learned prior, run for 1,500 to 6,000 steps with the log-sum-exp temperature annealed from soft to sharp. STLCG++ supplies the differentiable score; it does not propose this optimization design, which follows standard direct STL trajectory optimization (Belta and Vasile 2020). [§5.1.3]</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upper table gives satisfaction and mean robustness over 100 runs, and a star marks entries whose plans all leave the arena. Classes 1 to 6 are reach, nested reach-and-dwell, recurrence, sequence, sequence with avoidance and composite, and classes 7 to 10 are choice of target, choice of sequence, ordered visit and avoidance until reach. The lower table gives, per class, when each planner first satisfies the requirement and when it reaches its best robustness, as percentages of its budget, and the wall-clock plan time in seconds. STL-FM with endpoint pin differs from STL-FM by at most 0.05 on classes 1 to 6. [tab:openloop, tab:anytime; tab:families]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Added after the report: four navigation classes that use disjunction, choice of target and choice of sequence, and until, ordered visit and avoidance until reach, instantiated in the scene of the composite class. Panels show STL-FM, 25 of 100 runs. Under STL-FM the satisfied branch of a disjunction varies between runs. On choice of target 52 plans reach the distant target and 54 the near one, and on choice of sequence 14 take the branch through the first target and 84 the shorter branch, whereas the STL Optimizer always takes the branch through the near target. On ordered visit the first target lies 7.95 world units from the start and the second only 1.96, and the until operator forbids entering the second before the first. The STL Optimizer enters the near target first in every run. It fails at a local optimum and not because the instance is infeasible: the reach conjunct for the second target attains its value at an early waypoint near it, where its gradient is opposite to that of the until conjunct. Started from a plan that visits the first target first, it satisfies the instance, and with the second target's window moved to steps 31 to 63 it satisfies 19 of 20 runs. STL-FM satisfies 0.27 of runs, and STL-FM with endpoint pin 0.96, because the pinned final state satisfies the reach conjunct at the final index. The plan time of STL-FM on the two until classes, 4.7 and 5.7 s against 0.42 to 1.15 s elsewhere, is attributed to the compiled until, which is evaluated once for every end index of its window. Over all ten classes the estimated time to first satisfaction is 0.10 to 2.56 s for STL-FM and 0.83 to 7.29 s for the optimizer, excluding ordered visit. [§5.2.1, tab:openloop; §5.2.3, tab:anytime; app:ordered-visit, tab:ordered-visit; tab:families]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against progress through each planner's own budget, one panel per class, as the median over 100 runs with an interquartile band. The step axis is normalized per planner, so the comparison is of shape and not of cost. The dashed line is the satisfaction threshold. STL-FM reaches its largest robustness at 95 to 100 percent of its budget on the five history-dependent classes of the fragment, and the STL Optimizer at 10 to 57 percent on the classes it satisfies. [fig:anytime, fig:anytime-ext]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table, sat is logic satisfaction on the plan, task is success on the rollout, and gap is the median carry gap in centimetres. Classes 2, 4 and 5 are nested reach-and-dwell, sequence and sequence with avoidance. The pooled row gives the medians quoted in the talk, 12.5 cm for the STL Optimizer and 6.9 cm for STL-FM. [tab:closedloop; tab:families]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STL-FM per class, 10 runs each. On nested reach-and-dwell STL-FM satisfies the requirement in 1 of 10 runs and completes the task in 9, because the dwell windows close by step 30 whereas success requires only that the cube arrive. On sequence it satisfies 10 and completes 1. On sequence with avoidance it satisfies 9 and completes none. [tab:closedloop]</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OGBench single cube. The prior generates the effector and the cube position over 128 steps, so the requirement and the environment's success criterion refer to the same cube. Place is a 4 cm ball about the target, the environment's own tolerance; pick holds when the effector is within 5 cm of the cube. [Click to play] A proportional controller tracks the effector and a gripper state machine follows the plan. On the sequence class, STL-FM satisfies the requirement in 10 of 10 plans and completes 1 execution. The STL Optimizer satisfies 10 and completes none, and the endpoint-inpaint planner satisfies none and completes none. The video is run 6, the one completing run. [§5.3, tab:closedloop]</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Nested reach-and-dwell on the same cube task. The grasp must hold for 10 steps, starting by step 30, and the placement must then hold for 10 steps, starting within 30 steps of the grasp. [Click to play] STL-FM completes the task in 9 of 10 runs but satisfies the requirement in only 1, because the dwell windows close early in the 128-step horizon, whereas success requires only that the cube arrive. The STL Optimizer satisfies the requirement in all 10 runs and completes none. The video is run 5, the one run that both satisfies and completes. [§5.3, tab:closedloop, class 2]</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Sequence with avoidance: the sequence requirement with an added clause that keeps the cube outside a 2 cm box placed 20 cm from the midpoint of the pick and place sites for the whole horizon. [Click to play] STL-FM satisfies the requirement in 9 of 10 plans and completes none of the executions. The STL Optimizer satisfies all 10 and completes none; the endpoint-inpaint planner completes 1. The video is run 0, a satisfying plan whose execution fails to grasp the cube. [§5.3, tab:closedloop, class 5]</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Moving steps are steps longer than 0.05 world units. The prior does not reproduce the smoothness of its demonstrations, and guidance raises the turn angle on nested reach-and-dwell, where nearly half the turns exceed a right angle. On sequence and sequence with avoidance the guided plans are no rougher than the prior. The STL Optimizer is smoother than the demonstrations because of its hand-specified smoothness penalty. Two explanations remain open, and the evaluation does not distinguish them. The evidence for the contribution of the prior is the cube carry gap and the navigation excursion. [§5.2, §6.1]</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limitations, one line each. [§6.3]</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2026-10-23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2026-10-23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2026-10-23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2026-10-23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3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5.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35.xml"/><Relationship Id="rId5" Type="http://schemas.openxmlformats.org/officeDocument/2006/relationships/image" Target="../media/image42.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35.xml"/><Relationship Id="rId5" Type="http://schemas.openxmlformats.org/officeDocument/2006/relationships/image" Target="../media/image43.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35.xml"/><Relationship Id="rId5" Type="http://schemas.openxmlformats.org/officeDocument/2006/relationships/image" Target="../media/image44.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5.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7.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7.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8.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35.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22.xml"/><Relationship Id="rId16" Type="http://schemas.openxmlformats.org/officeDocument/2006/relationships/image" Target="../media/image66.png"/><Relationship Id="rId20" Type="http://schemas.openxmlformats.org/officeDocument/2006/relationships/image" Target="../media/image70.png"/><Relationship Id="rId1" Type="http://schemas.openxmlformats.org/officeDocument/2006/relationships/slideLayout" Target="../slideLayouts/slideLayout35.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35.xml"/><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4.xml"/><Relationship Id="rId1" Type="http://schemas.openxmlformats.org/officeDocument/2006/relationships/slideLayout" Target="../slideLayouts/slideLayout35.xml"/><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slideLayout" Target="../slideLayouts/slideLayout35.xml"/><Relationship Id="rId7" Type="http://schemas.openxmlformats.org/officeDocument/2006/relationships/image" Target="../media/image76.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0.xml"/><Relationship Id="rId1" Type="http://schemas.openxmlformats.org/officeDocument/2006/relationships/slideLayout" Target="../slideLayouts/slideLayout35.xml"/><Relationship Id="rId5" Type="http://schemas.openxmlformats.org/officeDocument/2006/relationships/image" Target="../media/image81.png"/><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84.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0.xml"/><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2.xml"/><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4.xml"/><Relationship Id="rId1" Type="http://schemas.openxmlformats.org/officeDocument/2006/relationships/slideLayout" Target="../slideLayouts/slideLayout35.xml"/><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5.xml"/><Relationship Id="rId1" Type="http://schemas.openxmlformats.org/officeDocument/2006/relationships/slideLayout" Target="../slideLayouts/slideLayout35.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55.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46.xml"/><Relationship Id="rId1" Type="http://schemas.openxmlformats.org/officeDocument/2006/relationships/slideLayout" Target="../slideLayouts/slideLayout35.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7.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8.xml"/><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08.png"/><Relationship Id="rId5" Type="http://schemas.openxmlformats.org/officeDocument/2006/relationships/image" Target="../media/image76.png"/><Relationship Id="rId4"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74.png"/><Relationship Id="rId5" Type="http://schemas.openxmlformats.org/officeDocument/2006/relationships/image" Target="../media/image75.png"/><Relationship Id="rId4"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09.png"/><Relationship Id="rId5" Type="http://schemas.openxmlformats.org/officeDocument/2006/relationships/image" Target="../media/image77.png"/><Relationship Id="rId4"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ctrTitle"/>
          </p:nvPr>
        </p:nvSpPr>
        <p:spPr>
          <a:xfrm>
            <a:off x="914400" y="3063240"/>
            <a:ext cx="10360152" cy="1143000"/>
          </a:xfrm>
        </p:spPr>
        <p:txBody>
          <a:bodyPr/>
          <a:lstStyle/>
          <a:p>
            <a:r>
              <a:rPr lang="en-GB" sz="3200" dirty="0"/>
              <a:t>STL-FM: Trajectory Planning Through STL-Guided Flow Matching</a:t>
            </a:r>
          </a:p>
        </p:txBody>
      </p:sp>
      <p:sp>
        <p:nvSpPr>
          <p:cNvPr id="12" name="Thesis subtitle"/>
          <p:cNvSpPr txBox="1"/>
          <p:nvPr/>
        </p:nvSpPr>
        <p:spPr>
          <a:xfrm>
            <a:off x="914400" y="4224528"/>
            <a:ext cx="10360152" cy="365760"/>
          </a:xfrm>
          <a:prstGeom prst="rect">
            <a:avLst/>
          </a:prstGeom>
          <a:noFill/>
        </p:spPr>
        <p:txBody>
          <a:bodyPr wrap="square" lIns="45720" tIns="0" rIns="45720" bIns="0" anchor="t">
            <a:noAutofit/>
          </a:bodyPr>
          <a:lstStyle/>
          <a:p>
            <a:pPr algn="ctr"/>
            <a:r>
              <a:rPr lang="en-GB" sz="1900" dirty="0">
                <a:solidFill>
                  <a:srgbClr val="DEF0FF"/>
                </a:solidFill>
              </a:rPr>
              <a:t>Imposing temporal requirements on a generative motion prior at inference time</a:t>
            </a:r>
          </a:p>
        </p:txBody>
      </p:sp>
      <p:sp>
        <p:nvSpPr>
          <p:cNvPr id="13" name="Subtitle"/>
          <p:cNvSpPr>
            <a:spLocks noGrp="1"/>
          </p:cNvSpPr>
          <p:nvPr>
            <p:ph type="subTitle" idx="1"/>
          </p:nvPr>
        </p:nvSpPr>
        <p:spPr>
          <a:xfrm>
            <a:off x="2130552" y="4754880"/>
            <a:ext cx="7927848" cy="384048"/>
          </a:xfrm>
        </p:spPr>
        <p:txBody>
          <a:bodyPr/>
          <a:lstStyle/>
          <a:p>
            <a:r>
              <a:rPr lang="en-GB" sz="2000" dirty="0"/>
              <a:t>Gawtam Chithra Ramesh</a:t>
            </a:r>
          </a:p>
        </p:txBody>
      </p:sp>
      <p:sp>
        <p:nvSpPr>
          <p:cNvPr id="14" name="Credits"/>
          <p:cNvSpPr txBox="1"/>
          <p:nvPr/>
        </p:nvSpPr>
        <p:spPr>
          <a:xfrm>
            <a:off x="2130552" y="5230368"/>
            <a:ext cx="7927848" cy="1005840"/>
          </a:xfrm>
          <a:prstGeom prst="rect">
            <a:avLst/>
          </a:prstGeom>
          <a:noFill/>
        </p:spPr>
        <p:txBody>
          <a:bodyPr wrap="square" lIns="45720" tIns="0" rIns="45720" bIns="0" anchor="t">
            <a:noAutofit/>
          </a:bodyPr>
          <a:lstStyle/>
          <a:p>
            <a:pPr algn="ctr"/>
            <a:r>
              <a:rPr lang="en-GB" sz="1300" dirty="0">
                <a:solidFill>
                  <a:srgbClr val="FFFFFF"/>
                </a:solidFill>
              </a:rPr>
              <a:t>Master’s thesis defence, carried out at ABB Robotics, </a:t>
            </a:r>
            <a:r>
              <a:rPr lang="en-GB" sz="1300" dirty="0" err="1">
                <a:solidFill>
                  <a:srgbClr val="FFFFFF"/>
                </a:solidFill>
              </a:rPr>
              <a:t>Västerås</a:t>
            </a:r>
            <a:r>
              <a:rPr lang="en-GB" sz="1300" dirty="0">
                <a:solidFill>
                  <a:srgbClr val="FFFFFF"/>
                </a:solidFill>
              </a:rPr>
              <a:t>, Sweden</a:t>
            </a:r>
          </a:p>
          <a:p>
            <a:pPr algn="ctr"/>
            <a:r>
              <a:rPr lang="en-GB" sz="1300" dirty="0">
                <a:solidFill>
                  <a:srgbClr val="FFFFFF"/>
                </a:solidFill>
              </a:rPr>
              <a:t>Examiner: Dimos V. Dimarogonas</a:t>
            </a:r>
          </a:p>
          <a:p>
            <a:pPr algn="ctr"/>
            <a:r>
              <a:rPr lang="en-GB" sz="1300" dirty="0">
                <a:solidFill>
                  <a:srgbClr val="FFFFFF"/>
                </a:solidFill>
              </a:rPr>
              <a:t>Supervisors: Luzia Knödler, Shaohang Han, Matthew Lock and Jonathan Styrud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Agenda</a:t>
            </a:r>
          </a:p>
        </p:txBody>
      </p:sp>
      <p:sp>
        <p:nvSpPr>
          <p:cNvPr id="13" name="Slide Number"/>
          <p:cNvSpPr>
            <a:spLocks noGrp="1"/>
          </p:cNvSpPr>
          <p:nvPr>
            <p:ph type="sldNum" sz="quarter" idx="12"/>
          </p:nvPr>
        </p:nvSpPr>
        <p:spPr/>
        <p:txBody>
          <a:bodyPr/>
          <a:lstStyle/>
          <a:p>
            <a:fld id="{619F89D8-7AE3-494A-97F3-03D680869632}" type="slidenum">
              <a:rPr lang="en-GB"/>
              <a:t>2</a:t>
            </a:fld>
            <a:endParaRPr lang="en-GB"/>
          </a:p>
        </p:txBody>
      </p:sp>
      <p:sp>
        <p:nvSpPr>
          <p:cNvPr id="100" name="Callout tag"/>
          <p:cNvSpPr txBox="1"/>
          <p:nvPr/>
        </p:nvSpPr>
        <p:spPr>
          <a:xfrm>
            <a:off x="1517904" y="2194560"/>
            <a:ext cx="502920" cy="731520"/>
          </a:xfrm>
          <a:prstGeom prst="rect">
            <a:avLst/>
          </a:prstGeom>
          <a:noFill/>
        </p:spPr>
        <p:txBody>
          <a:bodyPr wrap="square" lIns="45720" tIns="0" rIns="45720" bIns="0" anchor="ctr">
            <a:noAutofit/>
          </a:bodyPr>
          <a:lstStyle/>
          <a:p>
            <a:pPr algn="l"/>
            <a:r>
              <a:rPr lang="en-GB" sz="2400" b="1" dirty="0">
                <a:solidFill>
                  <a:srgbClr val="144385"/>
                </a:solidFill>
              </a:rPr>
              <a:t>1</a:t>
            </a:r>
          </a:p>
        </p:txBody>
      </p:sp>
      <p:sp>
        <p:nvSpPr>
          <p:cNvPr id="101" name="Callout text"/>
          <p:cNvSpPr txBox="1"/>
          <p:nvPr/>
        </p:nvSpPr>
        <p:spPr>
          <a:xfrm>
            <a:off x="2066543" y="2194560"/>
            <a:ext cx="3895344" cy="731520"/>
          </a:xfrm>
          <a:prstGeom prst="rect">
            <a:avLst/>
          </a:prstGeom>
          <a:noFill/>
        </p:spPr>
        <p:txBody>
          <a:bodyPr wrap="square" lIns="45720" tIns="0" rIns="45720" bIns="0" anchor="ctr">
            <a:noAutofit/>
          </a:bodyPr>
          <a:lstStyle/>
          <a:p>
            <a:pPr algn="l"/>
            <a:r>
              <a:rPr lang="en-GB" sz="2400" dirty="0">
                <a:solidFill>
                  <a:srgbClr val="262626"/>
                </a:solidFill>
              </a:rPr>
              <a:t>Motivation</a:t>
            </a:r>
          </a:p>
        </p:txBody>
      </p:sp>
      <p:sp>
        <p:nvSpPr>
          <p:cNvPr id="102" name="Callout tag"/>
          <p:cNvSpPr txBox="1"/>
          <p:nvPr/>
        </p:nvSpPr>
        <p:spPr>
          <a:xfrm>
            <a:off x="1517904" y="3429000"/>
            <a:ext cx="502920" cy="731520"/>
          </a:xfrm>
          <a:prstGeom prst="rect">
            <a:avLst/>
          </a:prstGeom>
          <a:noFill/>
        </p:spPr>
        <p:txBody>
          <a:bodyPr wrap="square" lIns="45720" tIns="0" rIns="45720" bIns="0" anchor="ctr">
            <a:noAutofit/>
          </a:bodyPr>
          <a:lstStyle/>
          <a:p>
            <a:pPr algn="l"/>
            <a:r>
              <a:rPr lang="en-GB" sz="2400" b="1" dirty="0">
                <a:solidFill>
                  <a:srgbClr val="144385"/>
                </a:solidFill>
              </a:rPr>
              <a:t>2</a:t>
            </a:r>
          </a:p>
        </p:txBody>
      </p:sp>
      <p:sp>
        <p:nvSpPr>
          <p:cNvPr id="103" name="Callout text"/>
          <p:cNvSpPr txBox="1"/>
          <p:nvPr/>
        </p:nvSpPr>
        <p:spPr>
          <a:xfrm>
            <a:off x="2066543" y="3429000"/>
            <a:ext cx="3895344" cy="731520"/>
          </a:xfrm>
          <a:prstGeom prst="rect">
            <a:avLst/>
          </a:prstGeom>
          <a:noFill/>
        </p:spPr>
        <p:txBody>
          <a:bodyPr wrap="square" lIns="45720" tIns="0" rIns="45720" bIns="0" anchor="ctr">
            <a:noAutofit/>
          </a:bodyPr>
          <a:lstStyle/>
          <a:p>
            <a:pPr algn="l"/>
            <a:r>
              <a:rPr lang="en-GB" sz="2400" dirty="0">
                <a:solidFill>
                  <a:srgbClr val="262626"/>
                </a:solidFill>
              </a:rPr>
              <a:t>Background</a:t>
            </a:r>
          </a:p>
        </p:txBody>
      </p:sp>
      <p:sp>
        <p:nvSpPr>
          <p:cNvPr id="104" name="Callout tag"/>
          <p:cNvSpPr txBox="1"/>
          <p:nvPr/>
        </p:nvSpPr>
        <p:spPr>
          <a:xfrm>
            <a:off x="1517904" y="4663440"/>
            <a:ext cx="502920" cy="731520"/>
          </a:xfrm>
          <a:prstGeom prst="rect">
            <a:avLst/>
          </a:prstGeom>
          <a:noFill/>
        </p:spPr>
        <p:txBody>
          <a:bodyPr wrap="square" lIns="45720" tIns="0" rIns="45720" bIns="0" anchor="ctr">
            <a:noAutofit/>
          </a:bodyPr>
          <a:lstStyle/>
          <a:p>
            <a:pPr algn="l"/>
            <a:r>
              <a:rPr lang="en-GB" sz="2400" b="1" dirty="0">
                <a:solidFill>
                  <a:srgbClr val="144385"/>
                </a:solidFill>
              </a:rPr>
              <a:t>3</a:t>
            </a:r>
          </a:p>
        </p:txBody>
      </p:sp>
      <p:sp>
        <p:nvSpPr>
          <p:cNvPr id="105" name="Callout text"/>
          <p:cNvSpPr txBox="1"/>
          <p:nvPr/>
        </p:nvSpPr>
        <p:spPr>
          <a:xfrm>
            <a:off x="2066543" y="4663440"/>
            <a:ext cx="3895344" cy="731520"/>
          </a:xfrm>
          <a:prstGeom prst="rect">
            <a:avLst/>
          </a:prstGeom>
          <a:noFill/>
        </p:spPr>
        <p:txBody>
          <a:bodyPr wrap="square" lIns="45720" tIns="0" rIns="45720" bIns="0" anchor="ctr">
            <a:noAutofit/>
          </a:bodyPr>
          <a:lstStyle/>
          <a:p>
            <a:pPr algn="l"/>
            <a:r>
              <a:rPr lang="en-GB" sz="2400" dirty="0">
                <a:solidFill>
                  <a:srgbClr val="262626"/>
                </a:solidFill>
              </a:rPr>
              <a:t>Method</a:t>
            </a:r>
          </a:p>
        </p:txBody>
      </p:sp>
      <p:sp>
        <p:nvSpPr>
          <p:cNvPr id="106" name="Callout tag"/>
          <p:cNvSpPr txBox="1"/>
          <p:nvPr/>
        </p:nvSpPr>
        <p:spPr>
          <a:xfrm>
            <a:off x="6236208" y="2194560"/>
            <a:ext cx="502920" cy="731520"/>
          </a:xfrm>
          <a:prstGeom prst="rect">
            <a:avLst/>
          </a:prstGeom>
          <a:noFill/>
        </p:spPr>
        <p:txBody>
          <a:bodyPr wrap="square" lIns="45720" tIns="0" rIns="45720" bIns="0" anchor="ctr">
            <a:noAutofit/>
          </a:bodyPr>
          <a:lstStyle/>
          <a:p>
            <a:pPr algn="l"/>
            <a:r>
              <a:rPr lang="en-GB" sz="2400" b="1" dirty="0">
                <a:solidFill>
                  <a:srgbClr val="144385"/>
                </a:solidFill>
              </a:rPr>
              <a:t>4</a:t>
            </a:r>
          </a:p>
        </p:txBody>
      </p:sp>
      <p:sp>
        <p:nvSpPr>
          <p:cNvPr id="107" name="Callout text"/>
          <p:cNvSpPr txBox="1"/>
          <p:nvPr/>
        </p:nvSpPr>
        <p:spPr>
          <a:xfrm>
            <a:off x="6784848" y="2194560"/>
            <a:ext cx="3895344" cy="731520"/>
          </a:xfrm>
          <a:prstGeom prst="rect">
            <a:avLst/>
          </a:prstGeom>
          <a:noFill/>
        </p:spPr>
        <p:txBody>
          <a:bodyPr wrap="square" lIns="45720" tIns="0" rIns="45720" bIns="0" anchor="ctr">
            <a:noAutofit/>
          </a:bodyPr>
          <a:lstStyle/>
          <a:p>
            <a:pPr algn="l"/>
            <a:r>
              <a:rPr lang="en-GB" sz="2400" dirty="0">
                <a:solidFill>
                  <a:srgbClr val="262626"/>
                </a:solidFill>
              </a:rPr>
              <a:t>Results</a:t>
            </a:r>
          </a:p>
        </p:txBody>
      </p:sp>
      <p:sp>
        <p:nvSpPr>
          <p:cNvPr id="108" name="Callout tag"/>
          <p:cNvSpPr txBox="1"/>
          <p:nvPr/>
        </p:nvSpPr>
        <p:spPr>
          <a:xfrm>
            <a:off x="6236208" y="3429000"/>
            <a:ext cx="502920" cy="731520"/>
          </a:xfrm>
          <a:prstGeom prst="rect">
            <a:avLst/>
          </a:prstGeom>
          <a:noFill/>
        </p:spPr>
        <p:txBody>
          <a:bodyPr wrap="square" lIns="45720" tIns="0" rIns="45720" bIns="0" anchor="ctr">
            <a:noAutofit/>
          </a:bodyPr>
          <a:lstStyle/>
          <a:p>
            <a:pPr algn="l"/>
            <a:r>
              <a:rPr lang="en-GB" sz="2400" b="1" dirty="0">
                <a:solidFill>
                  <a:srgbClr val="144385"/>
                </a:solidFill>
              </a:rPr>
              <a:t>5</a:t>
            </a:r>
          </a:p>
        </p:txBody>
      </p:sp>
      <p:sp>
        <p:nvSpPr>
          <p:cNvPr id="109" name="Callout text"/>
          <p:cNvSpPr txBox="1"/>
          <p:nvPr/>
        </p:nvSpPr>
        <p:spPr>
          <a:xfrm>
            <a:off x="6784848" y="3429000"/>
            <a:ext cx="3895344" cy="731520"/>
          </a:xfrm>
          <a:prstGeom prst="rect">
            <a:avLst/>
          </a:prstGeom>
          <a:noFill/>
        </p:spPr>
        <p:txBody>
          <a:bodyPr wrap="square" lIns="45720" tIns="0" rIns="45720" bIns="0" anchor="ctr">
            <a:noAutofit/>
          </a:bodyPr>
          <a:lstStyle/>
          <a:p>
            <a:pPr algn="l"/>
            <a:r>
              <a:rPr lang="en-GB" sz="2400" dirty="0">
                <a:solidFill>
                  <a:srgbClr val="262626"/>
                </a:solidFill>
              </a:rPr>
              <a:t>Conclusions</a:t>
            </a:r>
          </a:p>
        </p:txBody>
      </p:sp>
      <p:sp>
        <p:nvSpPr>
          <p:cNvPr id="110" name="Callout tag"/>
          <p:cNvSpPr txBox="1"/>
          <p:nvPr/>
        </p:nvSpPr>
        <p:spPr>
          <a:xfrm>
            <a:off x="6236208" y="4663440"/>
            <a:ext cx="502920" cy="731520"/>
          </a:xfrm>
          <a:prstGeom prst="rect">
            <a:avLst/>
          </a:prstGeom>
          <a:noFill/>
        </p:spPr>
        <p:txBody>
          <a:bodyPr wrap="square" lIns="45720" tIns="0" rIns="45720" bIns="0" anchor="ctr">
            <a:noAutofit/>
          </a:bodyPr>
          <a:lstStyle/>
          <a:p>
            <a:pPr algn="l"/>
            <a:r>
              <a:rPr lang="en-GB" sz="2400" b="1" dirty="0">
                <a:solidFill>
                  <a:srgbClr val="144385"/>
                </a:solidFill>
              </a:rPr>
              <a:t>6</a:t>
            </a:r>
          </a:p>
        </p:txBody>
      </p:sp>
      <p:sp>
        <p:nvSpPr>
          <p:cNvPr id="111" name="Callout text"/>
          <p:cNvSpPr txBox="1"/>
          <p:nvPr/>
        </p:nvSpPr>
        <p:spPr>
          <a:xfrm>
            <a:off x="6784848" y="4663440"/>
            <a:ext cx="3895344" cy="731520"/>
          </a:xfrm>
          <a:prstGeom prst="rect">
            <a:avLst/>
          </a:prstGeom>
          <a:noFill/>
        </p:spPr>
        <p:txBody>
          <a:bodyPr wrap="square" lIns="45720" tIns="0" rIns="45720" bIns="0" anchor="ctr">
            <a:noAutofit/>
          </a:bodyPr>
          <a:lstStyle/>
          <a:p>
            <a:pPr algn="l"/>
            <a:r>
              <a:rPr lang="en-GB" sz="2400" dirty="0">
                <a:solidFill>
                  <a:srgbClr val="262626"/>
                </a:solidFill>
              </a:rPr>
              <a:t>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Motivation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3</a:t>
            </a:fld>
            <a:endParaRPr lang="en-GB"/>
          </a:p>
        </p:txBody>
      </p:sp>
      <p:pic>
        <p:nvPicPr>
          <p:cNvPr id="14" name="Figure" descr="Single-arm YuMi holding a part under a glue dispenser"/>
          <p:cNvPicPr>
            <a:picLocks noChangeAspect="1"/>
          </p:cNvPicPr>
          <p:nvPr/>
        </p:nvPicPr>
        <p:blipFill>
          <a:blip r:embed="rId3"/>
          <a:stretch>
            <a:fillRect/>
          </a:stretch>
        </p:blipFill>
        <p:spPr>
          <a:xfrm>
            <a:off x="8555029" y="1874520"/>
            <a:ext cx="2714134" cy="4069080"/>
          </a:xfrm>
          <a:prstGeom prst="rect">
            <a:avLst/>
          </a:prstGeom>
        </p:spPr>
      </p:pic>
      <p:sp>
        <p:nvSpPr>
          <p:cNvPr id="15" name="Label"/>
          <p:cNvSpPr txBox="1"/>
          <p:nvPr/>
        </p:nvSpPr>
        <p:spPr>
          <a:xfrm>
            <a:off x="8280709" y="5998464"/>
            <a:ext cx="3262774" cy="365760"/>
          </a:xfrm>
          <a:prstGeom prst="rect">
            <a:avLst/>
          </a:prstGeom>
          <a:noFill/>
        </p:spPr>
        <p:txBody>
          <a:bodyPr wrap="square" lIns="45720" tIns="0" rIns="45720" bIns="0" anchor="t">
            <a:noAutofit/>
          </a:bodyPr>
          <a:lstStyle/>
          <a:p>
            <a:pPr algn="ctr"/>
            <a:r>
              <a:rPr lang="en-GB" sz="1100" dirty="0">
                <a:solidFill>
                  <a:srgbClr val="6E6E6E"/>
                </a:solidFill>
              </a:rPr>
              <a:t>Photo and quote: ABB customer story,</a:t>
            </a:r>
          </a:p>
          <a:p>
            <a:pPr algn="ctr"/>
            <a:r>
              <a:rPr lang="en-GB" sz="1100" dirty="0">
                <a:solidFill>
                  <a:srgbClr val="6E6E6E"/>
                </a:solidFill>
              </a:rPr>
              <a:t>GE Healthcare, Helsinki</a:t>
            </a:r>
          </a:p>
        </p:txBody>
      </p:sp>
      <p:sp>
        <p:nvSpPr>
          <p:cNvPr id="16" name="Label"/>
          <p:cNvSpPr txBox="1"/>
          <p:nvPr/>
        </p:nvSpPr>
        <p:spPr>
          <a:xfrm>
            <a:off x="603504" y="2712719"/>
            <a:ext cx="7315200" cy="868680"/>
          </a:xfrm>
          <a:prstGeom prst="rect">
            <a:avLst/>
          </a:prstGeom>
          <a:noFill/>
        </p:spPr>
        <p:txBody>
          <a:bodyPr wrap="square" lIns="45720" tIns="0" rIns="45720" bIns="0" anchor="t">
            <a:noAutofit/>
          </a:bodyPr>
          <a:lstStyle/>
          <a:p>
            <a:pPr algn="l"/>
            <a:r>
              <a:rPr lang="en-GB" sz="2000" dirty="0">
                <a:solidFill>
                  <a:srgbClr val="262626"/>
                </a:solidFill>
              </a:rPr>
              <a:t>A single-arm YuMi applies a bead of fast-setting glue</a:t>
            </a:r>
          </a:p>
          <a:p>
            <a:pPr algn="l"/>
            <a:r>
              <a:rPr lang="en-GB" sz="2000" dirty="0">
                <a:solidFill>
                  <a:srgbClr val="262626"/>
                </a:solidFill>
              </a:rPr>
              <a:t>to a prototype part.</a:t>
            </a:r>
          </a:p>
        </p:txBody>
      </p:sp>
      <p:sp>
        <p:nvSpPr>
          <p:cNvPr id="17" name="Label"/>
          <p:cNvSpPr txBox="1"/>
          <p:nvPr/>
        </p:nvSpPr>
        <p:spPr>
          <a:xfrm>
            <a:off x="603504" y="3718559"/>
            <a:ext cx="7315200" cy="868680"/>
          </a:xfrm>
          <a:prstGeom prst="rect">
            <a:avLst/>
          </a:prstGeom>
          <a:noFill/>
        </p:spPr>
        <p:txBody>
          <a:bodyPr wrap="square" lIns="45720" tIns="0" rIns="45720" bIns="0" anchor="t">
            <a:noAutofit/>
          </a:bodyPr>
          <a:lstStyle/>
          <a:p>
            <a:pPr algn="l"/>
            <a:r>
              <a:rPr lang="en-GB" sz="2000" dirty="0">
                <a:solidFill>
                  <a:srgbClr val="262626"/>
                </a:solidFill>
              </a:rPr>
              <a:t>The part changes on a rapid schedule,</a:t>
            </a:r>
          </a:p>
          <a:p>
            <a:pPr algn="l"/>
            <a:r>
              <a:rPr lang="en-GB" sz="2000" dirty="0">
                <a:solidFill>
                  <a:srgbClr val="262626"/>
                </a:solidFill>
              </a:rPr>
              <a:t>so the program changes with it.</a:t>
            </a:r>
          </a:p>
        </p:txBody>
      </p:sp>
      <p:sp>
        <p:nvSpPr>
          <p:cNvPr id="18" name="Label"/>
          <p:cNvSpPr txBox="1"/>
          <p:nvPr/>
        </p:nvSpPr>
        <p:spPr>
          <a:xfrm>
            <a:off x="603504" y="4907279"/>
            <a:ext cx="7315200" cy="868680"/>
          </a:xfrm>
          <a:prstGeom prst="rect">
            <a:avLst/>
          </a:prstGeom>
          <a:noFill/>
        </p:spPr>
        <p:txBody>
          <a:bodyPr wrap="square" lIns="45720" tIns="0" rIns="45720" bIns="0" anchor="t">
            <a:noAutofit/>
          </a:bodyPr>
          <a:lstStyle/>
          <a:p>
            <a:r>
              <a:rPr lang="en-GB" sz="2000" i="1" dirty="0">
                <a:solidFill>
                  <a:srgbClr val="63666A"/>
                </a:solidFill>
              </a:rPr>
              <a:t>“Even in </a:t>
            </a:r>
            <a:r>
              <a:rPr lang="en-GB" sz="2000" i="1" u="sng" dirty="0">
                <a:solidFill>
                  <a:srgbClr val="63666A"/>
                </a:solidFill>
              </a:rPr>
              <a:t>half an hour</a:t>
            </a:r>
            <a:r>
              <a:rPr lang="en-GB" sz="2000" i="1" dirty="0">
                <a:solidFill>
                  <a:srgbClr val="63666A"/>
                </a:solidFill>
              </a:rPr>
              <a:t>, we can get some major changes done to the code.”</a:t>
            </a:r>
          </a:p>
        </p:txBody>
      </p:sp>
      <p:sp>
        <p:nvSpPr>
          <p:cNvPr id="3" name="TextBox 2">
            <a:extLst>
              <a:ext uri="{FF2B5EF4-FFF2-40B4-BE49-F238E27FC236}">
                <a16:creationId xmlns:a16="http://schemas.microsoft.com/office/drawing/2014/main" id="{00924626-1A03-D7DC-6EBE-496367FEB845}"/>
              </a:ext>
            </a:extLst>
          </p:cNvPr>
          <p:cNvSpPr txBox="1"/>
          <p:nvPr/>
        </p:nvSpPr>
        <p:spPr>
          <a:xfrm>
            <a:off x="588972" y="1664044"/>
            <a:ext cx="6096000" cy="400110"/>
          </a:xfrm>
          <a:prstGeom prst="rect">
            <a:avLst/>
          </a:prstGeom>
          <a:noFill/>
        </p:spPr>
        <p:txBody>
          <a:bodyPr wrap="square">
            <a:spAutoFit/>
          </a:bodyPr>
          <a:lstStyle/>
          <a:p>
            <a:r>
              <a:rPr lang="en-GB" sz="2000" dirty="0"/>
              <a:t>Adhesive bonding with an ABB </a:t>
            </a:r>
            <a:r>
              <a:rPr lang="en-GB" sz="2000" dirty="0" err="1"/>
              <a:t>YuMi</a:t>
            </a:r>
            <a:endParaRPr lang="sv-S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Requirements that change after training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4</a:t>
            </a:fld>
            <a:endParaRPr lang="en-GB"/>
          </a:p>
        </p:txBody>
      </p:sp>
      <p:pic>
        <p:nvPicPr>
          <p:cNvPr id="14" name="Figure" descr="The same samples of the learned prior, accepted or rejected differently by a fast-curing and a slow-curing adhesive"/>
          <p:cNvPicPr>
            <a:picLocks noChangeAspect="1"/>
          </p:cNvPicPr>
          <p:nvPr/>
        </p:nvPicPr>
        <p:blipFill>
          <a:blip r:embed="rId3"/>
          <a:stretch>
            <a:fillRect/>
          </a:stretch>
        </p:blipFill>
        <p:spPr>
          <a:xfrm>
            <a:off x="603504" y="1907411"/>
            <a:ext cx="10991088" cy="43690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Problem</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5</a:t>
            </a:fld>
            <a:endParaRPr lang="en-GB"/>
          </a:p>
        </p:txBody>
      </p:sp>
      <p:pic>
        <p:nvPicPr>
          <p:cNvPr id="14" name="Figure" descr="The requirement does not enter the generative model, so one of three samples meets it"/>
          <p:cNvPicPr>
            <a:picLocks noChangeAspect="1"/>
          </p:cNvPicPr>
          <p:nvPr/>
        </p:nvPicPr>
        <p:blipFill>
          <a:blip r:embed="rId3"/>
          <a:stretch>
            <a:fillRect/>
          </a:stretch>
        </p:blipFill>
        <p:spPr>
          <a:xfrm>
            <a:off x="2540469" y="1874520"/>
            <a:ext cx="7117159" cy="2651760"/>
          </a:xfrm>
          <a:prstGeom prst="rect">
            <a:avLst/>
          </a:prstGeom>
        </p:spPr>
      </p:pic>
      <p:sp>
        <p:nvSpPr>
          <p:cNvPr id="15" name="Box"/>
          <p:cNvSpPr/>
          <p:nvPr/>
        </p:nvSpPr>
        <p:spPr>
          <a:xfrm>
            <a:off x="822960" y="4709160"/>
            <a:ext cx="10561320" cy="84124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l"/>
            <a:r>
              <a:rPr lang="en-GB" sz="1800" dirty="0">
                <a:solidFill>
                  <a:srgbClr val="262626"/>
                </a:solidFill>
              </a:rPr>
              <a:t>Given demonstrations recorded before training and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stated after it, generate a trajectory that is plausible under the demonstrations and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without retraining.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Aim and research questions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6</a:t>
            </a:fld>
            <a:endParaRPr lang="en-GB"/>
          </a:p>
        </p:txBody>
      </p:sp>
      <p:sp>
        <p:nvSpPr>
          <p:cNvPr id="14" name="Label"/>
          <p:cNvSpPr txBox="1"/>
          <p:nvPr/>
        </p:nvSpPr>
        <p:spPr>
          <a:xfrm>
            <a:off x="603504" y="1965960"/>
            <a:ext cx="10991088" cy="292608"/>
          </a:xfrm>
          <a:prstGeom prst="rect">
            <a:avLst/>
          </a:prstGeom>
          <a:noFill/>
        </p:spPr>
        <p:txBody>
          <a:bodyPr wrap="square" lIns="45720" tIns="0" rIns="45720" bIns="0" anchor="t">
            <a:noAutofit/>
          </a:bodyPr>
          <a:lstStyle/>
          <a:p>
            <a:pPr algn="l"/>
            <a:r>
              <a:rPr lang="en-GB" sz="1600" b="1" dirty="0">
                <a:solidFill>
                  <a:srgbClr val="262626"/>
                </a:solidFill>
              </a:rPr>
              <a:t>Aim</a:t>
            </a:r>
          </a:p>
        </p:txBody>
      </p:sp>
      <p:sp>
        <p:nvSpPr>
          <p:cNvPr id="15" name="Label"/>
          <p:cNvSpPr txBox="1"/>
          <p:nvPr/>
        </p:nvSpPr>
        <p:spPr>
          <a:xfrm>
            <a:off x="603504" y="2286000"/>
            <a:ext cx="10991088" cy="411480"/>
          </a:xfrm>
          <a:prstGeom prst="rect">
            <a:avLst/>
          </a:prstGeom>
          <a:noFill/>
        </p:spPr>
        <p:txBody>
          <a:bodyPr wrap="square" lIns="45720" tIns="0" rIns="45720" bIns="0" anchor="t">
            <a:noAutofit/>
          </a:bodyPr>
          <a:lstStyle/>
          <a:p>
            <a:pPr algn="l"/>
            <a:r>
              <a:rPr lang="en-GB" sz="1900" dirty="0">
                <a:solidFill>
                  <a:srgbClr val="262626"/>
                </a:solidFill>
              </a:rPr>
              <a:t>A method for imposing STL requirements on a trained generative model at inference time</a:t>
            </a:r>
          </a:p>
        </p:txBody>
      </p:sp>
      <p:sp>
        <p:nvSpPr>
          <p:cNvPr id="16" name="Label"/>
          <p:cNvSpPr txBox="1"/>
          <p:nvPr/>
        </p:nvSpPr>
        <p:spPr>
          <a:xfrm>
            <a:off x="603504" y="2697480"/>
            <a:ext cx="10991088" cy="292608"/>
          </a:xfrm>
          <a:prstGeom prst="rect">
            <a:avLst/>
          </a:prstGeom>
          <a:noFill/>
        </p:spPr>
        <p:txBody>
          <a:bodyPr wrap="square" lIns="45720" tIns="0" rIns="45720" bIns="0" anchor="t">
            <a:noAutofit/>
          </a:bodyPr>
          <a:lstStyle/>
          <a:p>
            <a:pPr algn="l"/>
            <a:r>
              <a:rPr lang="en-GB" sz="1500" dirty="0">
                <a:solidFill>
                  <a:srgbClr val="6E6E6E"/>
                </a:solidFill>
              </a:rPr>
              <a:t>The trained model is called the learned prior, because it provides the motion that the requirement does not specify</a:t>
            </a:r>
          </a:p>
        </p:txBody>
      </p:sp>
      <p:sp>
        <p:nvSpPr>
          <p:cNvPr id="17" name="Callout"/>
          <p:cNvSpPr/>
          <p:nvPr/>
        </p:nvSpPr>
        <p:spPr>
          <a:xfrm>
            <a:off x="603504" y="3154680"/>
            <a:ext cx="10991088" cy="731520"/>
          </a:xfrm>
          <a:prstGeom prst="rect">
            <a:avLst/>
          </a:prstGeom>
          <a:solidFill>
            <a:srgbClr val="EAF0F7"/>
          </a:solidFill>
          <a:ln>
            <a:noFill/>
          </a:ln>
        </p:spPr>
        <p:txBody>
          <a:bodyPr wrap="square" lIns="64008" tIns="27432" rIns="64008" bIns="27432" anchor="ctr">
            <a:noAutofit/>
          </a:bodyPr>
          <a:lstStyle/>
          <a:p>
            <a:pPr algn="ctr"/>
            <a:endParaRPr/>
          </a:p>
        </p:txBody>
      </p:sp>
      <p:sp>
        <p:nvSpPr>
          <p:cNvPr id="18" name="Callout bar"/>
          <p:cNvSpPr/>
          <p:nvPr/>
        </p:nvSpPr>
        <p:spPr>
          <a:xfrm>
            <a:off x="603504" y="3154680"/>
            <a:ext cx="64008" cy="731520"/>
          </a:xfrm>
          <a:prstGeom prst="rect">
            <a:avLst/>
          </a:prstGeom>
          <a:solidFill>
            <a:srgbClr val="1954A6"/>
          </a:solidFill>
          <a:ln>
            <a:noFill/>
          </a:ln>
        </p:spPr>
        <p:txBody>
          <a:bodyPr wrap="square" lIns="64008" tIns="27432" rIns="64008" bIns="27432" anchor="ctr">
            <a:noAutofit/>
          </a:bodyPr>
          <a:lstStyle/>
          <a:p>
            <a:pPr algn="ctr"/>
            <a:endParaRPr/>
          </a:p>
        </p:txBody>
      </p:sp>
      <p:sp>
        <p:nvSpPr>
          <p:cNvPr id="19" name="Callout tag"/>
          <p:cNvSpPr txBox="1"/>
          <p:nvPr/>
        </p:nvSpPr>
        <p:spPr>
          <a:xfrm>
            <a:off x="832104" y="3154680"/>
            <a:ext cx="1188720" cy="731520"/>
          </a:xfrm>
          <a:prstGeom prst="rect">
            <a:avLst/>
          </a:prstGeom>
          <a:noFill/>
        </p:spPr>
        <p:txBody>
          <a:bodyPr wrap="square" lIns="45720" tIns="0" rIns="45720" bIns="0" anchor="ctr">
            <a:noAutofit/>
          </a:bodyPr>
          <a:lstStyle/>
          <a:p>
            <a:pPr algn="l"/>
            <a:r>
              <a:rPr lang="en-GB" sz="2000" b="1" dirty="0">
                <a:solidFill>
                  <a:srgbClr val="144385"/>
                </a:solidFill>
              </a:rPr>
              <a:t>RQ1</a:t>
            </a:r>
          </a:p>
        </p:txBody>
      </p:sp>
      <p:sp>
        <p:nvSpPr>
          <p:cNvPr id="20" name="Callout text"/>
          <p:cNvSpPr txBox="1"/>
          <p:nvPr/>
        </p:nvSpPr>
        <p:spPr>
          <a:xfrm>
            <a:off x="2066544" y="3154680"/>
            <a:ext cx="9390888" cy="731520"/>
          </a:xfrm>
          <a:prstGeom prst="rect">
            <a:avLst/>
          </a:prstGeom>
          <a:noFill/>
        </p:spPr>
        <p:txBody>
          <a:bodyPr wrap="square" lIns="45720" tIns="0" rIns="45720" bIns="0" anchor="ctr">
            <a:noAutofit/>
          </a:bodyPr>
          <a:lstStyle/>
          <a:p>
            <a:pPr algn="l"/>
            <a:r>
              <a:rPr lang="en-GB" sz="2000" dirty="0">
                <a:solidFill>
                  <a:srgbClr val="262626"/>
                </a:solidFill>
              </a:rPr>
              <a:t>What does a demonstration witnessing a requirement imply about that requirement?</a:t>
            </a:r>
          </a:p>
        </p:txBody>
      </p:sp>
      <p:sp>
        <p:nvSpPr>
          <p:cNvPr id="21" name="Callout"/>
          <p:cNvSpPr/>
          <p:nvPr/>
        </p:nvSpPr>
        <p:spPr>
          <a:xfrm>
            <a:off x="603504" y="4005072"/>
            <a:ext cx="10991088" cy="731520"/>
          </a:xfrm>
          <a:prstGeom prst="rect">
            <a:avLst/>
          </a:prstGeom>
          <a:solidFill>
            <a:srgbClr val="FBF0F6"/>
          </a:solidFill>
          <a:ln>
            <a:noFill/>
          </a:ln>
        </p:spPr>
        <p:txBody>
          <a:bodyPr wrap="square" lIns="64008" tIns="27432" rIns="64008" bIns="27432" anchor="ctr">
            <a:noAutofit/>
          </a:bodyPr>
          <a:lstStyle/>
          <a:p>
            <a:pPr algn="ctr"/>
            <a:endParaRPr/>
          </a:p>
        </p:txBody>
      </p:sp>
      <p:sp>
        <p:nvSpPr>
          <p:cNvPr id="22" name="Callout bar"/>
          <p:cNvSpPr/>
          <p:nvPr/>
        </p:nvSpPr>
        <p:spPr>
          <a:xfrm>
            <a:off x="603504" y="4005072"/>
            <a:ext cx="64008" cy="731520"/>
          </a:xfrm>
          <a:prstGeom prst="rect">
            <a:avLst/>
          </a:prstGeom>
          <a:solidFill>
            <a:srgbClr val="D85497"/>
          </a:solidFill>
          <a:ln>
            <a:noFill/>
          </a:ln>
        </p:spPr>
        <p:txBody>
          <a:bodyPr wrap="square" lIns="64008" tIns="27432" rIns="64008" bIns="27432" anchor="ctr">
            <a:noAutofit/>
          </a:bodyPr>
          <a:lstStyle/>
          <a:p>
            <a:pPr algn="ctr"/>
            <a:endParaRPr/>
          </a:p>
        </p:txBody>
      </p:sp>
      <p:sp>
        <p:nvSpPr>
          <p:cNvPr id="23" name="Callout tag"/>
          <p:cNvSpPr txBox="1"/>
          <p:nvPr/>
        </p:nvSpPr>
        <p:spPr>
          <a:xfrm>
            <a:off x="832104" y="4005072"/>
            <a:ext cx="1188720" cy="731520"/>
          </a:xfrm>
          <a:prstGeom prst="rect">
            <a:avLst/>
          </a:prstGeom>
          <a:noFill/>
        </p:spPr>
        <p:txBody>
          <a:bodyPr wrap="square" lIns="45720" tIns="0" rIns="45720" bIns="0" anchor="ctr">
            <a:noAutofit/>
          </a:bodyPr>
          <a:lstStyle/>
          <a:p>
            <a:pPr algn="l"/>
            <a:r>
              <a:rPr lang="en-GB" sz="2000" b="1" dirty="0">
                <a:solidFill>
                  <a:srgbClr val="AD4379"/>
                </a:solidFill>
              </a:rPr>
              <a:t>RQ2</a:t>
            </a:r>
          </a:p>
        </p:txBody>
      </p:sp>
      <p:sp>
        <p:nvSpPr>
          <p:cNvPr id="24" name="Callout text"/>
          <p:cNvSpPr txBox="1"/>
          <p:nvPr/>
        </p:nvSpPr>
        <p:spPr>
          <a:xfrm>
            <a:off x="2066544" y="4005072"/>
            <a:ext cx="9390888" cy="731520"/>
          </a:xfrm>
          <a:prstGeom prst="rect">
            <a:avLst/>
          </a:prstGeom>
          <a:noFill/>
        </p:spPr>
        <p:txBody>
          <a:bodyPr wrap="square" lIns="45720" tIns="0" rIns="45720" bIns="0" anchor="ctr">
            <a:noAutofit/>
          </a:bodyPr>
          <a:lstStyle/>
          <a:p>
            <a:pPr algn="l"/>
            <a:r>
              <a:rPr lang="en-GB" sz="2000" dirty="0">
                <a:solidFill>
                  <a:srgbClr val="262626"/>
                </a:solidFill>
              </a:rPr>
              <a:t>What does maximizing the robustness score alone determine about a trajectory?</a:t>
            </a:r>
          </a:p>
        </p:txBody>
      </p:sp>
      <p:sp>
        <p:nvSpPr>
          <p:cNvPr id="25" name="Callout"/>
          <p:cNvSpPr/>
          <p:nvPr/>
        </p:nvSpPr>
        <p:spPr>
          <a:xfrm>
            <a:off x="603504" y="4855464"/>
            <a:ext cx="10991088" cy="731520"/>
          </a:xfrm>
          <a:prstGeom prst="rect">
            <a:avLst/>
          </a:prstGeom>
          <a:solidFill>
            <a:srgbClr val="EBF6FB"/>
          </a:solidFill>
          <a:ln>
            <a:noFill/>
          </a:ln>
        </p:spPr>
        <p:txBody>
          <a:bodyPr wrap="square" lIns="64008" tIns="27432" rIns="64008" bIns="27432" anchor="ctr">
            <a:noAutofit/>
          </a:bodyPr>
          <a:lstStyle/>
          <a:p>
            <a:pPr algn="ctr"/>
            <a:endParaRPr/>
          </a:p>
        </p:txBody>
      </p:sp>
      <p:sp>
        <p:nvSpPr>
          <p:cNvPr id="26" name="Callout bar"/>
          <p:cNvSpPr/>
          <p:nvPr/>
        </p:nvSpPr>
        <p:spPr>
          <a:xfrm>
            <a:off x="603504" y="4855464"/>
            <a:ext cx="64008" cy="731520"/>
          </a:xfrm>
          <a:prstGeom prst="rect">
            <a:avLst/>
          </a:prstGeom>
          <a:solidFill>
            <a:srgbClr val="24A0D8"/>
          </a:solidFill>
          <a:ln>
            <a:noFill/>
          </a:ln>
        </p:spPr>
        <p:txBody>
          <a:bodyPr wrap="square" lIns="64008" tIns="27432" rIns="64008" bIns="27432" anchor="ctr">
            <a:noAutofit/>
          </a:bodyPr>
          <a:lstStyle/>
          <a:p>
            <a:pPr algn="ctr"/>
            <a:endParaRPr/>
          </a:p>
        </p:txBody>
      </p:sp>
      <p:sp>
        <p:nvSpPr>
          <p:cNvPr id="27" name="Callout tag"/>
          <p:cNvSpPr txBox="1"/>
          <p:nvPr/>
        </p:nvSpPr>
        <p:spPr>
          <a:xfrm>
            <a:off x="832104" y="4855464"/>
            <a:ext cx="1188720" cy="731520"/>
          </a:xfrm>
          <a:prstGeom prst="rect">
            <a:avLst/>
          </a:prstGeom>
          <a:noFill/>
        </p:spPr>
        <p:txBody>
          <a:bodyPr wrap="square" lIns="45720" tIns="0" rIns="45720" bIns="0" anchor="ctr">
            <a:noAutofit/>
          </a:bodyPr>
          <a:lstStyle/>
          <a:p>
            <a:pPr algn="l"/>
            <a:r>
              <a:rPr lang="en-GB" sz="2000" b="1" dirty="0">
                <a:solidFill>
                  <a:srgbClr val="1D80AD"/>
                </a:solidFill>
              </a:rPr>
              <a:t>Method</a:t>
            </a:r>
          </a:p>
        </p:txBody>
      </p:sp>
      <p:sp>
        <p:nvSpPr>
          <p:cNvPr id="28" name="Callout text"/>
          <p:cNvSpPr txBox="1"/>
          <p:nvPr/>
        </p:nvSpPr>
        <p:spPr>
          <a:xfrm>
            <a:off x="2066544" y="4855464"/>
            <a:ext cx="9390888" cy="731520"/>
          </a:xfrm>
          <a:prstGeom prst="rect">
            <a:avLst/>
          </a:prstGeom>
          <a:noFill/>
        </p:spPr>
        <p:txBody>
          <a:bodyPr wrap="square" lIns="45720" tIns="0" rIns="45720" bIns="0" anchor="ctr">
            <a:noAutofit/>
          </a:bodyPr>
          <a:lstStyle/>
          <a:p>
            <a:pPr algn="l"/>
            <a:r>
              <a:rPr lang="en-GB" sz="2000" dirty="0">
                <a:solidFill>
                  <a:srgbClr val="262626"/>
                </a:solidFill>
              </a:rPr>
              <a:t>STL-FM, robustness guidance of the learned prior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Approach</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7</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chemeClr val="accent4"/>
          </a:solidFill>
          <a:ln w="19050">
            <a:solidFill>
              <a:schemeClr val="tx2"/>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Requirement as STL</a:t>
            </a:r>
            <a:endParaRPr lang="en-GB" sz="1600" i="1" dirty="0">
              <a:solidFill>
                <a:srgbClr val="262626"/>
              </a:solidFill>
            </a:endParaRPr>
          </a:p>
        </p:txBody>
      </p:sp>
      <p:sp>
        <p:nvSpPr>
          <p:cNvPr id="24" name="comp"/>
          <p:cNvSpPr/>
          <p:nvPr/>
        </p:nvSpPr>
        <p:spPr>
          <a:xfrm>
            <a:off x="3516804" y="3456432"/>
            <a:ext cx="2207046" cy="640080"/>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chemeClr val="bg1">
              <a:lumMod val="95000"/>
            </a:schemeClr>
          </a:solidFill>
          <a:ln w="19050">
            <a:solidFill>
              <a:schemeClr val="bg1">
                <a:lumMod val="85000"/>
              </a:schemeClr>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chemeClr val="bg1">
                <a:lumMod val="85000"/>
              </a:schemeClr>
            </a:solidFill>
            <a:tailEnd type="triangle" w="med" len="med"/>
          </a:ln>
        </p:spPr>
      </p:cxnSp>
      <p:cxnSp>
        <p:nvCxnSpPr>
          <p:cNvPr id="30" name="Arrow"/>
          <p:cNvCxnSpPr/>
          <p:nvPr/>
        </p:nvCxnSpPr>
        <p:spPr>
          <a:xfrm>
            <a:off x="5723850" y="2450592"/>
            <a:ext cx="485550" cy="0"/>
          </a:xfrm>
          <a:prstGeom prst="straightConnector1">
            <a:avLst/>
          </a:prstGeom>
          <a:ln w="25400">
            <a:solidFill>
              <a:schemeClr val="bg1">
                <a:lumMod val="85000"/>
              </a:schemeClr>
            </a:solidFill>
            <a:tailEnd type="triangle" w="med" len="med"/>
          </a:ln>
        </p:spPr>
      </p:cxnSp>
      <p:cxnSp>
        <p:nvCxnSpPr>
          <p:cNvPr id="31" name="Arrow"/>
          <p:cNvCxnSpPr/>
          <p:nvPr/>
        </p:nvCxnSpPr>
        <p:spPr>
          <a:xfrm>
            <a:off x="3031254" y="3776472"/>
            <a:ext cx="485550" cy="0"/>
          </a:xfrm>
          <a:prstGeom prst="straightConnector1">
            <a:avLst/>
          </a:prstGeom>
          <a:ln w="25400">
            <a:solidFill>
              <a:schemeClr val="bg1">
                <a:lumMod val="85000"/>
              </a:schemeClr>
            </a:solidFill>
            <a:tailEnd type="triangle" w="med" len="med"/>
          </a:ln>
        </p:spPr>
      </p:cxnSp>
      <p:cxnSp>
        <p:nvCxnSpPr>
          <p:cNvPr id="32" name="Arrow"/>
          <p:cNvCxnSpPr/>
          <p:nvPr/>
        </p:nvCxnSpPr>
        <p:spPr>
          <a:xfrm>
            <a:off x="5723850" y="3776472"/>
            <a:ext cx="485550" cy="0"/>
          </a:xfrm>
          <a:prstGeom prst="straightConnector1">
            <a:avLst/>
          </a:prstGeom>
          <a:ln w="25400">
            <a:solidFill>
              <a:schemeClr val="bg1">
                <a:lumMod val="85000"/>
              </a:schemeClr>
            </a:solidFill>
            <a:tailEnd type="triangle" w="med" len="med"/>
          </a:ln>
        </p:spPr>
      </p:cxnSp>
      <p:cxnSp>
        <p:nvCxnSpPr>
          <p:cNvPr id="33" name="Arrow"/>
          <p:cNvCxnSpPr/>
          <p:nvPr/>
        </p:nvCxnSpPr>
        <p:spPr>
          <a:xfrm>
            <a:off x="8416446" y="2450592"/>
            <a:ext cx="706255" cy="0"/>
          </a:xfrm>
          <a:prstGeom prst="straightConnector1">
            <a:avLst/>
          </a:prstGeom>
          <a:ln w="25400">
            <a:solidFill>
              <a:schemeClr val="bg1">
                <a:lumMod val="85000"/>
              </a:schemeClr>
            </a:solidFill>
            <a:tailEnd type="triangle" w="med" len="med"/>
          </a:ln>
        </p:spPr>
      </p:cxnSp>
      <p:cxnSp>
        <p:nvCxnSpPr>
          <p:cNvPr id="34" name="Arrow"/>
          <p:cNvCxnSpPr/>
          <p:nvPr/>
        </p:nvCxnSpPr>
        <p:spPr>
          <a:xfrm>
            <a:off x="8416446" y="3776472"/>
            <a:ext cx="706255" cy="0"/>
          </a:xfrm>
          <a:prstGeom prst="straightConnector1">
            <a:avLst/>
          </a:prstGeom>
          <a:ln w="25400">
            <a:solidFill>
              <a:schemeClr val="bg1">
                <a:lumMod val="85000"/>
              </a:schemeClr>
            </a:solidFill>
            <a:tailEnd type="triangle" w="med" len="med"/>
          </a:ln>
        </p:spPr>
      </p:cxnSp>
      <p:cxnSp>
        <p:nvCxnSpPr>
          <p:cNvPr id="35" name="Arrow"/>
          <p:cNvCxnSpPr/>
          <p:nvPr/>
        </p:nvCxnSpPr>
        <p:spPr>
          <a:xfrm>
            <a:off x="10248294" y="4096512"/>
            <a:ext cx="0" cy="411480"/>
          </a:xfrm>
          <a:prstGeom prst="straightConnector1">
            <a:avLst/>
          </a:prstGeom>
          <a:ln w="25400">
            <a:solidFill>
              <a:schemeClr val="bg1">
                <a:lumMod val="85000"/>
              </a:schemeClr>
            </a:solidFill>
            <a:tailEnd type="triangle" w="med" len="med"/>
          </a:ln>
        </p:spPr>
      </p:cxnSp>
      <p:cxnSp>
        <p:nvCxnSpPr>
          <p:cNvPr id="36" name="Arrow"/>
          <p:cNvCxnSpPr/>
          <p:nvPr/>
        </p:nvCxnSpPr>
        <p:spPr>
          <a:xfrm>
            <a:off x="10248294" y="5074920"/>
            <a:ext cx="0" cy="411480"/>
          </a:xfrm>
          <a:prstGeom prst="straightConnector1">
            <a:avLst/>
          </a:prstGeom>
          <a:ln w="25400">
            <a:solidFill>
              <a:schemeClr val="bg1">
                <a:lumMod val="85000"/>
              </a:schemeClr>
            </a:solidFill>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Stating the requirement</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8</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Signal Temporal Logic</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9</a:t>
            </a:fld>
            <a:endParaRPr lang="en-GB"/>
          </a:p>
        </p:txBody>
      </p:sp>
      <p:sp>
        <p:nvSpPr>
          <p:cNvPr id="14" name="Label"/>
          <p:cNvSpPr txBox="1"/>
          <p:nvPr/>
        </p:nvSpPr>
        <p:spPr>
          <a:xfrm>
            <a:off x="603504" y="2240280"/>
            <a:ext cx="10991088" cy="548640"/>
          </a:xfrm>
          <a:prstGeom prst="rect">
            <a:avLst/>
          </a:prstGeom>
          <a:noFill/>
        </p:spPr>
        <p:txBody>
          <a:bodyPr wrap="square" lIns="45720" tIns="0" rIns="45720" bIns="0" anchor="ctr">
            <a:noAutofit/>
          </a:bodyPr>
          <a:lstStyle/>
          <a:p>
            <a:pPr algn="ctr"/>
            <a:r>
              <a:rPr lang="en-GB" sz="2800" dirty="0">
                <a:solidFill>
                  <a:srgbClr val="1954A6"/>
                </a:solidFill>
              </a:rPr>
              <a:t>Seat within [a, b]</a:t>
            </a:r>
            <a:r>
              <a:rPr lang="en-GB" sz="2800" dirty="0">
                <a:solidFill>
                  <a:srgbClr val="6E6E6E"/>
                </a:solidFill>
              </a:rPr>
              <a:t>,  </a:t>
            </a:r>
            <a:r>
              <a:rPr lang="en-GB" sz="2800" dirty="0">
                <a:solidFill>
                  <a:srgbClr val="7B8D1E"/>
                </a:solidFill>
              </a:rPr>
              <a:t>hold for d</a:t>
            </a:r>
            <a:r>
              <a:rPr lang="en-GB" sz="2800" dirty="0">
                <a:solidFill>
                  <a:srgbClr val="6E6E6E"/>
                </a:solidFill>
              </a:rPr>
              <a:t>,  </a:t>
            </a:r>
            <a:r>
              <a:rPr lang="en-GB" sz="2800" dirty="0">
                <a:solidFill>
                  <a:srgbClr val="D85497"/>
                </a:solidFill>
              </a:rPr>
              <a:t>avoid the operator zone</a:t>
            </a:r>
          </a:p>
        </p:txBody>
      </p:sp>
      <p:cxnSp>
        <p:nvCxnSpPr>
          <p:cNvPr id="15" name="Arrow"/>
          <p:cNvCxnSpPr/>
          <p:nvPr/>
        </p:nvCxnSpPr>
        <p:spPr>
          <a:xfrm>
            <a:off x="6099048" y="2926080"/>
            <a:ext cx="0" cy="594360"/>
          </a:xfrm>
          <a:prstGeom prst="straightConnector1">
            <a:avLst/>
          </a:prstGeom>
          <a:ln w="25400">
            <a:solidFill>
              <a:srgbClr val="A9A9A9"/>
            </a:solidFill>
            <a:tailEnd type="triangle" w="med" len="med"/>
          </a:ln>
        </p:spPr>
      </p:cxnSp>
      <p:pic>
        <p:nvPicPr>
          <p:cNvPr id="16" name="Equation" descr="phi equals eventually within a b, always within 0 d, seated, and always within 0 T, not operator"/>
          <p:cNvPicPr>
            <a:picLocks noChangeAspect="1"/>
          </p:cNvPicPr>
          <p:nvPr/>
        </p:nvPicPr>
        <p:blipFill>
          <a:blip r:embed="rId3"/>
          <a:stretch>
            <a:fillRect/>
          </a:stretch>
        </p:blipFill>
        <p:spPr>
          <a:xfrm>
            <a:off x="2546604" y="3703320"/>
            <a:ext cx="7104888" cy="434340"/>
          </a:xfrm>
          <a:prstGeom prst="rect">
            <a:avLst/>
          </a:prstGeom>
        </p:spPr>
      </p:pic>
      <p:sp>
        <p:nvSpPr>
          <p:cNvPr id="18" name="Label"/>
          <p:cNvSpPr txBox="1"/>
          <p:nvPr/>
        </p:nvSpPr>
        <p:spPr>
          <a:xfrm>
            <a:off x="603504" y="5248656"/>
            <a:ext cx="10991088" cy="292608"/>
          </a:xfrm>
          <a:prstGeom prst="rect">
            <a:avLst/>
          </a:prstGeom>
          <a:noFill/>
        </p:spPr>
        <p:txBody>
          <a:bodyPr wrap="square" lIns="45720" tIns="0" rIns="45720" bIns="0" anchor="t">
            <a:noAutofit/>
          </a:bodyPr>
          <a:lstStyle/>
          <a:p>
            <a:r>
              <a:rPr lang="en-GB" sz="1400" dirty="0">
                <a:solidFill>
                  <a:srgbClr val="6E6E6E"/>
                </a:solidFill>
              </a:rPr>
              <a:t>Evaluated fragments: predicates </a:t>
            </a:r>
            <a:r>
              <a:rPr lang="en-GB" sz="1400" dirty="0">
                <a:solidFill>
                  <a:srgbClr val="6E6E6E"/>
                </a:solidFill>
                <a:latin typeface="Cambria Math"/>
                <a:ea typeface="Cambria Math"/>
                <a:cs typeface="Cambria Math"/>
                <a:sym typeface="Cambria Math"/>
              </a:rPr>
              <a:t>μ</a:t>
            </a:r>
            <a:r>
              <a:rPr lang="en-GB" sz="1400" dirty="0">
                <a:solidFill>
                  <a:srgbClr val="6E6E6E"/>
                </a:solidFill>
              </a:rPr>
              <a:t>, negation, conjunction, bounded </a:t>
            </a:r>
            <a:r>
              <a:rPr lang="en-GB" sz="1400" dirty="0">
                <a:solidFill>
                  <a:srgbClr val="6E6E6E"/>
                </a:solidFill>
                <a:latin typeface="Cambria Math"/>
                <a:ea typeface="Cambria Math"/>
                <a:cs typeface="Cambria Math"/>
                <a:sym typeface="Cambria Math"/>
              </a:rPr>
              <a:t>◇</a:t>
            </a:r>
            <a:r>
              <a:rPr lang="en-GB" sz="1400" dirty="0">
                <a:solidFill>
                  <a:srgbClr val="6E6E6E"/>
                </a:solidFill>
              </a:rPr>
              <a:t> and </a:t>
            </a:r>
            <a:r>
              <a:rPr lang="en-GB" sz="1400" dirty="0">
                <a:solidFill>
                  <a:srgbClr val="6E6E6E"/>
                </a:solidFill>
                <a:latin typeface="Cambria Math"/>
                <a:ea typeface="Cambria Math"/>
                <a:cs typeface="Cambria Math"/>
                <a:sym typeface="Cambria Math"/>
              </a:rPr>
              <a:t>◻</a:t>
            </a:r>
          </a:p>
        </p:txBody>
      </p:sp>
      <p:sp>
        <p:nvSpPr>
          <p:cNvPr id="19"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Maler and Nickovic 2004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10</a:t>
            </a:fld>
            <a:endParaRPr lang="en-GB"/>
          </a:p>
        </p:txBody>
      </p:sp>
      <p:pic>
        <p:nvPicPr>
          <p:cNvPr id="14" name="Equation" descr="Robustness of the evaluated fragment"/>
          <p:cNvPicPr>
            <a:picLocks noChangeAspect="1"/>
          </p:cNvPicPr>
          <p:nvPr/>
        </p:nvPicPr>
        <p:blipFill>
          <a:blip r:embed="rId3"/>
          <a:stretch>
            <a:fillRect/>
          </a:stretch>
        </p:blipFill>
        <p:spPr>
          <a:xfrm>
            <a:off x="3888440" y="1935714"/>
            <a:ext cx="6863791" cy="935584"/>
          </a:xfrm>
          <a:prstGeom prst="rect">
            <a:avLst/>
          </a:prstGeom>
        </p:spPr>
      </p:pic>
      <p:pic>
        <p:nvPicPr>
          <p:cNvPr id="15" name="Equation" descr="Soundness: positive robustness implies satisfaction"/>
          <p:cNvPicPr>
            <a:picLocks noChangeAspect="1"/>
          </p:cNvPicPr>
          <p:nvPr/>
        </p:nvPicPr>
        <p:blipFill>
          <a:blip r:embed="rId4"/>
          <a:stretch>
            <a:fillRect/>
          </a:stretch>
        </p:blipFill>
        <p:spPr>
          <a:xfrm>
            <a:off x="1377837" y="2326914"/>
            <a:ext cx="1890979" cy="256032"/>
          </a:xfrm>
          <a:prstGeom prst="rect">
            <a:avLst/>
          </a:prstGeom>
        </p:spPr>
      </p:pic>
      <p:pic>
        <p:nvPicPr>
          <p:cNvPr id="16" name="Equation" descr="Log-sum-exp surrogate of max and min"/>
          <p:cNvPicPr>
            <a:picLocks noChangeAspect="1"/>
          </p:cNvPicPr>
          <p:nvPr/>
        </p:nvPicPr>
        <p:blipFill>
          <a:blip r:embed="rId5"/>
          <a:srcRect r="43974"/>
          <a:stretch>
            <a:fillRect/>
          </a:stretch>
        </p:blipFill>
        <p:spPr>
          <a:xfrm>
            <a:off x="1377837" y="3867419"/>
            <a:ext cx="2978689" cy="444727"/>
          </a:xfrm>
          <a:prstGeom prst="rect">
            <a:avLst/>
          </a:prstGeom>
        </p:spPr>
      </p:pic>
      <p:pic>
        <p:nvPicPr>
          <p:cNvPr id="17" name="Figure" descr="Robustness of an avoidance margin over time, exact and under the smooth surrogate"/>
          <p:cNvPicPr>
            <a:picLocks noChangeAspect="1"/>
          </p:cNvPicPr>
          <p:nvPr/>
        </p:nvPicPr>
        <p:blipFill>
          <a:blip r:embed="rId6"/>
          <a:stretch>
            <a:fillRect/>
          </a:stretch>
        </p:blipFill>
        <p:spPr>
          <a:xfrm>
            <a:off x="5054001" y="3513946"/>
            <a:ext cx="6236208" cy="2011680"/>
          </a:xfrm>
          <a:prstGeom prst="rect">
            <a:avLst/>
          </a:prstGeom>
        </p:spPr>
      </p:pic>
      <p:sp>
        <p:nvSpPr>
          <p:cNvPr id="18" name="Label"/>
          <p:cNvSpPr txBox="1"/>
          <p:nvPr/>
        </p:nvSpPr>
        <p:spPr>
          <a:xfrm>
            <a:off x="5054001" y="5605584"/>
            <a:ext cx="6496499" cy="274320"/>
          </a:xfrm>
          <a:prstGeom prst="rect">
            <a:avLst/>
          </a:prstGeom>
          <a:noFill/>
        </p:spPr>
        <p:txBody>
          <a:bodyPr wrap="square" lIns="45720" tIns="0" rIns="45720" bIns="0" anchor="t">
            <a:noAutofit/>
          </a:bodyPr>
          <a:lstStyle/>
          <a:p>
            <a:pPr algn="ctr"/>
            <a:r>
              <a:rPr lang="en-GB" sz="1400" dirty="0">
                <a:solidFill>
                  <a:srgbClr val="6E6E6E"/>
                </a:solidFill>
              </a:rPr>
              <a:t>Guidance uses the surrogate at </a:t>
            </a:r>
            <a:r>
              <a:rPr lang="en-GB" sz="1400" dirty="0">
                <a:solidFill>
                  <a:srgbClr val="6E6E6E"/>
                </a:solidFill>
                <a:latin typeface="Cambria Math"/>
                <a:ea typeface="Cambria Math"/>
                <a:cs typeface="Cambria Math"/>
                <a:sym typeface="Cambria Math"/>
              </a:rPr>
              <a:t>κ</a:t>
            </a:r>
            <a:r>
              <a:rPr lang="en-GB" sz="1400" dirty="0">
                <a:solidFill>
                  <a:srgbClr val="6E6E6E"/>
                </a:solidFill>
              </a:rPr>
              <a:t> = 10.  Satisfaction is always scored with the exact semantics.</a:t>
            </a:r>
          </a:p>
        </p:txBody>
      </p:sp>
      <p:sp>
        <p:nvSpPr>
          <p:cNvPr id="19"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Donzé and Maler 2010; Leung et al. 2021; Kapoor et al. 2025 (STLCG++)</a:t>
            </a:r>
          </a:p>
        </p:txBody>
      </p:sp>
      <p:pic>
        <p:nvPicPr>
          <p:cNvPr id="3" name="Equation" descr="Log-sum-exp surrogate of max and min">
            <a:extLst>
              <a:ext uri="{FF2B5EF4-FFF2-40B4-BE49-F238E27FC236}">
                <a16:creationId xmlns:a16="http://schemas.microsoft.com/office/drawing/2014/main" id="{EBCBE5E3-56E5-F706-C744-D347AE3EF4EC}"/>
              </a:ext>
            </a:extLst>
          </p:cNvPr>
          <p:cNvPicPr>
            <a:picLocks noChangeAspect="1"/>
          </p:cNvPicPr>
          <p:nvPr/>
        </p:nvPicPr>
        <p:blipFill>
          <a:blip r:embed="rId5"/>
          <a:srcRect l="57724"/>
          <a:stretch>
            <a:fillRect/>
          </a:stretch>
        </p:blipFill>
        <p:spPr>
          <a:xfrm>
            <a:off x="1966388" y="4330434"/>
            <a:ext cx="2247648" cy="444727"/>
          </a:xfrm>
          <a:prstGeom prst="rect">
            <a:avLst/>
          </a:prstGeom>
        </p:spPr>
      </p:pic>
      <p:cxnSp>
        <p:nvCxnSpPr>
          <p:cNvPr id="5" name="Straight Connector 4">
            <a:extLst>
              <a:ext uri="{FF2B5EF4-FFF2-40B4-BE49-F238E27FC236}">
                <a16:creationId xmlns:a16="http://schemas.microsoft.com/office/drawing/2014/main" id="{E3487662-647C-7E31-9F7D-F84C69437F09}"/>
              </a:ext>
            </a:extLst>
          </p:cNvPr>
          <p:cNvCxnSpPr>
            <a:cxnSpLocks/>
          </p:cNvCxnSpPr>
          <p:nvPr/>
        </p:nvCxnSpPr>
        <p:spPr>
          <a:xfrm flipH="1">
            <a:off x="826718" y="3219189"/>
            <a:ext cx="1076362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Learning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Flow matching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12</a:t>
            </a:fld>
            <a:endParaRPr lang="en-GB"/>
          </a:p>
        </p:txBody>
      </p:sp>
      <p:pic>
        <p:nvPicPr>
          <p:cNvPr id="14" name="Video" descr="Animation of flow matching as transport from noise to two mode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3504" y="1967514"/>
            <a:ext cx="4069080" cy="4020251"/>
          </a:xfrm>
          <a:prstGeom prst="rect">
            <a:avLst/>
          </a:prstGeom>
        </p:spPr>
      </p:pic>
      <p:sp>
        <p:nvSpPr>
          <p:cNvPr id="15" name="Label"/>
          <p:cNvSpPr txBox="1"/>
          <p:nvPr/>
        </p:nvSpPr>
        <p:spPr>
          <a:xfrm>
            <a:off x="5074920" y="2057400"/>
            <a:ext cx="6492240" cy="292608"/>
          </a:xfrm>
          <a:prstGeom prst="rect">
            <a:avLst/>
          </a:prstGeom>
          <a:noFill/>
        </p:spPr>
        <p:txBody>
          <a:bodyPr wrap="square" lIns="45720" tIns="0" rIns="45720" bIns="0" anchor="t">
            <a:noAutofit/>
          </a:bodyPr>
          <a:lstStyle/>
          <a:p>
            <a:pPr algn="l"/>
            <a:r>
              <a:rPr lang="en-GB" sz="1600" b="1" dirty="0">
                <a:solidFill>
                  <a:srgbClr val="262626"/>
                </a:solidFill>
              </a:rPr>
              <a:t>Training</a:t>
            </a:r>
          </a:p>
        </p:txBody>
      </p:sp>
      <p:pic>
        <p:nvPicPr>
          <p:cNvPr id="16" name="Equation" descr="Flow-matching loss with the linear path"/>
          <p:cNvPicPr>
            <a:picLocks noChangeAspect="1"/>
          </p:cNvPicPr>
          <p:nvPr/>
        </p:nvPicPr>
        <p:blipFill>
          <a:blip r:embed="rId6"/>
          <a:stretch>
            <a:fillRect/>
          </a:stretch>
        </p:blipFill>
        <p:spPr>
          <a:xfrm>
            <a:off x="5074920" y="2423160"/>
            <a:ext cx="6457523" cy="673669"/>
          </a:xfrm>
          <a:prstGeom prst="rect">
            <a:avLst/>
          </a:prstGeom>
        </p:spPr>
      </p:pic>
      <p:sp>
        <p:nvSpPr>
          <p:cNvPr id="17" name="Label"/>
          <p:cNvSpPr txBox="1"/>
          <p:nvPr/>
        </p:nvSpPr>
        <p:spPr>
          <a:xfrm>
            <a:off x="5074920" y="3383280"/>
            <a:ext cx="6492240" cy="292608"/>
          </a:xfrm>
          <a:prstGeom prst="rect">
            <a:avLst/>
          </a:prstGeom>
          <a:noFill/>
        </p:spPr>
        <p:txBody>
          <a:bodyPr wrap="square" lIns="45720" tIns="0" rIns="45720" bIns="0" anchor="t">
            <a:noAutofit/>
          </a:bodyPr>
          <a:lstStyle/>
          <a:p>
            <a:pPr algn="l"/>
            <a:r>
              <a:rPr lang="en-GB" sz="1600" b="1" dirty="0">
                <a:solidFill>
                  <a:srgbClr val="262626"/>
                </a:solidFill>
              </a:rPr>
              <a:t>Sampling</a:t>
            </a:r>
          </a:p>
        </p:txBody>
      </p:sp>
      <p:pic>
        <p:nvPicPr>
          <p:cNvPr id="18" name="Equation" descr="Generative ordinary differential equation"/>
          <p:cNvPicPr>
            <a:picLocks noChangeAspect="1"/>
          </p:cNvPicPr>
          <p:nvPr/>
        </p:nvPicPr>
        <p:blipFill>
          <a:blip r:embed="rId7"/>
          <a:stretch>
            <a:fillRect/>
          </a:stretch>
        </p:blipFill>
        <p:spPr>
          <a:xfrm>
            <a:off x="5074920" y="3749040"/>
            <a:ext cx="4505980" cy="498043"/>
          </a:xfrm>
          <a:prstGeom prst="rect">
            <a:avLst/>
          </a:prstGeom>
        </p:spPr>
      </p:pic>
      <p:sp>
        <p:nvSpPr>
          <p:cNvPr id="19" name="Label"/>
          <p:cNvSpPr txBox="1"/>
          <p:nvPr/>
        </p:nvSpPr>
        <p:spPr>
          <a:xfrm>
            <a:off x="5074920" y="4480560"/>
            <a:ext cx="6492240" cy="1005840"/>
          </a:xfrm>
          <a:prstGeom prst="rect">
            <a:avLst/>
          </a:prstGeom>
          <a:noFill/>
        </p:spPr>
        <p:txBody>
          <a:bodyPr wrap="square" lIns="45720" tIns="0" rIns="45720" bIns="0" anchor="t">
            <a:noAutofit/>
          </a:bodyPr>
          <a:lstStyle/>
          <a:p>
            <a:pPr algn="l"/>
            <a:r>
              <a:rPr lang="en-GB" sz="1500" dirty="0">
                <a:solidFill>
                  <a:srgbClr val="6E6E6E"/>
                </a:solidFill>
              </a:rPr>
              <a:t>K = 64 Euler steps. The prior is unconditional, trained once on</a:t>
            </a:r>
          </a:p>
          <a:p>
            <a:pPr algn="l"/>
            <a:r>
              <a:rPr lang="en-GB" sz="1500" dirty="0">
                <a:solidFill>
                  <a:srgbClr val="6E6E6E"/>
                </a:solidFill>
              </a:rPr>
              <a:t>demonstrations, and its only conditioning is the start state.</a:t>
            </a:r>
          </a:p>
        </p:txBody>
      </p:sp>
      <p:sp>
        <p:nvSpPr>
          <p:cNvPr id="20"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Lipman et al. 2023; Liu et al. 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Video" descr="Generation of a robot trajectory from nois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992086" y="883311"/>
            <a:ext cx="4206240" cy="4206240"/>
          </a:xfrm>
          <a:prstGeom prst="rect">
            <a:avLst/>
          </a:prstGeom>
        </p:spPr>
      </p:pic>
      <p:sp>
        <p:nvSpPr>
          <p:cNvPr id="11" name="Title"/>
          <p:cNvSpPr>
            <a:spLocks noGrp="1"/>
          </p:cNvSpPr>
          <p:nvPr>
            <p:ph type="title"/>
          </p:nvPr>
        </p:nvSpPr>
        <p:spPr/>
        <p:txBody>
          <a:bodyPr/>
          <a:lstStyle/>
          <a:p>
            <a:r>
              <a:rPr lang="en-GB" dirty="0"/>
              <a:t>Generation from noise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13</a:t>
            </a:fld>
            <a:endParaRPr lang="en-GB"/>
          </a:p>
        </p:txBody>
      </p:sp>
      <p:sp>
        <p:nvSpPr>
          <p:cNvPr id="3" name="Citation">
            <a:extLst>
              <a:ext uri="{FF2B5EF4-FFF2-40B4-BE49-F238E27FC236}">
                <a16:creationId xmlns:a16="http://schemas.microsoft.com/office/drawing/2014/main" id="{28B278A6-1778-268D-1C07-615AD9465E6A}"/>
              </a:ext>
            </a:extLst>
          </p:cNvPr>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Janner et al. 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5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Related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14</a:t>
            </a:fld>
            <a:endParaRPr lang="en-GB"/>
          </a:p>
        </p:txBody>
      </p:sp>
      <p:sp>
        <p:nvSpPr>
          <p:cNvPr id="14" name="Label"/>
          <p:cNvSpPr txBox="1"/>
          <p:nvPr/>
        </p:nvSpPr>
        <p:spPr>
          <a:xfrm>
            <a:off x="603504" y="1901952"/>
            <a:ext cx="5303520" cy="274320"/>
          </a:xfrm>
          <a:prstGeom prst="rect">
            <a:avLst/>
          </a:prstGeom>
          <a:noFill/>
        </p:spPr>
        <p:txBody>
          <a:bodyPr wrap="square" lIns="45720" tIns="0" rIns="45720" bIns="0" anchor="t">
            <a:noAutofit/>
          </a:bodyPr>
          <a:lstStyle/>
          <a:p>
            <a:pPr algn="l"/>
            <a:r>
              <a:rPr lang="en-GB" sz="1500" b="1" dirty="0">
                <a:solidFill>
                  <a:srgbClr val="262626"/>
                </a:solidFill>
              </a:rPr>
              <a:t>Training-time conditioning</a:t>
            </a:r>
          </a:p>
        </p:txBody>
      </p:sp>
      <p:sp>
        <p:nvSpPr>
          <p:cNvPr id="15" name="Label"/>
          <p:cNvSpPr txBox="1"/>
          <p:nvPr/>
        </p:nvSpPr>
        <p:spPr>
          <a:xfrm>
            <a:off x="603504" y="2167128"/>
            <a:ext cx="5303520" cy="237744"/>
          </a:xfrm>
          <a:prstGeom prst="rect">
            <a:avLst/>
          </a:prstGeom>
          <a:noFill/>
        </p:spPr>
        <p:txBody>
          <a:bodyPr wrap="square" lIns="45720" tIns="0" rIns="45720" bIns="0" anchor="t">
            <a:noAutofit/>
          </a:bodyPr>
          <a:lstStyle/>
          <a:p>
            <a:pPr algn="l"/>
            <a:r>
              <a:rPr lang="en-GB" sz="1200" i="1" dirty="0">
                <a:solidFill>
                  <a:srgbClr val="6E6E6E"/>
                </a:solidFill>
              </a:rPr>
              <a:t>TeLoGraF, Meng and Fan 2025</a:t>
            </a:r>
          </a:p>
        </p:txBody>
      </p:sp>
      <p:pic>
        <p:nvPicPr>
          <p:cNvPr id="16" name="Figure" descr="Training-time conditioning: overview figure of TeLoGraF, Meng and Fan 2025"/>
          <p:cNvPicPr>
            <a:picLocks noChangeAspect="1"/>
          </p:cNvPicPr>
          <p:nvPr/>
        </p:nvPicPr>
        <p:blipFill>
          <a:blip r:embed="rId3"/>
          <a:stretch>
            <a:fillRect/>
          </a:stretch>
        </p:blipFill>
        <p:spPr>
          <a:xfrm>
            <a:off x="603504" y="2468880"/>
            <a:ext cx="4987255" cy="1325880"/>
          </a:xfrm>
          <a:prstGeom prst="rect">
            <a:avLst/>
          </a:prstGeom>
        </p:spPr>
      </p:pic>
      <p:sp>
        <p:nvSpPr>
          <p:cNvPr id="17" name="Label"/>
          <p:cNvSpPr txBox="1"/>
          <p:nvPr/>
        </p:nvSpPr>
        <p:spPr>
          <a:xfrm>
            <a:off x="6217920" y="1901952"/>
            <a:ext cx="2560320" cy="274320"/>
          </a:xfrm>
          <a:prstGeom prst="rect">
            <a:avLst/>
          </a:prstGeom>
          <a:noFill/>
        </p:spPr>
        <p:txBody>
          <a:bodyPr wrap="square" lIns="45720" tIns="0" rIns="45720" bIns="0" anchor="t">
            <a:noAutofit/>
          </a:bodyPr>
          <a:lstStyle/>
          <a:p>
            <a:pPr algn="l"/>
            <a:r>
              <a:rPr lang="en-GB" sz="1500" b="1" dirty="0">
                <a:solidFill>
                  <a:srgbClr val="262626"/>
                </a:solidFill>
              </a:rPr>
              <a:t>Decompose-and-stitch</a:t>
            </a:r>
          </a:p>
        </p:txBody>
      </p:sp>
      <p:sp>
        <p:nvSpPr>
          <p:cNvPr id="18" name="Label"/>
          <p:cNvSpPr txBox="1"/>
          <p:nvPr/>
        </p:nvSpPr>
        <p:spPr>
          <a:xfrm>
            <a:off x="6217920" y="2167128"/>
            <a:ext cx="2560320" cy="237744"/>
          </a:xfrm>
          <a:prstGeom prst="rect">
            <a:avLst/>
          </a:prstGeom>
          <a:noFill/>
        </p:spPr>
        <p:txBody>
          <a:bodyPr wrap="square" lIns="45720" tIns="0" rIns="45720" bIns="0" anchor="t">
            <a:noAutofit/>
          </a:bodyPr>
          <a:lstStyle/>
          <a:p>
            <a:pPr algn="l"/>
            <a:r>
              <a:rPr lang="en-GB" sz="1200" i="1" dirty="0">
                <a:solidFill>
                  <a:srgbClr val="6E6E6E"/>
                </a:solidFill>
              </a:rPr>
              <a:t>ZSTP, Liu et al. 2025</a:t>
            </a:r>
          </a:p>
        </p:txBody>
      </p:sp>
      <p:pic>
        <p:nvPicPr>
          <p:cNvPr id="19" name="Figure" descr="Decompose-and-stitch: overview figure of ZSTP, Liu et al. 2025"/>
          <p:cNvPicPr>
            <a:picLocks noChangeAspect="1"/>
          </p:cNvPicPr>
          <p:nvPr/>
        </p:nvPicPr>
        <p:blipFill>
          <a:blip r:embed="rId4"/>
          <a:stretch>
            <a:fillRect/>
          </a:stretch>
        </p:blipFill>
        <p:spPr>
          <a:xfrm>
            <a:off x="6217920" y="2468880"/>
            <a:ext cx="1803197" cy="1325880"/>
          </a:xfrm>
          <a:prstGeom prst="rect">
            <a:avLst/>
          </a:prstGeom>
        </p:spPr>
      </p:pic>
      <p:sp>
        <p:nvSpPr>
          <p:cNvPr id="20" name="Label"/>
          <p:cNvSpPr txBox="1"/>
          <p:nvPr/>
        </p:nvSpPr>
        <p:spPr>
          <a:xfrm>
            <a:off x="9052560" y="1901952"/>
            <a:ext cx="2542032" cy="274320"/>
          </a:xfrm>
          <a:prstGeom prst="rect">
            <a:avLst/>
          </a:prstGeom>
          <a:noFill/>
        </p:spPr>
        <p:txBody>
          <a:bodyPr wrap="square" lIns="45720" tIns="0" rIns="45720" bIns="0" anchor="t">
            <a:noAutofit/>
          </a:bodyPr>
          <a:lstStyle/>
          <a:p>
            <a:pPr algn="l"/>
            <a:r>
              <a:rPr lang="en-GB" sz="1500" b="1" dirty="0">
                <a:solidFill>
                  <a:srgbClr val="262626"/>
                </a:solidFill>
              </a:rPr>
              <a:t>Trajectory optimization</a:t>
            </a:r>
          </a:p>
        </p:txBody>
      </p:sp>
      <p:sp>
        <p:nvSpPr>
          <p:cNvPr id="21" name="Label"/>
          <p:cNvSpPr txBox="1"/>
          <p:nvPr/>
        </p:nvSpPr>
        <p:spPr>
          <a:xfrm>
            <a:off x="9052560" y="2167128"/>
            <a:ext cx="2542032" cy="237744"/>
          </a:xfrm>
          <a:prstGeom prst="rect">
            <a:avLst/>
          </a:prstGeom>
          <a:noFill/>
        </p:spPr>
        <p:txBody>
          <a:bodyPr wrap="square" lIns="45720" tIns="0" rIns="45720" bIns="0" anchor="t">
            <a:noAutofit/>
          </a:bodyPr>
          <a:lstStyle/>
          <a:p>
            <a:pPr algn="l"/>
            <a:r>
              <a:rPr lang="en-GB" sz="1200" i="1" dirty="0">
                <a:solidFill>
                  <a:srgbClr val="6E6E6E"/>
                </a:solidFill>
              </a:rPr>
              <a:t>Kurtz and Lin 2021</a:t>
            </a:r>
          </a:p>
        </p:txBody>
      </p:sp>
      <p:pic>
        <p:nvPicPr>
          <p:cNvPr id="22" name="Figure" descr="Trajectory optimization: overview figure of Kurtz and Lin 2021"/>
          <p:cNvPicPr>
            <a:picLocks noChangeAspect="1"/>
          </p:cNvPicPr>
          <p:nvPr/>
        </p:nvPicPr>
        <p:blipFill>
          <a:blip r:embed="rId5"/>
          <a:stretch>
            <a:fillRect/>
          </a:stretch>
        </p:blipFill>
        <p:spPr>
          <a:xfrm>
            <a:off x="9052560" y="2468880"/>
            <a:ext cx="1715845" cy="1325880"/>
          </a:xfrm>
          <a:prstGeom prst="rect">
            <a:avLst/>
          </a:prstGeom>
        </p:spPr>
      </p:pic>
      <p:sp>
        <p:nvSpPr>
          <p:cNvPr id="23" name="Label"/>
          <p:cNvSpPr txBox="1"/>
          <p:nvPr/>
        </p:nvSpPr>
        <p:spPr>
          <a:xfrm>
            <a:off x="603504"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Safe-set enforcement</a:t>
            </a:r>
          </a:p>
        </p:txBody>
      </p:sp>
      <p:sp>
        <p:nvSpPr>
          <p:cNvPr id="24" name="Label"/>
          <p:cNvSpPr txBox="1"/>
          <p:nvPr/>
        </p:nvSpPr>
        <p:spPr>
          <a:xfrm>
            <a:off x="603504"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SafeDiffuser, Xiao et al. 2023</a:t>
            </a:r>
          </a:p>
        </p:txBody>
      </p:sp>
      <p:pic>
        <p:nvPicPr>
          <p:cNvPr id="25" name="Figure" descr="Safe-set enforcement: overview figure of SafeDiffuser, Xiao et al. 2023"/>
          <p:cNvPicPr>
            <a:picLocks noChangeAspect="1"/>
          </p:cNvPicPr>
          <p:nvPr/>
        </p:nvPicPr>
        <p:blipFill>
          <a:blip r:embed="rId6"/>
          <a:stretch>
            <a:fillRect/>
          </a:stretch>
        </p:blipFill>
        <p:spPr>
          <a:xfrm>
            <a:off x="603504" y="4553712"/>
            <a:ext cx="2752704" cy="1481328"/>
          </a:xfrm>
          <a:prstGeom prst="rect">
            <a:avLst/>
          </a:prstGeom>
        </p:spPr>
      </p:pic>
      <p:sp>
        <p:nvSpPr>
          <p:cNvPr id="26" name="Label"/>
          <p:cNvSpPr txBox="1"/>
          <p:nvPr/>
        </p:nvSpPr>
        <p:spPr>
          <a:xfrm>
            <a:off x="4526280"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Inference-time robustness guidance</a:t>
            </a:r>
          </a:p>
        </p:txBody>
      </p:sp>
      <p:sp>
        <p:nvSpPr>
          <p:cNvPr id="27" name="Label"/>
          <p:cNvSpPr txBox="1"/>
          <p:nvPr/>
        </p:nvSpPr>
        <p:spPr>
          <a:xfrm>
            <a:off x="4526280"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CTG, Zhong et al. 2022</a:t>
            </a:r>
          </a:p>
        </p:txBody>
      </p:sp>
      <p:pic>
        <p:nvPicPr>
          <p:cNvPr id="28" name="Figure" descr="Inference-time robustness guidance: overview figure of CTG, Zhong et al. 2022"/>
          <p:cNvPicPr>
            <a:picLocks noChangeAspect="1"/>
          </p:cNvPicPr>
          <p:nvPr/>
        </p:nvPicPr>
        <p:blipFill>
          <a:blip r:embed="rId7"/>
          <a:stretch>
            <a:fillRect/>
          </a:stretch>
        </p:blipFill>
        <p:spPr>
          <a:xfrm>
            <a:off x="4526280" y="4553712"/>
            <a:ext cx="2689316" cy="1481328"/>
          </a:xfrm>
          <a:prstGeom prst="rect">
            <a:avLst/>
          </a:prstGeom>
        </p:spPr>
      </p:pic>
      <p:sp>
        <p:nvSpPr>
          <p:cNvPr id="29" name="Highlight"/>
          <p:cNvSpPr/>
          <p:nvPr/>
        </p:nvSpPr>
        <p:spPr>
          <a:xfrm>
            <a:off x="4416552" y="3895344"/>
            <a:ext cx="3694176" cy="2258568"/>
          </a:xfrm>
          <a:prstGeom prst="roundRect">
            <a:avLst>
              <a:gd name="adj" fmla="val 3000"/>
            </a:avLst>
          </a:prstGeom>
          <a:noFill/>
          <a:ln w="25400">
            <a:solidFill>
              <a:srgbClr val="24A0D8"/>
            </a:solidFill>
          </a:ln>
        </p:spPr>
        <p:txBody>
          <a:bodyPr wrap="square" lIns="64008" tIns="27432" rIns="64008" bIns="27432" anchor="ctr">
            <a:noAutofit/>
          </a:bodyPr>
          <a:lstStyle/>
          <a:p>
            <a:pPr algn="ctr"/>
            <a:endParaRPr/>
          </a:p>
        </p:txBody>
      </p:sp>
      <p:sp>
        <p:nvSpPr>
          <p:cNvPr id="30" name="Box"/>
          <p:cNvSpPr/>
          <p:nvPr/>
        </p:nvSpPr>
        <p:spPr>
          <a:xfrm>
            <a:off x="8503920" y="4590288"/>
            <a:ext cx="3090672" cy="960120"/>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500" dirty="0">
                <a:solidFill>
                  <a:srgbClr val="262626"/>
                </a:solidFill>
              </a:rPr>
              <a:t>STL-FM</a:t>
            </a:r>
          </a:p>
          <a:p>
            <a:pPr algn="ctr"/>
            <a:r>
              <a:rPr lang="en-GB" sz="1500" dirty="0">
                <a:solidFill>
                  <a:srgbClr val="262626"/>
                </a:solidFill>
              </a:rPr>
              <a:t>on a flow-matching prior</a:t>
            </a:r>
          </a:p>
        </p:txBody>
      </p:sp>
      <p:cxnSp>
        <p:nvCxnSpPr>
          <p:cNvPr id="31" name="Arrow"/>
          <p:cNvCxnSpPr/>
          <p:nvPr/>
        </p:nvCxnSpPr>
        <p:spPr>
          <a:xfrm>
            <a:off x="8110728" y="5070348"/>
            <a:ext cx="393192" cy="0"/>
          </a:xfrm>
          <a:prstGeom prst="straightConnector1">
            <a:avLst/>
          </a:prstGeom>
          <a:ln w="25400">
            <a:solidFill>
              <a:srgbClr val="24A0D8"/>
            </a:solidFill>
            <a:tailEnd type="triangle" w="med" len="med"/>
          </a:ln>
        </p:spPr>
      </p:cxnSp>
      <p:sp>
        <p:nvSpPr>
          <p:cNvPr id="32" name="Label"/>
          <p:cNvSpPr txBox="1"/>
          <p:nvPr/>
        </p:nvSpPr>
        <p:spPr>
          <a:xfrm>
            <a:off x="603504" y="6108192"/>
            <a:ext cx="10991088" cy="219456"/>
          </a:xfrm>
          <a:prstGeom prst="rect">
            <a:avLst/>
          </a:prstGeom>
          <a:noFill/>
        </p:spPr>
        <p:txBody>
          <a:bodyPr wrap="square" lIns="45720" tIns="0" rIns="45720" bIns="0" anchor="t">
            <a:noAutofit/>
          </a:bodyPr>
          <a:lstStyle/>
          <a:p>
            <a:pPr algn="l"/>
            <a:r>
              <a:rPr lang="en-GB" sz="1100" dirty="0">
                <a:solidFill>
                  <a:srgbClr val="6E6E6E"/>
                </a:solidFill>
              </a:rPr>
              <a:t>Overview figures reproduced from the cited papers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a:t>
            </a:r>
            <a:r>
              <a:rPr lang="en-GB" sz="1300" b="1" dirty="0">
                <a:solidFill>
                  <a:srgbClr val="004791"/>
                </a:solidFill>
              </a:rPr>
              <a:t>Method</a:t>
            </a:r>
            <a:r>
              <a:rPr lang="en-GB" sz="1300" dirty="0">
                <a:solidFill>
                  <a:srgbClr val="A5A5A5"/>
                </a:solidFill>
              </a:rPr>
              <a:t>    →    Results    →    Conclusions</a:t>
            </a:r>
          </a:p>
        </p:txBody>
      </p:sp>
      <p:sp>
        <p:nvSpPr>
          <p:cNvPr id="13" name="Slide Number"/>
          <p:cNvSpPr>
            <a:spLocks noGrp="1"/>
          </p:cNvSpPr>
          <p:nvPr>
            <p:ph type="sldNum" sz="quarter" idx="12"/>
          </p:nvPr>
        </p:nvSpPr>
        <p:spPr/>
        <p:txBody>
          <a:bodyPr/>
          <a:lstStyle/>
          <a:p>
            <a:fld id="{619F89D8-7AE3-494A-97F3-03D680869632}" type="slidenum">
              <a:rPr lang="en-GB"/>
              <a:t>15</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velocity field</a:t>
            </a:r>
          </a:p>
        </p:txBody>
      </p:sp>
      <p:sp>
        <p:nvSpPr>
          <p:cNvPr id="12" name="Slide Number"/>
          <p:cNvSpPr>
            <a:spLocks noGrp="1"/>
          </p:cNvSpPr>
          <p:nvPr>
            <p:ph type="sldNum" sz="quarter" idx="12"/>
          </p:nvPr>
        </p:nvSpPr>
        <p:spPr/>
        <p:txBody>
          <a:bodyPr/>
          <a:lstStyle/>
          <a:p>
            <a:fld id="{619F89D8-7AE3-494A-97F3-03D680869632}" type="slidenum">
              <a:rPr lang="en-GB"/>
              <a:t>16</a:t>
            </a:fld>
            <a:endParaRPr lang="en-GB"/>
          </a:p>
        </p:txBody>
      </p:sp>
      <p:sp>
        <p:nvSpPr>
          <p:cNvPr id="13" name="Inset"/>
          <p:cNvSpPr/>
          <p:nvPr/>
        </p:nvSpPr>
        <p:spPr>
          <a:xfrm>
            <a:off x="7203115" y="1490721"/>
            <a:ext cx="1879305" cy="669851"/>
          </a:xfrm>
          <a:prstGeom prst="roundRect">
            <a:avLst>
              <a:gd name="adj" fmla="val 3000"/>
            </a:avLst>
          </a:prstGeom>
          <a:noFill/>
          <a:ln w="9525">
            <a:solidFill>
              <a:srgbClr val="D2D2D2"/>
            </a:solidFill>
            <a:prstDash val="dash"/>
          </a:ln>
        </p:spPr>
        <p:txBody>
          <a:bodyPr wrap="square" lIns="64008" tIns="27432" rIns="64008" bIns="27432" anchor="ctr">
            <a:noAutofit/>
          </a:bodyPr>
          <a:lstStyle/>
          <a:p>
            <a:pPr algn="ctr"/>
            <a:endParaRPr/>
          </a:p>
        </p:txBody>
      </p:sp>
      <p:sp>
        <p:nvSpPr>
          <p:cNvPr id="14" name="Inset label"/>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A9A9A9"/>
                </a:solidFill>
              </a:rPr>
              <a:t>extrapolation to s = 1</a:t>
            </a:r>
          </a:p>
        </p:txBody>
      </p:sp>
      <p:sp>
        <p:nvSpPr>
          <p:cNvPr id="15" name="prio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p:cNvSpPr/>
          <p:nvPr/>
        </p:nvSpPr>
        <p:spPr>
          <a:xfrm>
            <a:off x="7324060" y="2774603"/>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τ̂ = τ</a:t>
            </a:r>
            <a:r>
              <a:rPr lang="en-GB" sz="1300" baseline="-25000" dirty="0">
                <a:solidFill>
                  <a:srgbClr val="A9A9A9"/>
                </a:solidFill>
              </a:rPr>
              <a:t>s</a:t>
            </a:r>
            <a:r>
              <a:rPr lang="en-GB" sz="1300" dirty="0">
                <a:solidFill>
                  <a:srgbClr val="A9A9A9"/>
                </a:solidFill>
              </a:rPr>
              <a:t> + (1 − s) v</a:t>
            </a:r>
            <a:r>
              <a:rPr lang="en-GB" sz="1300" baseline="-25000" dirty="0">
                <a:solidFill>
                  <a:srgbClr val="A9A9A9"/>
                </a:solidFill>
              </a:rPr>
              <a:t>θ</a:t>
            </a:r>
          </a:p>
          <a:p>
            <a:pPr algn="ctr"/>
            <a:r>
              <a:rPr lang="en-GB" sz="1100" dirty="0">
                <a:solidFill>
                  <a:srgbClr val="A9A9A9"/>
                </a:solidFill>
              </a:rPr>
              <a:t>predicted endpoint</a:t>
            </a:r>
          </a:p>
        </p:txBody>
      </p:sp>
      <p:sp>
        <p:nvSpPr>
          <p:cNvPr id="17" name="rho"/>
          <p:cNvSpPr/>
          <p:nvPr/>
        </p:nvSpPr>
        <p:spPr>
          <a:xfrm>
            <a:off x="9594111" y="2774603"/>
            <a:ext cx="126527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ρ</a:t>
            </a:r>
            <a:r>
              <a:rPr lang="en-GB" sz="1300" baseline="-25000" dirty="0">
                <a:solidFill>
                  <a:srgbClr val="A9A9A9"/>
                </a:solidFill>
              </a:rPr>
              <a:t>φ</a:t>
            </a:r>
            <a:r>
              <a:rPr lang="en-GB" sz="1300" dirty="0">
                <a:solidFill>
                  <a:srgbClr val="A9A9A9"/>
                </a:solidFill>
              </a:rPr>
              <a:t>(τ̂)</a:t>
            </a:r>
          </a:p>
          <a:p>
            <a:pPr algn="ctr"/>
            <a:r>
              <a:rPr lang="en-GB" sz="1100" dirty="0">
                <a:solidFill>
                  <a:srgbClr val="A9A9A9"/>
                </a:solidFill>
              </a:rPr>
              <a:t>requirement score</a:t>
            </a:r>
          </a:p>
        </p:txBody>
      </p:sp>
      <p:cxnSp>
        <p:nvCxnSpPr>
          <p:cNvPr id="18" name="Arrow"/>
          <p:cNvCxnSpPr/>
          <p:nvPr/>
        </p:nvCxnSpPr>
        <p:spPr>
          <a:xfrm>
            <a:off x="6840279" y="3035100"/>
            <a:ext cx="483781" cy="0"/>
          </a:xfrm>
          <a:prstGeom prst="straightConnector1">
            <a:avLst/>
          </a:prstGeom>
          <a:ln w="19050">
            <a:solidFill>
              <a:srgbClr val="D2D2D2"/>
            </a:solidFill>
            <a:tailEnd type="triangle" w="med" len="med"/>
          </a:ln>
        </p:spPr>
      </p:cxnSp>
      <p:sp>
        <p:nvSpPr>
          <p:cNvPr id="19" name="Edge label"/>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vθ</a:t>
            </a:r>
          </a:p>
        </p:txBody>
      </p:sp>
      <p:cxnSp>
        <p:nvCxnSpPr>
          <p:cNvPr id="20" name="Arrow"/>
          <p:cNvCxnSpPr/>
          <p:nvPr/>
        </p:nvCxnSpPr>
        <p:spPr>
          <a:xfrm>
            <a:off x="8961474" y="3035100"/>
            <a:ext cx="632637" cy="0"/>
          </a:xfrm>
          <a:prstGeom prst="straightConnector1">
            <a:avLst/>
          </a:prstGeom>
          <a:ln w="19050">
            <a:solidFill>
              <a:srgbClr val="D2D2D2"/>
            </a:solidFill>
            <a:tailEnd type="triangle" w="med" len="med"/>
          </a:ln>
        </p:spPr>
      </p:cxnSp>
      <p:sp>
        <p:nvSpPr>
          <p:cNvPr id="21" name="smth"/>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p:cNvCxnSpPr/>
          <p:nvPr/>
        </p:nvCxnSpPr>
        <p:spPr>
          <a:xfrm>
            <a:off x="9296400" y="1955896"/>
            <a:ext cx="334926" cy="0"/>
          </a:xfrm>
          <a:prstGeom prst="straightConnector1">
            <a:avLst/>
          </a:prstGeom>
          <a:ln w="19050">
            <a:solidFill>
              <a:srgbClr val="D2D2D2"/>
            </a:solidFill>
            <a:tailEnd type="triangle" w="med" len="med"/>
          </a:ln>
        </p:spPr>
      </p:cxnSp>
      <p:sp>
        <p:nvSpPr>
          <p:cNvPr id="24" name="objsum"/>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p:cNvCxnSpPr/>
          <p:nvPr/>
        </p:nvCxnSpPr>
        <p:spPr>
          <a:xfrm>
            <a:off x="7314757" y="1918682"/>
            <a:ext cx="1711842" cy="0"/>
          </a:xfrm>
          <a:prstGeom prst="straightConnector1">
            <a:avLst/>
          </a:prstGeom>
          <a:ln w="6350">
            <a:solidFill>
              <a:srgbClr val="D2D2D2"/>
            </a:solidFill>
          </a:ln>
        </p:spPr>
      </p:cxnSp>
      <p:sp>
        <p:nvSpPr>
          <p:cNvPr id="58" name="pt1"/>
          <p:cNvSpPr/>
          <p:nvPr/>
        </p:nvSpPr>
        <p:spPr>
          <a:xfrm>
            <a:off x="7417574" y="1883807"/>
            <a:ext cx="54864" cy="54864"/>
          </a:xfrm>
          <a:prstGeom prst="roundRect">
            <a:avLst>
              <a:gd name="adj" fmla="val 50000"/>
            </a:avLst>
          </a:prstGeom>
          <a:solidFill>
            <a:srgbClr val="D2D2D2"/>
          </a:solidFill>
          <a:ln>
            <a:noFill/>
          </a:ln>
        </p:spPr>
        <p:txBody>
          <a:bodyPr wrap="square" lIns="64008" tIns="27432" rIns="64008" bIns="27432" anchor="ctr">
            <a:noAutofit/>
          </a:bodyPr>
          <a:lstStyle/>
          <a:p>
            <a:pPr algn="ctr"/>
            <a:endParaRPr/>
          </a:p>
        </p:txBody>
      </p:sp>
      <p:sp>
        <p:nvSpPr>
          <p:cNvPr id="59" name="pt1 label"/>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9A9A9"/>
                </a:solidFill>
              </a:rPr>
              <a:t>τ</a:t>
            </a:r>
            <a:r>
              <a:rPr lang="en-GB" sz="900" baseline="-25000" dirty="0">
                <a:solidFill>
                  <a:srgbClr val="A9A9A9"/>
                </a:solidFill>
              </a:rPr>
              <a:t>s</a:t>
            </a:r>
            <a:r>
              <a:rPr lang="en-GB" sz="900" dirty="0">
                <a:solidFill>
                  <a:srgbClr val="A9A9A9"/>
                </a:solidFill>
              </a:rPr>
              <a:t>, s</a:t>
            </a:r>
          </a:p>
        </p:txBody>
      </p:sp>
      <p:sp>
        <p:nvSpPr>
          <p:cNvPr id="60" name="pt2"/>
          <p:cNvSpPr/>
          <p:nvPr/>
        </p:nvSpPr>
        <p:spPr>
          <a:xfrm>
            <a:off x="8803953" y="1684872"/>
            <a:ext cx="73152" cy="73152"/>
          </a:xfrm>
          <a:prstGeom prst="roundRect">
            <a:avLst>
              <a:gd name="adj" fmla="val 50000"/>
            </a:avLst>
          </a:prstGeom>
          <a:solidFill>
            <a:srgbClr val="D2D2D2"/>
          </a:solidFill>
          <a:ln>
            <a:noFill/>
          </a:ln>
        </p:spPr>
        <p:txBody>
          <a:bodyPr wrap="square" lIns="64008" tIns="27432" rIns="64008" bIns="27432" anchor="ctr">
            <a:noAutofit/>
          </a:bodyPr>
          <a:lstStyle/>
          <a:p>
            <a:pPr algn="ctr"/>
            <a:endParaRPr/>
          </a:p>
        </p:txBody>
      </p:sp>
      <p:sp>
        <p:nvSpPr>
          <p:cNvPr id="61" name="pt2 label"/>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A9A9A9"/>
                </a:solidFill>
              </a:rPr>
              <a:t>τ̂, s = 1</a:t>
            </a:r>
          </a:p>
        </p:txBody>
      </p:sp>
      <p:cxnSp>
        <p:nvCxnSpPr>
          <p:cNvPr id="62" name="Arrow"/>
          <p:cNvCxnSpPr/>
          <p:nvPr/>
        </p:nvCxnSpPr>
        <p:spPr>
          <a:xfrm flipV="1">
            <a:off x="7482220" y="1725169"/>
            <a:ext cx="1339702" cy="171184"/>
          </a:xfrm>
          <a:prstGeom prst="straightConnector1">
            <a:avLst/>
          </a:prstGeom>
          <a:ln w="11430">
            <a:solidFill>
              <a:srgbClr val="D2D2D2"/>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CB272905-A87F-6C15-45BD-B1B02B757EDE}"/>
              </a:ext>
            </a:extLst>
          </p:cNvPr>
          <p:cNvPicPr>
            <a:picLocks noChangeAspect="1"/>
          </p:cNvPicPr>
          <p:nvPr/>
        </p:nvPicPr>
        <p:blipFill>
          <a:blip r:embed="rId3"/>
          <a:stretch>
            <a:fillRect/>
          </a:stretch>
        </p:blipFill>
        <p:spPr>
          <a:xfrm>
            <a:off x="577314" y="3370617"/>
            <a:ext cx="3976990" cy="702080"/>
          </a:xfrm>
          <a:prstGeom prst="rect">
            <a:avLst/>
          </a:prstGeom>
        </p:spPr>
      </p:pic>
      <p:cxnSp>
        <p:nvCxnSpPr>
          <p:cNvPr id="6" name="Arrow">
            <a:extLst>
              <a:ext uri="{FF2B5EF4-FFF2-40B4-BE49-F238E27FC236}">
                <a16:creationId xmlns:a16="http://schemas.microsoft.com/office/drawing/2014/main" id="{315457D1-CB43-F1DA-E3CE-1D28384984E0}"/>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577314" y="4182425"/>
            <a:ext cx="3904937" cy="37081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36FF-50B1-787E-AFFB-5334D989A34D}"/>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8117A4B-85F7-8572-4DF9-97572063F64D}"/>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8252B50C-4407-C0C2-BCAC-0C73D13C3313}"/>
              </a:ext>
            </a:extLst>
          </p:cNvPr>
          <p:cNvSpPr>
            <a:spLocks noGrp="1"/>
          </p:cNvSpPr>
          <p:nvPr>
            <p:ph type="sldNum" sz="quarter" idx="12"/>
          </p:nvPr>
        </p:nvSpPr>
        <p:spPr/>
        <p:txBody>
          <a:bodyPr/>
          <a:lstStyle/>
          <a:p>
            <a:fld id="{619F89D8-7AE3-494A-97F3-03D680869632}" type="slidenum">
              <a:rPr lang="en-GB"/>
              <a:t>17</a:t>
            </a:fld>
            <a:endParaRPr lang="en-GB"/>
          </a:p>
        </p:txBody>
      </p:sp>
      <p:sp>
        <p:nvSpPr>
          <p:cNvPr id="13" name="Inset">
            <a:extLst>
              <a:ext uri="{FF2B5EF4-FFF2-40B4-BE49-F238E27FC236}">
                <a16:creationId xmlns:a16="http://schemas.microsoft.com/office/drawing/2014/main" id="{30EA22E7-98A2-19EF-665D-7B7E3D891C41}"/>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79508A6F-D941-EDE2-5C67-C49F8DEC12E7}"/>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072BB8D2-4409-8BE3-2EE8-939CFB9542A2}"/>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6D4F65DD-9F92-80A4-BC8B-9C081470FC33}"/>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73CEAB28-2A76-125D-6CEC-6FCE79B53170}"/>
              </a:ext>
            </a:extLst>
          </p:cNvPr>
          <p:cNvSpPr/>
          <p:nvPr/>
        </p:nvSpPr>
        <p:spPr>
          <a:xfrm>
            <a:off x="9594111" y="2774603"/>
            <a:ext cx="126527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ρ</a:t>
            </a:r>
            <a:r>
              <a:rPr lang="en-GB" sz="1300" baseline="-25000" dirty="0">
                <a:solidFill>
                  <a:srgbClr val="A9A9A9"/>
                </a:solidFill>
              </a:rPr>
              <a:t>φ</a:t>
            </a:r>
            <a:r>
              <a:rPr lang="en-GB" sz="1300" dirty="0">
                <a:solidFill>
                  <a:srgbClr val="A9A9A9"/>
                </a:solidFill>
              </a:rPr>
              <a:t>(τ̂)</a:t>
            </a:r>
          </a:p>
          <a:p>
            <a:pPr algn="ctr"/>
            <a:r>
              <a:rPr lang="en-GB" sz="1100" dirty="0">
                <a:solidFill>
                  <a:srgbClr val="A9A9A9"/>
                </a:solidFill>
              </a:rPr>
              <a:t>requirement score</a:t>
            </a:r>
          </a:p>
        </p:txBody>
      </p:sp>
      <p:cxnSp>
        <p:nvCxnSpPr>
          <p:cNvPr id="18" name="Arrow">
            <a:extLst>
              <a:ext uri="{FF2B5EF4-FFF2-40B4-BE49-F238E27FC236}">
                <a16:creationId xmlns:a16="http://schemas.microsoft.com/office/drawing/2014/main" id="{E6907A49-BF56-69D3-41E5-31F87F043C43}"/>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7BCECA1F-F813-CA13-7E34-EEAB7376C97C}"/>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8BA13BC4-7AEE-FDA6-30D5-4233E264D351}"/>
              </a:ext>
            </a:extLst>
          </p:cNvPr>
          <p:cNvCxnSpPr/>
          <p:nvPr/>
        </p:nvCxnSpPr>
        <p:spPr>
          <a:xfrm>
            <a:off x="8961474" y="3035100"/>
            <a:ext cx="632637" cy="0"/>
          </a:xfrm>
          <a:prstGeom prst="straightConnector1">
            <a:avLst/>
          </a:prstGeom>
          <a:ln w="19050">
            <a:solidFill>
              <a:srgbClr val="D2D2D2"/>
            </a:solidFill>
            <a:tailEnd type="triangle" w="med" len="med"/>
          </a:ln>
        </p:spPr>
      </p:cxnSp>
      <p:sp>
        <p:nvSpPr>
          <p:cNvPr id="21" name="smth">
            <a:extLst>
              <a:ext uri="{FF2B5EF4-FFF2-40B4-BE49-F238E27FC236}">
                <a16:creationId xmlns:a16="http://schemas.microsoft.com/office/drawing/2014/main" id="{3CB585A9-A2F9-902D-3995-D0BDF10943E4}"/>
              </a:ext>
            </a:extLst>
          </p:cNvPr>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a:extLst>
              <a:ext uri="{FF2B5EF4-FFF2-40B4-BE49-F238E27FC236}">
                <a16:creationId xmlns:a16="http://schemas.microsoft.com/office/drawing/2014/main" id="{1C7AF5B2-6E34-B91B-6AC5-DC959A8D854A}"/>
              </a:ext>
            </a:extLst>
          </p:cNvPr>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a:extLst>
              <a:ext uri="{FF2B5EF4-FFF2-40B4-BE49-F238E27FC236}">
                <a16:creationId xmlns:a16="http://schemas.microsoft.com/office/drawing/2014/main" id="{9B5AD0CE-2166-8B8B-12D1-FA084274EEC4}"/>
              </a:ext>
            </a:extLst>
          </p:cNvPr>
          <p:cNvCxnSpPr/>
          <p:nvPr/>
        </p:nvCxnSpPr>
        <p:spPr>
          <a:xfrm>
            <a:off x="9296400" y="1955896"/>
            <a:ext cx="334926" cy="0"/>
          </a:xfrm>
          <a:prstGeom prst="straightConnector1">
            <a:avLst/>
          </a:prstGeom>
          <a:ln w="19050">
            <a:solidFill>
              <a:srgbClr val="D2D2D2"/>
            </a:solidFill>
            <a:tailEnd type="triangle" w="med" len="med"/>
          </a:ln>
        </p:spPr>
      </p:cxnSp>
      <p:sp>
        <p:nvSpPr>
          <p:cNvPr id="24" name="objsum">
            <a:extLst>
              <a:ext uri="{FF2B5EF4-FFF2-40B4-BE49-F238E27FC236}">
                <a16:creationId xmlns:a16="http://schemas.microsoft.com/office/drawing/2014/main" id="{FA059293-CCAD-687F-6C26-18A74E25CC57}"/>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9FB5037B-9CC4-895D-582B-5DFBD45F19B6}"/>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6B42988D-C178-D92C-A85F-C6EF0546A38D}"/>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92EC942E-D6A8-9809-194F-0792AB74E5F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1BF7FFDC-0D35-12E3-1F1A-ED2BCB19A7A7}"/>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29A31D18-C66A-003A-E7F7-D57CA0185223}"/>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72ACC0C9-AE10-6383-0A50-02017EB10DAA}"/>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106BBC06-84F9-461E-05A9-815BAA47363E}"/>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A0AF5BE5-61B3-D3E9-EA4A-B9408BDE8FEA}"/>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65E15698-9A90-2B78-CA4F-F4CD5235AECB}"/>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430A9BD6-0811-6777-A8D8-6331A55B5E74}"/>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9B5A0522-9D1A-D9F0-3438-362EAC650762}"/>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7A33A512-6E28-5DCE-03C2-3D755997B0DD}"/>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2C3C6ED2-D327-CC35-D54C-0F71E1C7A6C1}"/>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08FB32C0-57BF-EA9C-6E2B-7CFD013E7627}"/>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F605CE97-6512-F732-8E2E-8289D2DB987B}"/>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EEC7E4DC-09CA-6A2E-9489-306F1E22557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4796795F-0DDA-A1BE-409F-E2B2CD7BAA5B}"/>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982E3008-0412-CB83-5FC2-B6BF84F118EA}"/>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B8B298A8-7A31-1CBE-913A-5BD73429B488}"/>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C6BE9074-D894-3CC9-AA5A-3F3EA0D794D8}"/>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B1E23859-7D1A-456C-2FA9-65697A6F570E}"/>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89DF46F4-5191-2CE0-206A-E468B9D0D2C0}"/>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28CA343C-1EA6-DC51-6A11-5C2029B8FF57}"/>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70E5B57E-8F98-E8ED-F910-C327B74BF858}"/>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22567633-E269-7B9A-8483-CC256E550BD0}"/>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41E4DC8D-462F-1ECC-327C-539DAF0AFECB}"/>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C6311DE5-F08C-95EB-94D4-675712C29938}"/>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6FFBF5DE-6EFB-143E-228E-DD5C2B44D449}"/>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9699D544-F597-A568-62AE-874CDD94677F}"/>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6B537EC2-89D9-7D72-FAE6-82BE30987528}"/>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9CFDDDAB-CDE6-6D96-58A7-564E5E4D0D7C}"/>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526FE119-A227-482E-5F92-B1FF0EA318B4}"/>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B1B3C12A-DA51-A926-37F3-9825A9310744}"/>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CF75A3C-3D90-77CA-CE1C-DF295AA6F6F0}"/>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B24D19B0-96BC-B7A9-430E-4907E4686D4D}"/>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8577F0B1-A545-5CF8-261D-D29FCB77F1AA}"/>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623B2BA2-86B0-49CC-9505-77E054F9F329}"/>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2E938A4B-8436-F439-8C26-37BDAA027F17}"/>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10DB9D9D-FFDE-B5BF-4130-D670EF28E5C4}"/>
              </a:ext>
            </a:extLst>
          </p:cNvPr>
          <p:cNvPicPr>
            <a:picLocks noChangeAspect="1"/>
          </p:cNvPicPr>
          <p:nvPr/>
        </p:nvPicPr>
        <p:blipFill>
          <a:blip r:embed="rId3"/>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6A28E4B5-17A3-0AC6-4CF2-8975EC815B48}"/>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4186635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00487-2368-4299-6D14-CBBE5678D434}"/>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D07D225-FEA5-69C0-3F0A-B58C4AC24FBD}"/>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44FD967B-CA46-A381-3EBD-1D2A27E6B503}"/>
              </a:ext>
            </a:extLst>
          </p:cNvPr>
          <p:cNvSpPr>
            <a:spLocks noGrp="1"/>
          </p:cNvSpPr>
          <p:nvPr>
            <p:ph type="sldNum" sz="quarter" idx="12"/>
          </p:nvPr>
        </p:nvSpPr>
        <p:spPr/>
        <p:txBody>
          <a:bodyPr/>
          <a:lstStyle/>
          <a:p>
            <a:fld id="{619F89D8-7AE3-494A-97F3-03D680869632}" type="slidenum">
              <a:rPr lang="en-GB"/>
              <a:t>18</a:t>
            </a:fld>
            <a:endParaRPr lang="en-GB"/>
          </a:p>
        </p:txBody>
      </p:sp>
      <p:sp>
        <p:nvSpPr>
          <p:cNvPr id="13" name="Inset">
            <a:extLst>
              <a:ext uri="{FF2B5EF4-FFF2-40B4-BE49-F238E27FC236}">
                <a16:creationId xmlns:a16="http://schemas.microsoft.com/office/drawing/2014/main" id="{869EECFD-7FED-7D92-EA39-4AB9BAB7C021}"/>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09B8144A-3822-D4AB-A2AC-F33352E89482}"/>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C613623B-5457-1D51-819F-69CD4EB48745}"/>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EC9F1E88-C4C5-AEDB-C29B-51D07BB4AFA1}"/>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26464C4-3C2B-E492-A9FD-36B4DCE42A8B}"/>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477979AC-E6D5-5D97-3796-5C9C8317D9C6}"/>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7F0248A2-CC8D-DC98-059A-E5293C891AC5}"/>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31663673-044B-1485-5015-E42C34FA9B72}"/>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71D2D750-920C-7851-85DA-FFF127C971B4}"/>
              </a:ext>
            </a:extLst>
          </p:cNvPr>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a:extLst>
              <a:ext uri="{FF2B5EF4-FFF2-40B4-BE49-F238E27FC236}">
                <a16:creationId xmlns:a16="http://schemas.microsoft.com/office/drawing/2014/main" id="{D81CCCC6-D545-B375-80CB-843B66FE0F66}"/>
              </a:ext>
            </a:extLst>
          </p:cNvPr>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a:extLst>
              <a:ext uri="{FF2B5EF4-FFF2-40B4-BE49-F238E27FC236}">
                <a16:creationId xmlns:a16="http://schemas.microsoft.com/office/drawing/2014/main" id="{4EA44ACB-873F-63A6-94FD-A4EBB65FF4A3}"/>
              </a:ext>
            </a:extLst>
          </p:cNvPr>
          <p:cNvCxnSpPr/>
          <p:nvPr/>
        </p:nvCxnSpPr>
        <p:spPr>
          <a:xfrm>
            <a:off x="9296400" y="1955896"/>
            <a:ext cx="334926" cy="0"/>
          </a:xfrm>
          <a:prstGeom prst="straightConnector1">
            <a:avLst/>
          </a:prstGeom>
          <a:ln w="19050">
            <a:solidFill>
              <a:srgbClr val="D2D2D2"/>
            </a:solidFill>
            <a:tailEnd type="triangle" w="med" len="med"/>
          </a:ln>
        </p:spPr>
      </p:cxnSp>
      <p:sp>
        <p:nvSpPr>
          <p:cNvPr id="24" name="objsum">
            <a:extLst>
              <a:ext uri="{FF2B5EF4-FFF2-40B4-BE49-F238E27FC236}">
                <a16:creationId xmlns:a16="http://schemas.microsoft.com/office/drawing/2014/main" id="{D3924A17-B717-B871-BB7B-54FEACFE1E9C}"/>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F23D61D1-7D74-940D-15BC-7304677CCE2B}"/>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30587B85-5A09-A4A3-FE2A-7201538BB1B6}"/>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D891BED5-4417-54F9-EB1B-8C2EF8118A48}"/>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D8A9C6D7-9F4A-46C5-5AF1-8A45374AB31A}"/>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E4D6DF91-5B62-1E0B-9856-5E582742C9A0}"/>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F5F0E449-5C46-046E-6882-15722E5E718F}"/>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CF9E344F-146F-33C3-51AD-DFC5D4DBE36D}"/>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FACEDDF3-EF44-2D55-9C4D-5111A56185CF}"/>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3DF3E351-4817-4193-20C9-EEB996B6DDC2}"/>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E8CBB719-DCC6-6916-FC80-CAA410CA0E0C}"/>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E15B19EE-A19D-C48F-2C27-91F056100F74}"/>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A4BA30D8-0919-C640-594A-2F9BA7A584EA}"/>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47E2EBFF-B43C-9DAD-F5DD-1E42D56DC3E2}"/>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C24EF5CF-4B62-E534-E91A-D4C197A92CB1}"/>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220A94A1-D971-8623-074A-5698B7184454}"/>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B966769B-3D1C-6433-D634-6CB944D819B1}"/>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F80904E0-34D9-EF17-9D11-3EAA3B7F9E33}"/>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130773A8-078E-7670-A811-D33E7AFCCA48}"/>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CD2C3150-70D7-8D13-D4E7-22A808A958A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C436F5F5-73DA-DB0B-FB68-761FC2B65399}"/>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C111F541-7DEC-A3E2-799D-6640A82F4365}"/>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67CEE3C1-3903-DD01-E4E5-F41BD0459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F63353C2-8B1B-6872-000B-6F0336F49770}"/>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821C44EA-C117-5BBD-E009-43364D9B5B78}"/>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61708AF5-7E00-ED52-906F-D5C100F0301F}"/>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0D30B4E9-A0AF-3A7D-7443-9DD04DBACD4B}"/>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B8A1863-0D34-C322-22D0-A9C43E66967E}"/>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6CF93448-0164-DD7E-1296-E481AA3753FE}"/>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93C2013C-655E-1C6A-FF85-41AFF1ACECF4}"/>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64A3587-55B5-08B7-CC7A-9F0501B373D2}"/>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66892359-EAF7-6B18-4060-3F137E772C43}"/>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8DAD6E6B-73F5-D7C2-5B90-9EE6D4070307}"/>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2A588194-6FCA-EC68-E9A0-3E594F6CBB06}"/>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7B251465-D58A-FEBE-9B08-9B5E68843B90}"/>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5BB5EF19-D5A2-8D41-5D6C-AF8B6043B53F}"/>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9F0BC8A-950A-E1D2-2CAA-D1C9A57C9983}"/>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8DB4C90F-2039-CDD3-96F1-7BF1D99ABD9C}"/>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861F81F9-D358-CE07-FDB5-430494387567}"/>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2D448584-6FA6-A411-74EF-A9A052EED0D8}"/>
              </a:ext>
            </a:extLst>
          </p:cNvPr>
          <p:cNvPicPr>
            <a:picLocks noChangeAspect="1"/>
          </p:cNvPicPr>
          <p:nvPr/>
        </p:nvPicPr>
        <p:blipFill>
          <a:blip r:embed="rId3"/>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B22A454E-3372-1234-304F-6E97A340EB4E}"/>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760404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1935-524D-D57C-0980-D69F6744E267}"/>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19</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3"/>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2027051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20</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21</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22</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23</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sampler</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sampler</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25</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E9EAEA"/>
          </a:solidFill>
          <a:ln w="13970">
            <a:solidFill>
              <a:srgbClr val="63666A"/>
            </a:solidFill>
          </a:ln>
        </p:spPr>
        <p:txBody>
          <a:bodyPr wrap="square" lIns="64008" tIns="27432" rIns="64008" bIns="27432" anchor="ctr">
            <a:noAutofit/>
          </a:bodyPr>
          <a:lstStyle/>
          <a:p>
            <a:pPr algn="ctr"/>
            <a:r>
              <a:rPr lang="en-GB" sz="1300" dirty="0">
                <a:solidFill>
                  <a:srgbClr val="262626"/>
                </a:solidFill>
              </a:rPr>
              <a:t>re-pin</a:t>
            </a:r>
          </a:p>
          <a:p>
            <a:pPr algn="ctr"/>
            <a:r>
              <a:rPr lang="en-GB" sz="1100" dirty="0">
                <a:solidFill>
                  <a:srgbClr val="262626"/>
                </a:solidFill>
              </a:rPr>
              <a:t>π</a:t>
            </a:r>
            <a:r>
              <a:rPr lang="en-GB" sz="1100" baseline="-25000" dirty="0">
                <a:solidFill>
                  <a:srgbClr val="262626"/>
                </a:solidFill>
              </a:rPr>
              <a:t>0</a:t>
            </a:r>
            <a:r>
              <a:rPr lang="en-GB" sz="1100" dirty="0">
                <a:solidFill>
                  <a:srgbClr val="262626"/>
                </a:solidFill>
              </a:rPr>
              <a:t>(τ) = x</a:t>
            </a:r>
            <a:r>
              <a:rPr lang="en-GB" sz="1100" baseline="-25000" dirty="0">
                <a:solidFill>
                  <a:srgbClr val="262626"/>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63666A"/>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63666A"/>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sampler</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26</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E9EAEA"/>
          </a:solidFill>
          <a:ln w="13970">
            <a:solidFill>
              <a:srgbClr val="63666A"/>
            </a:solidFill>
          </a:ln>
        </p:spPr>
        <p:txBody>
          <a:bodyPr wrap="square" lIns="64008" tIns="27432" rIns="64008" bIns="27432" anchor="ctr">
            <a:noAutofit/>
          </a:bodyPr>
          <a:lstStyle/>
          <a:p>
            <a:pPr algn="ctr"/>
            <a:r>
              <a:rPr lang="en-GB" sz="1300" dirty="0">
                <a:solidFill>
                  <a:srgbClr val="262626"/>
                </a:solidFill>
              </a:rPr>
              <a:t>re-pin</a:t>
            </a:r>
          </a:p>
          <a:p>
            <a:pPr algn="ctr"/>
            <a:r>
              <a:rPr lang="en-GB" sz="1100" dirty="0">
                <a:solidFill>
                  <a:srgbClr val="262626"/>
                </a:solidFill>
              </a:rPr>
              <a:t>π</a:t>
            </a:r>
            <a:r>
              <a:rPr lang="en-GB" sz="1100" baseline="-25000" dirty="0">
                <a:solidFill>
                  <a:srgbClr val="262626"/>
                </a:solidFill>
              </a:rPr>
              <a:t>0</a:t>
            </a:r>
            <a:r>
              <a:rPr lang="en-GB" sz="1100" dirty="0">
                <a:solidFill>
                  <a:srgbClr val="262626"/>
                </a:solidFill>
              </a:rPr>
              <a:t>(τ) = x</a:t>
            </a:r>
            <a:r>
              <a:rPr lang="en-GB" sz="1100" baseline="-25000" dirty="0">
                <a:solidFill>
                  <a:srgbClr val="262626"/>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63666A"/>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63666A"/>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63666A"/>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63666A"/>
                </a:solidFill>
              </a:rPr>
              <a:t>τ</a:t>
            </a:r>
            <a:r>
              <a:rPr lang="en-GB" sz="1000" baseline="-25000" dirty="0">
                <a:solidFill>
                  <a:srgbClr val="63666A"/>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63666A"/>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63666A"/>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63666A"/>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63666A"/>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63666A"/>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63666A"/>
                </a:solidFill>
              </a:rPr>
              <a:t>τ</a:t>
            </a:r>
            <a:r>
              <a:rPr lang="en-GB" sz="1000" baseline="-25000" dirty="0">
                <a:solidFill>
                  <a:srgbClr val="63666A"/>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Evaluating the plans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27</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Experimental setup</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28</a:t>
            </a:fld>
            <a:endParaRPr lang="en-GB"/>
          </a:p>
        </p:txBody>
      </p:sp>
      <p:pic>
        <p:nvPicPr>
          <p:cNvPr id="14" name="Figure" descr="Planar navigation"/>
          <p:cNvPicPr>
            <a:picLocks noChangeAspect="1"/>
          </p:cNvPicPr>
          <p:nvPr/>
        </p:nvPicPr>
        <p:blipFill>
          <a:blip r:embed="rId3"/>
          <a:stretch>
            <a:fillRect/>
          </a:stretch>
        </p:blipFill>
        <p:spPr>
          <a:xfrm>
            <a:off x="603504" y="2034540"/>
            <a:ext cx="2377440" cy="2377440"/>
          </a:xfrm>
          <a:prstGeom prst="rect">
            <a:avLst/>
          </a:prstGeom>
        </p:spPr>
      </p:pic>
      <p:sp>
        <p:nvSpPr>
          <p:cNvPr id="15" name="Label"/>
          <p:cNvSpPr txBox="1"/>
          <p:nvPr/>
        </p:nvSpPr>
        <p:spPr>
          <a:xfrm>
            <a:off x="60350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Planar navigation</a:t>
            </a:r>
          </a:p>
        </p:txBody>
      </p:sp>
      <p:sp>
        <p:nvSpPr>
          <p:cNvPr id="16" name="Label"/>
          <p:cNvSpPr txBox="1"/>
          <p:nvPr/>
        </p:nvSpPr>
        <p:spPr>
          <a:xfrm>
            <a:off x="60350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100 runs per class, plans only</a:t>
            </a:r>
          </a:p>
        </p:txBody>
      </p:sp>
      <p:pic>
        <p:nvPicPr>
          <p:cNvPr id="17" name="Figure" descr="Cube manipulation"/>
          <p:cNvPicPr>
            <a:picLocks noChangeAspect="1"/>
          </p:cNvPicPr>
          <p:nvPr/>
        </p:nvPicPr>
        <p:blipFill>
          <a:blip r:embed="rId4"/>
          <a:stretch>
            <a:fillRect/>
          </a:stretch>
        </p:blipFill>
        <p:spPr>
          <a:xfrm>
            <a:off x="3163824" y="2034540"/>
            <a:ext cx="2377440" cy="2377440"/>
          </a:xfrm>
          <a:prstGeom prst="rect">
            <a:avLst/>
          </a:prstGeom>
        </p:spPr>
      </p:pic>
      <p:sp>
        <p:nvSpPr>
          <p:cNvPr id="18" name="Label"/>
          <p:cNvSpPr txBox="1"/>
          <p:nvPr/>
        </p:nvSpPr>
        <p:spPr>
          <a:xfrm>
            <a:off x="316382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Cube manipulation</a:t>
            </a:r>
          </a:p>
        </p:txBody>
      </p:sp>
      <p:sp>
        <p:nvSpPr>
          <p:cNvPr id="19" name="Label"/>
          <p:cNvSpPr txBox="1"/>
          <p:nvPr/>
        </p:nvSpPr>
        <p:spPr>
          <a:xfrm>
            <a:off x="316382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 runs per class, executed</a:t>
            </a:r>
          </a:p>
        </p:txBody>
      </p:sp>
      <p:sp>
        <p:nvSpPr>
          <p:cNvPr id="20" name="Label"/>
          <p:cNvSpPr txBox="1"/>
          <p:nvPr/>
        </p:nvSpPr>
        <p:spPr>
          <a:xfrm>
            <a:off x="5742432" y="2103120"/>
            <a:ext cx="2880360" cy="502920"/>
          </a:xfrm>
          <a:prstGeom prst="rect">
            <a:avLst/>
          </a:prstGeom>
          <a:noFill/>
        </p:spPr>
        <p:txBody>
          <a:bodyPr wrap="square" lIns="45720" tIns="0" rIns="45720" bIns="0" anchor="b">
            <a:noAutofit/>
          </a:bodyPr>
          <a:lstStyle/>
          <a:p>
            <a:pPr algn="l"/>
            <a:r>
              <a:rPr lang="en-GB" sz="1400" dirty="0">
                <a:solidFill>
                  <a:srgbClr val="6E6E6E"/>
                </a:solidFill>
              </a:rPr>
              <a:t>Planner</a:t>
            </a:r>
          </a:p>
        </p:txBody>
      </p:sp>
      <p:sp>
        <p:nvSpPr>
          <p:cNvPr id="21" name="Label"/>
          <p:cNvSpPr txBox="1"/>
          <p:nvPr/>
        </p:nvSpPr>
        <p:spPr>
          <a:xfrm>
            <a:off x="862279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Learned prior</a:t>
            </a:r>
          </a:p>
        </p:txBody>
      </p:sp>
      <p:sp>
        <p:nvSpPr>
          <p:cNvPr id="22" name="Label"/>
          <p:cNvSpPr txBox="1"/>
          <p:nvPr/>
        </p:nvSpPr>
        <p:spPr>
          <a:xfrm>
            <a:off x="9491472" y="2103120"/>
            <a:ext cx="1234440" cy="502920"/>
          </a:xfrm>
          <a:prstGeom prst="rect">
            <a:avLst/>
          </a:prstGeom>
          <a:noFill/>
        </p:spPr>
        <p:txBody>
          <a:bodyPr wrap="square" lIns="45720" tIns="0" rIns="45720" bIns="0" anchor="b">
            <a:noAutofit/>
          </a:bodyPr>
          <a:lstStyle/>
          <a:p>
            <a:pPr algn="ctr"/>
            <a:r>
              <a:rPr lang="en-GB" sz="1400" dirty="0">
                <a:solidFill>
                  <a:srgbClr val="6E6E6E"/>
                </a:solidFill>
              </a:rPr>
              <a:t>Requirement</a:t>
            </a:r>
          </a:p>
        </p:txBody>
      </p:sp>
      <p:sp>
        <p:nvSpPr>
          <p:cNvPr id="23" name="Label"/>
          <p:cNvSpPr txBox="1"/>
          <p:nvPr/>
        </p:nvSpPr>
        <p:spPr>
          <a:xfrm>
            <a:off x="1072591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Endpoint pin</a:t>
            </a:r>
          </a:p>
        </p:txBody>
      </p:sp>
      <p:cxnSp>
        <p:nvCxnSpPr>
          <p:cNvPr id="24" name="Rule"/>
          <p:cNvCxnSpPr/>
          <p:nvPr/>
        </p:nvCxnSpPr>
        <p:spPr>
          <a:xfrm>
            <a:off x="5742432" y="2670048"/>
            <a:ext cx="5852160" cy="0"/>
          </a:xfrm>
          <a:prstGeom prst="straightConnector1">
            <a:avLst/>
          </a:prstGeom>
          <a:ln w="9525">
            <a:solidFill>
              <a:srgbClr val="D2D2D2"/>
            </a:solidFill>
          </a:ln>
        </p:spPr>
      </p:cxnSp>
      <p:sp>
        <p:nvSpPr>
          <p:cNvPr id="25" name="Label"/>
          <p:cNvSpPr txBox="1"/>
          <p:nvPr/>
        </p:nvSpPr>
        <p:spPr>
          <a:xfrm>
            <a:off x="5742432" y="2743200"/>
            <a:ext cx="2880360" cy="566928"/>
          </a:xfrm>
          <a:prstGeom prst="rect">
            <a:avLst/>
          </a:prstGeom>
          <a:noFill/>
        </p:spPr>
        <p:txBody>
          <a:bodyPr wrap="square" lIns="45720" tIns="0" rIns="45720" bIns="0" anchor="ctr">
            <a:noAutofit/>
          </a:bodyPr>
          <a:lstStyle/>
          <a:p>
            <a:pPr algn="l"/>
            <a:r>
              <a:rPr lang="en-GB" sz="1500" b="1" dirty="0">
                <a:solidFill>
                  <a:srgbClr val="9A9A9A"/>
                </a:solidFill>
              </a:rPr>
              <a:t>Endpoint-inpaint planner</a:t>
            </a:r>
          </a:p>
        </p:txBody>
      </p:sp>
      <p:sp>
        <p:nvSpPr>
          <p:cNvPr id="26" name="Label"/>
          <p:cNvSpPr txBox="1"/>
          <p:nvPr/>
        </p:nvSpPr>
        <p:spPr>
          <a:xfrm>
            <a:off x="862279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27" name="Label"/>
          <p:cNvSpPr txBox="1"/>
          <p:nvPr/>
        </p:nvSpPr>
        <p:spPr>
          <a:xfrm>
            <a:off x="9491472" y="2743200"/>
            <a:ext cx="1234440" cy="566928"/>
          </a:xfrm>
          <a:prstGeom prst="rect">
            <a:avLst/>
          </a:prstGeom>
          <a:noFill/>
        </p:spPr>
        <p:txBody>
          <a:bodyPr wrap="square" lIns="45720" tIns="0" rIns="45720" bIns="0" anchor="ctr">
            <a:noAutofit/>
          </a:bodyPr>
          <a:lstStyle/>
          <a:p>
            <a:pPr algn="ctr"/>
            <a:endParaRPr/>
          </a:p>
        </p:txBody>
      </p:sp>
      <p:sp>
        <p:nvSpPr>
          <p:cNvPr id="28" name="Label"/>
          <p:cNvSpPr txBox="1"/>
          <p:nvPr/>
        </p:nvSpPr>
        <p:spPr>
          <a:xfrm>
            <a:off x="1072591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cxnSp>
        <p:nvCxnSpPr>
          <p:cNvPr id="29" name="Rule"/>
          <p:cNvCxnSpPr/>
          <p:nvPr/>
        </p:nvCxnSpPr>
        <p:spPr>
          <a:xfrm>
            <a:off x="5742432" y="3401568"/>
            <a:ext cx="5852160" cy="0"/>
          </a:xfrm>
          <a:prstGeom prst="straightConnector1">
            <a:avLst/>
          </a:prstGeom>
          <a:ln w="9525">
            <a:solidFill>
              <a:srgbClr val="D2D2D2"/>
            </a:solidFill>
          </a:ln>
        </p:spPr>
      </p:cxnSp>
      <p:sp>
        <p:nvSpPr>
          <p:cNvPr id="30" name="Label"/>
          <p:cNvSpPr txBox="1"/>
          <p:nvPr/>
        </p:nvSpPr>
        <p:spPr>
          <a:xfrm>
            <a:off x="5742432" y="3474720"/>
            <a:ext cx="2880360" cy="566928"/>
          </a:xfrm>
          <a:prstGeom prst="rect">
            <a:avLst/>
          </a:prstGeom>
          <a:noFill/>
        </p:spPr>
        <p:txBody>
          <a:bodyPr wrap="square" lIns="45720" tIns="0" rIns="45720" bIns="0" anchor="ctr">
            <a:noAutofit/>
          </a:bodyPr>
          <a:lstStyle/>
          <a:p>
            <a:pPr algn="l"/>
            <a:r>
              <a:rPr lang="en-GB" sz="1500" b="1" dirty="0">
                <a:solidFill>
                  <a:srgbClr val="1954A6"/>
                </a:solidFill>
              </a:rPr>
              <a:t>STL-FM</a:t>
            </a:r>
          </a:p>
        </p:txBody>
      </p:sp>
      <p:sp>
        <p:nvSpPr>
          <p:cNvPr id="31" name="Label"/>
          <p:cNvSpPr txBox="1"/>
          <p:nvPr/>
        </p:nvSpPr>
        <p:spPr>
          <a:xfrm>
            <a:off x="862279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2" name="Label"/>
          <p:cNvSpPr txBox="1"/>
          <p:nvPr/>
        </p:nvSpPr>
        <p:spPr>
          <a:xfrm>
            <a:off x="9491472" y="347472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3" name="Label"/>
          <p:cNvSpPr txBox="1"/>
          <p:nvPr/>
        </p:nvSpPr>
        <p:spPr>
          <a:xfrm>
            <a:off x="10725912" y="3474720"/>
            <a:ext cx="868680" cy="566928"/>
          </a:xfrm>
          <a:prstGeom prst="rect">
            <a:avLst/>
          </a:prstGeom>
          <a:noFill/>
        </p:spPr>
        <p:txBody>
          <a:bodyPr wrap="square" lIns="45720" tIns="0" rIns="45720" bIns="0" anchor="ctr">
            <a:noAutofit/>
          </a:bodyPr>
          <a:lstStyle/>
          <a:p>
            <a:pPr algn="ctr"/>
            <a:endParaRPr/>
          </a:p>
        </p:txBody>
      </p:sp>
      <p:cxnSp>
        <p:nvCxnSpPr>
          <p:cNvPr id="34" name="Rule"/>
          <p:cNvCxnSpPr/>
          <p:nvPr/>
        </p:nvCxnSpPr>
        <p:spPr>
          <a:xfrm>
            <a:off x="5742432" y="4133088"/>
            <a:ext cx="5852160" cy="0"/>
          </a:xfrm>
          <a:prstGeom prst="straightConnector1">
            <a:avLst/>
          </a:prstGeom>
          <a:ln w="9525">
            <a:solidFill>
              <a:srgbClr val="D2D2D2"/>
            </a:solidFill>
          </a:ln>
        </p:spPr>
      </p:cxnSp>
      <p:sp>
        <p:nvSpPr>
          <p:cNvPr id="35" name="Label"/>
          <p:cNvSpPr txBox="1"/>
          <p:nvPr/>
        </p:nvSpPr>
        <p:spPr>
          <a:xfrm>
            <a:off x="5742432" y="4206240"/>
            <a:ext cx="2880360" cy="566928"/>
          </a:xfrm>
          <a:prstGeom prst="rect">
            <a:avLst/>
          </a:prstGeom>
          <a:noFill/>
        </p:spPr>
        <p:txBody>
          <a:bodyPr wrap="square" lIns="45720" tIns="0" rIns="45720" bIns="0" anchor="ctr">
            <a:noAutofit/>
          </a:bodyPr>
          <a:lstStyle/>
          <a:p>
            <a:pPr algn="l"/>
            <a:r>
              <a:rPr lang="en-GB" sz="1500" b="1" dirty="0">
                <a:solidFill>
                  <a:srgbClr val="D85497"/>
                </a:solidFill>
              </a:rPr>
              <a:t>STL Optimizer (no-prior)</a:t>
            </a:r>
          </a:p>
        </p:txBody>
      </p:sp>
      <p:sp>
        <p:nvSpPr>
          <p:cNvPr id="36" name="Label"/>
          <p:cNvSpPr txBox="1"/>
          <p:nvPr/>
        </p:nvSpPr>
        <p:spPr>
          <a:xfrm>
            <a:off x="8622792" y="4206240"/>
            <a:ext cx="868680" cy="566928"/>
          </a:xfrm>
          <a:prstGeom prst="rect">
            <a:avLst/>
          </a:prstGeom>
          <a:noFill/>
        </p:spPr>
        <p:txBody>
          <a:bodyPr wrap="square" lIns="45720" tIns="0" rIns="45720" bIns="0" anchor="ctr">
            <a:noAutofit/>
          </a:bodyPr>
          <a:lstStyle/>
          <a:p>
            <a:pPr algn="ctr"/>
            <a:endParaRPr/>
          </a:p>
        </p:txBody>
      </p:sp>
      <p:sp>
        <p:nvSpPr>
          <p:cNvPr id="37" name="Label"/>
          <p:cNvSpPr txBox="1"/>
          <p:nvPr/>
        </p:nvSpPr>
        <p:spPr>
          <a:xfrm>
            <a:off x="9491472" y="420624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8" name="Label"/>
          <p:cNvSpPr txBox="1"/>
          <p:nvPr/>
        </p:nvSpPr>
        <p:spPr>
          <a:xfrm>
            <a:off x="10725912" y="4206240"/>
            <a:ext cx="868680" cy="566928"/>
          </a:xfrm>
          <a:prstGeom prst="rect">
            <a:avLst/>
          </a:prstGeom>
          <a:noFill/>
        </p:spPr>
        <p:txBody>
          <a:bodyPr wrap="square" lIns="45720" tIns="0" rIns="45720" bIns="0" anchor="ctr">
            <a:noAutofit/>
          </a:bodyPr>
          <a:lstStyle/>
          <a:p>
            <a:pPr algn="ctr"/>
            <a:endParaRPr/>
          </a:p>
        </p:txBody>
      </p:sp>
      <p:cxnSp>
        <p:nvCxnSpPr>
          <p:cNvPr id="39" name="Rule"/>
          <p:cNvCxnSpPr/>
          <p:nvPr/>
        </p:nvCxnSpPr>
        <p:spPr>
          <a:xfrm>
            <a:off x="5742432" y="4864608"/>
            <a:ext cx="5852160" cy="0"/>
          </a:xfrm>
          <a:prstGeom prst="straightConnector1">
            <a:avLst/>
          </a:prstGeom>
          <a:ln w="9525">
            <a:solidFill>
              <a:srgbClr val="D2D2D2"/>
            </a:solidFill>
          </a:ln>
        </p:spPr>
      </p:cxnSp>
      <p:sp>
        <p:nvSpPr>
          <p:cNvPr id="40" name="Label"/>
          <p:cNvSpPr txBox="1"/>
          <p:nvPr/>
        </p:nvSpPr>
        <p:spPr>
          <a:xfrm>
            <a:off x="5742432" y="5029200"/>
            <a:ext cx="5669280" cy="548640"/>
          </a:xfrm>
          <a:prstGeom prst="rect">
            <a:avLst/>
          </a:prstGeom>
          <a:noFill/>
        </p:spPr>
        <p:txBody>
          <a:bodyPr wrap="square" lIns="45720" tIns="0" rIns="45720" bIns="0" anchor="t">
            <a:noAutofit/>
          </a:bodyPr>
          <a:lstStyle/>
          <a:p>
            <a:pPr algn="l"/>
            <a:r>
              <a:rPr lang="en-GB" sz="1300" dirty="0">
                <a:solidFill>
                  <a:srgbClr val="6E6E6E"/>
                </a:solidFill>
              </a:rPr>
              <a:t>STL-FM with endpoint pin differs from STL-FM in satisfaction rate by at most 0.05 on any of the six classes (backup)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Six requirement classes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29</a:t>
            </a:fld>
            <a:endParaRPr lang="en-GB"/>
          </a:p>
        </p:txBody>
      </p:sp>
      <p:sp>
        <p:nvSpPr>
          <p:cNvPr id="14" name="Label"/>
          <p:cNvSpPr txBox="1"/>
          <p:nvPr/>
        </p:nvSpPr>
        <p:spPr>
          <a:xfrm>
            <a:off x="100584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Reach</a:t>
            </a:r>
          </a:p>
        </p:txBody>
      </p:sp>
      <p:pic>
        <p:nvPicPr>
          <p:cNvPr id="15" name="Equation" descr="Formula, Reach"/>
          <p:cNvPicPr>
            <a:picLocks noChangeAspect="1"/>
          </p:cNvPicPr>
          <p:nvPr/>
        </p:nvPicPr>
        <p:blipFill>
          <a:blip r:embed="rId3"/>
          <a:stretch>
            <a:fillRect/>
          </a:stretch>
        </p:blipFill>
        <p:spPr>
          <a:xfrm>
            <a:off x="2060943" y="2066544"/>
            <a:ext cx="998753" cy="212446"/>
          </a:xfrm>
          <a:prstGeom prst="rect">
            <a:avLst/>
          </a:prstGeom>
        </p:spPr>
      </p:pic>
      <p:pic>
        <p:nvPicPr>
          <p:cNvPr id="16" name="Figure" descr="STL-FM plans, Reach"/>
          <p:cNvPicPr>
            <a:picLocks noChangeAspect="1"/>
          </p:cNvPicPr>
          <p:nvPr/>
        </p:nvPicPr>
        <p:blipFill>
          <a:blip r:embed="rId4"/>
          <a:stretch>
            <a:fillRect/>
          </a:stretch>
        </p:blipFill>
        <p:spPr>
          <a:xfrm>
            <a:off x="1175393" y="2304288"/>
            <a:ext cx="1160510" cy="1261872"/>
          </a:xfrm>
          <a:prstGeom prst="rect">
            <a:avLst/>
          </a:prstGeom>
        </p:spPr>
      </p:pic>
      <p:sp>
        <p:nvSpPr>
          <p:cNvPr id="17" name="Label"/>
          <p:cNvSpPr txBox="1"/>
          <p:nvPr/>
        </p:nvSpPr>
        <p:spPr>
          <a:xfrm>
            <a:off x="100584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18" name="Figure" descr="STL Optimizer plans, Reach"/>
          <p:cNvPicPr>
            <a:picLocks noChangeAspect="1"/>
          </p:cNvPicPr>
          <p:nvPr/>
        </p:nvPicPr>
        <p:blipFill>
          <a:blip r:embed="rId5"/>
          <a:stretch>
            <a:fillRect/>
          </a:stretch>
        </p:blipFill>
        <p:spPr>
          <a:xfrm>
            <a:off x="2748161" y="2304288"/>
            <a:ext cx="1160510" cy="1261872"/>
          </a:xfrm>
          <a:prstGeom prst="rect">
            <a:avLst/>
          </a:prstGeom>
        </p:spPr>
      </p:pic>
      <p:sp>
        <p:nvSpPr>
          <p:cNvPr id="19" name="Label"/>
          <p:cNvSpPr txBox="1"/>
          <p:nvPr/>
        </p:nvSpPr>
        <p:spPr>
          <a:xfrm>
            <a:off x="257860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20" name="Label"/>
          <p:cNvSpPr txBox="1"/>
          <p:nvPr/>
        </p:nvSpPr>
        <p:spPr>
          <a:xfrm>
            <a:off x="448056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Nested reach-and-dwell</a:t>
            </a:r>
          </a:p>
        </p:txBody>
      </p:sp>
      <p:pic>
        <p:nvPicPr>
          <p:cNvPr id="21" name="Equation" descr="Formula, Nested reach-and-dwell"/>
          <p:cNvPicPr>
            <a:picLocks noChangeAspect="1"/>
          </p:cNvPicPr>
          <p:nvPr/>
        </p:nvPicPr>
        <p:blipFill>
          <a:blip r:embed="rId6"/>
          <a:stretch>
            <a:fillRect/>
          </a:stretch>
        </p:blipFill>
        <p:spPr>
          <a:xfrm>
            <a:off x="5296014" y="2066544"/>
            <a:ext cx="1478051" cy="212446"/>
          </a:xfrm>
          <a:prstGeom prst="rect">
            <a:avLst/>
          </a:prstGeom>
        </p:spPr>
      </p:pic>
      <p:pic>
        <p:nvPicPr>
          <p:cNvPr id="22" name="Figure" descr="STL-FM plans, Nested reach-and-dwell"/>
          <p:cNvPicPr>
            <a:picLocks noChangeAspect="1"/>
          </p:cNvPicPr>
          <p:nvPr/>
        </p:nvPicPr>
        <p:blipFill>
          <a:blip r:embed="rId7"/>
          <a:stretch>
            <a:fillRect/>
          </a:stretch>
        </p:blipFill>
        <p:spPr>
          <a:xfrm>
            <a:off x="4650113" y="2304288"/>
            <a:ext cx="1160510" cy="1261872"/>
          </a:xfrm>
          <a:prstGeom prst="rect">
            <a:avLst/>
          </a:prstGeom>
        </p:spPr>
      </p:pic>
      <p:sp>
        <p:nvSpPr>
          <p:cNvPr id="23" name="Label"/>
          <p:cNvSpPr txBox="1"/>
          <p:nvPr/>
        </p:nvSpPr>
        <p:spPr>
          <a:xfrm>
            <a:off x="448056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24" name="Figure" descr="STL Optimizer plans, Nested reach-and-dwell"/>
          <p:cNvPicPr>
            <a:picLocks noChangeAspect="1"/>
          </p:cNvPicPr>
          <p:nvPr/>
        </p:nvPicPr>
        <p:blipFill>
          <a:blip r:embed="rId8"/>
          <a:stretch>
            <a:fillRect/>
          </a:stretch>
        </p:blipFill>
        <p:spPr>
          <a:xfrm>
            <a:off x="6222881" y="2304288"/>
            <a:ext cx="1160510" cy="1261872"/>
          </a:xfrm>
          <a:prstGeom prst="rect">
            <a:avLst/>
          </a:prstGeom>
        </p:spPr>
      </p:pic>
      <p:sp>
        <p:nvSpPr>
          <p:cNvPr id="25" name="Label"/>
          <p:cNvSpPr txBox="1"/>
          <p:nvPr/>
        </p:nvSpPr>
        <p:spPr>
          <a:xfrm>
            <a:off x="605332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26" name="Label"/>
          <p:cNvSpPr txBox="1"/>
          <p:nvPr/>
        </p:nvSpPr>
        <p:spPr>
          <a:xfrm>
            <a:off x="7955280" y="1828800"/>
            <a:ext cx="3108960" cy="219456"/>
          </a:xfrm>
          <a:prstGeom prst="rect">
            <a:avLst/>
          </a:prstGeom>
          <a:noFill/>
        </p:spPr>
        <p:txBody>
          <a:bodyPr wrap="square" lIns="45720" tIns="0" rIns="45720" bIns="0" anchor="t">
            <a:noAutofit/>
          </a:bodyPr>
          <a:lstStyle/>
          <a:p>
            <a:pPr algn="ctr"/>
            <a:r>
              <a:rPr lang="en-GB" sz="1300" b="1" dirty="0">
                <a:solidFill>
                  <a:srgbClr val="262626"/>
                </a:solidFill>
              </a:rPr>
              <a:t>Recurrence</a:t>
            </a:r>
          </a:p>
        </p:txBody>
      </p:sp>
      <p:pic>
        <p:nvPicPr>
          <p:cNvPr id="27" name="Equation" descr="Formula, Recurrence"/>
          <p:cNvPicPr>
            <a:picLocks noChangeAspect="1"/>
          </p:cNvPicPr>
          <p:nvPr/>
        </p:nvPicPr>
        <p:blipFill>
          <a:blip r:embed="rId9"/>
          <a:stretch>
            <a:fillRect/>
          </a:stretch>
        </p:blipFill>
        <p:spPr>
          <a:xfrm>
            <a:off x="8770734" y="2066544"/>
            <a:ext cx="1478051" cy="212446"/>
          </a:xfrm>
          <a:prstGeom prst="rect">
            <a:avLst/>
          </a:prstGeom>
        </p:spPr>
      </p:pic>
      <p:pic>
        <p:nvPicPr>
          <p:cNvPr id="28" name="Figure" descr="STL-FM plans, Recurrence"/>
          <p:cNvPicPr>
            <a:picLocks noChangeAspect="1"/>
          </p:cNvPicPr>
          <p:nvPr/>
        </p:nvPicPr>
        <p:blipFill>
          <a:blip r:embed="rId10"/>
          <a:stretch>
            <a:fillRect/>
          </a:stretch>
        </p:blipFill>
        <p:spPr>
          <a:xfrm>
            <a:off x="8124833" y="2304288"/>
            <a:ext cx="1160510" cy="1261872"/>
          </a:xfrm>
          <a:prstGeom prst="rect">
            <a:avLst/>
          </a:prstGeom>
        </p:spPr>
      </p:pic>
      <p:sp>
        <p:nvSpPr>
          <p:cNvPr id="29" name="Label"/>
          <p:cNvSpPr txBox="1"/>
          <p:nvPr/>
        </p:nvSpPr>
        <p:spPr>
          <a:xfrm>
            <a:off x="7955280"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30" name="Figure" descr="STL Optimizer plans, Recurrence"/>
          <p:cNvPicPr>
            <a:picLocks noChangeAspect="1"/>
          </p:cNvPicPr>
          <p:nvPr/>
        </p:nvPicPr>
        <p:blipFill>
          <a:blip r:embed="rId11"/>
          <a:stretch>
            <a:fillRect/>
          </a:stretch>
        </p:blipFill>
        <p:spPr>
          <a:xfrm>
            <a:off x="9697601" y="2304288"/>
            <a:ext cx="1160510" cy="1261872"/>
          </a:xfrm>
          <a:prstGeom prst="rect">
            <a:avLst/>
          </a:prstGeom>
        </p:spPr>
      </p:pic>
      <p:sp>
        <p:nvSpPr>
          <p:cNvPr id="31" name="Label"/>
          <p:cNvSpPr txBox="1"/>
          <p:nvPr/>
        </p:nvSpPr>
        <p:spPr>
          <a:xfrm>
            <a:off x="9528048" y="3566160"/>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32" name="Label"/>
          <p:cNvSpPr txBox="1"/>
          <p:nvPr/>
        </p:nvSpPr>
        <p:spPr>
          <a:xfrm>
            <a:off x="100584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Sequence</a:t>
            </a:r>
          </a:p>
        </p:txBody>
      </p:sp>
      <p:pic>
        <p:nvPicPr>
          <p:cNvPr id="33" name="Equation" descr="Formula, Sequence"/>
          <p:cNvPicPr>
            <a:picLocks noChangeAspect="1"/>
          </p:cNvPicPr>
          <p:nvPr/>
        </p:nvPicPr>
        <p:blipFill>
          <a:blip r:embed="rId12"/>
          <a:stretch>
            <a:fillRect/>
          </a:stretch>
        </p:blipFill>
        <p:spPr>
          <a:xfrm>
            <a:off x="1207275" y="4050792"/>
            <a:ext cx="2706091" cy="212446"/>
          </a:xfrm>
          <a:prstGeom prst="rect">
            <a:avLst/>
          </a:prstGeom>
        </p:spPr>
      </p:pic>
      <p:pic>
        <p:nvPicPr>
          <p:cNvPr id="34" name="Figure" descr="STL-FM plans, Sequence"/>
          <p:cNvPicPr>
            <a:picLocks noChangeAspect="1"/>
          </p:cNvPicPr>
          <p:nvPr/>
        </p:nvPicPr>
        <p:blipFill>
          <a:blip r:embed="rId13"/>
          <a:stretch>
            <a:fillRect/>
          </a:stretch>
        </p:blipFill>
        <p:spPr>
          <a:xfrm>
            <a:off x="1175393" y="4288536"/>
            <a:ext cx="1160510" cy="1261872"/>
          </a:xfrm>
          <a:prstGeom prst="rect">
            <a:avLst/>
          </a:prstGeom>
        </p:spPr>
      </p:pic>
      <p:sp>
        <p:nvSpPr>
          <p:cNvPr id="35" name="Label"/>
          <p:cNvSpPr txBox="1"/>
          <p:nvPr/>
        </p:nvSpPr>
        <p:spPr>
          <a:xfrm>
            <a:off x="100584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36" name="Figure" descr="STL Optimizer plans, Sequence"/>
          <p:cNvPicPr>
            <a:picLocks noChangeAspect="1"/>
          </p:cNvPicPr>
          <p:nvPr/>
        </p:nvPicPr>
        <p:blipFill>
          <a:blip r:embed="rId14"/>
          <a:stretch>
            <a:fillRect/>
          </a:stretch>
        </p:blipFill>
        <p:spPr>
          <a:xfrm>
            <a:off x="2748161" y="4288536"/>
            <a:ext cx="1160510" cy="1261872"/>
          </a:xfrm>
          <a:prstGeom prst="rect">
            <a:avLst/>
          </a:prstGeom>
        </p:spPr>
      </p:pic>
      <p:sp>
        <p:nvSpPr>
          <p:cNvPr id="37" name="Label"/>
          <p:cNvSpPr txBox="1"/>
          <p:nvPr/>
        </p:nvSpPr>
        <p:spPr>
          <a:xfrm>
            <a:off x="257860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38" name="Label"/>
          <p:cNvSpPr txBox="1"/>
          <p:nvPr/>
        </p:nvSpPr>
        <p:spPr>
          <a:xfrm>
            <a:off x="448056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Sequence with avoidance</a:t>
            </a:r>
          </a:p>
        </p:txBody>
      </p:sp>
      <p:pic>
        <p:nvPicPr>
          <p:cNvPr id="39" name="Equation" descr="Formula, Sequence with avoidance"/>
          <p:cNvPicPr>
            <a:picLocks noChangeAspect="1"/>
          </p:cNvPicPr>
          <p:nvPr/>
        </p:nvPicPr>
        <p:blipFill>
          <a:blip r:embed="rId15"/>
          <a:stretch>
            <a:fillRect/>
          </a:stretch>
        </p:blipFill>
        <p:spPr>
          <a:xfrm>
            <a:off x="4526280" y="4050792"/>
            <a:ext cx="3017520" cy="174224"/>
          </a:xfrm>
          <a:prstGeom prst="rect">
            <a:avLst/>
          </a:prstGeom>
        </p:spPr>
      </p:pic>
      <p:pic>
        <p:nvPicPr>
          <p:cNvPr id="40" name="Figure" descr="STL-FM plans, Sequence with avoidance"/>
          <p:cNvPicPr>
            <a:picLocks noChangeAspect="1"/>
          </p:cNvPicPr>
          <p:nvPr/>
        </p:nvPicPr>
        <p:blipFill>
          <a:blip r:embed="rId16"/>
          <a:stretch>
            <a:fillRect/>
          </a:stretch>
        </p:blipFill>
        <p:spPr>
          <a:xfrm>
            <a:off x="4650113" y="4288536"/>
            <a:ext cx="1160510" cy="1261872"/>
          </a:xfrm>
          <a:prstGeom prst="rect">
            <a:avLst/>
          </a:prstGeom>
        </p:spPr>
      </p:pic>
      <p:sp>
        <p:nvSpPr>
          <p:cNvPr id="41" name="Label"/>
          <p:cNvSpPr txBox="1"/>
          <p:nvPr/>
        </p:nvSpPr>
        <p:spPr>
          <a:xfrm>
            <a:off x="448056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42" name="Figure" descr="STL Optimizer plans, Sequence with avoidance"/>
          <p:cNvPicPr>
            <a:picLocks noChangeAspect="1"/>
          </p:cNvPicPr>
          <p:nvPr/>
        </p:nvPicPr>
        <p:blipFill>
          <a:blip r:embed="rId17"/>
          <a:stretch>
            <a:fillRect/>
          </a:stretch>
        </p:blipFill>
        <p:spPr>
          <a:xfrm>
            <a:off x="6222881" y="4288536"/>
            <a:ext cx="1160510" cy="1261872"/>
          </a:xfrm>
          <a:prstGeom prst="rect">
            <a:avLst/>
          </a:prstGeom>
        </p:spPr>
      </p:pic>
      <p:sp>
        <p:nvSpPr>
          <p:cNvPr id="43" name="Label"/>
          <p:cNvSpPr txBox="1"/>
          <p:nvPr/>
        </p:nvSpPr>
        <p:spPr>
          <a:xfrm>
            <a:off x="605332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44" name="Label"/>
          <p:cNvSpPr txBox="1"/>
          <p:nvPr/>
        </p:nvSpPr>
        <p:spPr>
          <a:xfrm>
            <a:off x="7955280" y="3813048"/>
            <a:ext cx="3108960" cy="219456"/>
          </a:xfrm>
          <a:prstGeom prst="rect">
            <a:avLst/>
          </a:prstGeom>
          <a:noFill/>
        </p:spPr>
        <p:txBody>
          <a:bodyPr wrap="square" lIns="45720" tIns="0" rIns="45720" bIns="0" anchor="t">
            <a:noAutofit/>
          </a:bodyPr>
          <a:lstStyle/>
          <a:p>
            <a:pPr algn="ctr"/>
            <a:r>
              <a:rPr lang="en-GB" sz="1300" b="1" dirty="0">
                <a:solidFill>
                  <a:srgbClr val="262626"/>
                </a:solidFill>
              </a:rPr>
              <a:t>Composite</a:t>
            </a:r>
          </a:p>
        </p:txBody>
      </p:sp>
      <p:pic>
        <p:nvPicPr>
          <p:cNvPr id="45" name="Equation" descr="Formula, Composite"/>
          <p:cNvPicPr>
            <a:picLocks noChangeAspect="1"/>
          </p:cNvPicPr>
          <p:nvPr/>
        </p:nvPicPr>
        <p:blipFill>
          <a:blip r:embed="rId18"/>
          <a:stretch>
            <a:fillRect/>
          </a:stretch>
        </p:blipFill>
        <p:spPr>
          <a:xfrm>
            <a:off x="8001000" y="4050792"/>
            <a:ext cx="3017520" cy="125069"/>
          </a:xfrm>
          <a:prstGeom prst="rect">
            <a:avLst/>
          </a:prstGeom>
        </p:spPr>
      </p:pic>
      <p:pic>
        <p:nvPicPr>
          <p:cNvPr id="46" name="Figure" descr="STL-FM plans, Composite"/>
          <p:cNvPicPr>
            <a:picLocks noChangeAspect="1"/>
          </p:cNvPicPr>
          <p:nvPr/>
        </p:nvPicPr>
        <p:blipFill>
          <a:blip r:embed="rId19"/>
          <a:stretch>
            <a:fillRect/>
          </a:stretch>
        </p:blipFill>
        <p:spPr>
          <a:xfrm>
            <a:off x="8124833" y="4288536"/>
            <a:ext cx="1160510" cy="1261872"/>
          </a:xfrm>
          <a:prstGeom prst="rect">
            <a:avLst/>
          </a:prstGeom>
        </p:spPr>
      </p:pic>
      <p:sp>
        <p:nvSpPr>
          <p:cNvPr id="47" name="Label"/>
          <p:cNvSpPr txBox="1"/>
          <p:nvPr/>
        </p:nvSpPr>
        <p:spPr>
          <a:xfrm>
            <a:off x="7955280"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STL-FM</a:t>
            </a:r>
          </a:p>
        </p:txBody>
      </p:sp>
      <p:pic>
        <p:nvPicPr>
          <p:cNvPr id="48" name="Figure" descr="STL Optimizer plans, Composite"/>
          <p:cNvPicPr>
            <a:picLocks noChangeAspect="1"/>
          </p:cNvPicPr>
          <p:nvPr/>
        </p:nvPicPr>
        <p:blipFill>
          <a:blip r:embed="rId20"/>
          <a:stretch>
            <a:fillRect/>
          </a:stretch>
        </p:blipFill>
        <p:spPr>
          <a:xfrm>
            <a:off x="9697601" y="4288536"/>
            <a:ext cx="1160510" cy="1261872"/>
          </a:xfrm>
          <a:prstGeom prst="rect">
            <a:avLst/>
          </a:prstGeom>
        </p:spPr>
      </p:pic>
      <p:sp>
        <p:nvSpPr>
          <p:cNvPr id="49" name="Label"/>
          <p:cNvSpPr txBox="1"/>
          <p:nvPr/>
        </p:nvSpPr>
        <p:spPr>
          <a:xfrm>
            <a:off x="9528048" y="5550408"/>
            <a:ext cx="1499616" cy="182880"/>
          </a:xfrm>
          <a:prstGeom prst="rect">
            <a:avLst/>
          </a:prstGeom>
          <a:noFill/>
        </p:spPr>
        <p:txBody>
          <a:bodyPr wrap="square" lIns="45720" tIns="0" rIns="45720" bIns="0" anchor="t">
            <a:noAutofit/>
          </a:bodyPr>
          <a:lstStyle/>
          <a:p>
            <a:pPr algn="ctr"/>
            <a:r>
              <a:rPr lang="en-GB" sz="1000" dirty="0">
                <a:solidFill>
                  <a:srgbClr val="6E6E6E"/>
                </a:solidFill>
              </a:rPr>
              <a:t>STL Optimizer</a:t>
            </a:r>
          </a:p>
        </p:txBody>
      </p:sp>
      <p:sp>
        <p:nvSpPr>
          <p:cNvPr id="5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One learned prior and one constant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are used for all six requirement classes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time to satisfaction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30</a:t>
            </a:fld>
            <a:endParaRPr lang="en-GB"/>
          </a:p>
        </p:txBody>
      </p:sp>
      <p:pic>
        <p:nvPicPr>
          <p:cNvPr id="14" name="Figure" descr="Satisfaction rate per class for three planners"/>
          <p:cNvPicPr>
            <a:picLocks noChangeAspect="1"/>
          </p:cNvPicPr>
          <p:nvPr/>
        </p:nvPicPr>
        <p:blipFill>
          <a:blip r:embed="rId3"/>
          <a:stretch>
            <a:fillRect/>
          </a:stretch>
        </p:blipFill>
        <p:spPr>
          <a:xfrm>
            <a:off x="2555748" y="1874520"/>
            <a:ext cx="7086600" cy="2514600"/>
          </a:xfrm>
          <a:prstGeom prst="rect">
            <a:avLst/>
          </a:prstGeom>
        </p:spPr>
      </p:pic>
      <p:pic>
        <p:nvPicPr>
          <p:cNvPr id="15" name="Figure" descr="First satisfaction in estimated seconds, per class, for STL-FM and the STL Optimizer"/>
          <p:cNvPicPr>
            <a:picLocks noChangeAspect="1"/>
          </p:cNvPicPr>
          <p:nvPr/>
        </p:nvPicPr>
        <p:blipFill>
          <a:blip r:embed="rId4"/>
          <a:stretch>
            <a:fillRect/>
          </a:stretch>
        </p:blipFill>
        <p:spPr>
          <a:xfrm>
            <a:off x="3264408" y="4526280"/>
            <a:ext cx="5669280" cy="1188720"/>
          </a:xfrm>
          <a:prstGeom prst="rect">
            <a:avLst/>
          </a:prstGeom>
        </p:spPr>
      </p:pic>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satisfies most classes at comparable rates and plans 5 to 25 times faster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Arena excursion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31</a:t>
            </a:fld>
            <a:endParaRPr lang="en-GB"/>
          </a:p>
        </p:txBody>
      </p:sp>
      <p:sp>
        <p:nvSpPr>
          <p:cNvPr id="14" name="Label"/>
          <p:cNvSpPr txBox="1"/>
          <p:nvPr/>
        </p:nvSpPr>
        <p:spPr>
          <a:xfrm>
            <a:off x="109728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 Optimizer</a:t>
            </a:r>
          </a:p>
        </p:txBody>
      </p:sp>
      <p:pic>
        <p:nvPicPr>
          <p:cNvPr id="15" name="Figure" descr="STL Optimizer, sequence with avoidance"/>
          <p:cNvPicPr>
            <a:picLocks noChangeAspect="1"/>
          </p:cNvPicPr>
          <p:nvPr/>
        </p:nvPicPr>
        <p:blipFill>
          <a:blip r:embed="rId3"/>
          <a:stretch>
            <a:fillRect/>
          </a:stretch>
        </p:blipFill>
        <p:spPr>
          <a:xfrm>
            <a:off x="1982035" y="2267712"/>
            <a:ext cx="2985370" cy="3246120"/>
          </a:xfrm>
          <a:prstGeom prst="rect">
            <a:avLst/>
          </a:prstGeom>
        </p:spPr>
      </p:pic>
      <p:sp>
        <p:nvSpPr>
          <p:cNvPr id="16" name="Label"/>
          <p:cNvSpPr txBox="1"/>
          <p:nvPr/>
        </p:nvSpPr>
        <p:spPr>
          <a:xfrm>
            <a:off x="630936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STL-FM</a:t>
            </a:r>
          </a:p>
        </p:txBody>
      </p:sp>
      <p:pic>
        <p:nvPicPr>
          <p:cNvPr id="17" name="Figure" descr="STL-FM, sequence with avoidance"/>
          <p:cNvPicPr>
            <a:picLocks noChangeAspect="1"/>
          </p:cNvPicPr>
          <p:nvPr/>
        </p:nvPicPr>
        <p:blipFill>
          <a:blip r:embed="rId4"/>
          <a:stretch>
            <a:fillRect/>
          </a:stretch>
        </p:blipFill>
        <p:spPr>
          <a:xfrm>
            <a:off x="7194115" y="2267712"/>
            <a:ext cx="2985370" cy="3246120"/>
          </a:xfrm>
          <a:prstGeom prst="rect">
            <a:avLst/>
          </a:prstGeom>
        </p:spPr>
      </p:pic>
      <p:sp>
        <p:nvSpPr>
          <p:cNvPr id="18" name="Label"/>
          <p:cNvSpPr txBox="1"/>
          <p:nvPr/>
        </p:nvSpPr>
        <p:spPr>
          <a:xfrm>
            <a:off x="603504" y="5550408"/>
            <a:ext cx="10991088" cy="256032"/>
          </a:xfrm>
          <a:prstGeom prst="rect">
            <a:avLst/>
          </a:prstGeom>
          <a:noFill/>
        </p:spPr>
        <p:txBody>
          <a:bodyPr wrap="square" lIns="45720" tIns="0" rIns="45720" bIns="0" anchor="t">
            <a:noAutofit/>
          </a:bodyPr>
          <a:lstStyle/>
          <a:p>
            <a:pPr algn="ctr"/>
            <a:r>
              <a:rPr lang="en-GB" sz="1300" dirty="0">
                <a:solidFill>
                  <a:srgbClr val="6E6E6E"/>
                </a:solidFill>
              </a:rPr>
              <a:t>Sequence with avoidance, 25 of 100 plans per planner, arena clipped at its edge</a:t>
            </a:r>
          </a:p>
        </p:txBody>
      </p:sp>
      <p:sp>
        <p:nvSpPr>
          <p:cNvPr id="19"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 Optimizer for sequence with avoidance leaves the arena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Underdetermination by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32</a:t>
            </a:fld>
            <a:endParaRPr lang="en-GB"/>
          </a:p>
        </p:txBody>
      </p:sp>
      <p:pic>
        <p:nvPicPr>
          <p:cNvPr id="14" name="Figure" descr="The robustness gradient acts on a few waypoints, and tails after the last window leave the score unchanged"/>
          <p:cNvPicPr>
            <a:picLocks noChangeAspect="1"/>
          </p:cNvPicPr>
          <p:nvPr/>
        </p:nvPicPr>
        <p:blipFill>
          <a:blip r:embed="rId3"/>
          <a:stretch>
            <a:fillRect/>
          </a:stretch>
        </p:blipFill>
        <p:spPr>
          <a:xfrm>
            <a:off x="1230862" y="1874520"/>
            <a:ext cx="9736372" cy="3611880"/>
          </a:xfrm>
          <a:prstGeom prst="rect">
            <a:avLst/>
          </a:prstGeom>
        </p:spPr>
      </p:pic>
      <p:sp>
        <p:nvSpPr>
          <p:cNvPr id="15" name="Label"/>
          <p:cNvSpPr txBox="1"/>
          <p:nvPr/>
        </p:nvSpPr>
        <p:spPr>
          <a:xfrm>
            <a:off x="603504" y="5522976"/>
            <a:ext cx="10991088" cy="274320"/>
          </a:xfrm>
          <a:prstGeom prst="rect">
            <a:avLst/>
          </a:prstGeom>
          <a:noFill/>
        </p:spPr>
        <p:txBody>
          <a:bodyPr wrap="square" lIns="45720" tIns="0" rIns="45720" bIns="0" anchor="t">
            <a:noAutofit/>
          </a:bodyPr>
          <a:lstStyle/>
          <a:p>
            <a:pPr algn="ctr"/>
            <a:r>
              <a:rPr lang="en-GB" sz="1500" dirty="0">
                <a:solidFill>
                  <a:srgbClr val="6E6E6E"/>
                </a:solidFill>
              </a:rPr>
              <a:t>At most m of 64 to 256 waypoints determine the score, with m between 1 and 5</a:t>
            </a:r>
          </a:p>
        </p:txBody>
      </p:sp>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Robustness alone does not determine a trajectory (backup)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33</a:t>
            </a:fld>
            <a:endParaRPr lang="en-GB"/>
          </a:p>
        </p:txBody>
      </p:sp>
      <p:pic>
        <p:nvPicPr>
          <p:cNvPr id="18" name="Video" descr="STL-FM plan executed, Nested reach-and-dwell requiremen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 nested reach-and-dwell</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The requirement and the environment’s success criterion refer to the same cube</a:t>
            </a:r>
          </a:p>
        </p:txBody>
      </p:sp>
      <p:sp>
        <p:nvSpPr>
          <p:cNvPr id="21" name="Label"/>
          <p:cNvSpPr txBox="1"/>
          <p:nvPr/>
        </p:nvSpPr>
        <p:spPr>
          <a:xfrm>
            <a:off x="603504" y="1874519"/>
            <a:ext cx="5852160" cy="292608"/>
          </a:xfrm>
          <a:prstGeom prst="rect">
            <a:avLst/>
          </a:prstGeom>
          <a:noFill/>
        </p:spPr>
        <p:txBody>
          <a:bodyPr wrap="square" lIns="45720" tIns="0" rIns="45720" bIns="0" anchor="t">
            <a:noAutofit/>
          </a:bodyPr>
          <a:lstStyle/>
          <a:p>
            <a:pPr algn="l"/>
            <a:r>
              <a:rPr lang="en-GB" sz="1600" b="1" dirty="0">
                <a:solidFill>
                  <a:srgbClr val="262626"/>
                </a:solidFill>
              </a:rPr>
              <a:t>Nested reach-and-dwell</a:t>
            </a:r>
          </a:p>
        </p:txBody>
      </p:sp>
      <p:pic>
        <p:nvPicPr>
          <p:cNvPr id="22" name="Picture 21" descr="image.png"/>
          <p:cNvPicPr>
            <a:picLocks noChangeAspect="1"/>
          </p:cNvPicPr>
          <p:nvPr/>
        </p:nvPicPr>
        <p:blipFill>
          <a:blip r:embed="rId6"/>
          <a:stretch>
            <a:fillRect/>
          </a:stretch>
        </p:blipFill>
        <p:spPr>
          <a:xfrm>
            <a:off x="731520" y="2212848"/>
            <a:ext cx="4828614" cy="305431"/>
          </a:xfrm>
          <a:prstGeom prst="rect">
            <a:avLst/>
          </a:prstGeom>
        </p:spPr>
      </p:pic>
      <p:sp>
        <p:nvSpPr>
          <p:cNvPr id="23" name="Label"/>
          <p:cNvSpPr txBox="1"/>
          <p:nvPr/>
        </p:nvSpPr>
        <p:spPr>
          <a:xfrm>
            <a:off x="603504" y="2670048"/>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a:t>
            </a:r>
          </a:p>
        </p:txBody>
      </p:sp>
      <p:pic>
        <p:nvPicPr>
          <p:cNvPr id="24" name="Picture 23" descr="image.png"/>
          <p:cNvPicPr>
            <a:picLocks noChangeAspect="1"/>
          </p:cNvPicPr>
          <p:nvPr/>
        </p:nvPicPr>
        <p:blipFill>
          <a:blip r:embed="rId7"/>
          <a:stretch>
            <a:fillRect/>
          </a:stretch>
        </p:blipFill>
        <p:spPr>
          <a:xfrm>
            <a:off x="731520" y="3008376"/>
            <a:ext cx="3458836" cy="292608"/>
          </a:xfrm>
          <a:prstGeom prst="rect">
            <a:avLst/>
          </a:prstGeom>
        </p:spPr>
      </p:pic>
      <p:sp>
        <p:nvSpPr>
          <p:cNvPr id="25" name="Label"/>
          <p:cNvSpPr txBox="1"/>
          <p:nvPr/>
        </p:nvSpPr>
        <p:spPr>
          <a:xfrm>
            <a:off x="603504" y="3465576"/>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 with avoidance</a:t>
            </a:r>
          </a:p>
        </p:txBody>
      </p:sp>
      <p:pic>
        <p:nvPicPr>
          <p:cNvPr id="26" name="Picture 25" descr="image.png"/>
          <p:cNvPicPr>
            <a:picLocks noChangeAspect="1"/>
          </p:cNvPicPr>
          <p:nvPr/>
        </p:nvPicPr>
        <p:blipFill>
          <a:blip r:embed="rId8"/>
          <a:stretch>
            <a:fillRect/>
          </a:stretch>
        </p:blipFill>
        <p:spPr>
          <a:xfrm>
            <a:off x="731520" y="3803904"/>
            <a:ext cx="5242462" cy="292608"/>
          </a:xfrm>
          <a:prstGeom prst="rect">
            <a:avLst/>
          </a:prstGeom>
        </p:spPr>
      </p:pic>
      <p:sp>
        <p:nvSpPr>
          <p:cNvPr id="27" name="Label"/>
          <p:cNvSpPr txBox="1"/>
          <p:nvPr/>
        </p:nvSpPr>
        <p:spPr>
          <a:xfrm>
            <a:off x="603504" y="4169664"/>
            <a:ext cx="6309360" cy="77724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a:p>
            <a:pPr algn="l"/>
            <a:r>
              <a:rPr lang="en-GB" sz="1400" dirty="0">
                <a:solidFill>
                  <a:srgbClr val="6E6E6E"/>
                </a:solidFill>
              </a:rPr>
              <a:t>obs, a 2 cm box 20 cm from the midpoint, which the cube must avoid</a:t>
            </a:r>
          </a:p>
        </p:txBody>
      </p:sp>
      <p:sp>
        <p:nvSpPr>
          <p:cNvPr id="28" name="Label"/>
          <p:cNvSpPr txBox="1"/>
          <p:nvPr/>
        </p:nvSpPr>
        <p:spPr>
          <a:xfrm>
            <a:off x="603504" y="4992624"/>
            <a:ext cx="6309360" cy="274320"/>
          </a:xfrm>
          <a:prstGeom prst="rect">
            <a:avLst/>
          </a:prstGeom>
          <a:noFill/>
        </p:spPr>
        <p:txBody>
          <a:bodyPr wrap="square" lIns="45720" tIns="0" rIns="45720" bIns="0" anchor="t">
            <a:noAutofit/>
          </a:bodyPr>
          <a:lstStyle/>
          <a:p>
            <a:pPr algn="l"/>
            <a:r>
              <a:rPr lang="en-GB" sz="1400" dirty="0">
                <a:solidFill>
                  <a:srgbClr val="6E6E6E"/>
                </a:solidFill>
              </a:rPr>
              <a:t>10 runs per class and planner, each plan executed in the simulator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task success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34</a:t>
            </a:fld>
            <a:endParaRPr lang="en-GB"/>
          </a:p>
        </p:txBody>
      </p:sp>
      <p:pic>
        <p:nvPicPr>
          <p:cNvPr id="14" name="Figure" descr="Logic satisfaction and task success in the cube study"/>
          <p:cNvPicPr>
            <a:picLocks noChangeAspect="1"/>
          </p:cNvPicPr>
          <p:nvPr/>
        </p:nvPicPr>
        <p:blipFill>
          <a:blip r:embed="rId3"/>
          <a:stretch>
            <a:fillRect/>
          </a:stretch>
        </p:blipFill>
        <p:spPr>
          <a:xfrm>
            <a:off x="3081943" y="1892807"/>
            <a:ext cx="6034208" cy="3904487"/>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on the plan does not imply task success on execution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Conclusions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Results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35</a:t>
            </a:fld>
            <a:endParaRPr lang="en-GB"/>
          </a:p>
        </p:txBody>
      </p:sp>
      <p:sp>
        <p:nvSpPr>
          <p:cNvPr id="14" name="Callout"/>
          <p:cNvSpPr/>
          <p:nvPr/>
        </p:nvSpPr>
        <p:spPr>
          <a:xfrm>
            <a:off x="603504" y="1901952"/>
            <a:ext cx="10991088" cy="1115568"/>
          </a:xfrm>
          <a:prstGeom prst="rect">
            <a:avLst/>
          </a:prstGeom>
          <a:solidFill>
            <a:srgbClr val="EAF0F7"/>
          </a:solidFill>
          <a:ln>
            <a:noFill/>
          </a:ln>
        </p:spPr>
        <p:txBody>
          <a:bodyPr wrap="square" lIns="64008" tIns="27432" rIns="64008" bIns="27432" anchor="ctr">
            <a:noAutofit/>
          </a:bodyPr>
          <a:lstStyle/>
          <a:p>
            <a:pPr algn="ctr"/>
            <a:endParaRPr/>
          </a:p>
        </p:txBody>
      </p:sp>
      <p:sp>
        <p:nvSpPr>
          <p:cNvPr id="15" name="Callout bar"/>
          <p:cNvSpPr/>
          <p:nvPr/>
        </p:nvSpPr>
        <p:spPr>
          <a:xfrm>
            <a:off x="603504" y="1901952"/>
            <a:ext cx="64008" cy="1115568"/>
          </a:xfrm>
          <a:prstGeom prst="rect">
            <a:avLst/>
          </a:prstGeom>
          <a:solidFill>
            <a:srgbClr val="1954A6"/>
          </a:solidFill>
          <a:ln>
            <a:noFill/>
          </a:ln>
        </p:spPr>
        <p:txBody>
          <a:bodyPr wrap="square" lIns="64008" tIns="27432" rIns="64008" bIns="27432" anchor="ctr">
            <a:noAutofit/>
          </a:bodyPr>
          <a:lstStyle/>
          <a:p>
            <a:pPr algn="ctr"/>
            <a:endParaRPr/>
          </a:p>
        </p:txBody>
      </p:sp>
      <p:sp>
        <p:nvSpPr>
          <p:cNvPr id="16" name="Callout tag"/>
          <p:cNvSpPr txBox="1"/>
          <p:nvPr/>
        </p:nvSpPr>
        <p:spPr>
          <a:xfrm>
            <a:off x="832104" y="1901952"/>
            <a:ext cx="1188720" cy="1115568"/>
          </a:xfrm>
          <a:prstGeom prst="rect">
            <a:avLst/>
          </a:prstGeom>
          <a:noFill/>
        </p:spPr>
        <p:txBody>
          <a:bodyPr wrap="square" lIns="45720" tIns="0" rIns="45720" bIns="0" anchor="ctr">
            <a:noAutofit/>
          </a:bodyPr>
          <a:lstStyle/>
          <a:p>
            <a:pPr algn="l"/>
            <a:r>
              <a:rPr lang="en-GB" sz="1500" b="1" dirty="0">
                <a:solidFill>
                  <a:srgbClr val="144385"/>
                </a:solidFill>
              </a:rPr>
              <a:t>RQ1</a:t>
            </a:r>
          </a:p>
        </p:txBody>
      </p:sp>
      <p:sp>
        <p:nvSpPr>
          <p:cNvPr id="17" name="Callout text"/>
          <p:cNvSpPr txBox="1"/>
          <p:nvPr/>
        </p:nvSpPr>
        <p:spPr>
          <a:xfrm>
            <a:off x="2066544" y="1901952"/>
            <a:ext cx="9390888" cy="1115568"/>
          </a:xfrm>
          <a:prstGeom prst="rect">
            <a:avLst/>
          </a:prstGeom>
          <a:noFill/>
        </p:spPr>
        <p:txBody>
          <a:bodyPr wrap="square" lIns="45720" tIns="0" rIns="45720" bIns="0" anchor="ctr">
            <a:noAutofit/>
          </a:bodyPr>
          <a:lstStyle/>
          <a:p>
            <a:pPr algn="l"/>
            <a:r>
              <a:rPr lang="en-GB" sz="1500" b="1" dirty="0">
                <a:solidFill>
                  <a:srgbClr val="262626"/>
                </a:solidFill>
              </a:rPr>
              <a:t>What does a demonstration witnessing a requirement imply about that requirement?</a:t>
            </a:r>
          </a:p>
          <a:p>
            <a:pPr algn="l"/>
            <a:r>
              <a:rPr lang="en-GB" sz="1500" dirty="0">
                <a:solidFill>
                  <a:srgbClr val="262626"/>
                </a:solidFill>
              </a:rPr>
              <a:t>A demonstration witnesses a requirement without determining it, so the requirement is stated separately from the demonstrations.</a:t>
            </a:r>
          </a:p>
        </p:txBody>
      </p:sp>
      <p:sp>
        <p:nvSpPr>
          <p:cNvPr id="18" name="Callout"/>
          <p:cNvSpPr/>
          <p:nvPr/>
        </p:nvSpPr>
        <p:spPr>
          <a:xfrm>
            <a:off x="603504" y="3127248"/>
            <a:ext cx="10991088" cy="1115568"/>
          </a:xfrm>
          <a:prstGeom prst="rect">
            <a:avLst/>
          </a:prstGeom>
          <a:solidFill>
            <a:srgbClr val="FBF0F6"/>
          </a:solidFill>
          <a:ln>
            <a:noFill/>
          </a:ln>
        </p:spPr>
        <p:txBody>
          <a:bodyPr wrap="square" lIns="64008" tIns="27432" rIns="64008" bIns="27432" anchor="ctr">
            <a:noAutofit/>
          </a:bodyPr>
          <a:lstStyle/>
          <a:p>
            <a:pPr algn="ctr"/>
            <a:endParaRPr/>
          </a:p>
        </p:txBody>
      </p:sp>
      <p:sp>
        <p:nvSpPr>
          <p:cNvPr id="19" name="Callout bar"/>
          <p:cNvSpPr/>
          <p:nvPr/>
        </p:nvSpPr>
        <p:spPr>
          <a:xfrm>
            <a:off x="603504" y="3127248"/>
            <a:ext cx="64008" cy="1115568"/>
          </a:xfrm>
          <a:prstGeom prst="rect">
            <a:avLst/>
          </a:prstGeom>
          <a:solidFill>
            <a:srgbClr val="D85497"/>
          </a:solidFill>
          <a:ln>
            <a:noFill/>
          </a:ln>
        </p:spPr>
        <p:txBody>
          <a:bodyPr wrap="square" lIns="64008" tIns="27432" rIns="64008" bIns="27432" anchor="ctr">
            <a:noAutofit/>
          </a:bodyPr>
          <a:lstStyle/>
          <a:p>
            <a:pPr algn="ctr"/>
            <a:endParaRPr/>
          </a:p>
        </p:txBody>
      </p:sp>
      <p:sp>
        <p:nvSpPr>
          <p:cNvPr id="20" name="Callout tag"/>
          <p:cNvSpPr txBox="1"/>
          <p:nvPr/>
        </p:nvSpPr>
        <p:spPr>
          <a:xfrm>
            <a:off x="832104" y="3127248"/>
            <a:ext cx="1188720" cy="1115568"/>
          </a:xfrm>
          <a:prstGeom prst="rect">
            <a:avLst/>
          </a:prstGeom>
          <a:noFill/>
        </p:spPr>
        <p:txBody>
          <a:bodyPr wrap="square" lIns="45720" tIns="0" rIns="45720" bIns="0" anchor="ctr">
            <a:noAutofit/>
          </a:bodyPr>
          <a:lstStyle/>
          <a:p>
            <a:pPr algn="l"/>
            <a:r>
              <a:rPr lang="en-GB" sz="1500" b="1" dirty="0">
                <a:solidFill>
                  <a:srgbClr val="AD4379"/>
                </a:solidFill>
              </a:rPr>
              <a:t>RQ2</a:t>
            </a:r>
          </a:p>
        </p:txBody>
      </p:sp>
      <p:sp>
        <p:nvSpPr>
          <p:cNvPr id="21" name="Callout text"/>
          <p:cNvSpPr txBox="1"/>
          <p:nvPr/>
        </p:nvSpPr>
        <p:spPr>
          <a:xfrm>
            <a:off x="2066544" y="3127248"/>
            <a:ext cx="9390888" cy="1115568"/>
          </a:xfrm>
          <a:prstGeom prst="rect">
            <a:avLst/>
          </a:prstGeom>
          <a:noFill/>
        </p:spPr>
        <p:txBody>
          <a:bodyPr wrap="square" lIns="45720" tIns="0" rIns="45720" bIns="0" anchor="ctr">
            <a:noAutofit/>
          </a:bodyPr>
          <a:lstStyle/>
          <a:p>
            <a:pPr algn="l"/>
            <a:r>
              <a:rPr lang="en-GB" sz="1500" b="1" dirty="0">
                <a:solidFill>
                  <a:srgbClr val="262626"/>
                </a:solidFill>
              </a:rPr>
              <a:t>When does maximizing the robustness score alone under-determine a trajectory, and when does it not?</a:t>
            </a:r>
          </a:p>
          <a:p>
            <a:r>
              <a:rPr lang="en-GB" sz="1500" dirty="0">
                <a:solidFill>
                  <a:srgbClr val="262626"/>
                </a:solidFill>
              </a:rPr>
              <a:t>The robustness score alone does not determine a trajectory. </a:t>
            </a:r>
            <a:r>
              <a:rPr lang="en-GB" sz="1600" dirty="0">
                <a:solidFill>
                  <a:srgbClr val="262626"/>
                </a:solidFill>
              </a:rPr>
              <a:t>Without the prior, plans need additional specifications or constraints (staying leave the arena or the planned cube moves without contact)</a:t>
            </a:r>
            <a:endParaRPr lang="en-GB" sz="1600" dirty="0"/>
          </a:p>
        </p:txBody>
      </p:sp>
      <p:sp>
        <p:nvSpPr>
          <p:cNvPr id="22" name="Callout"/>
          <p:cNvSpPr/>
          <p:nvPr/>
        </p:nvSpPr>
        <p:spPr>
          <a:xfrm>
            <a:off x="603504" y="4352544"/>
            <a:ext cx="10991088" cy="1115568"/>
          </a:xfrm>
          <a:prstGeom prst="rect">
            <a:avLst/>
          </a:prstGeom>
          <a:solidFill>
            <a:srgbClr val="EBF6FB"/>
          </a:solidFill>
          <a:ln>
            <a:noFill/>
          </a:ln>
        </p:spPr>
        <p:txBody>
          <a:bodyPr wrap="square" lIns="64008" tIns="27432" rIns="64008" bIns="27432" anchor="ctr">
            <a:noAutofit/>
          </a:bodyPr>
          <a:lstStyle/>
          <a:p>
            <a:pPr algn="ctr"/>
            <a:endParaRPr/>
          </a:p>
        </p:txBody>
      </p:sp>
      <p:sp>
        <p:nvSpPr>
          <p:cNvPr id="23" name="Callout bar"/>
          <p:cNvSpPr/>
          <p:nvPr/>
        </p:nvSpPr>
        <p:spPr>
          <a:xfrm>
            <a:off x="603504" y="4352544"/>
            <a:ext cx="64008" cy="1115568"/>
          </a:xfrm>
          <a:prstGeom prst="rect">
            <a:avLst/>
          </a:prstGeom>
          <a:solidFill>
            <a:srgbClr val="24A0D8"/>
          </a:solidFill>
          <a:ln>
            <a:noFill/>
          </a:ln>
        </p:spPr>
        <p:txBody>
          <a:bodyPr wrap="square" lIns="64008" tIns="27432" rIns="64008" bIns="27432" anchor="ctr">
            <a:noAutofit/>
          </a:bodyPr>
          <a:lstStyle/>
          <a:p>
            <a:pPr algn="ctr"/>
            <a:endParaRPr/>
          </a:p>
        </p:txBody>
      </p:sp>
      <p:sp>
        <p:nvSpPr>
          <p:cNvPr id="24" name="Callout tag"/>
          <p:cNvSpPr txBox="1"/>
          <p:nvPr/>
        </p:nvSpPr>
        <p:spPr>
          <a:xfrm>
            <a:off x="832104" y="4352544"/>
            <a:ext cx="1188720" cy="1115568"/>
          </a:xfrm>
          <a:prstGeom prst="rect">
            <a:avLst/>
          </a:prstGeom>
          <a:noFill/>
        </p:spPr>
        <p:txBody>
          <a:bodyPr wrap="square" lIns="45720" tIns="0" rIns="45720" bIns="0" anchor="ctr">
            <a:noAutofit/>
          </a:bodyPr>
          <a:lstStyle/>
          <a:p>
            <a:pPr algn="l"/>
            <a:r>
              <a:rPr lang="en-GB" sz="1500" b="1" dirty="0">
                <a:solidFill>
                  <a:srgbClr val="1D80AD"/>
                </a:solidFill>
              </a:rPr>
              <a:t>Method</a:t>
            </a:r>
          </a:p>
        </p:txBody>
      </p:sp>
      <p:sp>
        <p:nvSpPr>
          <p:cNvPr id="25" name="Callout text"/>
          <p:cNvSpPr txBox="1"/>
          <p:nvPr/>
        </p:nvSpPr>
        <p:spPr>
          <a:xfrm>
            <a:off x="2066544" y="4352544"/>
            <a:ext cx="9390888" cy="1115568"/>
          </a:xfrm>
          <a:prstGeom prst="rect">
            <a:avLst/>
          </a:prstGeom>
          <a:noFill/>
        </p:spPr>
        <p:txBody>
          <a:bodyPr wrap="square" lIns="45720" tIns="0" rIns="45720" bIns="0" anchor="ctr">
            <a:noAutofit/>
          </a:bodyPr>
          <a:lstStyle/>
          <a:p>
            <a:pPr algn="l"/>
            <a:r>
              <a:rPr lang="en-GB" sz="1500" b="1" dirty="0">
                <a:solidFill>
                  <a:srgbClr val="262626"/>
                </a:solidFill>
              </a:rPr>
              <a:t>STL-FM guides the learned prior at one constant strength, without retraining</a:t>
            </a:r>
          </a:p>
          <a:p>
            <a:pPr algn="l"/>
            <a:r>
              <a:rPr lang="en-GB" sz="1500" dirty="0">
                <a:solidFill>
                  <a:srgbClr val="262626"/>
                </a:solidFill>
              </a:rPr>
              <a:t>STL-FM satisfies the dwell, sequence and avoidance requirements at rates of 0.78 to 1.00 per class and completes 10 of 30 cube executions, against none for the STL Optimizer.</a:t>
            </a:r>
          </a:p>
        </p:txBody>
      </p:sp>
      <p:sp>
        <p:nvSpPr>
          <p:cNvPr id="26" name="Label"/>
          <p:cNvSpPr txBox="1"/>
          <p:nvPr/>
        </p:nvSpPr>
        <p:spPr>
          <a:xfrm>
            <a:off x="603504" y="5632704"/>
            <a:ext cx="10991088" cy="365760"/>
          </a:xfrm>
          <a:prstGeom prst="rect">
            <a:avLst/>
          </a:prstGeom>
          <a:noFill/>
        </p:spPr>
        <p:txBody>
          <a:bodyPr wrap="square" lIns="45720" tIns="0" rIns="45720" bIns="0" anchor="t">
            <a:noAutofit/>
          </a:bodyPr>
          <a:lstStyle/>
          <a:p>
            <a:pPr algn="ctr"/>
            <a:r>
              <a:rPr lang="en-GB" sz="1500" dirty="0">
                <a:solidFill>
                  <a:srgbClr val="262626"/>
                </a:solidFill>
              </a:rPr>
              <a:t>Logic satisfaction and task success do not coincide. A requirement constrains only the variables the prior generates.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Future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Results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36</a:t>
            </a:fld>
            <a:endParaRPr lang="en-GB"/>
          </a:p>
        </p:txBody>
      </p:sp>
      <p:sp>
        <p:nvSpPr>
          <p:cNvPr id="14" name="Label"/>
          <p:cNvSpPr txBox="1"/>
          <p:nvPr/>
        </p:nvSpPr>
        <p:spPr>
          <a:xfrm>
            <a:off x="603504" y="1965960"/>
            <a:ext cx="411480" cy="329184"/>
          </a:xfrm>
          <a:prstGeom prst="rect">
            <a:avLst/>
          </a:prstGeom>
          <a:noFill/>
        </p:spPr>
        <p:txBody>
          <a:bodyPr wrap="square" lIns="45720" tIns="0" rIns="45720" bIns="0" anchor="t">
            <a:noAutofit/>
          </a:bodyPr>
          <a:lstStyle/>
          <a:p>
            <a:pPr algn="l"/>
            <a:r>
              <a:rPr lang="en-GB" sz="1700" b="1" dirty="0">
                <a:solidFill>
                  <a:srgbClr val="262626"/>
                </a:solidFill>
              </a:rPr>
              <a:t>1.</a:t>
            </a:r>
          </a:p>
        </p:txBody>
      </p:sp>
      <p:sp>
        <p:nvSpPr>
          <p:cNvPr id="15" name="Label"/>
          <p:cNvSpPr txBox="1"/>
          <p:nvPr/>
        </p:nvSpPr>
        <p:spPr>
          <a:xfrm>
            <a:off x="1014984" y="1965960"/>
            <a:ext cx="10579608" cy="822960"/>
          </a:xfrm>
          <a:prstGeom prst="rect">
            <a:avLst/>
          </a:prstGeom>
          <a:noFill/>
        </p:spPr>
        <p:txBody>
          <a:bodyPr wrap="square" lIns="45720" tIns="0" rIns="45720" bIns="0" anchor="t">
            <a:noAutofit/>
          </a:bodyPr>
          <a:lstStyle/>
          <a:p>
            <a:pPr algn="l"/>
            <a:r>
              <a:rPr lang="en-GB" sz="1600" b="1" dirty="0">
                <a:solidFill>
                  <a:srgbClr val="262626"/>
                </a:solidFill>
              </a:rPr>
              <a:t>A differentiable dynamics model</a:t>
            </a:r>
          </a:p>
          <a:p>
            <a:pPr algn="l"/>
            <a:r>
              <a:rPr lang="en-GB" sz="1600" dirty="0">
                <a:solidFill>
                  <a:srgbClr val="262626"/>
                </a:solidFill>
              </a:rPr>
              <a:t>so that a requirement can constrain contact and object pose</a:t>
            </a:r>
          </a:p>
        </p:txBody>
      </p:sp>
      <p:sp>
        <p:nvSpPr>
          <p:cNvPr id="16" name="Label"/>
          <p:cNvSpPr txBox="1"/>
          <p:nvPr/>
        </p:nvSpPr>
        <p:spPr>
          <a:xfrm>
            <a:off x="603504" y="2770632"/>
            <a:ext cx="411480" cy="329184"/>
          </a:xfrm>
          <a:prstGeom prst="rect">
            <a:avLst/>
          </a:prstGeom>
          <a:noFill/>
        </p:spPr>
        <p:txBody>
          <a:bodyPr wrap="square" lIns="45720" tIns="0" rIns="45720" bIns="0" anchor="t">
            <a:noAutofit/>
          </a:bodyPr>
          <a:lstStyle/>
          <a:p>
            <a:pPr algn="l"/>
            <a:r>
              <a:rPr lang="en-GB" sz="1700" b="1" dirty="0">
                <a:solidFill>
                  <a:srgbClr val="262626"/>
                </a:solidFill>
              </a:rPr>
              <a:t>2.</a:t>
            </a:r>
          </a:p>
        </p:txBody>
      </p:sp>
      <p:sp>
        <p:nvSpPr>
          <p:cNvPr id="17" name="Label"/>
          <p:cNvSpPr txBox="1"/>
          <p:nvPr/>
        </p:nvSpPr>
        <p:spPr>
          <a:xfrm>
            <a:off x="1014984" y="2770632"/>
            <a:ext cx="10579608" cy="822960"/>
          </a:xfrm>
          <a:prstGeom prst="rect">
            <a:avLst/>
          </a:prstGeom>
          <a:noFill/>
        </p:spPr>
        <p:txBody>
          <a:bodyPr wrap="square" lIns="45720" tIns="0" rIns="45720" bIns="0" anchor="t">
            <a:noAutofit/>
          </a:bodyPr>
          <a:lstStyle/>
          <a:p>
            <a:pPr algn="l"/>
            <a:r>
              <a:rPr lang="en-GB" sz="1600" b="1" dirty="0">
                <a:solidFill>
                  <a:srgbClr val="262626"/>
                </a:solidFill>
              </a:rPr>
              <a:t>Execution on the physical platform and multimodal input</a:t>
            </a:r>
          </a:p>
          <a:p>
            <a:pPr algn="l"/>
            <a:r>
              <a:rPr lang="en-GB" sz="1600" dirty="0">
                <a:solidFill>
                  <a:srgbClr val="262626"/>
                </a:solidFill>
              </a:rPr>
              <a:t>plans for the Franka Kitchen and </a:t>
            </a:r>
            <a:r>
              <a:rPr lang="en-GB" sz="1600" dirty="0" err="1">
                <a:solidFill>
                  <a:srgbClr val="262626"/>
                </a:solidFill>
              </a:rPr>
              <a:t>GoFA</a:t>
            </a:r>
            <a:r>
              <a:rPr lang="en-GB" sz="1600" dirty="0">
                <a:solidFill>
                  <a:srgbClr val="262626"/>
                </a:solidFill>
              </a:rPr>
              <a:t> door task, executed and scored on the robot</a:t>
            </a:r>
          </a:p>
        </p:txBody>
      </p:sp>
      <p:sp>
        <p:nvSpPr>
          <p:cNvPr id="18" name="Label"/>
          <p:cNvSpPr txBox="1"/>
          <p:nvPr/>
        </p:nvSpPr>
        <p:spPr>
          <a:xfrm>
            <a:off x="603504" y="3575304"/>
            <a:ext cx="411480" cy="329184"/>
          </a:xfrm>
          <a:prstGeom prst="rect">
            <a:avLst/>
          </a:prstGeom>
          <a:noFill/>
        </p:spPr>
        <p:txBody>
          <a:bodyPr wrap="square" lIns="45720" tIns="0" rIns="45720" bIns="0" anchor="t">
            <a:noAutofit/>
          </a:bodyPr>
          <a:lstStyle/>
          <a:p>
            <a:pPr algn="l"/>
            <a:r>
              <a:rPr lang="en-GB" sz="1700" b="1" dirty="0">
                <a:solidFill>
                  <a:srgbClr val="262626"/>
                </a:solidFill>
              </a:rPr>
              <a:t>3.</a:t>
            </a:r>
          </a:p>
        </p:txBody>
      </p:sp>
      <p:sp>
        <p:nvSpPr>
          <p:cNvPr id="19" name="Label"/>
          <p:cNvSpPr txBox="1"/>
          <p:nvPr/>
        </p:nvSpPr>
        <p:spPr>
          <a:xfrm>
            <a:off x="1014984" y="3575304"/>
            <a:ext cx="10579608" cy="822960"/>
          </a:xfrm>
          <a:prstGeom prst="rect">
            <a:avLst/>
          </a:prstGeom>
          <a:noFill/>
        </p:spPr>
        <p:txBody>
          <a:bodyPr wrap="square" lIns="45720" tIns="0" rIns="45720" bIns="0" anchor="t">
            <a:noAutofit/>
          </a:bodyPr>
          <a:lstStyle/>
          <a:p>
            <a:pPr algn="l"/>
            <a:r>
              <a:rPr lang="en-GB" sz="1600" b="1" dirty="0">
                <a:solidFill>
                  <a:srgbClr val="262626"/>
                </a:solidFill>
              </a:rPr>
              <a:t>A sweep of a requirement’s parameters</a:t>
            </a:r>
          </a:p>
          <a:p>
            <a:pPr algn="l"/>
            <a:r>
              <a:rPr lang="en-GB" sz="1600" dirty="0">
                <a:solidFill>
                  <a:srgbClr val="262626"/>
                </a:solidFill>
              </a:rPr>
              <a:t>the same prior under changed windows and dwell times</a:t>
            </a:r>
          </a:p>
        </p:txBody>
      </p:sp>
      <p:sp>
        <p:nvSpPr>
          <p:cNvPr id="20" name="Label"/>
          <p:cNvSpPr txBox="1"/>
          <p:nvPr/>
        </p:nvSpPr>
        <p:spPr>
          <a:xfrm>
            <a:off x="603504" y="4379976"/>
            <a:ext cx="411480" cy="329184"/>
          </a:xfrm>
          <a:prstGeom prst="rect">
            <a:avLst/>
          </a:prstGeom>
          <a:noFill/>
        </p:spPr>
        <p:txBody>
          <a:bodyPr wrap="square" lIns="45720" tIns="0" rIns="45720" bIns="0" anchor="t">
            <a:noAutofit/>
          </a:bodyPr>
          <a:lstStyle/>
          <a:p>
            <a:pPr algn="l"/>
            <a:r>
              <a:rPr lang="en-GB" sz="1700" b="1" dirty="0">
                <a:solidFill>
                  <a:srgbClr val="262626"/>
                </a:solidFill>
              </a:rPr>
              <a:t>4.</a:t>
            </a:r>
          </a:p>
        </p:txBody>
      </p:sp>
      <p:sp>
        <p:nvSpPr>
          <p:cNvPr id="21" name="Label"/>
          <p:cNvSpPr txBox="1"/>
          <p:nvPr/>
        </p:nvSpPr>
        <p:spPr>
          <a:xfrm>
            <a:off x="1014984" y="4379976"/>
            <a:ext cx="10579608" cy="822960"/>
          </a:xfrm>
          <a:prstGeom prst="rect">
            <a:avLst/>
          </a:prstGeom>
          <a:noFill/>
        </p:spPr>
        <p:txBody>
          <a:bodyPr wrap="square" lIns="45720" tIns="0" rIns="45720" bIns="0" anchor="t">
            <a:noAutofit/>
          </a:bodyPr>
          <a:lstStyle/>
          <a:p>
            <a:pPr algn="l"/>
            <a:r>
              <a:rPr lang="en-GB" sz="1600" b="1" dirty="0">
                <a:solidFill>
                  <a:srgbClr val="262626"/>
                </a:solidFill>
              </a:rPr>
              <a:t>A robust controller for execution</a:t>
            </a:r>
          </a:p>
          <a:p>
            <a:pPr algn="l"/>
            <a:r>
              <a:rPr lang="en-GB" sz="1600" dirty="0">
                <a:solidFill>
                  <a:srgbClr val="262626"/>
                </a:solidFill>
              </a:rPr>
              <a:t>for an execution-time guarantee</a:t>
            </a:r>
          </a:p>
        </p:txBody>
      </p:sp>
      <p:sp>
        <p:nvSpPr>
          <p:cNvPr id="3" name="Label">
            <a:extLst>
              <a:ext uri="{FF2B5EF4-FFF2-40B4-BE49-F238E27FC236}">
                <a16:creationId xmlns:a16="http://schemas.microsoft.com/office/drawing/2014/main" id="{31FFD1AD-7F50-8276-B6C1-E509505A669E}"/>
              </a:ext>
            </a:extLst>
          </p:cNvPr>
          <p:cNvSpPr txBox="1"/>
          <p:nvPr/>
        </p:nvSpPr>
        <p:spPr>
          <a:xfrm>
            <a:off x="603504" y="5166360"/>
            <a:ext cx="411480" cy="329184"/>
          </a:xfrm>
          <a:prstGeom prst="rect">
            <a:avLst/>
          </a:prstGeom>
          <a:noFill/>
        </p:spPr>
        <p:txBody>
          <a:bodyPr wrap="square" lIns="45720" tIns="0" rIns="45720" bIns="0" anchor="t">
            <a:noAutofit/>
          </a:bodyPr>
          <a:lstStyle/>
          <a:p>
            <a:pPr algn="l"/>
            <a:r>
              <a:rPr lang="en-GB" sz="1700" b="1" dirty="0">
                <a:solidFill>
                  <a:srgbClr val="262626"/>
                </a:solidFill>
              </a:rPr>
              <a:t>5.</a:t>
            </a:r>
          </a:p>
        </p:txBody>
      </p:sp>
      <p:sp>
        <p:nvSpPr>
          <p:cNvPr id="5" name="Label">
            <a:extLst>
              <a:ext uri="{FF2B5EF4-FFF2-40B4-BE49-F238E27FC236}">
                <a16:creationId xmlns:a16="http://schemas.microsoft.com/office/drawing/2014/main" id="{0C0ECA8A-10EC-BAD6-BFC8-AD7124E656FE}"/>
              </a:ext>
            </a:extLst>
          </p:cNvPr>
          <p:cNvSpPr txBox="1"/>
          <p:nvPr/>
        </p:nvSpPr>
        <p:spPr>
          <a:xfrm>
            <a:off x="1014984" y="5166360"/>
            <a:ext cx="10579608" cy="822960"/>
          </a:xfrm>
          <a:prstGeom prst="rect">
            <a:avLst/>
          </a:prstGeom>
          <a:noFill/>
        </p:spPr>
        <p:txBody>
          <a:bodyPr wrap="square" lIns="45720" tIns="0" rIns="45720" bIns="0" anchor="t">
            <a:noAutofit/>
          </a:bodyPr>
          <a:lstStyle/>
          <a:p>
            <a:pPr algn="l"/>
            <a:r>
              <a:rPr lang="en-GB" sz="1600" b="1" dirty="0">
                <a:solidFill>
                  <a:srgbClr val="262626"/>
                </a:solidFill>
              </a:rPr>
              <a:t>STL guidance for robot foundation models</a:t>
            </a:r>
          </a:p>
          <a:p>
            <a:r>
              <a:rPr lang="sv-SE" sz="1600" dirty="0"/>
              <a:t>VLAs and world action models already sample actions by flow matching</a:t>
            </a:r>
          </a:p>
          <a:p>
            <a:br>
              <a:rPr lang="sv-SE" sz="1600" dirty="0"/>
            </a:br>
            <a:endParaRPr lang="en-GB" sz="1600" dirty="0">
              <a:solidFill>
                <a:srgbClr val="26262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Franka Kitchen Benchmark</a:t>
            </a:r>
          </a:p>
        </p:txBody>
      </p:sp>
      <p:sp>
        <p:nvSpPr>
          <p:cNvPr id="12" name="Slide Number"/>
          <p:cNvSpPr>
            <a:spLocks noGrp="1"/>
          </p:cNvSpPr>
          <p:nvPr>
            <p:ph type="sldNum" sz="quarter" idx="12"/>
          </p:nvPr>
        </p:nvSpPr>
        <p:spPr/>
        <p:txBody>
          <a:bodyPr/>
          <a:lstStyle/>
          <a:p>
            <a:fld id="{619F89D8-7AE3-494A-97F3-03D680869632}" type="slidenum">
              <a:rPr lang="en-GB"/>
              <a:t>37</a:t>
            </a:fld>
            <a:endParaRPr lang="en-GB"/>
          </a:p>
        </p:txBody>
      </p:sp>
      <p:pic>
        <p:nvPicPr>
          <p:cNvPr id="13" name="Figure" descr="Planned against executed robustness, eighty runs"/>
          <p:cNvPicPr>
            <a:picLocks noChangeAspect="1"/>
          </p:cNvPicPr>
          <p:nvPr/>
        </p:nvPicPr>
        <p:blipFill>
          <a:blip r:embed="rId3"/>
          <a:stretch>
            <a:fillRect/>
          </a:stretch>
        </p:blipFill>
        <p:spPr>
          <a:xfrm>
            <a:off x="1659835" y="2919228"/>
            <a:ext cx="5173508" cy="2756015"/>
          </a:xfrm>
          <a:prstGeom prst="rect">
            <a:avLst/>
          </a:prstGeom>
        </p:spPr>
      </p:pic>
      <p:pic>
        <p:nvPicPr>
          <p:cNvPr id="14" name="Equation" descr="phi equals eventually microwave and eventually kettle"/>
          <p:cNvPicPr>
            <a:picLocks noChangeAspect="1"/>
          </p:cNvPicPr>
          <p:nvPr/>
        </p:nvPicPr>
        <p:blipFill>
          <a:blip r:embed="rId4"/>
          <a:stretch>
            <a:fillRect/>
          </a:stretch>
        </p:blipFill>
        <p:spPr>
          <a:xfrm>
            <a:off x="1779270" y="1965960"/>
            <a:ext cx="4872228" cy="329184"/>
          </a:xfrm>
          <a:prstGeom prst="rect">
            <a:avLst/>
          </a:prstGeom>
        </p:spPr>
      </p:pic>
      <p:pic>
        <p:nvPicPr>
          <p:cNvPr id="15" name="Figure" descr="The kitchen"/>
          <p:cNvPicPr>
            <a:picLocks noChangeAspect="1"/>
          </p:cNvPicPr>
          <p:nvPr/>
        </p:nvPicPr>
        <p:blipFill>
          <a:blip r:embed="rId5"/>
          <a:stretch>
            <a:fillRect/>
          </a:stretch>
        </p:blipFill>
        <p:spPr>
          <a:xfrm>
            <a:off x="8092440" y="1815002"/>
            <a:ext cx="2743200" cy="2743200"/>
          </a:xfrm>
          <a:prstGeom prst="rect">
            <a:avLst/>
          </a:prstGeom>
        </p:spPr>
      </p:pic>
      <p:sp>
        <p:nvSpPr>
          <p:cNvPr id="16" name="Label"/>
          <p:cNvSpPr txBox="1"/>
          <p:nvPr/>
        </p:nvSpPr>
        <p:spPr>
          <a:xfrm>
            <a:off x="8092440" y="4709160"/>
            <a:ext cx="3502152" cy="1554480"/>
          </a:xfrm>
          <a:prstGeom prst="rect">
            <a:avLst/>
          </a:prstGeom>
          <a:noFill/>
        </p:spPr>
        <p:txBody>
          <a:bodyPr wrap="square" lIns="45720" tIns="0" rIns="45720" bIns="0" anchor="t">
            <a:noAutofit/>
          </a:bodyPr>
          <a:lstStyle/>
          <a:p>
            <a:pPr algn="l"/>
            <a:r>
              <a:rPr lang="en-GB" sz="1400" dirty="0">
                <a:solidFill>
                  <a:srgbClr val="262626"/>
                </a:solidFill>
              </a:rPr>
              <a:t>Complete-v2 prior, unguided,</a:t>
            </a:r>
          </a:p>
          <a:p>
            <a:pPr algn="l"/>
            <a:r>
              <a:rPr lang="en-GB" sz="1400" dirty="0">
                <a:solidFill>
                  <a:srgbClr val="262626"/>
                </a:solidFill>
              </a:rPr>
              <a:t>mean robustness of plan +0.23</a:t>
            </a:r>
          </a:p>
          <a:p>
            <a:pPr algn="l"/>
            <a:r>
              <a:rPr lang="en-GB" sz="1400" dirty="0">
                <a:solidFill>
                  <a:srgbClr val="262626"/>
                </a:solidFill>
              </a:rPr>
              <a:t>and of execution −0.45, a fall of 0.68</a:t>
            </a:r>
          </a:p>
          <a:p>
            <a:pPr algn="l"/>
            <a:r>
              <a:rPr lang="en-GB" sz="1400" dirty="0">
                <a:solidFill>
                  <a:srgbClr val="262626"/>
                </a:solidFill>
              </a:rPr>
              <a:t>against a margin of at most 0.3</a:t>
            </a:r>
          </a:p>
          <a:p>
            <a:pPr algn="l"/>
            <a:endParaRPr lang="en-GB" sz="1400" dirty="0">
              <a:solidFill>
                <a:srgbClr val="262626"/>
              </a:solidFill>
            </a:endParaRPr>
          </a:p>
          <a:p>
            <a:pPr algn="l"/>
            <a:r>
              <a:rPr lang="en-GB" sz="1400" dirty="0">
                <a:solidFill>
                  <a:srgbClr val="262626"/>
                </a:solidFill>
              </a:rPr>
              <a:t>Task success in 0 of 80 executions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Physical platform</a:t>
            </a:r>
          </a:p>
        </p:txBody>
      </p:sp>
      <p:sp>
        <p:nvSpPr>
          <p:cNvPr id="12" name="Slide Number"/>
          <p:cNvSpPr>
            <a:spLocks noGrp="1"/>
          </p:cNvSpPr>
          <p:nvPr>
            <p:ph type="sldNum" sz="quarter" idx="12"/>
          </p:nvPr>
        </p:nvSpPr>
        <p:spPr/>
        <p:txBody>
          <a:bodyPr/>
          <a:lstStyle/>
          <a:p>
            <a:fld id="{619F89D8-7AE3-494A-97F3-03D680869632}" type="slidenum">
              <a:rPr lang="en-GB"/>
              <a:t>38</a:t>
            </a:fld>
            <a:endParaRPr lang="en-GB"/>
          </a:p>
        </p:txBody>
      </p:sp>
      <p:pic>
        <p:nvPicPr>
          <p:cNvPr id="14" name="Equation" descr="phi equals always between grasp and place, roll, pitch and yaw below 5 degrees"/>
          <p:cNvPicPr>
            <a:picLocks noChangeAspect="1"/>
          </p:cNvPicPr>
          <p:nvPr/>
        </p:nvPicPr>
        <p:blipFill>
          <a:blip r:embed="rId5"/>
          <a:stretch>
            <a:fillRect/>
          </a:stretch>
        </p:blipFill>
        <p:spPr>
          <a:xfrm>
            <a:off x="1315212" y="5532120"/>
            <a:ext cx="4465320" cy="323088"/>
          </a:xfrm>
          <a:prstGeom prst="rect">
            <a:avLst/>
          </a:prstGeom>
        </p:spPr>
      </p:pic>
      <p:pic>
        <p:nvPicPr>
          <p:cNvPr id="15" name="Figure" descr="Prior samples against the demonstration, joint by joint"/>
          <p:cNvPicPr>
            <a:picLocks noChangeAspect="1"/>
          </p:cNvPicPr>
          <p:nvPr/>
        </p:nvPicPr>
        <p:blipFill>
          <a:blip r:embed="rId6"/>
          <a:stretch>
            <a:fillRect/>
          </a:stretch>
        </p:blipFill>
        <p:spPr>
          <a:xfrm>
            <a:off x="6766560" y="1874520"/>
            <a:ext cx="2468880" cy="4389120"/>
          </a:xfrm>
          <a:prstGeom prst="rect">
            <a:avLst/>
          </a:prstGeom>
        </p:spPr>
      </p:pic>
      <p:sp>
        <p:nvSpPr>
          <p:cNvPr id="16" name="Label"/>
          <p:cNvSpPr txBox="1"/>
          <p:nvPr/>
        </p:nvSpPr>
        <p:spPr>
          <a:xfrm>
            <a:off x="9418320" y="2011680"/>
            <a:ext cx="2176272" cy="3474720"/>
          </a:xfrm>
          <a:prstGeom prst="rect">
            <a:avLst/>
          </a:prstGeom>
          <a:noFill/>
        </p:spPr>
        <p:txBody>
          <a:bodyPr wrap="square" lIns="45720" tIns="0" rIns="45720" bIns="0" anchor="t">
            <a:noAutofit/>
          </a:bodyPr>
          <a:lstStyle/>
          <a:p>
            <a:pPr algn="l"/>
            <a:r>
              <a:rPr lang="en-GB" sz="1500" dirty="0">
                <a:solidFill>
                  <a:srgbClr val="262626"/>
                </a:solidFill>
              </a:rPr>
              <a:t>ABB GoFA CRB 15000,</a:t>
            </a:r>
          </a:p>
          <a:p>
            <a:pPr algn="l"/>
            <a:r>
              <a:rPr lang="en-GB" sz="1500" dirty="0">
                <a:solidFill>
                  <a:srgbClr val="262626"/>
                </a:solidFill>
              </a:rPr>
              <a:t>five door-opening</a:t>
            </a:r>
          </a:p>
          <a:p>
            <a:pPr algn="l"/>
            <a:r>
              <a:rPr lang="en-GB" sz="1500" dirty="0">
                <a:solidFill>
                  <a:srgbClr val="262626"/>
                </a:solidFill>
              </a:rPr>
              <a:t>demonstrations,</a:t>
            </a:r>
          </a:p>
          <a:p>
            <a:pPr algn="l"/>
            <a:r>
              <a:rPr lang="en-GB" sz="1500" dirty="0">
                <a:solidFill>
                  <a:srgbClr val="262626"/>
                </a:solidFill>
              </a:rPr>
              <a:t>six joint angles and</a:t>
            </a:r>
          </a:p>
          <a:p>
            <a:pPr algn="l"/>
            <a:r>
              <a:rPr lang="en-GB" sz="1500" dirty="0">
                <a:solidFill>
                  <a:srgbClr val="262626"/>
                </a:solidFill>
              </a:rPr>
              <a:t>the gripper state,</a:t>
            </a:r>
          </a:p>
          <a:p>
            <a:pPr algn="l"/>
            <a:r>
              <a:rPr lang="en-GB" sz="1500" dirty="0">
                <a:solidFill>
                  <a:srgbClr val="262626"/>
                </a:solidFill>
              </a:rPr>
              <a:t>H = 128</a:t>
            </a:r>
          </a:p>
          <a:p>
            <a:pPr algn="l"/>
            <a:endParaRPr lang="en-GB" sz="1500" dirty="0">
              <a:solidFill>
                <a:srgbClr val="262626"/>
              </a:solidFill>
            </a:endParaRPr>
          </a:p>
          <a:p>
            <a:pPr algn="l"/>
            <a:r>
              <a:rPr lang="en-GB" sz="1500" dirty="0">
                <a:solidFill>
                  <a:srgbClr val="262626"/>
                </a:solidFill>
              </a:rPr>
              <a:t>No demonstration</a:t>
            </a:r>
          </a:p>
          <a:p>
            <a:pPr algn="l"/>
            <a:r>
              <a:rPr lang="en-GB" sz="1500" dirty="0">
                <a:solidFill>
                  <a:srgbClr val="262626"/>
                </a:solidFill>
              </a:rPr>
              <a:t>satisfies the carry</a:t>
            </a:r>
          </a:p>
          <a:p>
            <a:pPr algn="l"/>
            <a:r>
              <a:rPr lang="en-GB" sz="1500" dirty="0">
                <a:solidFill>
                  <a:srgbClr val="262626"/>
                </a:solidFill>
              </a:rPr>
              <a:t>requirement. </a:t>
            </a:r>
          </a:p>
          <a:p>
            <a:pPr algn="l"/>
            <a:endParaRPr lang="en-GB" sz="1500" dirty="0">
              <a:solidFill>
                <a:srgbClr val="262626"/>
              </a:solidFill>
            </a:endParaRPr>
          </a:p>
          <a:p>
            <a:pPr algn="l"/>
            <a:r>
              <a:rPr lang="en-GB" sz="1500" dirty="0">
                <a:solidFill>
                  <a:srgbClr val="262626"/>
                </a:solidFill>
              </a:rPr>
              <a:t>Dataset must be diverse.</a:t>
            </a:r>
          </a:p>
          <a:p>
            <a:pPr algn="l"/>
            <a:endParaRPr lang="en-GB" sz="1500" dirty="0">
              <a:solidFill>
                <a:srgbClr val="262626"/>
              </a:solidFill>
            </a:endParaRPr>
          </a:p>
        </p:txBody>
      </p:sp>
      <p:pic>
        <p:nvPicPr>
          <p:cNvPr id="2" name="file-000 - Trim">
            <a:hlinkClick r:id="" action="ppaction://media"/>
            <a:extLst>
              <a:ext uri="{FF2B5EF4-FFF2-40B4-BE49-F238E27FC236}">
                <a16:creationId xmlns:a16="http://schemas.microsoft.com/office/drawing/2014/main" id="{F661B98D-DA48-4141-DD16-B88E16588D48}"/>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938068" y="2173045"/>
            <a:ext cx="5319298" cy="30112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60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9FEF-FE51-B5F1-8045-783EDE16E0A0}"/>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35835E90-E384-B55C-FAAE-C318C078064A}"/>
              </a:ext>
            </a:extLst>
          </p:cNvPr>
          <p:cNvSpPr>
            <a:spLocks noGrp="1"/>
          </p:cNvSpPr>
          <p:nvPr>
            <p:ph type="ctrTitle"/>
          </p:nvPr>
        </p:nvSpPr>
        <p:spPr>
          <a:xfrm>
            <a:off x="914400" y="3063240"/>
            <a:ext cx="10360152" cy="1143000"/>
          </a:xfrm>
        </p:spPr>
        <p:txBody>
          <a:bodyPr/>
          <a:lstStyle/>
          <a:p>
            <a:r>
              <a:rPr lang="en-GB" sz="3200" dirty="0"/>
              <a:t>Thank you! </a:t>
            </a:r>
          </a:p>
        </p:txBody>
      </p:sp>
      <p:sp>
        <p:nvSpPr>
          <p:cNvPr id="12" name="Thesis subtitle">
            <a:extLst>
              <a:ext uri="{FF2B5EF4-FFF2-40B4-BE49-F238E27FC236}">
                <a16:creationId xmlns:a16="http://schemas.microsoft.com/office/drawing/2014/main" id="{667DF8BB-AC25-9C52-A80B-D4E1C6F698C2}"/>
              </a:ext>
            </a:extLst>
          </p:cNvPr>
          <p:cNvSpPr txBox="1"/>
          <p:nvPr/>
        </p:nvSpPr>
        <p:spPr>
          <a:xfrm>
            <a:off x="914400" y="4224528"/>
            <a:ext cx="10360152" cy="365760"/>
          </a:xfrm>
          <a:prstGeom prst="rect">
            <a:avLst/>
          </a:prstGeom>
          <a:noFill/>
        </p:spPr>
        <p:txBody>
          <a:bodyPr wrap="square" lIns="45720" tIns="0" rIns="45720" bIns="0" anchor="t">
            <a:noAutofit/>
          </a:bodyPr>
          <a:lstStyle/>
          <a:p>
            <a:pPr algn="ctr"/>
            <a:r>
              <a:rPr lang="en-GB" sz="1900" dirty="0">
                <a:solidFill>
                  <a:srgbClr val="DEF0FF"/>
                </a:solidFill>
              </a:rPr>
              <a:t>Open to Questions and Discussions </a:t>
            </a:r>
          </a:p>
        </p:txBody>
      </p:sp>
    </p:spTree>
    <p:extLst>
      <p:ext uri="{BB962C8B-B14F-4D97-AF65-F5344CB8AC3E}">
        <p14:creationId xmlns:p14="http://schemas.microsoft.com/office/powerpoint/2010/main" val="3574969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cNvSpPr>
            <a:spLocks noGrp="1"/>
          </p:cNvSpPr>
          <p:nvPr>
            <p:ph type="sldNum" sz="quarter" idx="12"/>
          </p:nvPr>
        </p:nvSpPr>
        <p:spPr/>
        <p:txBody>
          <a:bodyPr/>
          <a:lstStyle/>
          <a:p>
            <a:fld id="{619F89D8-7AE3-494A-97F3-03D680869632}" type="slidenum">
              <a:rPr lang="en-GB"/>
              <a:t>40</a:t>
            </a:fld>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Supplementary material</a:t>
            </a:r>
          </a:p>
        </p:txBody>
      </p:sp>
      <p:sp>
        <p:nvSpPr>
          <p:cNvPr id="12" name="Subtitle"/>
          <p:cNvSpPr>
            <a:spLocks noGrp="1"/>
          </p:cNvSpPr>
          <p:nvPr>
            <p:ph type="body" idx="1"/>
          </p:nvPr>
        </p:nvSpPr>
        <p:spPr/>
        <p:txBody>
          <a:bodyPr/>
          <a:lstStyle/>
          <a:p>
            <a:r>
              <a:rPr lang="en-GB" dirty="0"/>
              <a:t>Answers to likely questions</a:t>
            </a:r>
          </a:p>
        </p:txBody>
      </p:sp>
      <p:sp>
        <p:nvSpPr>
          <p:cNvPr id="13" name="Slide Number"/>
          <p:cNvSpPr>
            <a:spLocks noGrp="1"/>
          </p:cNvSpPr>
          <p:nvPr>
            <p:ph type="sldNum" sz="quarter" idx="12"/>
          </p:nvPr>
        </p:nvSpPr>
        <p:spPr/>
        <p:txBody>
          <a:bodyPr/>
          <a:lstStyle/>
          <a:p>
            <a:fld id="{619F89D8-7AE3-494A-97F3-03D680869632}" type="slidenum">
              <a:rPr lang="en-GB"/>
              <a:t>41</a:t>
            </a:fld>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Plausible samples that violate the requirement</a:t>
            </a:r>
          </a:p>
        </p:txBody>
      </p:sp>
      <p:sp>
        <p:nvSpPr>
          <p:cNvPr id="12" name="Slide Number"/>
          <p:cNvSpPr>
            <a:spLocks noGrp="1"/>
          </p:cNvSpPr>
          <p:nvPr>
            <p:ph type="sldNum" sz="quarter" idx="12"/>
          </p:nvPr>
        </p:nvSpPr>
        <p:spPr/>
        <p:txBody>
          <a:bodyPr/>
          <a:lstStyle/>
          <a:p>
            <a:fld id="{619F89D8-7AE3-494A-97F3-03D680869632}" type="slidenum">
              <a:rPr lang="en-GB"/>
              <a:t>42</a:t>
            </a:fld>
            <a:endParaRPr lang="en-GB"/>
          </a:p>
        </p:txBody>
      </p:sp>
      <p:pic>
        <p:nvPicPr>
          <p:cNvPr id="13" name="Figure" descr="Demonstrations and samples of the learned prior against the seating window"/>
          <p:cNvPicPr>
            <a:picLocks noChangeAspect="1"/>
          </p:cNvPicPr>
          <p:nvPr/>
        </p:nvPicPr>
        <p:blipFill>
          <a:blip r:embed="rId3"/>
          <a:stretch>
            <a:fillRect/>
          </a:stretch>
        </p:blipFill>
        <p:spPr>
          <a:xfrm>
            <a:off x="603504" y="2162983"/>
            <a:ext cx="10991088" cy="376647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Comparison of approaches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43</a:t>
            </a:fld>
            <a:endParaRPr lang="en-GB"/>
          </a:p>
        </p:txBody>
      </p:sp>
      <p:sp>
        <p:nvSpPr>
          <p:cNvPr id="14" name="Label"/>
          <p:cNvSpPr txBox="1"/>
          <p:nvPr/>
        </p:nvSpPr>
        <p:spPr>
          <a:xfrm>
            <a:off x="603504" y="1938528"/>
            <a:ext cx="3246120" cy="274320"/>
          </a:xfrm>
          <a:prstGeom prst="rect">
            <a:avLst/>
          </a:prstGeom>
          <a:noFill/>
        </p:spPr>
        <p:txBody>
          <a:bodyPr wrap="square" lIns="45720" tIns="0" rIns="45720" bIns="0" anchor="t">
            <a:noAutofit/>
          </a:bodyPr>
          <a:lstStyle/>
          <a:p>
            <a:pPr algn="l"/>
            <a:r>
              <a:rPr lang="en-GB" sz="1400" dirty="0">
                <a:solidFill>
                  <a:srgbClr val="6E6E6E"/>
                </a:solidFill>
              </a:rPr>
              <a:t>Approach</a:t>
            </a:r>
          </a:p>
        </p:txBody>
      </p:sp>
      <p:sp>
        <p:nvSpPr>
          <p:cNvPr id="15" name="Label"/>
          <p:cNvSpPr txBox="1"/>
          <p:nvPr/>
        </p:nvSpPr>
        <p:spPr>
          <a:xfrm>
            <a:off x="3931920" y="1938528"/>
            <a:ext cx="2788920" cy="274320"/>
          </a:xfrm>
          <a:prstGeom prst="rect">
            <a:avLst/>
          </a:prstGeom>
          <a:noFill/>
        </p:spPr>
        <p:txBody>
          <a:bodyPr wrap="square" lIns="45720" tIns="0" rIns="45720" bIns="0" anchor="t">
            <a:noAutofit/>
          </a:bodyPr>
          <a:lstStyle/>
          <a:p>
            <a:pPr algn="l"/>
            <a:r>
              <a:rPr lang="en-GB" sz="1400" dirty="0">
                <a:solidFill>
                  <a:srgbClr val="6E6E6E"/>
                </a:solidFill>
              </a:rPr>
              <a:t>Requirement enters</a:t>
            </a:r>
          </a:p>
        </p:txBody>
      </p:sp>
      <p:sp>
        <p:nvSpPr>
          <p:cNvPr id="16" name="Label"/>
          <p:cNvSpPr txBox="1"/>
          <p:nvPr/>
        </p:nvSpPr>
        <p:spPr>
          <a:xfrm>
            <a:off x="6812280" y="1938528"/>
            <a:ext cx="2286000" cy="274320"/>
          </a:xfrm>
          <a:prstGeom prst="rect">
            <a:avLst/>
          </a:prstGeom>
          <a:noFill/>
        </p:spPr>
        <p:txBody>
          <a:bodyPr wrap="square" lIns="45720" tIns="0" rIns="45720" bIns="0" anchor="t">
            <a:noAutofit/>
          </a:bodyPr>
          <a:lstStyle/>
          <a:p>
            <a:pPr algn="l"/>
            <a:r>
              <a:rPr lang="en-GB" sz="1400" dirty="0">
                <a:solidFill>
                  <a:srgbClr val="6E6E6E"/>
                </a:solidFill>
              </a:rPr>
              <a:t>Rest of the motion from</a:t>
            </a:r>
          </a:p>
        </p:txBody>
      </p:sp>
      <p:sp>
        <p:nvSpPr>
          <p:cNvPr id="17" name="Label"/>
          <p:cNvSpPr txBox="1"/>
          <p:nvPr/>
        </p:nvSpPr>
        <p:spPr>
          <a:xfrm>
            <a:off x="9189720" y="1938528"/>
            <a:ext cx="2404872" cy="274320"/>
          </a:xfrm>
          <a:prstGeom prst="rect">
            <a:avLst/>
          </a:prstGeom>
          <a:noFill/>
        </p:spPr>
        <p:txBody>
          <a:bodyPr wrap="square" lIns="45720" tIns="0" rIns="45720" bIns="0" anchor="t">
            <a:noAutofit/>
          </a:bodyPr>
          <a:lstStyle/>
          <a:p>
            <a:pPr algn="l"/>
            <a:r>
              <a:rPr lang="en-GB" sz="1400" dirty="0">
                <a:solidFill>
                  <a:srgbClr val="6E6E6E"/>
                </a:solidFill>
              </a:rPr>
              <a:t>Property</a:t>
            </a:r>
          </a:p>
        </p:txBody>
      </p:sp>
      <p:cxnSp>
        <p:nvCxnSpPr>
          <p:cNvPr id="18" name="Rule"/>
          <p:cNvCxnSpPr/>
          <p:nvPr/>
        </p:nvCxnSpPr>
        <p:spPr>
          <a:xfrm>
            <a:off x="603504" y="2267712"/>
            <a:ext cx="10991088" cy="0"/>
          </a:xfrm>
          <a:prstGeom prst="straightConnector1">
            <a:avLst/>
          </a:prstGeom>
          <a:ln w="9525">
            <a:solidFill>
              <a:srgbClr val="D2D2D2"/>
            </a:solidFill>
          </a:ln>
        </p:spPr>
      </p:cxnSp>
      <p:sp>
        <p:nvSpPr>
          <p:cNvPr id="19" name="Label"/>
          <p:cNvSpPr txBox="1"/>
          <p:nvPr/>
        </p:nvSpPr>
        <p:spPr>
          <a:xfrm>
            <a:off x="603504" y="2313432"/>
            <a:ext cx="3246120" cy="457200"/>
          </a:xfrm>
          <a:prstGeom prst="rect">
            <a:avLst/>
          </a:prstGeom>
          <a:noFill/>
        </p:spPr>
        <p:txBody>
          <a:bodyPr wrap="square" lIns="45720" tIns="0" rIns="45720" bIns="0" anchor="ctr">
            <a:noAutofit/>
          </a:bodyPr>
          <a:lstStyle/>
          <a:p>
            <a:pPr algn="l"/>
            <a:r>
              <a:rPr lang="en-GB" sz="1400" b="1" dirty="0">
                <a:solidFill>
                  <a:srgbClr val="262626"/>
                </a:solidFill>
              </a:rPr>
              <a:t>Trajectory optimization</a:t>
            </a:r>
          </a:p>
          <a:p>
            <a:pPr algn="l"/>
            <a:r>
              <a:rPr lang="en-GB" sz="1100" dirty="0">
                <a:solidFill>
                  <a:srgbClr val="6E6E6E"/>
                </a:solidFill>
              </a:rPr>
              <a:t>Kurtz and Lin 2021</a:t>
            </a:r>
          </a:p>
        </p:txBody>
      </p:sp>
      <p:sp>
        <p:nvSpPr>
          <p:cNvPr id="20" name="Label"/>
          <p:cNvSpPr txBox="1"/>
          <p:nvPr/>
        </p:nvSpPr>
        <p:spPr>
          <a:xfrm>
            <a:off x="3931920" y="2313432"/>
            <a:ext cx="2788920" cy="457200"/>
          </a:xfrm>
          <a:prstGeom prst="rect">
            <a:avLst/>
          </a:prstGeom>
          <a:noFill/>
        </p:spPr>
        <p:txBody>
          <a:bodyPr wrap="square" lIns="45720" tIns="0" rIns="45720" bIns="0" anchor="ctr">
            <a:noAutofit/>
          </a:bodyPr>
          <a:lstStyle/>
          <a:p>
            <a:pPr algn="l"/>
            <a:r>
              <a:rPr lang="en-GB" sz="1300" dirty="0">
                <a:solidFill>
                  <a:srgbClr val="262626"/>
                </a:solidFill>
              </a:rPr>
              <a:t>cost or constraint, with a known dynamics model</a:t>
            </a:r>
          </a:p>
        </p:txBody>
      </p:sp>
      <p:sp>
        <p:nvSpPr>
          <p:cNvPr id="21" name="Label"/>
          <p:cNvSpPr txBox="1"/>
          <p:nvPr/>
        </p:nvSpPr>
        <p:spPr>
          <a:xfrm>
            <a:off x="6812280" y="2313432"/>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costs and feasibility constraints</a:t>
            </a:r>
          </a:p>
        </p:txBody>
      </p:sp>
      <p:sp>
        <p:nvSpPr>
          <p:cNvPr id="22" name="Label"/>
          <p:cNvSpPr txBox="1"/>
          <p:nvPr/>
        </p:nvSpPr>
        <p:spPr>
          <a:xfrm>
            <a:off x="9189720" y="2313432"/>
            <a:ext cx="2404872" cy="457200"/>
          </a:xfrm>
          <a:prstGeom prst="rect">
            <a:avLst/>
          </a:prstGeom>
          <a:noFill/>
        </p:spPr>
        <p:txBody>
          <a:bodyPr wrap="square" lIns="45720" tIns="0" rIns="45720" bIns="0" anchor="ctr">
            <a:noAutofit/>
          </a:bodyPr>
          <a:lstStyle/>
          <a:p>
            <a:pPr algn="l"/>
            <a:r>
              <a:rPr lang="en-GB" sz="1300" dirty="0">
                <a:solidFill>
                  <a:srgbClr val="262626"/>
                </a:solidFill>
              </a:rPr>
              <a:t>specified by hand</a:t>
            </a:r>
          </a:p>
        </p:txBody>
      </p:sp>
      <p:cxnSp>
        <p:nvCxnSpPr>
          <p:cNvPr id="23" name="Rule"/>
          <p:cNvCxnSpPr/>
          <p:nvPr/>
        </p:nvCxnSpPr>
        <p:spPr>
          <a:xfrm>
            <a:off x="603504" y="2798064"/>
            <a:ext cx="10991088" cy="0"/>
          </a:xfrm>
          <a:prstGeom prst="straightConnector1">
            <a:avLst/>
          </a:prstGeom>
          <a:ln w="9525">
            <a:solidFill>
              <a:srgbClr val="D2D2D2"/>
            </a:solidFill>
          </a:ln>
        </p:spPr>
      </p:cxnSp>
      <p:sp>
        <p:nvSpPr>
          <p:cNvPr id="24" name="Label"/>
          <p:cNvSpPr txBox="1"/>
          <p:nvPr/>
        </p:nvSpPr>
        <p:spPr>
          <a:xfrm>
            <a:off x="603504" y="2843784"/>
            <a:ext cx="3246120" cy="457200"/>
          </a:xfrm>
          <a:prstGeom prst="rect">
            <a:avLst/>
          </a:prstGeom>
          <a:noFill/>
        </p:spPr>
        <p:txBody>
          <a:bodyPr wrap="square" lIns="45720" tIns="0" rIns="45720" bIns="0" anchor="ctr">
            <a:noAutofit/>
          </a:bodyPr>
          <a:lstStyle/>
          <a:p>
            <a:pPr algn="l"/>
            <a:r>
              <a:rPr lang="en-GB" sz="1400" b="1" dirty="0">
                <a:solidFill>
                  <a:srgbClr val="262626"/>
                </a:solidFill>
              </a:rPr>
              <a:t>Control barrier functions</a:t>
            </a:r>
          </a:p>
          <a:p>
            <a:pPr algn="l"/>
            <a:r>
              <a:rPr lang="en-GB" sz="1100" dirty="0">
                <a:solidFill>
                  <a:srgbClr val="6E6E6E"/>
                </a:solidFill>
              </a:rPr>
              <a:t>Lindemann and Dimarogonas 2019</a:t>
            </a:r>
          </a:p>
        </p:txBody>
      </p:sp>
      <p:sp>
        <p:nvSpPr>
          <p:cNvPr id="25" name="Label"/>
          <p:cNvSpPr txBox="1"/>
          <p:nvPr/>
        </p:nvSpPr>
        <p:spPr>
          <a:xfrm>
            <a:off x="3931920" y="2843784"/>
            <a:ext cx="2788920" cy="457200"/>
          </a:xfrm>
          <a:prstGeom prst="rect">
            <a:avLst/>
          </a:prstGeom>
          <a:noFill/>
        </p:spPr>
        <p:txBody>
          <a:bodyPr wrap="square" lIns="45720" tIns="0" rIns="45720" bIns="0" anchor="ctr">
            <a:noAutofit/>
          </a:bodyPr>
          <a:lstStyle/>
          <a:p>
            <a:pPr algn="l"/>
            <a:r>
              <a:rPr lang="en-GB" sz="1300" dirty="0">
                <a:solidFill>
                  <a:srgbClr val="262626"/>
                </a:solidFill>
              </a:rPr>
              <a:t>time-varying barrier functions, quadratic program</a:t>
            </a:r>
          </a:p>
        </p:txBody>
      </p:sp>
      <p:sp>
        <p:nvSpPr>
          <p:cNvPr id="26" name="Label"/>
          <p:cNvSpPr txBox="1"/>
          <p:nvPr/>
        </p:nvSpPr>
        <p:spPr>
          <a:xfrm>
            <a:off x="6812280" y="2843784"/>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and control cost</a:t>
            </a:r>
          </a:p>
        </p:txBody>
      </p:sp>
      <p:sp>
        <p:nvSpPr>
          <p:cNvPr id="27" name="Label"/>
          <p:cNvSpPr txBox="1"/>
          <p:nvPr/>
        </p:nvSpPr>
        <p:spPr>
          <a:xfrm>
            <a:off x="9189720" y="2843784"/>
            <a:ext cx="2404872" cy="457200"/>
          </a:xfrm>
          <a:prstGeom prst="rect">
            <a:avLst/>
          </a:prstGeom>
          <a:noFill/>
        </p:spPr>
        <p:txBody>
          <a:bodyPr wrap="square" lIns="45720" tIns="0" rIns="45720" bIns="0" anchor="ctr">
            <a:noAutofit/>
          </a:bodyPr>
          <a:lstStyle/>
          <a:p>
            <a:pPr algn="l"/>
            <a:r>
              <a:rPr lang="en-GB" sz="1300" dirty="0">
                <a:solidFill>
                  <a:srgbClr val="262626"/>
                </a:solidFill>
              </a:rPr>
              <a:t>boundedness conjoined to the requirement</a:t>
            </a:r>
          </a:p>
        </p:txBody>
      </p:sp>
      <p:cxnSp>
        <p:nvCxnSpPr>
          <p:cNvPr id="28" name="Rule"/>
          <p:cNvCxnSpPr/>
          <p:nvPr/>
        </p:nvCxnSpPr>
        <p:spPr>
          <a:xfrm>
            <a:off x="603504" y="3328416"/>
            <a:ext cx="10991088" cy="0"/>
          </a:xfrm>
          <a:prstGeom prst="straightConnector1">
            <a:avLst/>
          </a:prstGeom>
          <a:ln w="9525">
            <a:solidFill>
              <a:srgbClr val="D2D2D2"/>
            </a:solidFill>
          </a:ln>
        </p:spPr>
      </p:cxnSp>
      <p:sp>
        <p:nvSpPr>
          <p:cNvPr id="29" name="Label"/>
          <p:cNvSpPr txBox="1"/>
          <p:nvPr/>
        </p:nvSpPr>
        <p:spPr>
          <a:xfrm>
            <a:off x="603504" y="3374136"/>
            <a:ext cx="3246120" cy="457200"/>
          </a:xfrm>
          <a:prstGeom prst="rect">
            <a:avLst/>
          </a:prstGeom>
          <a:noFill/>
        </p:spPr>
        <p:txBody>
          <a:bodyPr wrap="square" lIns="45720" tIns="0" rIns="45720" bIns="0" anchor="ctr">
            <a:noAutofit/>
          </a:bodyPr>
          <a:lstStyle/>
          <a:p>
            <a:pPr algn="l"/>
            <a:r>
              <a:rPr lang="en-GB" sz="1400" b="1" dirty="0">
                <a:solidFill>
                  <a:srgbClr val="262626"/>
                </a:solidFill>
              </a:rPr>
              <a:t>Training-time conditioning</a:t>
            </a:r>
          </a:p>
          <a:p>
            <a:pPr algn="l"/>
            <a:r>
              <a:rPr lang="en-GB" sz="1100" dirty="0">
                <a:solidFill>
                  <a:srgbClr val="6E6E6E"/>
                </a:solidFill>
              </a:rPr>
              <a:t>TeLoGraF, Meng and Fan 2025</a:t>
            </a:r>
          </a:p>
        </p:txBody>
      </p:sp>
      <p:sp>
        <p:nvSpPr>
          <p:cNvPr id="30" name="Label"/>
          <p:cNvSpPr txBox="1"/>
          <p:nvPr/>
        </p:nvSpPr>
        <p:spPr>
          <a:xfrm>
            <a:off x="3931920" y="3374136"/>
            <a:ext cx="2788920" cy="457200"/>
          </a:xfrm>
          <a:prstGeom prst="rect">
            <a:avLst/>
          </a:prstGeom>
          <a:noFill/>
        </p:spPr>
        <p:txBody>
          <a:bodyPr wrap="square" lIns="45720" tIns="0" rIns="45720" bIns="0" anchor="ctr">
            <a:noAutofit/>
          </a:bodyPr>
          <a:lstStyle/>
          <a:p>
            <a:pPr algn="l"/>
            <a:r>
              <a:rPr lang="en-GB" sz="1300" dirty="0">
                <a:solidFill>
                  <a:srgbClr val="262626"/>
                </a:solidFill>
              </a:rPr>
              <a:t>training, from requirement–demonstration pairs</a:t>
            </a:r>
          </a:p>
        </p:txBody>
      </p:sp>
      <p:sp>
        <p:nvSpPr>
          <p:cNvPr id="31" name="Label"/>
          <p:cNvSpPr txBox="1"/>
          <p:nvPr/>
        </p:nvSpPr>
        <p:spPr>
          <a:xfrm>
            <a:off x="6812280" y="3374136"/>
            <a:ext cx="2286000" cy="457200"/>
          </a:xfrm>
          <a:prstGeom prst="rect">
            <a:avLst/>
          </a:prstGeom>
          <a:noFill/>
        </p:spPr>
        <p:txBody>
          <a:bodyPr wrap="square" lIns="45720" tIns="0" rIns="45720" bIns="0" anchor="ctr">
            <a:noAutofit/>
          </a:bodyPr>
          <a:lstStyle/>
          <a:p>
            <a:pPr algn="l"/>
            <a:r>
              <a:rPr lang="en-GB" sz="1300" dirty="0">
                <a:solidFill>
                  <a:srgbClr val="262626"/>
                </a:solidFill>
              </a:rPr>
              <a:t>conditioned flow-matching model</a:t>
            </a:r>
          </a:p>
        </p:txBody>
      </p:sp>
      <p:sp>
        <p:nvSpPr>
          <p:cNvPr id="32" name="Label"/>
          <p:cNvSpPr txBox="1"/>
          <p:nvPr/>
        </p:nvSpPr>
        <p:spPr>
          <a:xfrm>
            <a:off x="9189720" y="3374136"/>
            <a:ext cx="2404872" cy="457200"/>
          </a:xfrm>
          <a:prstGeom prst="rect">
            <a:avLst/>
          </a:prstGeom>
          <a:noFill/>
        </p:spPr>
        <p:txBody>
          <a:bodyPr wrap="square" lIns="45720" tIns="0" rIns="45720" bIns="0" anchor="ctr">
            <a:noAutofit/>
          </a:bodyPr>
          <a:lstStyle/>
          <a:p>
            <a:pPr algn="l"/>
            <a:r>
              <a:rPr lang="en-GB" sz="1300" dirty="0">
                <a:solidFill>
                  <a:srgbClr val="262626"/>
                </a:solidFill>
              </a:rPr>
              <a:t>degrades outside the conditioning distribution</a:t>
            </a:r>
          </a:p>
        </p:txBody>
      </p:sp>
      <p:cxnSp>
        <p:nvCxnSpPr>
          <p:cNvPr id="33" name="Rule"/>
          <p:cNvCxnSpPr/>
          <p:nvPr/>
        </p:nvCxnSpPr>
        <p:spPr>
          <a:xfrm>
            <a:off x="603504" y="3858768"/>
            <a:ext cx="10991088" cy="0"/>
          </a:xfrm>
          <a:prstGeom prst="straightConnector1">
            <a:avLst/>
          </a:prstGeom>
          <a:ln w="9525">
            <a:solidFill>
              <a:srgbClr val="D2D2D2"/>
            </a:solidFill>
          </a:ln>
        </p:spPr>
      </p:cxnSp>
      <p:sp>
        <p:nvSpPr>
          <p:cNvPr id="34" name="Label"/>
          <p:cNvSpPr txBox="1"/>
          <p:nvPr/>
        </p:nvSpPr>
        <p:spPr>
          <a:xfrm>
            <a:off x="603504" y="3904488"/>
            <a:ext cx="3246120" cy="457200"/>
          </a:xfrm>
          <a:prstGeom prst="rect">
            <a:avLst/>
          </a:prstGeom>
          <a:noFill/>
        </p:spPr>
        <p:txBody>
          <a:bodyPr wrap="square" lIns="45720" tIns="0" rIns="45720" bIns="0" anchor="ctr">
            <a:noAutofit/>
          </a:bodyPr>
          <a:lstStyle/>
          <a:p>
            <a:pPr algn="l"/>
            <a:r>
              <a:rPr lang="en-GB" sz="1400" b="1" dirty="0">
                <a:solidFill>
                  <a:srgbClr val="262626"/>
                </a:solidFill>
              </a:rPr>
              <a:t>Decompose-and-stitch</a:t>
            </a:r>
          </a:p>
          <a:p>
            <a:pPr algn="l"/>
            <a:r>
              <a:rPr lang="en-GB" sz="1100" dirty="0">
                <a:solidFill>
                  <a:srgbClr val="6E6E6E"/>
                </a:solidFill>
              </a:rPr>
              <a:t>ZSTP, Liu et al. 2025</a:t>
            </a:r>
          </a:p>
        </p:txBody>
      </p:sp>
      <p:sp>
        <p:nvSpPr>
          <p:cNvPr id="35" name="Label"/>
          <p:cNvSpPr txBox="1"/>
          <p:nvPr/>
        </p:nvSpPr>
        <p:spPr>
          <a:xfrm>
            <a:off x="3931920" y="3904488"/>
            <a:ext cx="2788920" cy="457200"/>
          </a:xfrm>
          <a:prstGeom prst="rect">
            <a:avLst/>
          </a:prstGeom>
          <a:noFill/>
        </p:spPr>
        <p:txBody>
          <a:bodyPr wrap="square" lIns="45720" tIns="0" rIns="45720" bIns="0" anchor="ctr">
            <a:noAutofit/>
          </a:bodyPr>
          <a:lstStyle/>
          <a:p>
            <a:pPr algn="l"/>
            <a:r>
              <a:rPr lang="en-GB" sz="1300" dirty="0">
                <a:solidFill>
                  <a:srgbClr val="262626"/>
                </a:solidFill>
              </a:rPr>
              <a:t>timed waypoints, before generation</a:t>
            </a:r>
          </a:p>
        </p:txBody>
      </p:sp>
      <p:sp>
        <p:nvSpPr>
          <p:cNvPr id="36" name="Label"/>
          <p:cNvSpPr txBox="1"/>
          <p:nvPr/>
        </p:nvSpPr>
        <p:spPr>
          <a:xfrm>
            <a:off x="6812280" y="3904488"/>
            <a:ext cx="2286000" cy="457200"/>
          </a:xfrm>
          <a:prstGeom prst="rect">
            <a:avLst/>
          </a:prstGeom>
          <a:noFill/>
        </p:spPr>
        <p:txBody>
          <a:bodyPr wrap="square" lIns="45720" tIns="0" rIns="45720" bIns="0" anchor="ctr">
            <a:noAutofit/>
          </a:bodyPr>
          <a:lstStyle/>
          <a:p>
            <a:pPr algn="l"/>
            <a:r>
              <a:rPr lang="en-GB" sz="1300" dirty="0">
                <a:solidFill>
                  <a:srgbClr val="262626"/>
                </a:solidFill>
              </a:rPr>
              <a:t>pretrained diffusion model, between waypoints</a:t>
            </a:r>
          </a:p>
        </p:txBody>
      </p:sp>
      <p:sp>
        <p:nvSpPr>
          <p:cNvPr id="37" name="Label"/>
          <p:cNvSpPr txBox="1"/>
          <p:nvPr/>
        </p:nvSpPr>
        <p:spPr>
          <a:xfrm>
            <a:off x="9189720" y="3904488"/>
            <a:ext cx="2404872" cy="457200"/>
          </a:xfrm>
          <a:prstGeom prst="rect">
            <a:avLst/>
          </a:prstGeom>
          <a:noFill/>
        </p:spPr>
        <p:txBody>
          <a:bodyPr wrap="square" lIns="45720" tIns="0" rIns="45720" bIns="0" anchor="ctr">
            <a:noAutofit/>
          </a:bodyPr>
          <a:lstStyle/>
          <a:p>
            <a:pPr algn="l"/>
            <a:r>
              <a:rPr lang="en-GB" sz="1300" dirty="0">
                <a:solidFill>
                  <a:srgbClr val="262626"/>
                </a:solidFill>
              </a:rPr>
              <a:t>timing of each operator fixed in advance</a:t>
            </a:r>
          </a:p>
        </p:txBody>
      </p:sp>
      <p:cxnSp>
        <p:nvCxnSpPr>
          <p:cNvPr id="38" name="Rule"/>
          <p:cNvCxnSpPr/>
          <p:nvPr/>
        </p:nvCxnSpPr>
        <p:spPr>
          <a:xfrm>
            <a:off x="603504" y="4389120"/>
            <a:ext cx="10991088" cy="0"/>
          </a:xfrm>
          <a:prstGeom prst="straightConnector1">
            <a:avLst/>
          </a:prstGeom>
          <a:ln w="9525">
            <a:solidFill>
              <a:srgbClr val="D2D2D2"/>
            </a:solidFill>
          </a:ln>
        </p:spPr>
      </p:cxnSp>
      <p:sp>
        <p:nvSpPr>
          <p:cNvPr id="39" name="Label"/>
          <p:cNvSpPr txBox="1"/>
          <p:nvPr/>
        </p:nvSpPr>
        <p:spPr>
          <a:xfrm>
            <a:off x="603504" y="4434840"/>
            <a:ext cx="3246120" cy="457200"/>
          </a:xfrm>
          <a:prstGeom prst="rect">
            <a:avLst/>
          </a:prstGeom>
          <a:noFill/>
        </p:spPr>
        <p:txBody>
          <a:bodyPr wrap="square" lIns="45720" tIns="0" rIns="45720" bIns="0" anchor="ctr">
            <a:noAutofit/>
          </a:bodyPr>
          <a:lstStyle/>
          <a:p>
            <a:pPr algn="l"/>
            <a:r>
              <a:rPr lang="en-GB" sz="1400" b="1" dirty="0">
                <a:solidFill>
                  <a:srgbClr val="262626"/>
                </a:solidFill>
              </a:rPr>
              <a:t>Safe-set enforcement</a:t>
            </a:r>
          </a:p>
          <a:p>
            <a:pPr algn="l"/>
            <a:r>
              <a:rPr lang="en-GB" sz="1100" dirty="0">
                <a:solidFill>
                  <a:srgbClr val="6E6E6E"/>
                </a:solidFill>
              </a:rPr>
              <a:t>SafeDiffuser, Xiao et al. 2023</a:t>
            </a:r>
          </a:p>
        </p:txBody>
      </p:sp>
      <p:sp>
        <p:nvSpPr>
          <p:cNvPr id="40" name="Label"/>
          <p:cNvSpPr txBox="1"/>
          <p:nvPr/>
        </p:nvSpPr>
        <p:spPr>
          <a:xfrm>
            <a:off x="3931920" y="4434840"/>
            <a:ext cx="2788920" cy="457200"/>
          </a:xfrm>
          <a:prstGeom prst="rect">
            <a:avLst/>
          </a:prstGeom>
          <a:noFill/>
        </p:spPr>
        <p:txBody>
          <a:bodyPr wrap="square" lIns="45720" tIns="0" rIns="45720" bIns="0" anchor="ctr">
            <a:noAutofit/>
          </a:bodyPr>
          <a:lstStyle/>
          <a:p>
            <a:pPr algn="l"/>
            <a:r>
              <a:rPr lang="en-GB" sz="1300" dirty="0">
                <a:solidFill>
                  <a:srgbClr val="262626"/>
                </a:solidFill>
              </a:rPr>
              <a:t>barrier invariance in each denoising step</a:t>
            </a:r>
          </a:p>
        </p:txBody>
      </p:sp>
      <p:sp>
        <p:nvSpPr>
          <p:cNvPr id="41" name="Label"/>
          <p:cNvSpPr txBox="1"/>
          <p:nvPr/>
        </p:nvSpPr>
        <p:spPr>
          <a:xfrm>
            <a:off x="6812280" y="4434840"/>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2" name="Label"/>
          <p:cNvSpPr txBox="1"/>
          <p:nvPr/>
        </p:nvSpPr>
        <p:spPr>
          <a:xfrm>
            <a:off x="9189720" y="4434840"/>
            <a:ext cx="2404872" cy="457200"/>
          </a:xfrm>
          <a:prstGeom prst="rect">
            <a:avLst/>
          </a:prstGeom>
          <a:noFill/>
        </p:spPr>
        <p:txBody>
          <a:bodyPr wrap="square" lIns="45720" tIns="0" rIns="45720" bIns="0" anchor="ctr">
            <a:noAutofit/>
          </a:bodyPr>
          <a:lstStyle/>
          <a:p>
            <a:pPr algn="l"/>
            <a:r>
              <a:rPr lang="en-GB" sz="1300" dirty="0">
                <a:solidFill>
                  <a:srgbClr val="262626"/>
                </a:solidFill>
              </a:rPr>
              <a:t>time-invariant safe set, no temporal operators</a:t>
            </a:r>
          </a:p>
        </p:txBody>
      </p:sp>
      <p:cxnSp>
        <p:nvCxnSpPr>
          <p:cNvPr id="43" name="Rule"/>
          <p:cNvCxnSpPr/>
          <p:nvPr/>
        </p:nvCxnSpPr>
        <p:spPr>
          <a:xfrm>
            <a:off x="603504" y="4919472"/>
            <a:ext cx="10991088" cy="0"/>
          </a:xfrm>
          <a:prstGeom prst="straightConnector1">
            <a:avLst/>
          </a:prstGeom>
          <a:ln w="9525">
            <a:solidFill>
              <a:srgbClr val="D2D2D2"/>
            </a:solidFill>
          </a:ln>
        </p:spPr>
      </p:cxnSp>
      <p:sp>
        <p:nvSpPr>
          <p:cNvPr id="44" name="Label"/>
          <p:cNvSpPr txBox="1"/>
          <p:nvPr/>
        </p:nvSpPr>
        <p:spPr>
          <a:xfrm>
            <a:off x="603504" y="4965192"/>
            <a:ext cx="3246120" cy="457200"/>
          </a:xfrm>
          <a:prstGeom prst="rect">
            <a:avLst/>
          </a:prstGeom>
          <a:noFill/>
        </p:spPr>
        <p:txBody>
          <a:bodyPr wrap="square" lIns="45720" tIns="0" rIns="45720" bIns="0" anchor="ctr">
            <a:noAutofit/>
          </a:bodyPr>
          <a:lstStyle/>
          <a:p>
            <a:pPr algn="l"/>
            <a:r>
              <a:rPr lang="en-GB" sz="1400" b="1" dirty="0">
                <a:solidFill>
                  <a:srgbClr val="262626"/>
                </a:solidFill>
              </a:rPr>
              <a:t>Inference-time robustness guidance</a:t>
            </a:r>
          </a:p>
          <a:p>
            <a:pPr algn="l"/>
            <a:r>
              <a:rPr lang="en-GB" sz="1100" dirty="0">
                <a:solidFill>
                  <a:srgbClr val="6E6E6E"/>
                </a:solidFill>
              </a:rPr>
              <a:t>CTG, Zhong et al. 2022</a:t>
            </a:r>
          </a:p>
        </p:txBody>
      </p:sp>
      <p:sp>
        <p:nvSpPr>
          <p:cNvPr id="45" name="Label"/>
          <p:cNvSpPr txBox="1"/>
          <p:nvPr/>
        </p:nvSpPr>
        <p:spPr>
          <a:xfrm>
            <a:off x="3931920" y="4965192"/>
            <a:ext cx="2788920" cy="457200"/>
          </a:xfrm>
          <a:prstGeom prst="rect">
            <a:avLst/>
          </a:prstGeom>
          <a:noFill/>
        </p:spPr>
        <p:txBody>
          <a:bodyPr wrap="square" lIns="45720" tIns="0" rIns="45720" bIns="0" anchor="ctr">
            <a:noAutofit/>
          </a:bodyPr>
          <a:lstStyle/>
          <a:p>
            <a:pPr algn="l"/>
            <a:r>
              <a:rPr lang="en-GB" sz="1300" dirty="0">
                <a:solidFill>
                  <a:srgbClr val="262626"/>
                </a:solidFill>
              </a:rPr>
              <a:t>robustness gradient, during sampling</a:t>
            </a:r>
          </a:p>
        </p:txBody>
      </p:sp>
      <p:sp>
        <p:nvSpPr>
          <p:cNvPr id="46" name="Label"/>
          <p:cNvSpPr txBox="1"/>
          <p:nvPr/>
        </p:nvSpPr>
        <p:spPr>
          <a:xfrm>
            <a:off x="6812280" y="4965192"/>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7" name="Label"/>
          <p:cNvSpPr txBox="1"/>
          <p:nvPr/>
        </p:nvSpPr>
        <p:spPr>
          <a:xfrm>
            <a:off x="9189720" y="4965192"/>
            <a:ext cx="2404872" cy="457200"/>
          </a:xfrm>
          <a:prstGeom prst="rect">
            <a:avLst/>
          </a:prstGeom>
          <a:noFill/>
        </p:spPr>
        <p:txBody>
          <a:bodyPr wrap="square" lIns="45720" tIns="0" rIns="45720" bIns="0" anchor="ctr">
            <a:noAutofit/>
          </a:bodyPr>
          <a:lstStyle/>
          <a:p>
            <a:pPr algn="l"/>
            <a:r>
              <a:rPr lang="en-GB" sz="1300" dirty="0">
                <a:solidFill>
                  <a:srgbClr val="262626"/>
                </a:solidFill>
              </a:rPr>
              <a:t>strength coupled to the noise level, no certificate</a:t>
            </a:r>
          </a:p>
        </p:txBody>
      </p:sp>
      <p:cxnSp>
        <p:nvCxnSpPr>
          <p:cNvPr id="48" name="Rule"/>
          <p:cNvCxnSpPr/>
          <p:nvPr/>
        </p:nvCxnSpPr>
        <p:spPr>
          <a:xfrm>
            <a:off x="603504" y="5449824"/>
            <a:ext cx="10991088" cy="0"/>
          </a:xfrm>
          <a:prstGeom prst="straightConnector1">
            <a:avLst/>
          </a:prstGeom>
          <a:ln w="9525">
            <a:solidFill>
              <a:srgbClr val="D2D2D2"/>
            </a:solidFill>
          </a:ln>
        </p:spPr>
      </p:cxnSp>
      <p:sp>
        <p:nvSpPr>
          <p:cNvPr id="49" name="Label"/>
          <p:cNvSpPr txBox="1"/>
          <p:nvPr/>
        </p:nvSpPr>
        <p:spPr>
          <a:xfrm>
            <a:off x="603504" y="5495544"/>
            <a:ext cx="3246120" cy="457200"/>
          </a:xfrm>
          <a:prstGeom prst="rect">
            <a:avLst/>
          </a:prstGeom>
          <a:noFill/>
        </p:spPr>
        <p:txBody>
          <a:bodyPr wrap="square" lIns="45720" tIns="0" rIns="45720" bIns="0" anchor="ctr">
            <a:noAutofit/>
          </a:bodyPr>
          <a:lstStyle/>
          <a:p>
            <a:pPr algn="l"/>
            <a:r>
              <a:rPr lang="en-GB" sz="1400" b="1" dirty="0">
                <a:solidFill>
                  <a:srgbClr val="1954A6"/>
                </a:solidFill>
              </a:rPr>
              <a:t>STL-FM</a:t>
            </a:r>
          </a:p>
          <a:p>
            <a:pPr algn="l"/>
            <a:r>
              <a:rPr lang="en-GB" sz="1100" dirty="0">
                <a:solidFill>
                  <a:srgbClr val="6E6E6E"/>
                </a:solidFill>
              </a:rPr>
              <a:t>this thesis</a:t>
            </a:r>
          </a:p>
        </p:txBody>
      </p:sp>
      <p:sp>
        <p:nvSpPr>
          <p:cNvPr id="50" name="Label"/>
          <p:cNvSpPr txBox="1"/>
          <p:nvPr/>
        </p:nvSpPr>
        <p:spPr>
          <a:xfrm>
            <a:off x="3931920" y="5495544"/>
            <a:ext cx="2788920" cy="457200"/>
          </a:xfrm>
          <a:prstGeom prst="rect">
            <a:avLst/>
          </a:prstGeom>
          <a:noFill/>
        </p:spPr>
        <p:txBody>
          <a:bodyPr wrap="square" lIns="45720" tIns="0" rIns="45720" bIns="0" anchor="ctr">
            <a:noAutofit/>
          </a:bodyPr>
          <a:lstStyle/>
          <a:p>
            <a:pPr algn="l"/>
            <a:r>
              <a:rPr lang="en-GB" sz="1300" dirty="0">
                <a:solidFill>
                  <a:srgbClr val="1954A6"/>
                </a:solidFill>
              </a:rPr>
              <a:t>robustness gradient at the predicted endpoint, during sampling</a:t>
            </a:r>
          </a:p>
        </p:txBody>
      </p:sp>
      <p:sp>
        <p:nvSpPr>
          <p:cNvPr id="51" name="Label"/>
          <p:cNvSpPr txBox="1"/>
          <p:nvPr/>
        </p:nvSpPr>
        <p:spPr>
          <a:xfrm>
            <a:off x="6812280" y="5495544"/>
            <a:ext cx="2286000" cy="457200"/>
          </a:xfrm>
          <a:prstGeom prst="rect">
            <a:avLst/>
          </a:prstGeom>
          <a:noFill/>
        </p:spPr>
        <p:txBody>
          <a:bodyPr wrap="square" lIns="45720" tIns="0" rIns="45720" bIns="0" anchor="ctr">
            <a:noAutofit/>
          </a:bodyPr>
          <a:lstStyle/>
          <a:p>
            <a:pPr algn="l"/>
            <a:r>
              <a:rPr lang="en-GB" sz="1300" dirty="0">
                <a:solidFill>
                  <a:srgbClr val="1954A6"/>
                </a:solidFill>
              </a:rPr>
              <a:t>learned prior, trained by flow matching</a:t>
            </a:r>
          </a:p>
        </p:txBody>
      </p:sp>
      <p:sp>
        <p:nvSpPr>
          <p:cNvPr id="52" name="Label"/>
          <p:cNvSpPr txBox="1"/>
          <p:nvPr/>
        </p:nvSpPr>
        <p:spPr>
          <a:xfrm>
            <a:off x="9189720" y="5495544"/>
            <a:ext cx="2404872" cy="457200"/>
          </a:xfrm>
          <a:prstGeom prst="rect">
            <a:avLst/>
          </a:prstGeom>
          <a:noFill/>
        </p:spPr>
        <p:txBody>
          <a:bodyPr wrap="square" lIns="45720" tIns="0" rIns="45720" bIns="0" anchor="ctr">
            <a:noAutofit/>
          </a:bodyPr>
          <a:lstStyle/>
          <a:p>
            <a:pPr algn="l"/>
            <a:r>
              <a:rPr lang="en-GB" sz="1300" dirty="0">
                <a:solidFill>
                  <a:srgbClr val="1954A6"/>
                </a:solidFill>
              </a:rPr>
              <a:t>one constant strength, no retraining, no certificate</a:t>
            </a:r>
          </a:p>
        </p:txBody>
      </p:sp>
      <p:cxnSp>
        <p:nvCxnSpPr>
          <p:cNvPr id="53" name="Rule"/>
          <p:cNvCxnSpPr/>
          <p:nvPr/>
        </p:nvCxnSpPr>
        <p:spPr>
          <a:xfrm>
            <a:off x="603504" y="5980176"/>
            <a:ext cx="10991088" cy="0"/>
          </a:xfrm>
          <a:prstGeom prst="straightConnector1">
            <a:avLst/>
          </a:prstGeom>
          <a:ln w="9525">
            <a:solidFill>
              <a:srgbClr val="D2D2D2"/>
            </a:solidFill>
          </a:ln>
        </p:spPr>
      </p:cxnSp>
      <p:sp>
        <p:nvSpPr>
          <p:cNvPr id="54" name="Label"/>
          <p:cNvSpPr txBox="1"/>
          <p:nvPr/>
        </p:nvSpPr>
        <p:spPr>
          <a:xfrm>
            <a:off x="603504" y="6053328"/>
            <a:ext cx="10991088" cy="237744"/>
          </a:xfrm>
          <a:prstGeom prst="rect">
            <a:avLst/>
          </a:prstGeom>
          <a:noFill/>
        </p:spPr>
        <p:txBody>
          <a:bodyPr wrap="square" lIns="45720" tIns="0" rIns="45720" bIns="0" anchor="t">
            <a:noAutofit/>
          </a:bodyPr>
          <a:lstStyle/>
          <a:p>
            <a:pPr algn="l"/>
            <a:r>
              <a:rPr lang="en-GB" sz="1100" dirty="0">
                <a:solidFill>
                  <a:srgbClr val="6E6E6E"/>
                </a:solidFill>
              </a:rPr>
              <a:t>Entries summarize the cited works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Requirements witnessed by one demonstration</a:t>
            </a:r>
          </a:p>
        </p:txBody>
      </p:sp>
      <p:sp>
        <p:nvSpPr>
          <p:cNvPr id="12" name="Slide Number"/>
          <p:cNvSpPr>
            <a:spLocks noGrp="1"/>
          </p:cNvSpPr>
          <p:nvPr>
            <p:ph type="sldNum" sz="quarter" idx="12"/>
          </p:nvPr>
        </p:nvSpPr>
        <p:spPr/>
        <p:txBody>
          <a:bodyPr/>
          <a:lstStyle/>
          <a:p>
            <a:fld id="{619F89D8-7AE3-494A-97F3-03D680869632}" type="slidenum">
              <a:rPr lang="en-GB"/>
              <a:t>44</a:t>
            </a:fld>
            <a:endParaRPr lang="en-GB"/>
          </a:p>
        </p:txBody>
      </p:sp>
      <p:pic>
        <p:nvPicPr>
          <p:cNvPr id="13" name="Equation" descr="Satisfaction set of a requirement, and a strictly increasing chain of satisfaction sets from the witness alone to the whole trajectory space"/>
          <p:cNvPicPr>
            <a:picLocks noChangeAspect="1"/>
          </p:cNvPicPr>
          <p:nvPr/>
        </p:nvPicPr>
        <p:blipFill>
          <a:blip r:embed="rId3"/>
          <a:stretch>
            <a:fillRect/>
          </a:stretch>
        </p:blipFill>
        <p:spPr>
          <a:xfrm>
            <a:off x="2843784" y="1965960"/>
            <a:ext cx="6510528" cy="406908"/>
          </a:xfrm>
          <a:prstGeom prst="rect">
            <a:avLst/>
          </a:prstGeom>
        </p:spPr>
      </p:pic>
      <p:sp>
        <p:nvSpPr>
          <p:cNvPr id="14" name="Label"/>
          <p:cNvSpPr txBox="1"/>
          <p:nvPr/>
        </p:nvSpPr>
        <p:spPr>
          <a:xfrm>
            <a:off x="603504" y="2738628"/>
            <a:ext cx="10991088" cy="2884932"/>
          </a:xfrm>
          <a:prstGeom prst="rect">
            <a:avLst/>
          </a:prstGeom>
          <a:noFill/>
        </p:spPr>
        <p:txBody>
          <a:bodyPr wrap="square" lIns="45720" tIns="0" rIns="45720" bIns="0" anchor="t">
            <a:noAutofit/>
          </a:bodyPr>
          <a:lstStyle/>
          <a:p>
            <a:pPr algn="l"/>
            <a:r>
              <a:rPr lang="en-GB" sz="1800" dirty="0">
                <a:solidFill>
                  <a:srgbClr val="262626"/>
                </a:solidFill>
              </a:rPr>
              <a:t>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witnesses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if it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that is, if </a:t>
            </a:r>
            <a:r>
              <a:rPr lang="en-GB" sz="1800" dirty="0">
                <a:solidFill>
                  <a:srgbClr val="262626"/>
                </a:solidFill>
                <a:latin typeface="Cambria Math"/>
                <a:ea typeface="Cambria Math"/>
                <a:cs typeface="Cambria Math"/>
                <a:sym typeface="Cambria Math"/>
              </a:rPr>
              <a:t>τ⋆</a:t>
            </a:r>
            <a:r>
              <a:rPr lang="en-GB" sz="1800" dirty="0">
                <a:solidFill>
                  <a:srgbClr val="262626"/>
                </a:solidFill>
              </a:rPr>
              <a:t> lies in the satisfaction set </a:t>
            </a:r>
            <a:r>
              <a:rPr lang="en-GB" sz="1800" dirty="0">
                <a:solidFill>
                  <a:srgbClr val="262626"/>
                </a:solidFill>
                <a:latin typeface="Cambria Math"/>
                <a:ea typeface="Cambria Math"/>
                <a:cs typeface="Cambria Math"/>
                <a:sym typeface="Cambria Math"/>
              </a:rPr>
              <a:t>𝒮</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Two requirements are equivalent if they have the same satisfaction set.</a:t>
            </a:r>
          </a:p>
          <a:p>
            <a:pPr algn="l">
              <a:spcBef>
                <a:spcPts val="900"/>
              </a:spcBef>
            </a:pPr>
            <a:r>
              <a:rPr lang="en-GB" sz="1800" dirty="0">
                <a:solidFill>
                  <a:srgbClr val="262626"/>
                </a:solidFill>
              </a:rPr>
              <a:t>Any one trajectory witnesses uncountably many inequivalent requirements.</a:t>
            </a:r>
          </a:p>
          <a:p>
            <a:pPr algn="l">
              <a:spcBef>
                <a:spcPts val="900"/>
              </a:spcBef>
            </a:pPr>
            <a:r>
              <a:rPr lang="en-GB" sz="1800" dirty="0">
                <a:solidFill>
                  <a:srgbClr val="262626"/>
                </a:solidFill>
              </a:rPr>
              <a:t>Their satisfaction sets form strictly increasing chains, from </a:t>
            </a:r>
            <a:r>
              <a:rPr lang="en-GB" sz="1800" dirty="0">
                <a:solidFill>
                  <a:srgbClr val="262626"/>
                </a:solidFill>
                <a:latin typeface="Cambria Math"/>
                <a:ea typeface="Cambria Math"/>
                <a:cs typeface="Cambria Math"/>
                <a:sym typeface="Cambria Math"/>
              </a:rPr>
              <a:t>{τ⋆}</a:t>
            </a:r>
            <a:r>
              <a:rPr lang="en-GB" sz="1800" dirty="0">
                <a:solidFill>
                  <a:srgbClr val="262626"/>
                </a:solidFill>
              </a:rPr>
              <a:t>, “do exactly this”, to the whole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“do anything”.</a:t>
            </a:r>
          </a:p>
          <a:p>
            <a:pPr algn="l">
              <a:spcBef>
                <a:spcPts val="900"/>
              </a:spcBef>
            </a:pPr>
            <a:r>
              <a:rPr lang="en-GB" sz="1800" dirty="0">
                <a:solidFill>
                  <a:srgbClr val="262626"/>
                </a:solidFill>
              </a:rPr>
              <a:t>Consequently, no map from a single demonstration to a requirement is determined by the demonstration.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This answers RQ1. Witnessing constrains membership in a satisfaction set but does not determine which requirement was intended, and the requirement is stated separately from the demonstrations, as an STL formula.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Sparsity of the robustness gradient</a:t>
            </a:r>
          </a:p>
        </p:txBody>
      </p:sp>
      <p:sp>
        <p:nvSpPr>
          <p:cNvPr id="12" name="Slide Number"/>
          <p:cNvSpPr>
            <a:spLocks noGrp="1"/>
          </p:cNvSpPr>
          <p:nvPr>
            <p:ph type="sldNum" sz="quarter" idx="12"/>
          </p:nvPr>
        </p:nvSpPr>
        <p:spPr/>
        <p:txBody>
          <a:bodyPr/>
          <a:lstStyle/>
          <a:p>
            <a:fld id="{619F89D8-7AE3-494A-97F3-03D680869632}" type="slidenum">
              <a:rPr lang="en-GB"/>
              <a:t>45</a:t>
            </a:fld>
            <a:endParaRPr lang="en-GB"/>
          </a:p>
        </p:txBody>
      </p:sp>
      <p:pic>
        <p:nvPicPr>
          <p:cNvPr id="13" name="Equation" descr="The gradient vanishes off the active set, the active set has at most m waypoints, and the flat subspace has dimension at least (H minus m) d"/>
          <p:cNvPicPr>
            <a:picLocks noChangeAspect="1"/>
          </p:cNvPicPr>
          <p:nvPr/>
        </p:nvPicPr>
        <p:blipFill>
          <a:blip r:embed="rId3"/>
          <a:stretch>
            <a:fillRect/>
          </a:stretch>
        </p:blipFill>
        <p:spPr>
          <a:xfrm>
            <a:off x="1562862" y="1965960"/>
            <a:ext cx="9072372" cy="374904"/>
          </a:xfrm>
          <a:prstGeom prst="rect">
            <a:avLst/>
          </a:prstGeom>
        </p:spPr>
      </p:pic>
      <p:sp>
        <p:nvSpPr>
          <p:cNvPr id="14" name="Label"/>
          <p:cNvSpPr txBox="1"/>
          <p:nvPr/>
        </p:nvSpPr>
        <p:spPr>
          <a:xfrm>
            <a:off x="603504" y="2706624"/>
            <a:ext cx="10991088" cy="2916936"/>
          </a:xfrm>
          <a:prstGeom prst="rect">
            <a:avLst/>
          </a:prstGeom>
          <a:noFill/>
        </p:spPr>
        <p:txBody>
          <a:bodyPr wrap="square" lIns="45720" tIns="0" rIns="45720" bIns="0" anchor="t">
            <a:noAutofit/>
          </a:bodyPr>
          <a:lstStyle/>
          <a:p>
            <a:pPr algn="l"/>
            <a:r>
              <a:rPr lang="en-GB" sz="1800" dirty="0">
                <a:solidFill>
                  <a:srgbClr val="262626"/>
                </a:solidFill>
              </a:rPr>
              <a:t>The result concerns a formula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m</a:t>
            </a:r>
            <a:r>
              <a:rPr lang="en-GB" sz="1800" dirty="0">
                <a:solidFill>
                  <a:srgbClr val="262626"/>
                </a:solidFill>
              </a:rPr>
              <a:t> predicate occurrences, scored with the exact semantics at 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where every min and max selection is unique.</a:t>
            </a:r>
          </a:p>
          <a:p>
            <a:pPr algn="l">
              <a:spcBef>
                <a:spcPts val="900"/>
              </a:spcBef>
            </a:pPr>
            <a:r>
              <a:rPr lang="en-GB" sz="1800" dirty="0">
                <a:solidFill>
                  <a:srgbClr val="262626"/>
                </a:solidFill>
              </a:rPr>
              <a:t>Near </a:t>
            </a:r>
            <a:r>
              <a:rPr lang="en-GB" sz="1800" dirty="0">
                <a:solidFill>
                  <a:srgbClr val="262626"/>
                </a:solidFill>
                <a:latin typeface="Cambria Math"/>
                <a:ea typeface="Cambria Math"/>
                <a:cs typeface="Cambria Math"/>
                <a:sym typeface="Cambria Math"/>
              </a:rPr>
              <a:t>τ</a:t>
            </a:r>
            <a:r>
              <a:rPr lang="en-GB" sz="1800" dirty="0">
                <a:solidFill>
                  <a:srgbClr val="262626"/>
                </a:solidFill>
              </a:rPr>
              <a:t> the score depends on at most </a:t>
            </a:r>
            <a:r>
              <a:rPr lang="en-GB" sz="1800" dirty="0">
                <a:solidFill>
                  <a:srgbClr val="262626"/>
                </a:solidFill>
                <a:latin typeface="Cambria Math"/>
                <a:ea typeface="Cambria Math"/>
                <a:cs typeface="Cambria Math"/>
                <a:sym typeface="Cambria Math"/>
              </a:rPr>
              <a:t>m</a:t>
            </a:r>
            <a:r>
              <a:rPr lang="en-GB" sz="1800" dirty="0">
                <a:solidFill>
                  <a:srgbClr val="262626"/>
                </a:solidFill>
              </a:rPr>
              <a:t> waypoints, the active set </a:t>
            </a:r>
            <a:r>
              <a:rPr lang="en-GB" sz="1800" dirty="0">
                <a:solidFill>
                  <a:srgbClr val="262626"/>
                </a:solidFill>
                <a:latin typeface="Cambria Math"/>
                <a:ea typeface="Cambria Math"/>
                <a:cs typeface="Cambria Math"/>
                <a:sym typeface="Cambria Math"/>
              </a:rPr>
              <a:t>𝒜(τ)</a:t>
            </a:r>
            <a:r>
              <a:rPr lang="en-GB" sz="1800" dirty="0">
                <a:solidFill>
                  <a:srgbClr val="262626"/>
                </a:solidFill>
              </a:rPr>
              <a:t>.</a:t>
            </a:r>
          </a:p>
          <a:p>
            <a:pPr algn="l">
              <a:spcBef>
                <a:spcPts val="900"/>
              </a:spcBef>
            </a:pPr>
            <a:r>
              <a:rPr lang="en-GB" sz="1800" dirty="0">
                <a:solidFill>
                  <a:srgbClr val="262626"/>
                </a:solidFill>
              </a:rPr>
              <a:t>The gradient is zero at every other waypoint, and the score is constant along a subspace </a:t>
            </a:r>
            <a:r>
              <a:rPr lang="en-GB" sz="1800" dirty="0">
                <a:solidFill>
                  <a:srgbClr val="262626"/>
                </a:solidFill>
                <a:latin typeface="Cambria Math"/>
                <a:ea typeface="Cambria Math"/>
                <a:cs typeface="Cambria Math"/>
                <a:sym typeface="Cambria Math"/>
              </a:rPr>
              <a:t>N(τ)</a:t>
            </a:r>
            <a:r>
              <a:rPr lang="en-GB" sz="1800" dirty="0">
                <a:solidFill>
                  <a:srgbClr val="262626"/>
                </a:solidFill>
              </a:rPr>
              <a:t> whose dimension in the position coordinates is at least </a:t>
            </a:r>
            <a:r>
              <a:rPr lang="en-GB" sz="1800" dirty="0">
                <a:solidFill>
                  <a:srgbClr val="262626"/>
                </a:solidFill>
                <a:latin typeface="Cambria Math"/>
                <a:ea typeface="Cambria Math"/>
                <a:cs typeface="Cambria Math"/>
                <a:sym typeface="Cambria Math"/>
              </a:rPr>
              <a:t>(H − m)d</a:t>
            </a:r>
            <a:r>
              <a:rPr lang="en-GB" sz="1800" dirty="0">
                <a:solidFill>
                  <a:srgbClr val="262626"/>
                </a:solidFill>
              </a:rPr>
              <a:t>.</a:t>
            </a:r>
          </a:p>
          <a:p>
            <a:pPr algn="l">
              <a:spcBef>
                <a:spcPts val="900"/>
              </a:spcBef>
            </a:pPr>
            <a:r>
              <a:rPr lang="en-GB" sz="1800" dirty="0">
                <a:solidFill>
                  <a:srgbClr val="262626"/>
                </a:solidFill>
              </a:rPr>
              <a:t>Gradient ascent on the score leaves every coordinate in </a:t>
            </a:r>
            <a:r>
              <a:rPr lang="en-GB" sz="1800" dirty="0">
                <a:solidFill>
                  <a:srgbClr val="262626"/>
                </a:solidFill>
                <a:latin typeface="Cambria Math"/>
                <a:ea typeface="Cambria Math"/>
                <a:cs typeface="Cambria Math"/>
                <a:sym typeface="Cambria Math"/>
              </a:rPr>
              <a:t>N(τ)</a:t>
            </a:r>
            <a:r>
              <a:rPr lang="en-GB" sz="1800" dirty="0">
                <a:solidFill>
                  <a:srgbClr val="262626"/>
                </a:solidFill>
              </a:rPr>
              <a:t> at its initial value for as long as the active set is unchanged.</a:t>
            </a:r>
          </a:p>
          <a:p>
            <a:pPr algn="l">
              <a:spcBef>
                <a:spcPts val="900"/>
              </a:spcBef>
            </a:pPr>
            <a:r>
              <a:rPr lang="en-GB" sz="1800" dirty="0">
                <a:solidFill>
                  <a:srgbClr val="262626"/>
                </a:solidFill>
              </a:rPr>
              <a:t>Here </a:t>
            </a:r>
            <a:r>
              <a:rPr lang="en-GB" sz="1800" dirty="0">
                <a:solidFill>
                  <a:srgbClr val="262626"/>
                </a:solidFill>
                <a:latin typeface="Cambria Math"/>
                <a:ea typeface="Cambria Math"/>
                <a:cs typeface="Cambria Math"/>
                <a:sym typeface="Cambria Math"/>
              </a:rPr>
              <a:t>H</a:t>
            </a:r>
            <a:r>
              <a:rPr lang="en-GB" sz="1800" dirty="0">
                <a:solidFill>
                  <a:srgbClr val="262626"/>
                </a:solidFill>
              </a:rPr>
              <a:t> is the horizon, </a:t>
            </a:r>
            <a:r>
              <a:rPr lang="en-GB" sz="1800" dirty="0">
                <a:solidFill>
                  <a:srgbClr val="262626"/>
                </a:solidFill>
                <a:latin typeface="Cambria Math"/>
                <a:ea typeface="Cambria Math"/>
                <a:cs typeface="Cambria Math"/>
                <a:sym typeface="Cambria Math"/>
              </a:rPr>
              <a:t>d</a:t>
            </a:r>
            <a:r>
              <a:rPr lang="en-GB" sz="1800" dirty="0">
                <a:solidFill>
                  <a:srgbClr val="262626"/>
                </a:solidFill>
              </a:rPr>
              <a:t> the dimension of the position coordinates, and </a:t>
            </a:r>
            <a:r>
              <a:rPr lang="en-GB" sz="1800" dirty="0">
                <a:solidFill>
                  <a:srgbClr val="262626"/>
                </a:solidFill>
                <a:latin typeface="Cambria Math"/>
                <a:ea typeface="Cambria Math"/>
                <a:cs typeface="Cambria Math"/>
                <a:sym typeface="Cambria Math"/>
              </a:rPr>
              <a:t>π</a:t>
            </a:r>
            <a:r>
              <a:rPr lang="en-GB" sz="1800" baseline="-25000" dirty="0">
                <a:solidFill>
                  <a:srgbClr val="262626"/>
                </a:solidFill>
                <a:latin typeface="Cambria Math"/>
                <a:ea typeface="Cambria Math"/>
                <a:cs typeface="Cambria Math"/>
                <a:sym typeface="Cambria Math"/>
              </a:rPr>
              <a:t>t</a:t>
            </a:r>
            <a:r>
              <a:rPr lang="en-GB" sz="1800" dirty="0">
                <a:solidFill>
                  <a:srgbClr val="262626"/>
                </a:solidFill>
              </a:rPr>
              <a:t> the waypoint at step </a:t>
            </a:r>
            <a:r>
              <a:rPr lang="en-GB" sz="1800" dirty="0">
                <a:solidFill>
                  <a:srgbClr val="262626"/>
                </a:solidFill>
                <a:latin typeface="Cambria Math"/>
                <a:ea typeface="Cambria Math"/>
                <a:cs typeface="Cambria Math"/>
                <a:sym typeface="Cambria Math"/>
              </a:rPr>
              <a:t>t</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In the experiments </a:t>
            </a:r>
            <a:r>
              <a:rPr lang="en-GB" sz="1500" dirty="0">
                <a:solidFill>
                  <a:srgbClr val="6E6E6E"/>
                </a:solidFill>
                <a:latin typeface="Cambria Math"/>
                <a:ea typeface="Cambria Math"/>
                <a:cs typeface="Cambria Math"/>
                <a:sym typeface="Cambria Math"/>
              </a:rPr>
              <a:t>m</a:t>
            </a:r>
            <a:r>
              <a:rPr lang="en-GB" sz="1500" dirty="0">
                <a:solidFill>
                  <a:srgbClr val="6E6E6E"/>
                </a:solidFill>
              </a:rPr>
              <a:t> lies between 1 and 5, against horizons of 64 to 256.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Maximizers of a reach requirement</a:t>
            </a:r>
          </a:p>
        </p:txBody>
      </p:sp>
      <p:sp>
        <p:nvSpPr>
          <p:cNvPr id="12" name="Slide Number"/>
          <p:cNvSpPr>
            <a:spLocks noGrp="1"/>
          </p:cNvSpPr>
          <p:nvPr>
            <p:ph type="sldNum" sz="quarter" idx="12"/>
          </p:nvPr>
        </p:nvSpPr>
        <p:spPr/>
        <p:txBody>
          <a:bodyPr/>
          <a:lstStyle/>
          <a:p>
            <a:fld id="{619F89D8-7AE3-494A-97F3-03D680869632}" type="slidenum">
              <a:rPr lang="en-GB"/>
              <a:t>46</a:t>
            </a:fld>
            <a:endParaRPr lang="en-GB"/>
          </a:p>
        </p:txBody>
      </p:sp>
      <p:pic>
        <p:nvPicPr>
          <p:cNvPr id="13" name="Equation" descr="The reach requirement and its predicate, and the maximizing set as a union over the window of the trajectories that are at the centre at that step"/>
          <p:cNvPicPr>
            <a:picLocks noChangeAspect="1"/>
          </p:cNvPicPr>
          <p:nvPr/>
        </p:nvPicPr>
        <p:blipFill>
          <a:blip r:embed="rId3"/>
          <a:stretch>
            <a:fillRect/>
          </a:stretch>
        </p:blipFill>
        <p:spPr>
          <a:xfrm>
            <a:off x="3306318" y="1965960"/>
            <a:ext cx="5585460" cy="1106424"/>
          </a:xfrm>
          <a:prstGeom prst="rect">
            <a:avLst/>
          </a:prstGeom>
        </p:spPr>
      </p:pic>
      <p:sp>
        <p:nvSpPr>
          <p:cNvPr id="14" name="Label"/>
          <p:cNvSpPr txBox="1"/>
          <p:nvPr/>
        </p:nvSpPr>
        <p:spPr>
          <a:xfrm>
            <a:off x="603504" y="3438144"/>
            <a:ext cx="10991088" cy="2185416"/>
          </a:xfrm>
          <a:prstGeom prst="rect">
            <a:avLst/>
          </a:prstGeom>
          <a:noFill/>
        </p:spPr>
        <p:txBody>
          <a:bodyPr wrap="square" lIns="45720" tIns="0" rIns="45720" bIns="0" anchor="t">
            <a:noAutofit/>
          </a:bodyPr>
          <a:lstStyle/>
          <a:p>
            <a:pPr algn="l"/>
            <a:r>
              <a:rPr lang="en-GB" sz="1800" dirty="0">
                <a:solidFill>
                  <a:srgbClr val="262626"/>
                </a:solidFill>
              </a:rPr>
              <a:t>The reach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holds if the position lies within a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a:t>
            </a:r>
          </a:p>
          <a:p>
            <a:pPr algn="l">
              <a:spcBef>
                <a:spcPts val="900"/>
              </a:spcBef>
            </a:pPr>
            <a:r>
              <a:rPr lang="en-GB" sz="1800" dirty="0">
                <a:solidFill>
                  <a:srgbClr val="262626"/>
                </a:solidFill>
              </a:rPr>
              <a:t>Its largest score </a:t>
            </a:r>
            <a:r>
              <a:rPr lang="en-GB" sz="1800" dirty="0">
                <a:solidFill>
                  <a:srgbClr val="262626"/>
                </a:solidFill>
                <a:latin typeface="Cambria Math"/>
                <a:ea typeface="Cambria Math"/>
                <a:cs typeface="Cambria Math"/>
                <a:sym typeface="Cambria Math"/>
              </a:rPr>
              <a:t>r</a:t>
            </a:r>
            <a:r>
              <a:rPr lang="en-GB" sz="1800" dirty="0">
                <a:solidFill>
                  <a:srgbClr val="262626"/>
                </a:solidFill>
              </a:rPr>
              <a:t> is attained by every trajectory that is at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 whatever it does at the other steps.</a:t>
            </a:r>
          </a:p>
          <a:p>
            <a:pPr algn="l">
              <a:spcBef>
                <a:spcPts val="900"/>
              </a:spcBef>
            </a:pPr>
            <a:r>
              <a:rPr lang="en-GB" sz="1800" dirty="0">
                <a:solidFill>
                  <a:srgbClr val="262626"/>
                </a:solidFill>
              </a:rPr>
              <a:t>The maximizing set </a:t>
            </a:r>
            <a:r>
              <a:rPr lang="en-GB" sz="1800" dirty="0">
                <a:solidFill>
                  <a:srgbClr val="262626"/>
                </a:solidFill>
                <a:latin typeface="Cambria Math"/>
                <a:ea typeface="Cambria Math"/>
                <a:cs typeface="Cambria Math"/>
                <a:sym typeface="Cambria Math"/>
              </a:rPr>
              <a:t>𝒪</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is therefore a union of affine subspaces, each of dimension </a:t>
            </a:r>
            <a:r>
              <a:rPr lang="en-GB" sz="1800" dirty="0">
                <a:solidFill>
                  <a:srgbClr val="262626"/>
                </a:solidFill>
                <a:latin typeface="Cambria Math"/>
                <a:ea typeface="Cambria Math"/>
                <a:cs typeface="Cambria Math"/>
                <a:sym typeface="Cambria Math"/>
              </a:rPr>
              <a:t>(H − 1)d</a:t>
            </a:r>
            <a:r>
              <a:rPr lang="en-GB" sz="1800" dirty="0">
                <a:solidFill>
                  <a:srgbClr val="262626"/>
                </a:solidFill>
              </a:rPr>
              <a:t> in the position coordinates.</a:t>
            </a:r>
          </a:p>
          <a:p>
            <a:pPr algn="l">
              <a:spcBef>
                <a:spcPts val="900"/>
              </a:spcBef>
            </a:pPr>
            <a:r>
              <a:rPr lang="en-GB" sz="1800" dirty="0">
                <a:solidFill>
                  <a:srgbClr val="262626"/>
                </a:solidFill>
              </a:rPr>
              <a:t>It contains trajectories of arbitrarily large velocity and acceleration, and no rule internal to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selects among them.</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Maximality of the score implies nothing about plausibility.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Unbounded maximizers under avoidance</a:t>
            </a:r>
          </a:p>
        </p:txBody>
      </p:sp>
      <p:sp>
        <p:nvSpPr>
          <p:cNvPr id="12" name="Slide Number"/>
          <p:cNvSpPr>
            <a:spLocks noGrp="1"/>
          </p:cNvSpPr>
          <p:nvPr>
            <p:ph type="sldNum" sz="quarter" idx="12"/>
          </p:nvPr>
        </p:nvSpPr>
        <p:spPr/>
        <p:txBody>
          <a:bodyPr/>
          <a:lstStyle/>
          <a:p>
            <a:fld id="{619F89D8-7AE3-494A-97F3-03D680869632}" type="slidenum">
              <a:rPr lang="en-GB"/>
              <a:t>47</a:t>
            </a:fld>
            <a:endParaRPr lang="en-GB"/>
          </a:p>
        </p:txBody>
      </p:sp>
      <p:pic>
        <p:nvPicPr>
          <p:cNvPr id="13" name="Equation" descr="Pure safety requirement, its robustness as a minimum of clearances, and a supremum of plus infinity"/>
          <p:cNvPicPr>
            <a:picLocks noChangeAspect="1"/>
          </p:cNvPicPr>
          <p:nvPr/>
        </p:nvPicPr>
        <p:blipFill>
          <a:blip r:embed="rId3"/>
          <a:stretch>
            <a:fillRect/>
          </a:stretch>
        </p:blipFill>
        <p:spPr>
          <a:xfrm>
            <a:off x="1807464" y="1965960"/>
            <a:ext cx="8583168" cy="455676"/>
          </a:xfrm>
          <a:prstGeom prst="rect">
            <a:avLst/>
          </a:prstGeom>
        </p:spPr>
      </p:pic>
      <p:sp>
        <p:nvSpPr>
          <p:cNvPr id="14" name="Label"/>
          <p:cNvSpPr txBox="1"/>
          <p:nvPr/>
        </p:nvSpPr>
        <p:spPr>
          <a:xfrm>
            <a:off x="603504" y="2787396"/>
            <a:ext cx="10991088" cy="2836164"/>
          </a:xfrm>
          <a:prstGeom prst="rect">
            <a:avLst/>
          </a:prstGeom>
          <a:noFill/>
        </p:spPr>
        <p:txBody>
          <a:bodyPr wrap="square" lIns="45720" tIns="0" rIns="45720" bIns="0" anchor="t">
            <a:noAutofit/>
          </a:bodyPr>
          <a:lstStyle/>
          <a:p>
            <a:pPr algn="l"/>
            <a:r>
              <a:rPr lang="en-GB" sz="1800" dirty="0">
                <a:solidFill>
                  <a:srgbClr val="262626"/>
                </a:solidFill>
              </a:rPr>
              <a:t>The predicate </a:t>
            </a:r>
            <a:r>
              <a:rPr lang="en-GB" sz="1800" dirty="0">
                <a:solidFill>
                  <a:srgbClr val="262626"/>
                </a:solidFill>
                <a:latin typeface="Cambria Math"/>
                <a:ea typeface="Cambria Math"/>
                <a:cs typeface="Cambria Math"/>
                <a:sym typeface="Cambria Math"/>
              </a:rPr>
              <a:t>μ</a:t>
            </a:r>
            <a:r>
              <a:rPr lang="en-GB" sz="1800" dirty="0">
                <a:solidFill>
                  <a:srgbClr val="262626"/>
                </a:solidFill>
              </a:rPr>
              <a:t> is an unsafe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a:t>
            </a:r>
          </a:p>
          <a:p>
            <a:pPr algn="l">
              <a:spcBef>
                <a:spcPts val="900"/>
              </a:spcBef>
            </a:pPr>
            <a:r>
              <a:rPr lang="en-GB" sz="1800" dirty="0">
                <a:solidFill>
                  <a:srgbClr val="262626"/>
                </a:solidFill>
              </a:rPr>
              <a:t>For the pure safety requirement </a:t>
            </a:r>
            <a:r>
              <a:rPr lang="en-GB" sz="1800" dirty="0">
                <a:solidFill>
                  <a:srgbClr val="262626"/>
                </a:solidFill>
                <a:latin typeface="Cambria Math"/>
                <a:ea typeface="Cambria Math"/>
                <a:cs typeface="Cambria Math"/>
                <a:sym typeface="Cambria Math"/>
              </a:rPr>
              <a:t>◻</a:t>
            </a:r>
            <a:r>
              <a:rPr lang="en-GB" sz="1800" baseline="-25000" dirty="0">
                <a:solidFill>
                  <a:srgbClr val="262626"/>
                </a:solidFill>
                <a:latin typeface="Cambria Math"/>
                <a:ea typeface="Cambria Math"/>
                <a:cs typeface="Cambria Math"/>
                <a:sym typeface="Cambria Math"/>
              </a:rPr>
              <a:t>[0,H−1]</a:t>
            </a:r>
            <a:r>
              <a:rPr lang="en-GB" sz="1800" dirty="0">
                <a:solidFill>
                  <a:srgbClr val="262626"/>
                </a:solidFill>
                <a:latin typeface="Cambria Math"/>
                <a:ea typeface="Cambria Math"/>
                <a:cs typeface="Cambria Math"/>
                <a:sym typeface="Cambria Math"/>
              </a:rPr>
              <a:t> ¬μ</a:t>
            </a:r>
            <a:r>
              <a:rPr lang="en-GB" sz="1800" dirty="0">
                <a:solidFill>
                  <a:srgbClr val="262626"/>
                </a:solidFill>
              </a:rPr>
              <a:t> the score is unbounded above, so no maximizer exists.</a:t>
            </a:r>
          </a:p>
          <a:p>
            <a:pPr algn="l">
              <a:spcBef>
                <a:spcPts val="900"/>
              </a:spcBef>
            </a:pPr>
            <a:r>
              <a:rPr lang="en-GB" sz="1800" dirty="0">
                <a:solidFill>
                  <a:srgbClr val="262626"/>
                </a:solidFill>
              </a:rPr>
              <a:t>With at least one reach conjunct the supremum is finite and attained.</a:t>
            </a:r>
          </a:p>
          <a:p>
            <a:pPr algn="l">
              <a:spcBef>
                <a:spcPts val="900"/>
              </a:spcBef>
            </a:pPr>
            <a:r>
              <a:rPr lang="en-GB" sz="1800" dirty="0">
                <a:solidFill>
                  <a:srgbClr val="262626"/>
                </a:solidFill>
              </a:rPr>
              <a:t>At a step covered only by avoidance conjuncts, displacing the waypoint of a maximizer far from every unsafe centre leaves the score unchanged, so the set of maximizers is unbounded.</a:t>
            </a:r>
          </a:p>
          <a:p>
            <a:pPr algn="l">
              <a:spcBef>
                <a:spcPts val="900"/>
              </a:spcBef>
            </a:pPr>
            <a:r>
              <a:rPr lang="en-GB" sz="1800" dirty="0">
                <a:solidFill>
                  <a:srgbClr val="262626"/>
                </a:solidFill>
              </a:rPr>
              <a:t>In neither case does the requirement bound the trajectory.</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coordinates that the requirement leaves free are determined by a component other than the requirement, in STL-FM the learned prior.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Maximization over plausible trajectories</a:t>
            </a:r>
          </a:p>
        </p:txBody>
      </p:sp>
      <p:sp>
        <p:nvSpPr>
          <p:cNvPr id="12" name="Slide Number"/>
          <p:cNvSpPr>
            <a:spLocks noGrp="1"/>
          </p:cNvSpPr>
          <p:nvPr>
            <p:ph type="sldNum" sz="quarter" idx="12"/>
          </p:nvPr>
        </p:nvSpPr>
        <p:spPr/>
        <p:txBody>
          <a:bodyPr/>
          <a:lstStyle/>
          <a:p>
            <a:fld id="{619F89D8-7AE3-494A-97F3-03D680869632}" type="slidenum">
              <a:rPr lang="en-GB"/>
              <a:t>48</a:t>
            </a:fld>
            <a:endParaRPr lang="en-GB"/>
          </a:p>
        </p:txBody>
      </p:sp>
      <p:pic>
        <p:nvPicPr>
          <p:cNvPr id="13" name="Equation" descr="Maximize the robustness score subject to the trajectory lying on the manifold of plausible trajectories"/>
          <p:cNvPicPr>
            <a:picLocks noChangeAspect="1"/>
          </p:cNvPicPr>
          <p:nvPr/>
        </p:nvPicPr>
        <p:blipFill>
          <a:blip r:embed="rId3"/>
          <a:stretch>
            <a:fillRect/>
          </a:stretch>
        </p:blipFill>
        <p:spPr>
          <a:xfrm>
            <a:off x="4044696" y="1965960"/>
            <a:ext cx="4108704" cy="423672"/>
          </a:xfrm>
          <a:prstGeom prst="rect">
            <a:avLst/>
          </a:prstGeom>
        </p:spPr>
      </p:pic>
      <p:sp>
        <p:nvSpPr>
          <p:cNvPr id="14" name="Label"/>
          <p:cNvSpPr txBox="1"/>
          <p:nvPr/>
        </p:nvSpPr>
        <p:spPr>
          <a:xfrm>
            <a:off x="603504" y="2755392"/>
            <a:ext cx="10991088" cy="2868168"/>
          </a:xfrm>
          <a:prstGeom prst="rect">
            <a:avLst/>
          </a:prstGeom>
          <a:noFill/>
        </p:spPr>
        <p:txBody>
          <a:bodyPr wrap="square" lIns="45720" tIns="0" rIns="45720" bIns="0" anchor="t">
            <a:noAutofit/>
          </a:bodyPr>
          <a:lstStyle/>
          <a:p>
            <a:pPr algn="l"/>
            <a:r>
              <a:rPr lang="en-GB" sz="1800" dirty="0">
                <a:solidFill>
                  <a:srgbClr val="262626"/>
                </a:solidFill>
              </a:rPr>
              <a:t>The plausible trajectories are idealized as a compact </a:t>
            </a:r>
            <a:r>
              <a:rPr lang="en-GB" sz="1800" dirty="0">
                <a:solidFill>
                  <a:srgbClr val="262626"/>
                </a:solidFill>
                <a:latin typeface="Cambria Math"/>
                <a:ea typeface="Cambria Math"/>
                <a:cs typeface="Cambria Math"/>
                <a:sym typeface="Cambria Math"/>
              </a:rPr>
              <a:t>C</a:t>
            </a:r>
            <a:r>
              <a:rPr lang="en-GB" sz="1800" baseline="30000" dirty="0">
                <a:solidFill>
                  <a:srgbClr val="262626"/>
                </a:solidFill>
                <a:latin typeface="Cambria Math"/>
                <a:ea typeface="Cambria Math"/>
                <a:cs typeface="Cambria Math"/>
                <a:sym typeface="Cambria Math"/>
              </a:rPr>
              <a:t>1</a:t>
            </a:r>
            <a:r>
              <a:rPr lang="en-GB" sz="1800" dirty="0">
                <a:solidFill>
                  <a:srgbClr val="262626"/>
                </a:solidFill>
              </a:rPr>
              <a:t> submanifold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of the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and the score is maximized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only.</a:t>
            </a:r>
          </a:p>
          <a:p>
            <a:pPr algn="l">
              <a:spcBef>
                <a:spcPts val="900"/>
              </a:spcBef>
            </a:pPr>
            <a:r>
              <a:rPr lang="en-GB" sz="1800" b="1" dirty="0">
                <a:solidFill>
                  <a:srgbClr val="262626"/>
                </a:solidFill>
              </a:rPr>
              <a:t>Existence. </a:t>
            </a:r>
            <a:r>
              <a:rPr lang="en-GB" sz="1800" dirty="0">
                <a:solidFill>
                  <a:srgbClr val="262626"/>
                </a:solidFill>
              </a:rPr>
              <a:t>The maximum is attained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even where the unconstrained supremum is unattained or infinite, as for pure safety. Compactness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provides the bound that the requirement lacks.</a:t>
            </a:r>
          </a:p>
          <a:p>
            <a:pPr algn="l">
              <a:spcBef>
                <a:spcPts val="900"/>
              </a:spcBef>
            </a:pPr>
            <a:r>
              <a:rPr lang="en-GB" sz="1800" b="1" dirty="0">
                <a:solidFill>
                  <a:srgbClr val="262626"/>
                </a:solidFill>
              </a:rPr>
              <a:t>Determinacy. </a:t>
            </a:r>
            <a:r>
              <a:rPr lang="en-GB" sz="1800" dirty="0">
                <a:solidFill>
                  <a:srgbClr val="262626"/>
                </a:solidFill>
              </a:rPr>
              <a:t>For a generic embedding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the maximizers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are isolated, except where </a:t>
            </a:r>
            <a:r>
              <a:rPr lang="en-GB" sz="1800" dirty="0">
                <a:solidFill>
                  <a:srgbClr val="262626"/>
                </a:solidFill>
                <a:latin typeface="Cambria Math"/>
                <a:ea typeface="Cambria Math"/>
                <a:cs typeface="Cambria Math"/>
                <a:sym typeface="Cambria Math"/>
              </a:rPr>
              <a:t>ℳ</a:t>
            </a:r>
            <a:r>
              <a:rPr lang="en-GB" sz="1800" dirty="0">
                <a:solidFill>
                  <a:srgbClr val="262626"/>
                </a:solidFill>
              </a:rPr>
              <a:t> is tangent to the flat directions. In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they are not isolated, as the sparsity and reach results show.</a:t>
            </a:r>
          </a:p>
          <a:p>
            <a:pPr algn="l">
              <a:spcBef>
                <a:spcPts val="900"/>
              </a:spcBef>
            </a:pPr>
            <a:r>
              <a:rPr lang="en-GB" sz="1800" b="1" dirty="0">
                <a:solidFill>
                  <a:srgbClr val="262626"/>
                </a:solidFill>
              </a:rPr>
              <a:t>Plausibility. </a:t>
            </a:r>
            <a:r>
              <a:rPr lang="en-GB" sz="1800" dirty="0">
                <a:solidFill>
                  <a:srgbClr val="262626"/>
                </a:solidFill>
              </a:rPr>
              <a:t>Every constrained maximizer lies in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so the implausible maximizers of a reach requirement are excluded whenever they lie off </a:t>
            </a:r>
            <a:r>
              <a:rPr lang="en-GB" sz="1800" dirty="0">
                <a:solidFill>
                  <a:srgbClr val="262626"/>
                </a:solidFill>
                <a:latin typeface="Cambria Math"/>
                <a:ea typeface="Cambria Math"/>
                <a:cs typeface="Cambria Math"/>
                <a:sym typeface="Cambria Math"/>
              </a:rPr>
              <a:t>ℳ</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learned prior satisfies neither hypothesis, so whether it provides the bound is measured in the experiments, not assumed.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Constant guidance strength</a:t>
            </a:r>
          </a:p>
        </p:txBody>
      </p:sp>
      <p:sp>
        <p:nvSpPr>
          <p:cNvPr id="12" name="Slide Number"/>
          <p:cNvSpPr>
            <a:spLocks noGrp="1"/>
          </p:cNvSpPr>
          <p:nvPr>
            <p:ph type="sldNum" sz="quarter" idx="12"/>
          </p:nvPr>
        </p:nvSpPr>
        <p:spPr/>
        <p:txBody>
          <a:bodyPr/>
          <a:lstStyle/>
          <a:p>
            <a:fld id="{619F89D8-7AE3-494A-97F3-03D680869632}" type="slidenum">
              <a:rPr lang="en-GB"/>
              <a:t>49</a:t>
            </a:fld>
            <a:endParaRPr lang="en-GB"/>
          </a:p>
        </p:txBody>
      </p:sp>
      <p:pic>
        <p:nvPicPr>
          <p:cNvPr id="13" name="Equation" descr="Diffusion score, flow-matching target velocity, and the bound on the guided velocity"/>
          <p:cNvPicPr>
            <a:picLocks noChangeAspect="1"/>
          </p:cNvPicPr>
          <p:nvPr/>
        </p:nvPicPr>
        <p:blipFill>
          <a:blip r:embed="rId3"/>
          <a:stretch>
            <a:fillRect/>
          </a:stretch>
        </p:blipFill>
        <p:spPr>
          <a:xfrm>
            <a:off x="1439418" y="2057400"/>
            <a:ext cx="9319260" cy="1719072"/>
          </a:xfrm>
          <a:prstGeom prst="rect">
            <a:avLst/>
          </a:prstGeom>
        </p:spPr>
      </p:pic>
      <p:sp>
        <p:nvSpPr>
          <p:cNvPr id="14" name="Label"/>
          <p:cNvSpPr txBox="1"/>
          <p:nvPr/>
        </p:nvSpPr>
        <p:spPr>
          <a:xfrm>
            <a:off x="603504" y="4160520"/>
            <a:ext cx="10991088" cy="731520"/>
          </a:xfrm>
          <a:prstGeom prst="rect">
            <a:avLst/>
          </a:prstGeom>
          <a:noFill/>
        </p:spPr>
        <p:txBody>
          <a:bodyPr wrap="square" lIns="45720" tIns="0" rIns="45720" bIns="0" anchor="t">
            <a:noAutofit/>
          </a:bodyPr>
          <a:lstStyle/>
          <a:p>
            <a:pPr algn="ctr"/>
            <a:r>
              <a:rPr lang="en-GB" sz="1700" dirty="0">
                <a:solidFill>
                  <a:srgbClr val="262626"/>
                </a:solidFill>
              </a:rPr>
              <a:t>Both terms are of the same bounded order at every flow time, so the ratio of guidance to prior is </a:t>
            </a:r>
            <a:r>
              <a:rPr lang="en-GB" sz="1700" dirty="0">
                <a:solidFill>
                  <a:srgbClr val="262626"/>
                </a:solidFill>
                <a:latin typeface="Cambria Math"/>
                <a:ea typeface="Cambria Math"/>
                <a:cs typeface="Cambria Math"/>
                <a:sym typeface="Cambria Math"/>
              </a:rPr>
              <a:t>Θ(λ</a:t>
            </a:r>
            <a:r>
              <a:rPr lang="en-GB" sz="1700" baseline="-25000" dirty="0">
                <a:solidFill>
                  <a:srgbClr val="262626"/>
                </a:solidFill>
              </a:rPr>
              <a:t>0</a:t>
            </a:r>
            <a:r>
              <a:rPr lang="en-GB" sz="1700" dirty="0">
                <a:solidFill>
                  <a:srgbClr val="262626"/>
                </a:solidFill>
                <a:latin typeface="Cambria Math"/>
                <a:ea typeface="Cambria Math"/>
                <a:cs typeface="Cambria Math"/>
                <a:sym typeface="Cambria Math"/>
              </a:rPr>
              <a:t>)</a:t>
            </a:r>
          </a:p>
          <a:p>
            <a:pPr algn="ctr"/>
            <a:r>
              <a:rPr lang="en-GB" sz="1700" dirty="0">
                <a:solidFill>
                  <a:srgbClr val="262626"/>
                </a:solidFill>
              </a:rPr>
              <a:t>and a constant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is well posed without a schedule.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50 in navigation and cube, without retuning.</a:t>
            </a:r>
          </a:p>
        </p:txBody>
      </p:sp>
      <p:sp>
        <p:nvSpPr>
          <p:cNvPr id="15" name="Label"/>
          <p:cNvSpPr txBox="1"/>
          <p:nvPr/>
        </p:nvSpPr>
        <p:spPr>
          <a:xfrm>
            <a:off x="603504" y="5074920"/>
            <a:ext cx="10991088" cy="640080"/>
          </a:xfrm>
          <a:prstGeom prst="rect">
            <a:avLst/>
          </a:prstGeom>
          <a:noFill/>
        </p:spPr>
        <p:txBody>
          <a:bodyPr wrap="square" lIns="45720" tIns="0" rIns="45720" bIns="0" anchor="t">
            <a:noAutofit/>
          </a:bodyPr>
          <a:lstStyle/>
          <a:p>
            <a:pPr algn="ctr"/>
            <a:r>
              <a:rPr lang="en-GB" sz="1500" dirty="0">
                <a:solidFill>
                  <a:srgbClr val="6E6E6E"/>
                </a:solidFill>
              </a:rPr>
              <a:t>On a diffusion substrate the guidance weight is coupled to the noise schedule,</a:t>
            </a:r>
          </a:p>
          <a:p>
            <a:pPr algn="ctr"/>
            <a:r>
              <a:rPr lang="en-GB" sz="1500" dirty="0">
                <a:solidFill>
                  <a:srgbClr val="6E6E6E"/>
                </a:solidFill>
              </a:rPr>
              <a:t>λ(t) ∝ σ</a:t>
            </a:r>
            <a:r>
              <a:rPr lang="en-GB" sz="1500" baseline="-25000" dirty="0">
                <a:solidFill>
                  <a:srgbClr val="6E6E6E"/>
                </a:solidFill>
              </a:rPr>
              <a:t>t</a:t>
            </a:r>
            <a:r>
              <a:rPr lang="en-GB" sz="1500" baseline="30000" dirty="0">
                <a:solidFill>
                  <a:srgbClr val="6E6E6E"/>
                </a:solidFill>
              </a:rPr>
              <a:t>k</a:t>
            </a:r>
            <a:r>
              <a:rPr lang="en-GB" sz="1500" dirty="0">
                <a:solidFill>
                  <a:srgbClr val="6E6E6E"/>
                </a:solidFill>
              </a:rPr>
              <a:t> with k ∈ {1,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Compilation and smoothing bias</a:t>
            </a:r>
          </a:p>
        </p:txBody>
      </p:sp>
      <p:sp>
        <p:nvSpPr>
          <p:cNvPr id="12" name="Slide Number"/>
          <p:cNvSpPr>
            <a:spLocks noGrp="1"/>
          </p:cNvSpPr>
          <p:nvPr>
            <p:ph type="sldNum" sz="quarter" idx="12"/>
          </p:nvPr>
        </p:nvSpPr>
        <p:spPr/>
        <p:txBody>
          <a:bodyPr/>
          <a:lstStyle/>
          <a:p>
            <a:fld id="{619F89D8-7AE3-494A-97F3-03D680869632}" type="slidenum">
              <a:rPr lang="en-GB"/>
              <a:t>50</a:t>
            </a:fld>
            <a:endParaRPr lang="en-GB"/>
          </a:p>
        </p:txBody>
      </p:sp>
      <p:pic>
        <p:nvPicPr>
          <p:cNvPr id="13" name="Equation" descr="Log-sum-exp brackets the exact maximum and minimum within log n over kappa, and a compiled score above L kappa to the minus one log n implies satisfaction"/>
          <p:cNvPicPr>
            <a:picLocks noChangeAspect="1"/>
          </p:cNvPicPr>
          <p:nvPr/>
        </p:nvPicPr>
        <p:blipFill>
          <a:blip r:embed="rId3"/>
          <a:stretch>
            <a:fillRect/>
          </a:stretch>
        </p:blipFill>
        <p:spPr>
          <a:xfrm>
            <a:off x="2064258" y="1965960"/>
            <a:ext cx="8069580" cy="1016508"/>
          </a:xfrm>
          <a:prstGeom prst="rect">
            <a:avLst/>
          </a:prstGeom>
        </p:spPr>
      </p:pic>
      <p:sp>
        <p:nvSpPr>
          <p:cNvPr id="14" name="Label"/>
          <p:cNvSpPr txBox="1"/>
          <p:nvPr/>
        </p:nvSpPr>
        <p:spPr>
          <a:xfrm>
            <a:off x="603504" y="3348228"/>
            <a:ext cx="10991088" cy="2275332"/>
          </a:xfrm>
          <a:prstGeom prst="rect">
            <a:avLst/>
          </a:prstGeom>
          <a:noFill/>
        </p:spPr>
        <p:txBody>
          <a:bodyPr wrap="square" lIns="45720" tIns="0" rIns="45720" bIns="0" anchor="t">
            <a:noAutofit/>
          </a:bodyPr>
          <a:lstStyle/>
          <a:p>
            <a:pPr algn="l"/>
            <a:r>
              <a:rPr lang="en-GB" sz="1600" dirty="0">
                <a:solidFill>
                  <a:srgbClr val="262626"/>
                </a:solidFill>
              </a:rPr>
              <a:t>A formula is compiled by a post-order traversal of its syntax tree, with no learned component.</a:t>
            </a:r>
          </a:p>
          <a:p>
            <a:pPr algn="l">
              <a:spcBef>
                <a:spcPts val="900"/>
              </a:spcBef>
            </a:pPr>
            <a:r>
              <a:rPr lang="en-GB" sz="1600" dirty="0">
                <a:solidFill>
                  <a:srgbClr val="262626"/>
                </a:solidFill>
              </a:rPr>
              <a:t>A predicate returns its margin </a:t>
            </a:r>
            <a:r>
              <a:rPr lang="en-GB" sz="1600" dirty="0">
                <a:solidFill>
                  <a:srgbClr val="262626"/>
                </a:solidFill>
                <a:latin typeface="Cambria Math"/>
                <a:ea typeface="Cambria Math"/>
                <a:cs typeface="Cambria Math"/>
                <a:sym typeface="Cambria Math"/>
              </a:rPr>
              <a:t>h</a:t>
            </a:r>
            <a:r>
              <a:rPr lang="en-GB" sz="1600" dirty="0">
                <a:solidFill>
                  <a:srgbClr val="262626"/>
                </a:solidFill>
              </a:rPr>
              <a:t> at every step, and negation changes the sign.</a:t>
            </a:r>
          </a:p>
          <a:p>
            <a:pPr algn="l">
              <a:spcBef>
                <a:spcPts val="900"/>
              </a:spcBef>
            </a:pPr>
            <a:r>
              <a:rPr lang="en-GB" sz="1600" dirty="0">
                <a:solidFill>
                  <a:srgbClr val="262626"/>
                </a:solidFill>
              </a:rPr>
              <a:t>Conjunction and always return smin, disjunction and eventually smax, and until a nested combination of both.</a:t>
            </a:r>
          </a:p>
          <a:p>
            <a:pPr algn="l">
              <a:spcBef>
                <a:spcPts val="900"/>
              </a:spcBef>
            </a:pPr>
            <a:r>
              <a:rPr lang="en-GB" sz="1600" dirty="0">
                <a:solidFill>
                  <a:srgbClr val="262626"/>
                </a:solidFill>
              </a:rPr>
              <a:t>Over </a:t>
            </a:r>
            <a:r>
              <a:rPr lang="en-GB" sz="1600" dirty="0">
                <a:solidFill>
                  <a:srgbClr val="262626"/>
                </a:solidFill>
                <a:latin typeface="Cambria Math"/>
                <a:ea typeface="Cambria Math"/>
                <a:cs typeface="Cambria Math"/>
                <a:sym typeface="Cambria Math"/>
              </a:rPr>
              <a:t>n</a:t>
            </a:r>
            <a:r>
              <a:rPr lang="en-GB" sz="1600" dirty="0">
                <a:solidFill>
                  <a:srgbClr val="262626"/>
                </a:solidFill>
              </a:rPr>
              <a:t> arguments the surrogate lies within </a:t>
            </a:r>
            <a:r>
              <a:rPr lang="en-GB" sz="1600" dirty="0">
                <a:solidFill>
                  <a:srgbClr val="262626"/>
                </a:solidFill>
                <a:latin typeface="Cambria Math"/>
                <a:ea typeface="Cambria Math"/>
                <a:cs typeface="Cambria Math"/>
                <a:sym typeface="Cambria Math"/>
              </a:rPr>
              <a:t>log n / κ</a:t>
            </a:r>
            <a:r>
              <a:rPr lang="en-GB" sz="1600" dirty="0">
                <a:solidFill>
                  <a:srgbClr val="262626"/>
                </a:solidFill>
              </a:rPr>
              <a:t> of the exact extremum, so the compiled score converges to the exact score as </a:t>
            </a:r>
            <a:r>
              <a:rPr lang="en-GB" sz="1600" dirty="0">
                <a:solidFill>
                  <a:srgbClr val="262626"/>
                </a:solidFill>
                <a:latin typeface="Cambria Math"/>
                <a:ea typeface="Cambria Math"/>
                <a:cs typeface="Cambria Math"/>
                <a:sym typeface="Cambria Math"/>
              </a:rPr>
              <a:t>κ</a:t>
            </a:r>
            <a:r>
              <a:rPr lang="en-GB" sz="1600" dirty="0">
                <a:solidFill>
                  <a:srgbClr val="262626"/>
                </a:solidFill>
              </a:rPr>
              <a:t> grows.</a:t>
            </a:r>
          </a:p>
          <a:p>
            <a:pPr algn="l">
              <a:spcBef>
                <a:spcPts val="900"/>
              </a:spcBef>
            </a:pPr>
            <a:r>
              <a:rPr lang="en-GB" sz="1600" dirty="0">
                <a:solidFill>
                  <a:srgbClr val="262626"/>
                </a:solidFill>
              </a:rPr>
              <a:t>At finite </a:t>
            </a:r>
            <a:r>
              <a:rPr lang="en-GB" sz="1600" dirty="0">
                <a:solidFill>
                  <a:srgbClr val="262626"/>
                </a:solidFill>
                <a:latin typeface="Cambria Math"/>
                <a:ea typeface="Cambria Math"/>
                <a:cs typeface="Cambria Math"/>
                <a:sym typeface="Cambria Math"/>
              </a:rPr>
              <a:t>κ</a:t>
            </a:r>
            <a:r>
              <a:rPr lang="en-GB" sz="1600" dirty="0">
                <a:solidFill>
                  <a:srgbClr val="262626"/>
                </a:solidFill>
              </a:rPr>
              <a:t> a compiled score above </a:t>
            </a:r>
            <a:r>
              <a:rPr lang="en-GB" sz="1600" dirty="0">
                <a:solidFill>
                  <a:srgbClr val="262626"/>
                </a:solidFill>
                <a:latin typeface="Cambria Math"/>
                <a:ea typeface="Cambria Math"/>
                <a:cs typeface="Cambria Math"/>
                <a:sym typeface="Cambria Math"/>
              </a:rPr>
              <a:t>Lκ</a:t>
            </a:r>
            <a:r>
              <a:rPr lang="en-GB" sz="1600" baseline="30000" dirty="0">
                <a:solidFill>
                  <a:srgbClr val="262626"/>
                </a:solidFill>
                <a:latin typeface="Cambria Math"/>
                <a:ea typeface="Cambria Math"/>
                <a:cs typeface="Cambria Math"/>
                <a:sym typeface="Cambria Math"/>
              </a:rPr>
              <a:t>−1</a:t>
            </a:r>
            <a:r>
              <a:rPr lang="en-GB" sz="1600" dirty="0">
                <a:solidFill>
                  <a:srgbClr val="262626"/>
                </a:solidFill>
                <a:latin typeface="Cambria Math"/>
                <a:ea typeface="Cambria Math"/>
                <a:cs typeface="Cambria Math"/>
                <a:sym typeface="Cambria Math"/>
              </a:rPr>
              <a:t> log n</a:t>
            </a:r>
            <a:r>
              <a:rPr lang="en-GB" sz="1600" dirty="0">
                <a:solidFill>
                  <a:srgbClr val="262626"/>
                </a:solidFill>
              </a:rPr>
              <a:t> implies satisfaction, where </a:t>
            </a:r>
            <a:r>
              <a:rPr lang="en-GB" sz="1600" dirty="0">
                <a:solidFill>
                  <a:srgbClr val="262626"/>
                </a:solidFill>
                <a:latin typeface="Cambria Math"/>
                <a:ea typeface="Cambria Math"/>
                <a:cs typeface="Cambria Math"/>
                <a:sym typeface="Cambria Math"/>
              </a:rPr>
              <a:t>L</a:t>
            </a:r>
            <a:r>
              <a:rPr lang="en-GB" sz="1600" dirty="0">
                <a:solidFill>
                  <a:srgbClr val="262626"/>
                </a:solidFill>
              </a:rPr>
              <a:t> is the depth of the syntax tree and </a:t>
            </a:r>
            <a:r>
              <a:rPr lang="en-GB" sz="1600" dirty="0">
                <a:solidFill>
                  <a:srgbClr val="262626"/>
                </a:solidFill>
                <a:latin typeface="Cambria Math"/>
                <a:ea typeface="Cambria Math"/>
                <a:cs typeface="Cambria Math"/>
                <a:sym typeface="Cambria Math"/>
              </a:rPr>
              <a:t>n</a:t>
            </a:r>
            <a:r>
              <a:rPr lang="en-GB" sz="1600" dirty="0">
                <a:solidFill>
                  <a:srgbClr val="262626"/>
                </a:solidFill>
              </a:rPr>
              <a:t> the largest arity of its nodes.</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Guidance uses </a:t>
            </a:r>
            <a:r>
              <a:rPr lang="en-GB" sz="1500" dirty="0">
                <a:solidFill>
                  <a:srgbClr val="6E6E6E"/>
                </a:solidFill>
                <a:latin typeface="Cambria Math"/>
                <a:ea typeface="Cambria Math"/>
                <a:cs typeface="Cambria Math"/>
                <a:sym typeface="Cambria Math"/>
              </a:rPr>
              <a:t>κ</a:t>
            </a:r>
            <a:r>
              <a:rPr lang="en-GB" sz="1500" dirty="0">
                <a:solidFill>
                  <a:srgbClr val="6E6E6E"/>
                </a:solidFill>
              </a:rPr>
              <a:t> = 10, and satisfaction is always scored with the exact semantics.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Steps of the guided sampler</a:t>
            </a:r>
          </a:p>
        </p:txBody>
      </p:sp>
      <p:sp>
        <p:nvSpPr>
          <p:cNvPr id="12" name="Slide Number"/>
          <p:cNvSpPr>
            <a:spLocks noGrp="1"/>
          </p:cNvSpPr>
          <p:nvPr>
            <p:ph type="sldNum" sz="quarter" idx="12"/>
          </p:nvPr>
        </p:nvSpPr>
        <p:spPr/>
        <p:txBody>
          <a:bodyPr/>
          <a:lstStyle/>
          <a:p>
            <a:fld id="{619F89D8-7AE3-494A-97F3-03D680869632}" type="slidenum">
              <a:rPr lang="en-GB"/>
              <a:t>51</a:t>
            </a:fld>
            <a:endParaRPr lang="en-GB"/>
          </a:p>
        </p:txBody>
      </p:sp>
      <p:pic>
        <p:nvPicPr>
          <p:cNvPr id="13" name="Equation" descr="Predicted endpoint, and the constant-strength step of the guided sampler"/>
          <p:cNvPicPr>
            <a:picLocks noChangeAspect="1"/>
          </p:cNvPicPr>
          <p:nvPr/>
        </p:nvPicPr>
        <p:blipFill>
          <a:blip r:embed="rId3"/>
          <a:stretch>
            <a:fillRect/>
          </a:stretch>
        </p:blipFill>
        <p:spPr>
          <a:xfrm>
            <a:off x="2673096" y="1965960"/>
            <a:ext cx="6851904" cy="323088"/>
          </a:xfrm>
          <a:prstGeom prst="rect">
            <a:avLst/>
          </a:prstGeom>
        </p:spPr>
      </p:pic>
      <p:sp>
        <p:nvSpPr>
          <p:cNvPr id="14" name="Label"/>
          <p:cNvSpPr txBox="1"/>
          <p:nvPr/>
        </p:nvSpPr>
        <p:spPr>
          <a:xfrm>
            <a:off x="603504" y="2654808"/>
            <a:ext cx="10991088" cy="2968752"/>
          </a:xfrm>
          <a:prstGeom prst="rect">
            <a:avLst/>
          </a:prstGeom>
          <a:noFill/>
        </p:spPr>
        <p:txBody>
          <a:bodyPr wrap="square" lIns="45720" tIns="0" rIns="45720" bIns="0" anchor="t">
            <a:noAutofit/>
          </a:bodyPr>
          <a:lstStyle/>
          <a:p>
            <a:pPr algn="l"/>
            <a:r>
              <a:rPr lang="en-GB" sz="1800" dirty="0">
                <a:solidFill>
                  <a:srgbClr val="262626"/>
                </a:solidFill>
              </a:rPr>
              <a:t>The sampler takes the requirement score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the start state, the prior field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rPr>
              <a:t>, the guidance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the smoothness weight </a:t>
            </a:r>
            <a:r>
              <a:rPr lang="en-GB" sz="1800" dirty="0">
                <a:solidFill>
                  <a:srgbClr val="262626"/>
                </a:solidFill>
                <a:latin typeface="Cambria Math"/>
                <a:ea typeface="Cambria Math"/>
                <a:cs typeface="Cambria Math"/>
                <a:sym typeface="Cambria Math"/>
              </a:rPr>
              <a:t>γ</a:t>
            </a:r>
            <a:r>
              <a:rPr lang="en-GB" sz="1800" dirty="0">
                <a:solidFill>
                  <a:srgbClr val="262626"/>
                </a:solidFill>
              </a:rPr>
              <a:t> and the number of steps </a:t>
            </a:r>
            <a:r>
              <a:rPr lang="en-GB" sz="1800" dirty="0">
                <a:solidFill>
                  <a:srgbClr val="262626"/>
                </a:solidFill>
                <a:latin typeface="Cambria Math"/>
                <a:ea typeface="Cambria Math"/>
                <a:cs typeface="Cambria Math"/>
                <a:sym typeface="Cambria Math"/>
              </a:rPr>
              <a:t>K</a:t>
            </a:r>
            <a:r>
              <a:rPr lang="en-GB" sz="1800" dirty="0">
                <a:solidFill>
                  <a:srgbClr val="262626"/>
                </a:solidFill>
              </a:rPr>
              <a:t>.</a:t>
            </a:r>
          </a:p>
          <a:p>
            <a:pPr algn="l">
              <a:spcBef>
                <a:spcPts val="900"/>
              </a:spcBef>
            </a:pPr>
            <a:r>
              <a:rPr lang="en-GB" sz="1800" b="1" dirty="0">
                <a:solidFill>
                  <a:srgbClr val="262626"/>
                </a:solidFill>
              </a:rPr>
              <a:t>1.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drawn from </a:t>
            </a:r>
            <a:r>
              <a:rPr lang="en-GB" sz="1800" dirty="0">
                <a:solidFill>
                  <a:srgbClr val="262626"/>
                </a:solidFill>
                <a:latin typeface="Cambria Math"/>
                <a:ea typeface="Cambria Math"/>
                <a:cs typeface="Cambria Math"/>
                <a:sym typeface="Cambria Math"/>
              </a:rPr>
              <a:t>𝒩(0, I)</a:t>
            </a:r>
            <a:r>
              <a:rPr lang="en-GB" sz="1800" dirty="0">
                <a:solidFill>
                  <a:srgbClr val="262626"/>
                </a:solidFill>
              </a:rPr>
              <a:t>, and its start state is pinned.</a:t>
            </a:r>
          </a:p>
          <a:p>
            <a:pPr algn="l">
              <a:spcBef>
                <a:spcPts val="900"/>
              </a:spcBef>
            </a:pPr>
            <a:r>
              <a:rPr lang="en-GB" sz="1800" b="1" dirty="0">
                <a:solidFill>
                  <a:srgbClr val="262626"/>
                </a:solidFill>
              </a:rPr>
              <a:t>2.   </a:t>
            </a:r>
            <a:r>
              <a:rPr lang="en-GB" sz="1800" dirty="0">
                <a:solidFill>
                  <a:srgbClr val="262626"/>
                </a:solidFill>
              </a:rPr>
              <a:t>At each step </a:t>
            </a:r>
            <a:r>
              <a:rPr lang="en-GB" sz="1800" dirty="0">
                <a:solidFill>
                  <a:srgbClr val="262626"/>
                </a:solidFill>
                <a:latin typeface="Cambria Math"/>
                <a:ea typeface="Cambria Math"/>
                <a:cs typeface="Cambria Math"/>
                <a:sym typeface="Cambria Math"/>
              </a:rPr>
              <a:t>k = 0, …, K − 1</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s = kΔs</a:t>
            </a:r>
            <a:r>
              <a:rPr lang="en-GB" sz="1800" dirty="0">
                <a:solidFill>
                  <a:srgbClr val="262626"/>
                </a:solidFill>
              </a:rPr>
              <a:t> and </a:t>
            </a:r>
            <a:r>
              <a:rPr lang="en-GB" sz="1800" dirty="0">
                <a:solidFill>
                  <a:srgbClr val="262626"/>
                </a:solidFill>
                <a:latin typeface="Cambria Math"/>
                <a:ea typeface="Cambria Math"/>
                <a:cs typeface="Cambria Math"/>
                <a:sym typeface="Cambria Math"/>
              </a:rPr>
              <a:t>Δs = 1/K</a:t>
            </a:r>
            <a:r>
              <a:rPr lang="en-GB" sz="1800" dirty="0">
                <a:solidFill>
                  <a:srgbClr val="262626"/>
                </a:solidFill>
              </a:rPr>
              <a:t>, the prior velocity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latin typeface="Cambria Math"/>
                <a:ea typeface="Cambria Math"/>
                <a:cs typeface="Cambria Math"/>
                <a:sym typeface="Cambria Math"/>
              </a:rPr>
              <a:t>(τ, s)</a:t>
            </a:r>
            <a:r>
              <a:rPr lang="en-GB" sz="1800" dirty="0">
                <a:solidFill>
                  <a:srgbClr val="262626"/>
                </a:solidFill>
              </a:rPr>
              <a:t> is evaluated.</a:t>
            </a:r>
          </a:p>
          <a:p>
            <a:pPr algn="l">
              <a:spcBef>
                <a:spcPts val="900"/>
              </a:spcBef>
            </a:pPr>
            <a:r>
              <a:rPr lang="en-GB" sz="1800" b="1" dirty="0">
                <a:solidFill>
                  <a:srgbClr val="262626"/>
                </a:solidFill>
              </a:rPr>
              <a:t>3.   </a:t>
            </a:r>
            <a:r>
              <a:rPr lang="en-GB" sz="1800" dirty="0">
                <a:solidFill>
                  <a:srgbClr val="262626"/>
                </a:solidFill>
              </a:rPr>
              <a:t>The predicted endpoint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formed from the straight-line path.</a:t>
            </a:r>
          </a:p>
          <a:p>
            <a:pPr algn="l">
              <a:spcBef>
                <a:spcPts val="900"/>
              </a:spcBef>
            </a:pPr>
            <a:r>
              <a:rPr lang="en-GB" sz="1800" b="1" dirty="0">
                <a:solidFill>
                  <a:srgbClr val="262626"/>
                </a:solidFill>
              </a:rPr>
              <a:t>4.   </a:t>
            </a:r>
            <a:r>
              <a:rPr lang="en-GB" sz="1800" dirty="0">
                <a:solidFill>
                  <a:srgbClr val="262626"/>
                </a:solidFill>
              </a:rPr>
              <a:t>The gradient </a:t>
            </a:r>
            <a:r>
              <a:rPr lang="en-GB" sz="1800" dirty="0">
                <a:solidFill>
                  <a:srgbClr val="262626"/>
                </a:solidFill>
                <a:latin typeface="Cambria Math"/>
                <a:ea typeface="Cambria Math"/>
                <a:cs typeface="Cambria Math"/>
                <a:sym typeface="Cambria Math"/>
              </a:rPr>
              <a:t>g</a:t>
            </a:r>
            <a:r>
              <a:rPr lang="en-GB" sz="1800" dirty="0">
                <a:solidFill>
                  <a:srgbClr val="262626"/>
                </a:solidFill>
              </a:rPr>
              <a:t> of the penalized objective is taken at </a:t>
            </a:r>
            <a:r>
              <a:rPr lang="en-GB" sz="1800" dirty="0">
                <a:solidFill>
                  <a:srgbClr val="262626"/>
                </a:solidFill>
                <a:latin typeface="Cambria Math"/>
                <a:ea typeface="Cambria Math"/>
                <a:cs typeface="Cambria Math"/>
                <a:sym typeface="Cambria Math"/>
              </a:rPr>
              <a:t>τ̂</a:t>
            </a:r>
            <a:r>
              <a:rPr lang="en-GB" sz="1800" dirty="0">
                <a:solidFill>
                  <a:srgbClr val="262626"/>
                </a:solidFill>
              </a:rPr>
              <a:t>, masked to the position coordinates and normalized.</a:t>
            </a:r>
          </a:p>
          <a:p>
            <a:pPr algn="l">
              <a:spcBef>
                <a:spcPts val="900"/>
              </a:spcBef>
            </a:pPr>
            <a:r>
              <a:rPr lang="en-GB" sz="1800" b="1" dirty="0">
                <a:solidFill>
                  <a:srgbClr val="262626"/>
                </a:solidFill>
              </a:rPr>
              <a:t>5.   </a:t>
            </a:r>
            <a:r>
              <a:rPr lang="en-GB" sz="1800" dirty="0">
                <a:solidFill>
                  <a:srgbClr val="262626"/>
                </a:solidFill>
              </a:rPr>
              <a:t>The iterate is advanced by the prior step plus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latin typeface="Cambria Math"/>
                <a:ea typeface="Cambria Math"/>
                <a:cs typeface="Cambria Math"/>
                <a:sym typeface="Cambria Math"/>
              </a:rPr>
              <a:t> g Δs</a:t>
            </a:r>
            <a:r>
              <a:rPr lang="en-GB" sz="1800" dirty="0">
                <a:solidFill>
                  <a:srgbClr val="262626"/>
                </a:solidFill>
              </a:rPr>
              <a:t>, and the start state is pinned again.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An optional clamp on the guidance increment is part of the sampler and is off in all reported runs.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Reproducing the STL Optimizer</a:t>
            </a:r>
          </a:p>
        </p:txBody>
      </p:sp>
      <p:sp>
        <p:nvSpPr>
          <p:cNvPr id="12" name="Subtitle"/>
          <p:cNvSpPr txBox="1"/>
          <p:nvPr/>
        </p:nvSpPr>
        <p:spPr>
          <a:xfrm>
            <a:off x="603504" y="1700784"/>
            <a:ext cx="10991088" cy="329184"/>
          </a:xfrm>
          <a:prstGeom prst="rect">
            <a:avLst/>
          </a:prstGeom>
          <a:noFill/>
        </p:spPr>
        <p:txBody>
          <a:bodyPr wrap="square" lIns="45720" tIns="0" rIns="45720" bIns="0" anchor="t">
            <a:noAutofit/>
          </a:bodyPr>
          <a:lstStyle/>
          <a:p>
            <a:pPr algn="l"/>
            <a:r>
              <a:rPr lang="en-GB" sz="1800" dirty="0">
                <a:solidFill>
                  <a:srgbClr val="6E6E6E"/>
                </a:solidFill>
              </a:rPr>
              <a:t>Removes the learned prior and optimizes the robustness score directly, instead of sampling from a trained generative model</a:t>
            </a:r>
          </a:p>
        </p:txBody>
      </p:sp>
      <p:sp>
        <p:nvSpPr>
          <p:cNvPr id="13" name="Slide Number"/>
          <p:cNvSpPr>
            <a:spLocks noGrp="1"/>
          </p:cNvSpPr>
          <p:nvPr>
            <p:ph type="sldNum" sz="quarter" idx="12"/>
          </p:nvPr>
        </p:nvSpPr>
        <p:spPr/>
        <p:txBody>
          <a:bodyPr/>
          <a:lstStyle/>
          <a:p>
            <a:fld id="{619F89D8-7AE3-494A-97F3-03D680869632}" type="slidenum">
              <a:rPr lang="en-GB"/>
              <a:t>52</a:t>
            </a:fld>
            <a:endParaRPr lang="en-GB"/>
          </a:p>
        </p:txBody>
      </p:sp>
      <p:sp>
        <p:nvSpPr>
          <p:cNvPr id="14" name="Label"/>
          <p:cNvSpPr txBox="1"/>
          <p:nvPr/>
        </p:nvSpPr>
        <p:spPr>
          <a:xfrm>
            <a:off x="640080" y="2194560"/>
            <a:ext cx="3017520" cy="603504"/>
          </a:xfrm>
          <a:prstGeom prst="rect">
            <a:avLst/>
          </a:prstGeom>
          <a:noFill/>
        </p:spPr>
        <p:txBody>
          <a:bodyPr wrap="square" lIns="45720" tIns="0" rIns="45720" bIns="0" anchor="ctr">
            <a:noAutofit/>
          </a:bodyPr>
          <a:lstStyle/>
          <a:p>
            <a:pPr algn="l"/>
            <a:r>
              <a:rPr lang="en-GB" sz="1600" b="1" dirty="0">
                <a:solidFill>
                  <a:srgbClr val="262626"/>
                </a:solidFill>
              </a:rPr>
              <a:t>Controls, not states</a:t>
            </a:r>
          </a:p>
        </p:txBody>
      </p:sp>
      <p:sp>
        <p:nvSpPr>
          <p:cNvPr id="15" name="Label"/>
          <p:cNvSpPr txBox="1"/>
          <p:nvPr/>
        </p:nvSpPr>
        <p:spPr>
          <a:xfrm>
            <a:off x="3749040" y="2194560"/>
            <a:ext cx="7845552" cy="603504"/>
          </a:xfrm>
          <a:prstGeom prst="rect">
            <a:avLst/>
          </a:prstGeom>
          <a:noFill/>
        </p:spPr>
        <p:txBody>
          <a:bodyPr wrap="square" lIns="45720" tIns="0" rIns="45720" bIns="0" anchor="ctr">
            <a:noAutofit/>
          </a:bodyPr>
          <a:lstStyle/>
          <a:p>
            <a:pPr algn="l"/>
            <a:r>
              <a:rPr lang="en-GB" sz="1500" dirty="0">
                <a:solidFill>
                  <a:srgbClr val="262626"/>
                </a:solidFill>
              </a:rPr>
              <a:t>A free control sequence u, one 2D step per time index, starts from small random noise</a:t>
            </a:r>
          </a:p>
        </p:txBody>
      </p:sp>
      <p:sp>
        <p:nvSpPr>
          <p:cNvPr id="16" name="Label"/>
          <p:cNvSpPr txBox="1"/>
          <p:nvPr/>
        </p:nvSpPr>
        <p:spPr>
          <a:xfrm>
            <a:off x="640080" y="2834640"/>
            <a:ext cx="3017520" cy="603504"/>
          </a:xfrm>
          <a:prstGeom prst="rect">
            <a:avLst/>
          </a:prstGeom>
          <a:noFill/>
        </p:spPr>
        <p:txBody>
          <a:bodyPr wrap="square" lIns="45720" tIns="0" rIns="45720" bIns="0" anchor="ctr">
            <a:noAutofit/>
          </a:bodyPr>
          <a:lstStyle/>
          <a:p>
            <a:pPr algn="l"/>
            <a:r>
              <a:rPr lang="en-GB" sz="1600" b="1" dirty="0">
                <a:solidFill>
                  <a:srgbClr val="262626"/>
                </a:solidFill>
              </a:rPr>
              <a:t>Single-integrator dynamics</a:t>
            </a:r>
          </a:p>
        </p:txBody>
      </p:sp>
      <p:sp>
        <p:nvSpPr>
          <p:cNvPr id="17" name="Label"/>
          <p:cNvSpPr txBox="1"/>
          <p:nvPr/>
        </p:nvSpPr>
        <p:spPr>
          <a:xfrm>
            <a:off x="3749040" y="2834640"/>
            <a:ext cx="7845552" cy="603504"/>
          </a:xfrm>
          <a:prstGeom prst="rect">
            <a:avLst/>
          </a:prstGeom>
          <a:noFill/>
        </p:spPr>
        <p:txBody>
          <a:bodyPr wrap="square" lIns="45720" tIns="0" rIns="45720" bIns="0" anchor="ctr">
            <a:noAutofit/>
          </a:bodyPr>
          <a:lstStyle/>
          <a:p>
            <a:pPr algn="l"/>
            <a:r>
              <a:rPr lang="en-GB" sz="1500" dirty="0">
                <a:solidFill>
                  <a:srgbClr val="262626"/>
                </a:solidFill>
              </a:rPr>
              <a:t>p[t+1] = p[t] + u[t]·Δt turns the controls into the trajectory that gets scored</a:t>
            </a:r>
          </a:p>
        </p:txBody>
      </p:sp>
      <p:sp>
        <p:nvSpPr>
          <p:cNvPr id="18" name="Label"/>
          <p:cNvSpPr txBox="1"/>
          <p:nvPr/>
        </p:nvSpPr>
        <p:spPr>
          <a:xfrm>
            <a:off x="640080" y="3474720"/>
            <a:ext cx="3017520" cy="603504"/>
          </a:xfrm>
          <a:prstGeom prst="rect">
            <a:avLst/>
          </a:prstGeom>
          <a:noFill/>
        </p:spPr>
        <p:txBody>
          <a:bodyPr wrap="square" lIns="45720" tIns="0" rIns="45720" bIns="0" anchor="ctr">
            <a:noAutofit/>
          </a:bodyPr>
          <a:lstStyle/>
          <a:p>
            <a:pPr algn="l"/>
            <a:r>
              <a:rPr lang="en-GB" sz="1600" b="1" dirty="0">
                <a:solidFill>
                  <a:srgbClr val="262626"/>
                </a:solidFill>
              </a:rPr>
              <a:t>Same compiled score</a:t>
            </a:r>
          </a:p>
        </p:txBody>
      </p:sp>
      <p:sp>
        <p:nvSpPr>
          <p:cNvPr id="19" name="Label"/>
          <p:cNvSpPr txBox="1"/>
          <p:nvPr/>
        </p:nvSpPr>
        <p:spPr>
          <a:xfrm>
            <a:off x="3749040" y="3474720"/>
            <a:ext cx="7845552" cy="603504"/>
          </a:xfrm>
          <a:prstGeom prst="rect">
            <a:avLst/>
          </a:prstGeom>
          <a:noFill/>
        </p:spPr>
        <p:txBody>
          <a:bodyPr wrap="square" lIns="45720" tIns="0" rIns="45720" bIns="0" anchor="ctr">
            <a:noAutofit/>
          </a:bodyPr>
          <a:lstStyle/>
          <a:p>
            <a:pPr algn="l"/>
            <a:r>
              <a:rPr lang="en-GB" sz="1500" dirty="0">
                <a:solidFill>
                  <a:srgbClr val="262626"/>
                </a:solidFill>
              </a:rPr>
              <a:t>The requirement is scored by the masked, differentiable ρφ that STL-FM's guidance also uses (stljax / STLCG++)</a:t>
            </a:r>
          </a:p>
        </p:txBody>
      </p:sp>
      <p:sp>
        <p:nvSpPr>
          <p:cNvPr id="20" name="Label"/>
          <p:cNvSpPr txBox="1"/>
          <p:nvPr/>
        </p:nvSpPr>
        <p:spPr>
          <a:xfrm>
            <a:off x="640080" y="4114800"/>
            <a:ext cx="3017520" cy="603504"/>
          </a:xfrm>
          <a:prstGeom prst="rect">
            <a:avLst/>
          </a:prstGeom>
          <a:noFill/>
        </p:spPr>
        <p:txBody>
          <a:bodyPr wrap="square" lIns="45720" tIns="0" rIns="45720" bIns="0" anchor="ctr">
            <a:noAutofit/>
          </a:bodyPr>
          <a:lstStyle/>
          <a:p>
            <a:pPr algn="l"/>
            <a:r>
              <a:rPr lang="en-GB" sz="1600" b="1" dirty="0">
                <a:solidFill>
                  <a:srgbClr val="262626"/>
                </a:solidFill>
              </a:rPr>
              <a:t>Violation objective, no prior</a:t>
            </a:r>
          </a:p>
        </p:txBody>
      </p:sp>
      <p:sp>
        <p:nvSpPr>
          <p:cNvPr id="21" name="Label"/>
          <p:cNvSpPr txBox="1"/>
          <p:nvPr/>
        </p:nvSpPr>
        <p:spPr>
          <a:xfrm>
            <a:off x="3749040" y="4114800"/>
            <a:ext cx="7845552" cy="603504"/>
          </a:xfrm>
          <a:prstGeom prst="rect">
            <a:avLst/>
          </a:prstGeom>
          <a:noFill/>
        </p:spPr>
        <p:txBody>
          <a:bodyPr wrap="square" lIns="45720" tIns="0" rIns="45720" bIns="0" anchor="ctr">
            <a:noAutofit/>
          </a:bodyPr>
          <a:lstStyle/>
          <a:p>
            <a:pPr algn="l"/>
            <a:r>
              <a:rPr lang="en-GB" sz="1500" dirty="0">
                <a:solidFill>
                  <a:srgbClr val="262626"/>
                </a:solidFill>
              </a:rPr>
              <a:t>Plain gradient descent on max(0, −ρφ); a finite-difference smoothness penalty and a velocity limit stand in for a learned prior</a:t>
            </a:r>
          </a:p>
        </p:txBody>
      </p:sp>
      <p:sp>
        <p:nvSpPr>
          <p:cNvPr id="22" name="Label"/>
          <p:cNvSpPr txBox="1"/>
          <p:nvPr/>
        </p:nvSpPr>
        <p:spPr>
          <a:xfrm>
            <a:off x="640080" y="4754880"/>
            <a:ext cx="3017520" cy="603504"/>
          </a:xfrm>
          <a:prstGeom prst="rect">
            <a:avLst/>
          </a:prstGeom>
          <a:noFill/>
        </p:spPr>
        <p:txBody>
          <a:bodyPr wrap="square" lIns="45720" tIns="0" rIns="45720" bIns="0" anchor="ctr">
            <a:noAutofit/>
          </a:bodyPr>
          <a:lstStyle/>
          <a:p>
            <a:pPr algn="l"/>
            <a:r>
              <a:rPr lang="en-GB" sz="1600" b="1" dirty="0">
                <a:solidFill>
                  <a:srgbClr val="262626"/>
                </a:solidFill>
              </a:rPr>
              <a:t>Budget</a:t>
            </a:r>
          </a:p>
        </p:txBody>
      </p:sp>
      <p:sp>
        <p:nvSpPr>
          <p:cNvPr id="23" name="Label"/>
          <p:cNvSpPr txBox="1"/>
          <p:nvPr/>
        </p:nvSpPr>
        <p:spPr>
          <a:xfrm>
            <a:off x="3749040" y="4754880"/>
            <a:ext cx="7845552" cy="603504"/>
          </a:xfrm>
          <a:prstGeom prst="rect">
            <a:avLst/>
          </a:prstGeom>
          <a:noFill/>
        </p:spPr>
        <p:txBody>
          <a:bodyPr wrap="square" lIns="45720" tIns="0" rIns="45720" bIns="0" anchor="ctr">
            <a:noAutofit/>
          </a:bodyPr>
          <a:lstStyle/>
          <a:p>
            <a:pPr algn="l"/>
            <a:r>
              <a:rPr lang="en-GB" sz="1500" dirty="0">
                <a:solidFill>
                  <a:srgbClr val="262626"/>
                </a:solidFill>
              </a:rPr>
              <a:t>1,500–6,000 gradient steps, with the smoothing sharpness annealed from soft to sharp</a:t>
            </a:r>
          </a:p>
        </p:txBody>
      </p:sp>
      <p:sp>
        <p:nvSpPr>
          <p:cNvPr id="24" name="Label"/>
          <p:cNvSpPr txBox="1"/>
          <p:nvPr/>
        </p:nvSpPr>
        <p:spPr>
          <a:xfrm>
            <a:off x="603504" y="5760720"/>
            <a:ext cx="10991088" cy="502920"/>
          </a:xfrm>
          <a:prstGeom prst="rect">
            <a:avLst/>
          </a:prstGeom>
          <a:noFill/>
        </p:spPr>
        <p:txBody>
          <a:bodyPr wrap="square" lIns="45720" tIns="0" rIns="45720" bIns="0" anchor="t">
            <a:noAutofit/>
          </a:bodyPr>
          <a:lstStyle/>
          <a:p>
            <a:pPr algn="l"/>
            <a:r>
              <a:rPr lang="en-GB" sz="1400" dirty="0">
                <a:solidFill>
                  <a:srgbClr val="6E6E6E"/>
                </a:solidFill>
              </a:rPr>
              <a:t>The robustness engine is shared with STL-FM; the optimization built around it, single-integrator dynamics and the violation penalty, is a standard direct-optimization baseline, not something STLCG++ itself proposes.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Navigation results, all four planners</a:t>
            </a:r>
          </a:p>
        </p:txBody>
      </p:sp>
      <p:sp>
        <p:nvSpPr>
          <p:cNvPr id="12" name="Slide Number"/>
          <p:cNvSpPr>
            <a:spLocks noGrp="1"/>
          </p:cNvSpPr>
          <p:nvPr>
            <p:ph type="sldNum" sz="quarter" idx="12"/>
          </p:nvPr>
        </p:nvSpPr>
        <p:spPr/>
        <p:txBody>
          <a:bodyPr/>
          <a:lstStyle/>
          <a:p>
            <a:fld id="{619F89D8-7AE3-494A-97F3-03D680869632}" type="slidenum">
              <a:rPr lang="en-GB"/>
              <a:t>53</a:t>
            </a:fld>
            <a:endParaRPr lang="en-GB"/>
          </a:p>
        </p:txBody>
      </p:sp>
      <p:pic>
        <p:nvPicPr>
          <p:cNvPr id="13" name="Figure" descr="Navigation results, all four planners"/>
          <p:cNvPicPr>
            <a:picLocks noChangeAspect="1"/>
          </p:cNvPicPr>
          <p:nvPr/>
        </p:nvPicPr>
        <p:blipFill>
          <a:blip r:embed="rId3"/>
          <a:stretch>
            <a:fillRect/>
          </a:stretch>
        </p:blipFill>
        <p:spPr>
          <a:xfrm>
            <a:off x="4254032" y="1874520"/>
            <a:ext cx="3690031" cy="2057400"/>
          </a:xfrm>
          <a:prstGeom prst="rect">
            <a:avLst/>
          </a:prstGeom>
        </p:spPr>
      </p:pic>
      <p:pic>
        <p:nvPicPr>
          <p:cNvPr id="14" name="Figure" descr="Navigation results, all four planners"/>
          <p:cNvPicPr>
            <a:picLocks noChangeAspect="1"/>
          </p:cNvPicPr>
          <p:nvPr/>
        </p:nvPicPr>
        <p:blipFill>
          <a:blip r:embed="rId4"/>
          <a:stretch>
            <a:fillRect/>
          </a:stretch>
        </p:blipFill>
        <p:spPr>
          <a:xfrm>
            <a:off x="4124198" y="4206240"/>
            <a:ext cx="3949700" cy="20574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Disjunction and until in navigation</a:t>
            </a:r>
          </a:p>
        </p:txBody>
      </p:sp>
      <p:sp>
        <p:nvSpPr>
          <p:cNvPr id="12" name="Slide Number"/>
          <p:cNvSpPr>
            <a:spLocks noGrp="1"/>
          </p:cNvSpPr>
          <p:nvPr>
            <p:ph type="sldNum" sz="quarter" idx="12"/>
          </p:nvPr>
        </p:nvSpPr>
        <p:spPr/>
        <p:txBody>
          <a:bodyPr/>
          <a:lstStyle/>
          <a:p>
            <a:fld id="{619F89D8-7AE3-494A-97F3-03D680869632}" type="slidenum">
              <a:rPr lang="en-GB"/>
              <a:t>54</a:t>
            </a:fld>
            <a:endParaRPr lang="en-GB"/>
          </a:p>
        </p:txBody>
      </p:sp>
      <p:sp>
        <p:nvSpPr>
          <p:cNvPr id="13" name="Label"/>
          <p:cNvSpPr txBox="1"/>
          <p:nvPr/>
        </p:nvSpPr>
        <p:spPr>
          <a:xfrm>
            <a:off x="603504"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target</a:t>
            </a:r>
          </a:p>
        </p:txBody>
      </p:sp>
      <p:sp>
        <p:nvSpPr>
          <p:cNvPr id="14" name="Label"/>
          <p:cNvSpPr txBox="1"/>
          <p:nvPr/>
        </p:nvSpPr>
        <p:spPr>
          <a:xfrm>
            <a:off x="603504"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◇μ₂</a:t>
            </a:r>
          </a:p>
        </p:txBody>
      </p:sp>
      <p:pic>
        <p:nvPicPr>
          <p:cNvPr id="15" name="Figure" descr="STL-FM plans, Choice of target"/>
          <p:cNvPicPr>
            <a:picLocks noChangeAspect="1"/>
          </p:cNvPicPr>
          <p:nvPr/>
        </p:nvPicPr>
        <p:blipFill>
          <a:blip r:embed="rId3"/>
          <a:stretch>
            <a:fillRect/>
          </a:stretch>
        </p:blipFill>
        <p:spPr>
          <a:xfrm>
            <a:off x="1151506" y="2340864"/>
            <a:ext cx="1555756" cy="1691640"/>
          </a:xfrm>
          <a:prstGeom prst="rect">
            <a:avLst/>
          </a:prstGeom>
        </p:spPr>
      </p:pic>
      <p:sp>
        <p:nvSpPr>
          <p:cNvPr id="16" name="Label"/>
          <p:cNvSpPr txBox="1"/>
          <p:nvPr/>
        </p:nvSpPr>
        <p:spPr>
          <a:xfrm>
            <a:off x="3374136"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sequence</a:t>
            </a:r>
          </a:p>
        </p:txBody>
      </p:sp>
      <p:sp>
        <p:nvSpPr>
          <p:cNvPr id="17" name="Label"/>
          <p:cNvSpPr txBox="1"/>
          <p:nvPr/>
        </p:nvSpPr>
        <p:spPr>
          <a:xfrm>
            <a:off x="3374136"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◇μ₃) ∨ (◇μ₂ ∧ ◇μ₃)</a:t>
            </a:r>
          </a:p>
        </p:txBody>
      </p:sp>
      <p:pic>
        <p:nvPicPr>
          <p:cNvPr id="18" name="Figure" descr="STL-FM plans, Choice of sequence"/>
          <p:cNvPicPr>
            <a:picLocks noChangeAspect="1"/>
          </p:cNvPicPr>
          <p:nvPr/>
        </p:nvPicPr>
        <p:blipFill>
          <a:blip r:embed="rId4"/>
          <a:stretch>
            <a:fillRect/>
          </a:stretch>
        </p:blipFill>
        <p:spPr>
          <a:xfrm>
            <a:off x="3922138" y="2340864"/>
            <a:ext cx="1555756" cy="1691640"/>
          </a:xfrm>
          <a:prstGeom prst="rect">
            <a:avLst/>
          </a:prstGeom>
        </p:spPr>
      </p:pic>
      <p:sp>
        <p:nvSpPr>
          <p:cNvPr id="19" name="Label"/>
          <p:cNvSpPr txBox="1"/>
          <p:nvPr/>
        </p:nvSpPr>
        <p:spPr>
          <a:xfrm>
            <a:off x="6144768"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Ordered visit</a:t>
            </a:r>
          </a:p>
        </p:txBody>
      </p:sp>
      <p:sp>
        <p:nvSpPr>
          <p:cNvPr id="20" name="Label"/>
          <p:cNvSpPr txBox="1"/>
          <p:nvPr/>
        </p:nvSpPr>
        <p:spPr>
          <a:xfrm>
            <a:off x="6144768"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(¬μ₂ U μ₁) ∧ ◇μ₂</a:t>
            </a:r>
          </a:p>
        </p:txBody>
      </p:sp>
      <p:pic>
        <p:nvPicPr>
          <p:cNvPr id="21" name="Figure" descr="STL-FM plans, Ordered visit"/>
          <p:cNvPicPr>
            <a:picLocks noChangeAspect="1"/>
          </p:cNvPicPr>
          <p:nvPr/>
        </p:nvPicPr>
        <p:blipFill>
          <a:blip r:embed="rId5"/>
          <a:stretch>
            <a:fillRect/>
          </a:stretch>
        </p:blipFill>
        <p:spPr>
          <a:xfrm>
            <a:off x="6692770" y="2340864"/>
            <a:ext cx="1555756" cy="1691640"/>
          </a:xfrm>
          <a:prstGeom prst="rect">
            <a:avLst/>
          </a:prstGeom>
        </p:spPr>
      </p:pic>
      <p:sp>
        <p:nvSpPr>
          <p:cNvPr id="22" name="Label"/>
          <p:cNvSpPr txBox="1"/>
          <p:nvPr/>
        </p:nvSpPr>
        <p:spPr>
          <a:xfrm>
            <a:off x="8915400"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Avoidance until reach</a:t>
            </a:r>
          </a:p>
        </p:txBody>
      </p:sp>
      <p:sp>
        <p:nvSpPr>
          <p:cNvPr id="23" name="Label"/>
          <p:cNvSpPr txBox="1"/>
          <p:nvPr/>
        </p:nvSpPr>
        <p:spPr>
          <a:xfrm>
            <a:off x="8915400"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(¬μ₃ ∧ ¬μ₄) U μ₁</a:t>
            </a:r>
          </a:p>
        </p:txBody>
      </p:sp>
      <p:pic>
        <p:nvPicPr>
          <p:cNvPr id="24" name="Figure" descr="STL-FM plans, Avoidance until reach"/>
          <p:cNvPicPr>
            <a:picLocks noChangeAspect="1"/>
          </p:cNvPicPr>
          <p:nvPr/>
        </p:nvPicPr>
        <p:blipFill>
          <a:blip r:embed="rId6"/>
          <a:stretch>
            <a:fillRect/>
          </a:stretch>
        </p:blipFill>
        <p:spPr>
          <a:xfrm>
            <a:off x="9463402" y="2340864"/>
            <a:ext cx="1555756" cy="1691640"/>
          </a:xfrm>
          <a:prstGeom prst="rect">
            <a:avLst/>
          </a:prstGeom>
        </p:spPr>
      </p:pic>
      <p:sp>
        <p:nvSpPr>
          <p:cNvPr id="25" name="Label"/>
          <p:cNvSpPr txBox="1"/>
          <p:nvPr/>
        </p:nvSpPr>
        <p:spPr>
          <a:xfrm>
            <a:off x="603504" y="4133088"/>
            <a:ext cx="2103120" cy="274320"/>
          </a:xfrm>
          <a:prstGeom prst="rect">
            <a:avLst/>
          </a:prstGeom>
          <a:noFill/>
        </p:spPr>
        <p:txBody>
          <a:bodyPr wrap="square" lIns="45720" tIns="0" rIns="45720" bIns="0" anchor="t">
            <a:noAutofit/>
          </a:bodyPr>
          <a:lstStyle/>
          <a:p>
            <a:pPr algn="l"/>
            <a:r>
              <a:rPr lang="en-GB" sz="1200" b="1" dirty="0">
                <a:solidFill>
                  <a:srgbClr val="262626"/>
                </a:solidFill>
              </a:rPr>
              <a:t>Class</a:t>
            </a:r>
          </a:p>
        </p:txBody>
      </p:sp>
      <p:sp>
        <p:nvSpPr>
          <p:cNvPr id="26" name="Label"/>
          <p:cNvSpPr txBox="1"/>
          <p:nvPr/>
        </p:nvSpPr>
        <p:spPr>
          <a:xfrm>
            <a:off x="270662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Endpoint-inpaint</a:t>
            </a:r>
          </a:p>
        </p:txBody>
      </p:sp>
      <p:sp>
        <p:nvSpPr>
          <p:cNvPr id="27" name="Label"/>
          <p:cNvSpPr txBox="1"/>
          <p:nvPr/>
        </p:nvSpPr>
        <p:spPr>
          <a:xfrm>
            <a:off x="4123944" y="4133088"/>
            <a:ext cx="1188720" cy="274320"/>
          </a:xfrm>
          <a:prstGeom prst="rect">
            <a:avLst/>
          </a:prstGeom>
          <a:noFill/>
        </p:spPr>
        <p:txBody>
          <a:bodyPr wrap="square" lIns="45720" tIns="0" rIns="45720" bIns="0" anchor="t">
            <a:noAutofit/>
          </a:bodyPr>
          <a:lstStyle/>
          <a:p>
            <a:pPr algn="ctr"/>
            <a:r>
              <a:rPr lang="en-GB" sz="1200" b="1" dirty="0">
                <a:solidFill>
                  <a:srgbClr val="262626"/>
                </a:solidFill>
              </a:rPr>
              <a:t>STL-FM</a:t>
            </a:r>
          </a:p>
        </p:txBody>
      </p:sp>
      <p:sp>
        <p:nvSpPr>
          <p:cNvPr id="28" name="Label"/>
          <p:cNvSpPr txBox="1"/>
          <p:nvPr/>
        </p:nvSpPr>
        <p:spPr>
          <a:xfrm>
            <a:off x="531266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STL-FM with pin</a:t>
            </a:r>
          </a:p>
        </p:txBody>
      </p:sp>
      <p:sp>
        <p:nvSpPr>
          <p:cNvPr id="29" name="Label"/>
          <p:cNvSpPr txBox="1"/>
          <p:nvPr/>
        </p:nvSpPr>
        <p:spPr>
          <a:xfrm>
            <a:off x="6729984" y="4133088"/>
            <a:ext cx="1508760" cy="274320"/>
          </a:xfrm>
          <a:prstGeom prst="rect">
            <a:avLst/>
          </a:prstGeom>
          <a:noFill/>
        </p:spPr>
        <p:txBody>
          <a:bodyPr wrap="square" lIns="45720" tIns="0" rIns="45720" bIns="0" anchor="t">
            <a:noAutofit/>
          </a:bodyPr>
          <a:lstStyle/>
          <a:p>
            <a:pPr algn="ctr"/>
            <a:r>
              <a:rPr lang="en-GB" sz="1200" b="1" dirty="0">
                <a:solidFill>
                  <a:srgbClr val="262626"/>
                </a:solidFill>
              </a:rPr>
              <a:t>STL Optimizer</a:t>
            </a:r>
          </a:p>
        </p:txBody>
      </p:sp>
      <p:sp>
        <p:nvSpPr>
          <p:cNvPr id="30" name="Label"/>
          <p:cNvSpPr txBox="1"/>
          <p:nvPr/>
        </p:nvSpPr>
        <p:spPr>
          <a:xfrm>
            <a:off x="8238744" y="4133088"/>
            <a:ext cx="1645920" cy="274320"/>
          </a:xfrm>
          <a:prstGeom prst="rect">
            <a:avLst/>
          </a:prstGeom>
          <a:noFill/>
        </p:spPr>
        <p:txBody>
          <a:bodyPr wrap="square" lIns="45720" tIns="0" rIns="45720" bIns="0" anchor="t">
            <a:noAutofit/>
          </a:bodyPr>
          <a:lstStyle/>
          <a:p>
            <a:pPr algn="ctr"/>
            <a:r>
              <a:rPr lang="en-GB" sz="1200" b="1" dirty="0">
                <a:solidFill>
                  <a:srgbClr val="262626"/>
                </a:solidFill>
              </a:rPr>
              <a:t>Plan time, STL-FM</a:t>
            </a:r>
          </a:p>
        </p:txBody>
      </p:sp>
      <p:sp>
        <p:nvSpPr>
          <p:cNvPr id="31" name="Label"/>
          <p:cNvSpPr txBox="1"/>
          <p:nvPr/>
        </p:nvSpPr>
        <p:spPr>
          <a:xfrm>
            <a:off x="9884664" y="4133088"/>
            <a:ext cx="1709928" cy="274320"/>
          </a:xfrm>
          <a:prstGeom prst="rect">
            <a:avLst/>
          </a:prstGeom>
          <a:noFill/>
        </p:spPr>
        <p:txBody>
          <a:bodyPr wrap="square" lIns="45720" tIns="0" rIns="45720" bIns="0" anchor="t">
            <a:noAutofit/>
          </a:bodyPr>
          <a:lstStyle/>
          <a:p>
            <a:pPr algn="ctr"/>
            <a:r>
              <a:rPr lang="en-GB" sz="1200" b="1" dirty="0">
                <a:solidFill>
                  <a:srgbClr val="262626"/>
                </a:solidFill>
              </a:rPr>
              <a:t>Plan time, STL Optimizer</a:t>
            </a:r>
          </a:p>
        </p:txBody>
      </p:sp>
      <p:cxnSp>
        <p:nvCxnSpPr>
          <p:cNvPr id="32" name="Rule"/>
          <p:cNvCxnSpPr/>
          <p:nvPr/>
        </p:nvCxnSpPr>
        <p:spPr>
          <a:xfrm>
            <a:off x="603504" y="4434840"/>
            <a:ext cx="10991088" cy="0"/>
          </a:xfrm>
          <a:prstGeom prst="straightConnector1">
            <a:avLst/>
          </a:prstGeom>
          <a:ln w="9525">
            <a:solidFill>
              <a:srgbClr val="D2D2D2"/>
            </a:solidFill>
          </a:ln>
        </p:spPr>
      </p:cxnSp>
      <p:sp>
        <p:nvSpPr>
          <p:cNvPr id="33" name="Label"/>
          <p:cNvSpPr txBox="1"/>
          <p:nvPr/>
        </p:nvSpPr>
        <p:spPr>
          <a:xfrm>
            <a:off x="603504" y="4498848"/>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target</a:t>
            </a:r>
          </a:p>
        </p:txBody>
      </p:sp>
      <p:sp>
        <p:nvSpPr>
          <p:cNvPr id="34" name="Label"/>
          <p:cNvSpPr txBox="1"/>
          <p:nvPr/>
        </p:nvSpPr>
        <p:spPr>
          <a:xfrm>
            <a:off x="270662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0.18</a:t>
            </a:r>
          </a:p>
        </p:txBody>
      </p:sp>
      <p:sp>
        <p:nvSpPr>
          <p:cNvPr id="35" name="Label"/>
          <p:cNvSpPr txBox="1"/>
          <p:nvPr/>
        </p:nvSpPr>
        <p:spPr>
          <a:xfrm>
            <a:off x="4123944" y="4498848"/>
            <a:ext cx="11887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6" name="Label"/>
          <p:cNvSpPr txBox="1"/>
          <p:nvPr/>
        </p:nvSpPr>
        <p:spPr>
          <a:xfrm>
            <a:off x="531266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37" name="Label"/>
          <p:cNvSpPr txBox="1"/>
          <p:nvPr/>
        </p:nvSpPr>
        <p:spPr>
          <a:xfrm>
            <a:off x="6729984" y="4498848"/>
            <a:ext cx="150876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8" name="Label"/>
          <p:cNvSpPr txBox="1"/>
          <p:nvPr/>
        </p:nvSpPr>
        <p:spPr>
          <a:xfrm>
            <a:off x="8238744" y="4498848"/>
            <a:ext cx="1645920" cy="274320"/>
          </a:xfrm>
          <a:prstGeom prst="rect">
            <a:avLst/>
          </a:prstGeom>
          <a:noFill/>
        </p:spPr>
        <p:txBody>
          <a:bodyPr wrap="square" lIns="45720" tIns="0" rIns="45720" bIns="0" anchor="t">
            <a:noAutofit/>
          </a:bodyPr>
          <a:lstStyle/>
          <a:p>
            <a:pPr algn="ctr"/>
            <a:r>
              <a:rPr lang="en-GB" sz="1200" dirty="0">
                <a:solidFill>
                  <a:srgbClr val="262626"/>
                </a:solidFill>
              </a:rPr>
              <a:t>0.54 s</a:t>
            </a:r>
          </a:p>
        </p:txBody>
      </p:sp>
      <p:sp>
        <p:nvSpPr>
          <p:cNvPr id="39" name="Label"/>
          <p:cNvSpPr txBox="1"/>
          <p:nvPr/>
        </p:nvSpPr>
        <p:spPr>
          <a:xfrm>
            <a:off x="9884664" y="4498848"/>
            <a:ext cx="1709928" cy="274320"/>
          </a:xfrm>
          <a:prstGeom prst="rect">
            <a:avLst/>
          </a:prstGeom>
          <a:noFill/>
        </p:spPr>
        <p:txBody>
          <a:bodyPr wrap="square" lIns="45720" tIns="0" rIns="45720" bIns="0" anchor="t">
            <a:noAutofit/>
          </a:bodyPr>
          <a:lstStyle/>
          <a:p>
            <a:pPr algn="ctr"/>
            <a:r>
              <a:rPr lang="en-GB" sz="1200" dirty="0">
                <a:solidFill>
                  <a:srgbClr val="262626"/>
                </a:solidFill>
              </a:rPr>
              <a:t>23.02 s</a:t>
            </a:r>
          </a:p>
        </p:txBody>
      </p:sp>
      <p:sp>
        <p:nvSpPr>
          <p:cNvPr id="40" name="Label"/>
          <p:cNvSpPr txBox="1"/>
          <p:nvPr/>
        </p:nvSpPr>
        <p:spPr>
          <a:xfrm>
            <a:off x="603504" y="4782312"/>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sequence</a:t>
            </a:r>
          </a:p>
        </p:txBody>
      </p:sp>
      <p:sp>
        <p:nvSpPr>
          <p:cNvPr id="41" name="Label"/>
          <p:cNvSpPr txBox="1"/>
          <p:nvPr/>
        </p:nvSpPr>
        <p:spPr>
          <a:xfrm>
            <a:off x="270662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0.02</a:t>
            </a:r>
          </a:p>
        </p:txBody>
      </p:sp>
      <p:sp>
        <p:nvSpPr>
          <p:cNvPr id="42" name="Label"/>
          <p:cNvSpPr txBox="1"/>
          <p:nvPr/>
        </p:nvSpPr>
        <p:spPr>
          <a:xfrm>
            <a:off x="4123944" y="4782312"/>
            <a:ext cx="11887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43" name="Label"/>
          <p:cNvSpPr txBox="1"/>
          <p:nvPr/>
        </p:nvSpPr>
        <p:spPr>
          <a:xfrm>
            <a:off x="531266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0.94</a:t>
            </a:r>
          </a:p>
        </p:txBody>
      </p:sp>
      <p:sp>
        <p:nvSpPr>
          <p:cNvPr id="44" name="Label"/>
          <p:cNvSpPr txBox="1"/>
          <p:nvPr/>
        </p:nvSpPr>
        <p:spPr>
          <a:xfrm>
            <a:off x="6729984" y="4782312"/>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45" name="Label"/>
          <p:cNvSpPr txBox="1"/>
          <p:nvPr/>
        </p:nvSpPr>
        <p:spPr>
          <a:xfrm>
            <a:off x="8238744" y="4782312"/>
            <a:ext cx="1645920" cy="274320"/>
          </a:xfrm>
          <a:prstGeom prst="rect">
            <a:avLst/>
          </a:prstGeom>
          <a:noFill/>
        </p:spPr>
        <p:txBody>
          <a:bodyPr wrap="square" lIns="45720" tIns="0" rIns="45720" bIns="0" anchor="t">
            <a:noAutofit/>
          </a:bodyPr>
          <a:lstStyle/>
          <a:p>
            <a:pPr algn="ctr"/>
            <a:r>
              <a:rPr lang="en-GB" sz="1200" dirty="0">
                <a:solidFill>
                  <a:srgbClr val="262626"/>
                </a:solidFill>
              </a:rPr>
              <a:t>0.75 s</a:t>
            </a:r>
          </a:p>
        </p:txBody>
      </p:sp>
      <p:sp>
        <p:nvSpPr>
          <p:cNvPr id="46" name="Label"/>
          <p:cNvSpPr txBox="1"/>
          <p:nvPr/>
        </p:nvSpPr>
        <p:spPr>
          <a:xfrm>
            <a:off x="9884664" y="4782312"/>
            <a:ext cx="1709928" cy="274320"/>
          </a:xfrm>
          <a:prstGeom prst="rect">
            <a:avLst/>
          </a:prstGeom>
          <a:noFill/>
        </p:spPr>
        <p:txBody>
          <a:bodyPr wrap="square" lIns="45720" tIns="0" rIns="45720" bIns="0" anchor="t">
            <a:noAutofit/>
          </a:bodyPr>
          <a:lstStyle/>
          <a:p>
            <a:pPr algn="ctr"/>
            <a:r>
              <a:rPr lang="en-GB" sz="1200" dirty="0">
                <a:solidFill>
                  <a:srgbClr val="262626"/>
                </a:solidFill>
              </a:rPr>
              <a:t>22.92 s</a:t>
            </a:r>
          </a:p>
        </p:txBody>
      </p:sp>
      <p:sp>
        <p:nvSpPr>
          <p:cNvPr id="47" name="Label"/>
          <p:cNvSpPr txBox="1"/>
          <p:nvPr/>
        </p:nvSpPr>
        <p:spPr>
          <a:xfrm>
            <a:off x="603504" y="5065776"/>
            <a:ext cx="2103120" cy="274320"/>
          </a:xfrm>
          <a:prstGeom prst="rect">
            <a:avLst/>
          </a:prstGeom>
          <a:noFill/>
        </p:spPr>
        <p:txBody>
          <a:bodyPr wrap="square" lIns="45720" tIns="0" rIns="45720" bIns="0" anchor="t">
            <a:noAutofit/>
          </a:bodyPr>
          <a:lstStyle/>
          <a:p>
            <a:pPr algn="l"/>
            <a:r>
              <a:rPr lang="en-GB" sz="1200" dirty="0">
                <a:solidFill>
                  <a:srgbClr val="262626"/>
                </a:solidFill>
              </a:rPr>
              <a:t>Ordered visit</a:t>
            </a:r>
          </a:p>
        </p:txBody>
      </p:sp>
      <p:sp>
        <p:nvSpPr>
          <p:cNvPr id="48" name="Label"/>
          <p:cNvSpPr txBox="1"/>
          <p:nvPr/>
        </p:nvSpPr>
        <p:spPr>
          <a:xfrm>
            <a:off x="270662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0.05</a:t>
            </a:r>
          </a:p>
        </p:txBody>
      </p:sp>
      <p:sp>
        <p:nvSpPr>
          <p:cNvPr id="49" name="Label"/>
          <p:cNvSpPr txBox="1"/>
          <p:nvPr/>
        </p:nvSpPr>
        <p:spPr>
          <a:xfrm>
            <a:off x="4123944" y="5065776"/>
            <a:ext cx="1188720" cy="274320"/>
          </a:xfrm>
          <a:prstGeom prst="rect">
            <a:avLst/>
          </a:prstGeom>
          <a:noFill/>
        </p:spPr>
        <p:txBody>
          <a:bodyPr wrap="square" lIns="45720" tIns="0" rIns="45720" bIns="0" anchor="t">
            <a:noAutofit/>
          </a:bodyPr>
          <a:lstStyle/>
          <a:p>
            <a:pPr algn="ctr"/>
            <a:r>
              <a:rPr lang="en-GB" sz="1200" dirty="0">
                <a:solidFill>
                  <a:srgbClr val="262626"/>
                </a:solidFill>
              </a:rPr>
              <a:t>0.27</a:t>
            </a:r>
          </a:p>
        </p:txBody>
      </p:sp>
      <p:sp>
        <p:nvSpPr>
          <p:cNvPr id="50" name="Label"/>
          <p:cNvSpPr txBox="1"/>
          <p:nvPr/>
        </p:nvSpPr>
        <p:spPr>
          <a:xfrm>
            <a:off x="531266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51" name="Label"/>
          <p:cNvSpPr txBox="1"/>
          <p:nvPr/>
        </p:nvSpPr>
        <p:spPr>
          <a:xfrm>
            <a:off x="6729984" y="5065776"/>
            <a:ext cx="1508760" cy="274320"/>
          </a:xfrm>
          <a:prstGeom prst="rect">
            <a:avLst/>
          </a:prstGeom>
          <a:noFill/>
        </p:spPr>
        <p:txBody>
          <a:bodyPr wrap="square" lIns="45720" tIns="0" rIns="45720" bIns="0" anchor="t">
            <a:noAutofit/>
          </a:bodyPr>
          <a:lstStyle/>
          <a:p>
            <a:pPr algn="ctr"/>
            <a:r>
              <a:rPr lang="en-GB" sz="1200" dirty="0">
                <a:solidFill>
                  <a:srgbClr val="262626"/>
                </a:solidFill>
              </a:rPr>
              <a:t>0.00†</a:t>
            </a:r>
          </a:p>
        </p:txBody>
      </p:sp>
      <p:sp>
        <p:nvSpPr>
          <p:cNvPr id="52" name="Label"/>
          <p:cNvSpPr txBox="1"/>
          <p:nvPr/>
        </p:nvSpPr>
        <p:spPr>
          <a:xfrm>
            <a:off x="8238744" y="5065776"/>
            <a:ext cx="1645920" cy="274320"/>
          </a:xfrm>
          <a:prstGeom prst="rect">
            <a:avLst/>
          </a:prstGeom>
          <a:noFill/>
        </p:spPr>
        <p:txBody>
          <a:bodyPr wrap="square" lIns="45720" tIns="0" rIns="45720" bIns="0" anchor="t">
            <a:noAutofit/>
          </a:bodyPr>
          <a:lstStyle/>
          <a:p>
            <a:pPr algn="ctr"/>
            <a:r>
              <a:rPr lang="en-GB" sz="1200" dirty="0">
                <a:solidFill>
                  <a:srgbClr val="262626"/>
                </a:solidFill>
              </a:rPr>
              <a:t>5.72 s</a:t>
            </a:r>
          </a:p>
        </p:txBody>
      </p:sp>
      <p:sp>
        <p:nvSpPr>
          <p:cNvPr id="53" name="Label"/>
          <p:cNvSpPr txBox="1"/>
          <p:nvPr/>
        </p:nvSpPr>
        <p:spPr>
          <a:xfrm>
            <a:off x="9884664" y="5065776"/>
            <a:ext cx="1709928" cy="274320"/>
          </a:xfrm>
          <a:prstGeom prst="rect">
            <a:avLst/>
          </a:prstGeom>
          <a:noFill/>
        </p:spPr>
        <p:txBody>
          <a:bodyPr wrap="square" lIns="45720" tIns="0" rIns="45720" bIns="0" anchor="t">
            <a:noAutofit/>
          </a:bodyPr>
          <a:lstStyle/>
          <a:p>
            <a:pPr algn="ctr"/>
            <a:r>
              <a:rPr lang="en-GB" sz="1200" dirty="0">
                <a:solidFill>
                  <a:srgbClr val="262626"/>
                </a:solidFill>
              </a:rPr>
              <a:t>–</a:t>
            </a:r>
          </a:p>
        </p:txBody>
      </p:sp>
      <p:sp>
        <p:nvSpPr>
          <p:cNvPr id="54" name="Label"/>
          <p:cNvSpPr txBox="1"/>
          <p:nvPr/>
        </p:nvSpPr>
        <p:spPr>
          <a:xfrm>
            <a:off x="603504" y="5349240"/>
            <a:ext cx="2103120" cy="274320"/>
          </a:xfrm>
          <a:prstGeom prst="rect">
            <a:avLst/>
          </a:prstGeom>
          <a:noFill/>
        </p:spPr>
        <p:txBody>
          <a:bodyPr wrap="square" lIns="45720" tIns="0" rIns="45720" bIns="0" anchor="t">
            <a:noAutofit/>
          </a:bodyPr>
          <a:lstStyle/>
          <a:p>
            <a:pPr algn="l"/>
            <a:r>
              <a:rPr lang="en-GB" sz="1200" dirty="0">
                <a:solidFill>
                  <a:srgbClr val="262626"/>
                </a:solidFill>
              </a:rPr>
              <a:t>Avoidance until reach</a:t>
            </a:r>
          </a:p>
        </p:txBody>
      </p:sp>
      <p:sp>
        <p:nvSpPr>
          <p:cNvPr id="55" name="Label"/>
          <p:cNvSpPr txBox="1"/>
          <p:nvPr/>
        </p:nvSpPr>
        <p:spPr>
          <a:xfrm>
            <a:off x="270662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0.03</a:t>
            </a:r>
          </a:p>
        </p:txBody>
      </p:sp>
      <p:sp>
        <p:nvSpPr>
          <p:cNvPr id="56" name="Label"/>
          <p:cNvSpPr txBox="1"/>
          <p:nvPr/>
        </p:nvSpPr>
        <p:spPr>
          <a:xfrm>
            <a:off x="4123944" y="5349240"/>
            <a:ext cx="11887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57" name="Label"/>
          <p:cNvSpPr txBox="1"/>
          <p:nvPr/>
        </p:nvSpPr>
        <p:spPr>
          <a:xfrm>
            <a:off x="531266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58" name="Label"/>
          <p:cNvSpPr txBox="1"/>
          <p:nvPr/>
        </p:nvSpPr>
        <p:spPr>
          <a:xfrm>
            <a:off x="6729984" y="5349240"/>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59" name="Label"/>
          <p:cNvSpPr txBox="1"/>
          <p:nvPr/>
        </p:nvSpPr>
        <p:spPr>
          <a:xfrm>
            <a:off x="8238744" y="5349240"/>
            <a:ext cx="1645920" cy="274320"/>
          </a:xfrm>
          <a:prstGeom prst="rect">
            <a:avLst/>
          </a:prstGeom>
          <a:noFill/>
        </p:spPr>
        <p:txBody>
          <a:bodyPr wrap="square" lIns="45720" tIns="0" rIns="45720" bIns="0" anchor="t">
            <a:noAutofit/>
          </a:bodyPr>
          <a:lstStyle/>
          <a:p>
            <a:pPr algn="ctr"/>
            <a:r>
              <a:rPr lang="en-GB" sz="1200" dirty="0">
                <a:solidFill>
                  <a:srgbClr val="262626"/>
                </a:solidFill>
              </a:rPr>
              <a:t>4.69 s</a:t>
            </a:r>
          </a:p>
        </p:txBody>
      </p:sp>
      <p:sp>
        <p:nvSpPr>
          <p:cNvPr id="60" name="Label"/>
          <p:cNvSpPr txBox="1"/>
          <p:nvPr/>
        </p:nvSpPr>
        <p:spPr>
          <a:xfrm>
            <a:off x="9884664" y="5349240"/>
            <a:ext cx="1709928" cy="274320"/>
          </a:xfrm>
          <a:prstGeom prst="rect">
            <a:avLst/>
          </a:prstGeom>
          <a:noFill/>
        </p:spPr>
        <p:txBody>
          <a:bodyPr wrap="square" lIns="45720" tIns="0" rIns="45720" bIns="0" anchor="t">
            <a:noAutofit/>
          </a:bodyPr>
          <a:lstStyle/>
          <a:p>
            <a:pPr algn="ctr"/>
            <a:r>
              <a:rPr lang="en-GB" sz="1200" dirty="0">
                <a:solidFill>
                  <a:srgbClr val="262626"/>
                </a:solidFill>
              </a:rPr>
              <a:t>32.03 s</a:t>
            </a:r>
          </a:p>
        </p:txBody>
      </p:sp>
      <p:cxnSp>
        <p:nvCxnSpPr>
          <p:cNvPr id="61" name="Rule"/>
          <p:cNvCxnSpPr/>
          <p:nvPr/>
        </p:nvCxnSpPr>
        <p:spPr>
          <a:xfrm>
            <a:off x="603504" y="5650992"/>
            <a:ext cx="10991088" cy="0"/>
          </a:xfrm>
          <a:prstGeom prst="straightConnector1">
            <a:avLst/>
          </a:prstGeom>
          <a:ln w="9525">
            <a:solidFill>
              <a:srgbClr val="D2D2D2"/>
            </a:solidFill>
          </a:ln>
        </p:spPr>
      </p:cxnSp>
      <p:sp>
        <p:nvSpPr>
          <p:cNvPr id="62" name="Label"/>
          <p:cNvSpPr txBox="1"/>
          <p:nvPr/>
        </p:nvSpPr>
        <p:spPr>
          <a:xfrm>
            <a:off x="603504" y="5760720"/>
            <a:ext cx="10991088" cy="274320"/>
          </a:xfrm>
          <a:prstGeom prst="rect">
            <a:avLst/>
          </a:prstGeom>
          <a:noFill/>
        </p:spPr>
        <p:txBody>
          <a:bodyPr wrap="square" lIns="45720" tIns="0" rIns="45720" bIns="0" anchor="t">
            <a:noAutofit/>
          </a:bodyPr>
          <a:lstStyle/>
          <a:p>
            <a:pPr algn="l"/>
            <a:r>
              <a:rPr lang="en-GB" sz="1200" dirty="0">
                <a:solidFill>
                  <a:srgbClr val="6E6E6E"/>
                </a:solidFill>
              </a:rPr>
              <a:t>Satisfaction over 100 runs, and plan time as a median over satisfying timing runs. † every plan leaves the arena. The STL Optimizer fails ordered visit at a local optimum of its objective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Robustness against budget</a:t>
            </a:r>
          </a:p>
        </p:txBody>
      </p:sp>
      <p:sp>
        <p:nvSpPr>
          <p:cNvPr id="12" name="Slide Number"/>
          <p:cNvSpPr>
            <a:spLocks noGrp="1"/>
          </p:cNvSpPr>
          <p:nvPr>
            <p:ph type="sldNum" sz="quarter" idx="12"/>
          </p:nvPr>
        </p:nvSpPr>
        <p:spPr/>
        <p:txBody>
          <a:bodyPr/>
          <a:lstStyle/>
          <a:p>
            <a:fld id="{619F89D8-7AE3-494A-97F3-03D680869632}" type="slidenum">
              <a:rPr lang="en-GB"/>
              <a:t>55</a:t>
            </a:fld>
            <a:endParaRPr lang="en-GB"/>
          </a:p>
        </p:txBody>
      </p:sp>
      <p:sp>
        <p:nvSpPr>
          <p:cNvPr id="13" name="Label"/>
          <p:cNvSpPr txBox="1"/>
          <p:nvPr/>
        </p:nvSpPr>
        <p:spPr>
          <a:xfrm>
            <a:off x="603504"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Reach</a:t>
            </a:r>
          </a:p>
        </p:txBody>
      </p:sp>
      <p:pic>
        <p:nvPicPr>
          <p:cNvPr id="14" name="Figure" descr="Robustness against budget, Reach"/>
          <p:cNvPicPr>
            <a:picLocks noChangeAspect="1"/>
          </p:cNvPicPr>
          <p:nvPr/>
        </p:nvPicPr>
        <p:blipFill>
          <a:blip r:embed="rId3"/>
          <a:stretch>
            <a:fillRect/>
          </a:stretch>
        </p:blipFill>
        <p:spPr>
          <a:xfrm>
            <a:off x="603504" y="2213623"/>
            <a:ext cx="2121408" cy="1653514"/>
          </a:xfrm>
          <a:prstGeom prst="rect">
            <a:avLst/>
          </a:prstGeom>
        </p:spPr>
      </p:pic>
      <p:sp>
        <p:nvSpPr>
          <p:cNvPr id="15" name="Label"/>
          <p:cNvSpPr txBox="1"/>
          <p:nvPr/>
        </p:nvSpPr>
        <p:spPr>
          <a:xfrm>
            <a:off x="2816352"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Nested reach-and-dwell</a:t>
            </a:r>
          </a:p>
        </p:txBody>
      </p:sp>
      <p:pic>
        <p:nvPicPr>
          <p:cNvPr id="16" name="Figure" descr="Robustness against budget, Nested reach-and-dwell"/>
          <p:cNvPicPr>
            <a:picLocks noChangeAspect="1"/>
          </p:cNvPicPr>
          <p:nvPr/>
        </p:nvPicPr>
        <p:blipFill>
          <a:blip r:embed="rId4"/>
          <a:stretch>
            <a:fillRect/>
          </a:stretch>
        </p:blipFill>
        <p:spPr>
          <a:xfrm>
            <a:off x="2816352" y="2213623"/>
            <a:ext cx="2121408" cy="1653514"/>
          </a:xfrm>
          <a:prstGeom prst="rect">
            <a:avLst/>
          </a:prstGeom>
        </p:spPr>
      </p:pic>
      <p:sp>
        <p:nvSpPr>
          <p:cNvPr id="17" name="Label"/>
          <p:cNvSpPr txBox="1"/>
          <p:nvPr/>
        </p:nvSpPr>
        <p:spPr>
          <a:xfrm>
            <a:off x="5029200"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Recurrence</a:t>
            </a:r>
          </a:p>
        </p:txBody>
      </p:sp>
      <p:pic>
        <p:nvPicPr>
          <p:cNvPr id="18" name="Figure" descr="Robustness against budget, Recurrence"/>
          <p:cNvPicPr>
            <a:picLocks noChangeAspect="1"/>
          </p:cNvPicPr>
          <p:nvPr/>
        </p:nvPicPr>
        <p:blipFill>
          <a:blip r:embed="rId5"/>
          <a:stretch>
            <a:fillRect/>
          </a:stretch>
        </p:blipFill>
        <p:spPr>
          <a:xfrm>
            <a:off x="5029200" y="2213623"/>
            <a:ext cx="2121408" cy="1653514"/>
          </a:xfrm>
          <a:prstGeom prst="rect">
            <a:avLst/>
          </a:prstGeom>
        </p:spPr>
      </p:pic>
      <p:sp>
        <p:nvSpPr>
          <p:cNvPr id="19" name="Label"/>
          <p:cNvSpPr txBox="1"/>
          <p:nvPr/>
        </p:nvSpPr>
        <p:spPr>
          <a:xfrm>
            <a:off x="7242048"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a:t>
            </a:r>
          </a:p>
        </p:txBody>
      </p:sp>
      <p:pic>
        <p:nvPicPr>
          <p:cNvPr id="20" name="Figure" descr="Robustness against budget, Sequence"/>
          <p:cNvPicPr>
            <a:picLocks noChangeAspect="1"/>
          </p:cNvPicPr>
          <p:nvPr/>
        </p:nvPicPr>
        <p:blipFill>
          <a:blip r:embed="rId6"/>
          <a:stretch>
            <a:fillRect/>
          </a:stretch>
        </p:blipFill>
        <p:spPr>
          <a:xfrm>
            <a:off x="7242048" y="2213623"/>
            <a:ext cx="2121408" cy="1653514"/>
          </a:xfrm>
          <a:prstGeom prst="rect">
            <a:avLst/>
          </a:prstGeom>
        </p:spPr>
      </p:pic>
      <p:sp>
        <p:nvSpPr>
          <p:cNvPr id="21" name="Label"/>
          <p:cNvSpPr txBox="1"/>
          <p:nvPr/>
        </p:nvSpPr>
        <p:spPr>
          <a:xfrm>
            <a:off x="9454896"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 with avoidance</a:t>
            </a:r>
          </a:p>
        </p:txBody>
      </p:sp>
      <p:pic>
        <p:nvPicPr>
          <p:cNvPr id="22" name="Figure" descr="Robustness against budget, Sequence with avoidance"/>
          <p:cNvPicPr>
            <a:picLocks noChangeAspect="1"/>
          </p:cNvPicPr>
          <p:nvPr/>
        </p:nvPicPr>
        <p:blipFill>
          <a:blip r:embed="rId7"/>
          <a:stretch>
            <a:fillRect/>
          </a:stretch>
        </p:blipFill>
        <p:spPr>
          <a:xfrm>
            <a:off x="9454896" y="2213623"/>
            <a:ext cx="2121408" cy="1653514"/>
          </a:xfrm>
          <a:prstGeom prst="rect">
            <a:avLst/>
          </a:prstGeom>
        </p:spPr>
      </p:pic>
      <p:sp>
        <p:nvSpPr>
          <p:cNvPr id="23" name="Label"/>
          <p:cNvSpPr txBox="1"/>
          <p:nvPr/>
        </p:nvSpPr>
        <p:spPr>
          <a:xfrm>
            <a:off x="603504" y="3977640"/>
            <a:ext cx="2121408" cy="274320"/>
          </a:xfrm>
          <a:prstGeom prst="rect">
            <a:avLst/>
          </a:prstGeom>
          <a:noFill/>
        </p:spPr>
        <p:txBody>
          <a:bodyPr wrap="square" lIns="45720" tIns="0" rIns="45720" bIns="0" anchor="t">
            <a:noAutofit/>
          </a:bodyPr>
          <a:lstStyle/>
          <a:p>
            <a:pPr algn="ctr"/>
            <a:r>
              <a:rPr lang="en-GB" sz="1200" b="1" dirty="0">
                <a:solidFill>
                  <a:srgbClr val="262626"/>
                </a:solidFill>
              </a:rPr>
              <a:t>Composite</a:t>
            </a:r>
          </a:p>
        </p:txBody>
      </p:sp>
      <p:pic>
        <p:nvPicPr>
          <p:cNvPr id="24" name="Figure" descr="Robustness against budget, Composite"/>
          <p:cNvPicPr>
            <a:picLocks noChangeAspect="1"/>
          </p:cNvPicPr>
          <p:nvPr/>
        </p:nvPicPr>
        <p:blipFill>
          <a:blip r:embed="rId8"/>
          <a:stretch>
            <a:fillRect/>
          </a:stretch>
        </p:blipFill>
        <p:spPr>
          <a:xfrm>
            <a:off x="603504" y="4316743"/>
            <a:ext cx="2121408" cy="165351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Cube results, all three classes</a:t>
            </a:r>
          </a:p>
        </p:txBody>
      </p:sp>
      <p:sp>
        <p:nvSpPr>
          <p:cNvPr id="12" name="Slide Number"/>
          <p:cNvSpPr>
            <a:spLocks noGrp="1"/>
          </p:cNvSpPr>
          <p:nvPr>
            <p:ph type="sldNum" sz="quarter" idx="12"/>
          </p:nvPr>
        </p:nvSpPr>
        <p:spPr/>
        <p:txBody>
          <a:bodyPr/>
          <a:lstStyle/>
          <a:p>
            <a:fld id="{619F89D8-7AE3-494A-97F3-03D680869632}" type="slidenum">
              <a:rPr lang="en-GB"/>
              <a:t>56</a:t>
            </a:fld>
            <a:endParaRPr lang="en-GB"/>
          </a:p>
        </p:txBody>
      </p:sp>
      <p:pic>
        <p:nvPicPr>
          <p:cNvPr id="13" name="Figure" descr="Cube results, all three classes"/>
          <p:cNvPicPr>
            <a:picLocks noChangeAspect="1"/>
          </p:cNvPicPr>
          <p:nvPr/>
        </p:nvPicPr>
        <p:blipFill>
          <a:blip r:embed="rId3"/>
          <a:stretch>
            <a:fillRect/>
          </a:stretch>
        </p:blipFill>
        <p:spPr>
          <a:xfrm>
            <a:off x="969264" y="2515300"/>
            <a:ext cx="10259568" cy="31075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Logic satisfaction and task success per class</a:t>
            </a:r>
          </a:p>
        </p:txBody>
      </p:sp>
      <p:sp>
        <p:nvSpPr>
          <p:cNvPr id="12" name="Slide Number"/>
          <p:cNvSpPr>
            <a:spLocks noGrp="1"/>
          </p:cNvSpPr>
          <p:nvPr>
            <p:ph type="sldNum" sz="quarter" idx="12"/>
          </p:nvPr>
        </p:nvSpPr>
        <p:spPr/>
        <p:txBody>
          <a:bodyPr/>
          <a:lstStyle/>
          <a:p>
            <a:fld id="{619F89D8-7AE3-494A-97F3-03D680869632}" type="slidenum">
              <a:rPr lang="en-GB"/>
              <a:t>57</a:t>
            </a:fld>
            <a:endParaRPr lang="en-GB"/>
          </a:p>
        </p:txBody>
      </p:sp>
      <p:pic>
        <p:nvPicPr>
          <p:cNvPr id="13" name="Figure" descr="Cube results, all three classes"/>
          <p:cNvPicPr>
            <a:picLocks noChangeAspect="1"/>
          </p:cNvPicPr>
          <p:nvPr/>
        </p:nvPicPr>
        <p:blipFill>
          <a:blip r:embed="rId3"/>
          <a:stretch>
            <a:fillRect/>
          </a:stretch>
        </p:blipFill>
        <p:spPr>
          <a:xfrm>
            <a:off x="3057545" y="1920240"/>
            <a:ext cx="6076603" cy="39319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 sequence</a:t>
            </a:r>
          </a:p>
        </p:txBody>
      </p:sp>
      <p:sp>
        <p:nvSpPr>
          <p:cNvPr id="13" name="Slide Number"/>
          <p:cNvSpPr>
            <a:spLocks noGrp="1"/>
          </p:cNvSpPr>
          <p:nvPr>
            <p:ph type="sldNum" sz="quarter" idx="12"/>
          </p:nvPr>
        </p:nvSpPr>
        <p:spPr/>
        <p:txBody>
          <a:bodyPr/>
          <a:lstStyle/>
          <a:p>
            <a:fld id="{619F89D8-7AE3-494A-97F3-03D680869632}" type="slidenum">
              <a:rPr lang="en-GB"/>
              <a:t>58</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the cube within 20 steps,</a:t>
            </a:r>
          </a:p>
          <a:p>
            <a:pPr algn="l"/>
            <a:r>
              <a:rPr lang="en-GB" sz="2000" dirty="0">
                <a:solidFill>
                  <a:srgbClr val="262626"/>
                </a:solidFill>
              </a:rPr>
              <a:t>place it between steps 20 and 100</a:t>
            </a:r>
          </a:p>
        </p:txBody>
      </p:sp>
      <p:pic>
        <p:nvPicPr>
          <p:cNvPr id="16" name="Equation" descr="phi equals eventually within 0 20 pick and eventually within 20 100 place"/>
          <p:cNvPicPr>
            <a:picLocks noChangeAspect="1"/>
          </p:cNvPicPr>
          <p:nvPr/>
        </p:nvPicPr>
        <p:blipFill>
          <a:blip r:embed="rId5"/>
          <a:stretch>
            <a:fillRect/>
          </a:stretch>
        </p:blipFill>
        <p:spPr>
          <a:xfrm>
            <a:off x="603504" y="3383280"/>
            <a:ext cx="4521708" cy="382524"/>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p:txBody>
      </p:sp>
      <p:pic>
        <p:nvPicPr>
          <p:cNvPr id="18" name="Video" descr="STL-FM plan executed in the cube task">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satisfies the requirement in 10 of 10 plans and completes 1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 nested reach-and-dwell</a:t>
            </a:r>
          </a:p>
        </p:txBody>
      </p:sp>
      <p:sp>
        <p:nvSpPr>
          <p:cNvPr id="13" name="Slide Number"/>
          <p:cNvSpPr>
            <a:spLocks noGrp="1"/>
          </p:cNvSpPr>
          <p:nvPr>
            <p:ph type="sldNum" sz="quarter" idx="12"/>
          </p:nvPr>
        </p:nvSpPr>
        <p:spPr/>
        <p:txBody>
          <a:bodyPr/>
          <a:lstStyle/>
          <a:p>
            <a:fld id="{619F89D8-7AE3-494A-97F3-03D680869632}" type="slidenum">
              <a:rPr lang="en-GB"/>
              <a:t>59</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Nested reach-and-dwell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within 30 steps and hold for 10,</a:t>
            </a:r>
          </a:p>
          <a:p>
            <a:pPr algn="l"/>
            <a:r>
              <a:rPr lang="en-GB" sz="2000" dirty="0">
                <a:solidFill>
                  <a:srgbClr val="262626"/>
                </a:solidFill>
              </a:rPr>
              <a:t>then place within 30 and hold for 10</a:t>
            </a:r>
          </a:p>
        </p:txBody>
      </p:sp>
      <p:pic>
        <p:nvPicPr>
          <p:cNvPr id="16" name="Equation" descr="eq_cube_nested.png"/>
          <p:cNvPicPr>
            <a:picLocks noChangeAspect="1"/>
          </p:cNvPicPr>
          <p:nvPr/>
        </p:nvPicPr>
        <p:blipFill>
          <a:blip r:embed="rId5"/>
          <a:stretch>
            <a:fillRect/>
          </a:stretch>
        </p:blipFill>
        <p:spPr>
          <a:xfrm>
            <a:off x="603504" y="3383280"/>
            <a:ext cx="6035040" cy="381743"/>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p:txBody>
      </p:sp>
      <p:pic>
        <p:nvPicPr>
          <p:cNvPr id="18" name="Video" descr="STL-FM plan executed, Nested reach-and-dwell requiremen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completes 9 of 10 executions and satisfies the requirement in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 sequence with avoidance</a:t>
            </a:r>
          </a:p>
        </p:txBody>
      </p:sp>
      <p:sp>
        <p:nvSpPr>
          <p:cNvPr id="13" name="Slide Number"/>
          <p:cNvSpPr>
            <a:spLocks noGrp="1"/>
          </p:cNvSpPr>
          <p:nvPr>
            <p:ph type="sldNum" sz="quarter" idx="12"/>
          </p:nvPr>
        </p:nvSpPr>
        <p:spPr/>
        <p:txBody>
          <a:bodyPr/>
          <a:lstStyle/>
          <a:p>
            <a:fld id="{619F89D8-7AE3-494A-97F3-03D680869632}" type="slidenum">
              <a:rPr lang="en-GB"/>
              <a:t>60</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Sequence-with-avoidance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and place as in the sequence,</a:t>
            </a:r>
          </a:p>
          <a:p>
            <a:pPr algn="l"/>
            <a:r>
              <a:rPr lang="en-GB" sz="2000" dirty="0">
                <a:solidFill>
                  <a:srgbClr val="262626"/>
                </a:solidFill>
              </a:rPr>
              <a:t>keeping the cube clear of the obstacle</a:t>
            </a:r>
          </a:p>
        </p:txBody>
      </p:sp>
      <p:pic>
        <p:nvPicPr>
          <p:cNvPr id="16" name="Equation" descr="eq_cube_seqavoid.png"/>
          <p:cNvPicPr>
            <a:picLocks noChangeAspect="1"/>
          </p:cNvPicPr>
          <p:nvPr/>
        </p:nvPicPr>
        <p:blipFill>
          <a:blip r:embed="rId5"/>
          <a:stretch>
            <a:fillRect/>
          </a:stretch>
        </p:blipFill>
        <p:spPr>
          <a:xfrm>
            <a:off x="603504" y="3383280"/>
            <a:ext cx="6035040" cy="336845"/>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and place as above; obs, a 2 cm box 20 cm from the</a:t>
            </a:r>
          </a:p>
          <a:p>
            <a:pPr algn="l"/>
            <a:r>
              <a:rPr lang="en-GB" sz="1400" dirty="0">
                <a:solidFill>
                  <a:srgbClr val="6E6E6E"/>
                </a:solidFill>
              </a:rPr>
              <a:t>midpoint of pick and place, which the cube must avoid</a:t>
            </a:r>
          </a:p>
        </p:txBody>
      </p:sp>
      <p:pic>
        <p:nvPicPr>
          <p:cNvPr id="18" name="Video" descr="STL-FM plan executed, Sequence-with-avoidance requiremen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satisfies the requirement in 9 of 10 plans and completes no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6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Roughness of guided plans</a:t>
            </a:r>
          </a:p>
        </p:txBody>
      </p:sp>
      <p:sp>
        <p:nvSpPr>
          <p:cNvPr id="12" name="Slide Number"/>
          <p:cNvSpPr>
            <a:spLocks noGrp="1"/>
          </p:cNvSpPr>
          <p:nvPr>
            <p:ph type="sldNum" sz="quarter" idx="12"/>
          </p:nvPr>
        </p:nvSpPr>
        <p:spPr/>
        <p:txBody>
          <a:bodyPr/>
          <a:lstStyle/>
          <a:p>
            <a:fld id="{619F89D8-7AE3-494A-97F3-03D680869632}" type="slidenum">
              <a:rPr lang="en-GB"/>
              <a:t>61</a:t>
            </a:fld>
            <a:endParaRPr lang="en-GB"/>
          </a:p>
        </p:txBody>
      </p:sp>
      <p:sp>
        <p:nvSpPr>
          <p:cNvPr id="13" name="Label"/>
          <p:cNvSpPr txBox="1"/>
          <p:nvPr/>
        </p:nvSpPr>
        <p:spPr>
          <a:xfrm>
            <a:off x="640080" y="1938528"/>
            <a:ext cx="4846320" cy="292608"/>
          </a:xfrm>
          <a:prstGeom prst="rect">
            <a:avLst/>
          </a:prstGeom>
          <a:noFill/>
        </p:spPr>
        <p:txBody>
          <a:bodyPr wrap="square" lIns="45720" tIns="0" rIns="45720" bIns="0" anchor="t">
            <a:noAutofit/>
          </a:bodyPr>
          <a:lstStyle/>
          <a:p>
            <a:pPr algn="l"/>
            <a:r>
              <a:rPr lang="en-GB" sz="1400" dirty="0">
                <a:solidFill>
                  <a:srgbClr val="6E6E6E"/>
                </a:solidFill>
              </a:rPr>
              <a:t>Trajectories</a:t>
            </a:r>
          </a:p>
        </p:txBody>
      </p:sp>
      <p:sp>
        <p:nvSpPr>
          <p:cNvPr id="14" name="Label"/>
          <p:cNvSpPr txBox="1"/>
          <p:nvPr/>
        </p:nvSpPr>
        <p:spPr>
          <a:xfrm>
            <a:off x="566928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Median turn angle</a:t>
            </a:r>
          </a:p>
        </p:txBody>
      </p:sp>
      <p:sp>
        <p:nvSpPr>
          <p:cNvPr id="15" name="Label"/>
          <p:cNvSpPr txBox="1"/>
          <p:nvPr/>
        </p:nvSpPr>
        <p:spPr>
          <a:xfrm>
            <a:off x="786384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Turns above 90°</a:t>
            </a:r>
          </a:p>
        </p:txBody>
      </p:sp>
      <p:cxnSp>
        <p:nvCxnSpPr>
          <p:cNvPr id="16" name="Rule"/>
          <p:cNvCxnSpPr/>
          <p:nvPr/>
        </p:nvCxnSpPr>
        <p:spPr>
          <a:xfrm>
            <a:off x="640080" y="2304288"/>
            <a:ext cx="9235440" cy="0"/>
          </a:xfrm>
          <a:prstGeom prst="straightConnector1">
            <a:avLst/>
          </a:prstGeom>
          <a:ln w="9525">
            <a:solidFill>
              <a:srgbClr val="D2D2D2"/>
            </a:solidFill>
          </a:ln>
        </p:spPr>
      </p:cxnSp>
      <p:sp>
        <p:nvSpPr>
          <p:cNvPr id="17" name="Label"/>
          <p:cNvSpPr txBox="1"/>
          <p:nvPr/>
        </p:nvSpPr>
        <p:spPr>
          <a:xfrm>
            <a:off x="640080" y="2350008"/>
            <a:ext cx="4846320" cy="347472"/>
          </a:xfrm>
          <a:prstGeom prst="rect">
            <a:avLst/>
          </a:prstGeom>
          <a:noFill/>
        </p:spPr>
        <p:txBody>
          <a:bodyPr wrap="square" lIns="45720" tIns="0" rIns="45720" bIns="0" anchor="ctr">
            <a:noAutofit/>
          </a:bodyPr>
          <a:lstStyle/>
          <a:p>
            <a:pPr algn="l"/>
            <a:r>
              <a:rPr lang="en-GB" sz="1700" dirty="0">
                <a:solidFill>
                  <a:srgbClr val="262626"/>
                </a:solidFill>
              </a:rPr>
              <a:t>Demonstrations</a:t>
            </a:r>
          </a:p>
        </p:txBody>
      </p:sp>
      <p:sp>
        <p:nvSpPr>
          <p:cNvPr id="18" name="Label"/>
          <p:cNvSpPr txBox="1"/>
          <p:nvPr/>
        </p:nvSpPr>
        <p:spPr>
          <a:xfrm>
            <a:off x="566928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0.6°</a:t>
            </a:r>
          </a:p>
        </p:txBody>
      </p:sp>
      <p:sp>
        <p:nvSpPr>
          <p:cNvPr id="19" name="Label"/>
          <p:cNvSpPr txBox="1"/>
          <p:nvPr/>
        </p:nvSpPr>
        <p:spPr>
          <a:xfrm>
            <a:off x="786384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2 %</a:t>
            </a:r>
          </a:p>
        </p:txBody>
      </p:sp>
      <p:cxnSp>
        <p:nvCxnSpPr>
          <p:cNvPr id="20" name="Rule"/>
          <p:cNvCxnSpPr/>
          <p:nvPr/>
        </p:nvCxnSpPr>
        <p:spPr>
          <a:xfrm>
            <a:off x="640080" y="2734056"/>
            <a:ext cx="9235440" cy="0"/>
          </a:xfrm>
          <a:prstGeom prst="straightConnector1">
            <a:avLst/>
          </a:prstGeom>
          <a:ln w="9525">
            <a:solidFill>
              <a:srgbClr val="D2D2D2"/>
            </a:solidFill>
          </a:ln>
        </p:spPr>
      </p:cxnSp>
      <p:sp>
        <p:nvSpPr>
          <p:cNvPr id="21" name="Label"/>
          <p:cNvSpPr txBox="1"/>
          <p:nvPr/>
        </p:nvSpPr>
        <p:spPr>
          <a:xfrm>
            <a:off x="640080" y="2779776"/>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start pinned</a:t>
            </a:r>
          </a:p>
        </p:txBody>
      </p:sp>
      <p:sp>
        <p:nvSpPr>
          <p:cNvPr id="22" name="Label"/>
          <p:cNvSpPr txBox="1"/>
          <p:nvPr/>
        </p:nvSpPr>
        <p:spPr>
          <a:xfrm>
            <a:off x="566928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6.4°</a:t>
            </a:r>
          </a:p>
        </p:txBody>
      </p:sp>
      <p:sp>
        <p:nvSpPr>
          <p:cNvPr id="23" name="Label"/>
          <p:cNvSpPr txBox="1"/>
          <p:nvPr/>
        </p:nvSpPr>
        <p:spPr>
          <a:xfrm>
            <a:off x="786384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4 %</a:t>
            </a:r>
          </a:p>
        </p:txBody>
      </p:sp>
      <p:cxnSp>
        <p:nvCxnSpPr>
          <p:cNvPr id="24" name="Rule"/>
          <p:cNvCxnSpPr/>
          <p:nvPr/>
        </p:nvCxnSpPr>
        <p:spPr>
          <a:xfrm>
            <a:off x="640080" y="3163824"/>
            <a:ext cx="9235440" cy="0"/>
          </a:xfrm>
          <a:prstGeom prst="straightConnector1">
            <a:avLst/>
          </a:prstGeom>
          <a:ln w="9525">
            <a:solidFill>
              <a:srgbClr val="D2D2D2"/>
            </a:solidFill>
          </a:ln>
        </p:spPr>
      </p:cxnSp>
      <p:sp>
        <p:nvSpPr>
          <p:cNvPr id="25" name="Label"/>
          <p:cNvSpPr txBox="1"/>
          <p:nvPr/>
        </p:nvSpPr>
        <p:spPr>
          <a:xfrm>
            <a:off x="640080" y="3209544"/>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both endpoints pinned</a:t>
            </a:r>
          </a:p>
        </p:txBody>
      </p:sp>
      <p:sp>
        <p:nvSpPr>
          <p:cNvPr id="26" name="Label"/>
          <p:cNvSpPr txBox="1"/>
          <p:nvPr/>
        </p:nvSpPr>
        <p:spPr>
          <a:xfrm>
            <a:off x="566928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8.2°</a:t>
            </a:r>
          </a:p>
        </p:txBody>
      </p:sp>
      <p:sp>
        <p:nvSpPr>
          <p:cNvPr id="27" name="Label"/>
          <p:cNvSpPr txBox="1"/>
          <p:nvPr/>
        </p:nvSpPr>
        <p:spPr>
          <a:xfrm>
            <a:off x="786384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7 %</a:t>
            </a:r>
          </a:p>
        </p:txBody>
      </p:sp>
      <p:cxnSp>
        <p:nvCxnSpPr>
          <p:cNvPr id="28" name="Rule"/>
          <p:cNvCxnSpPr/>
          <p:nvPr/>
        </p:nvCxnSpPr>
        <p:spPr>
          <a:xfrm>
            <a:off x="640080" y="3593592"/>
            <a:ext cx="9235440" cy="0"/>
          </a:xfrm>
          <a:prstGeom prst="straightConnector1">
            <a:avLst/>
          </a:prstGeom>
          <a:ln w="9525">
            <a:solidFill>
              <a:srgbClr val="D2D2D2"/>
            </a:solidFill>
          </a:ln>
        </p:spPr>
      </p:cxnSp>
      <p:sp>
        <p:nvSpPr>
          <p:cNvPr id="29" name="Label"/>
          <p:cNvSpPr txBox="1"/>
          <p:nvPr/>
        </p:nvSpPr>
        <p:spPr>
          <a:xfrm>
            <a:off x="640080" y="3639312"/>
            <a:ext cx="4846320" cy="347472"/>
          </a:xfrm>
          <a:prstGeom prst="rect">
            <a:avLst/>
          </a:prstGeom>
          <a:noFill/>
        </p:spPr>
        <p:txBody>
          <a:bodyPr wrap="square" lIns="45720" tIns="0" rIns="45720" bIns="0" anchor="ctr">
            <a:noAutofit/>
          </a:bodyPr>
          <a:lstStyle/>
          <a:p>
            <a:pPr algn="l"/>
            <a:r>
              <a:rPr lang="en-GB" sz="1700" dirty="0">
                <a:solidFill>
                  <a:srgbClr val="1954A6"/>
                </a:solidFill>
              </a:rPr>
              <a:t>STL-FM, nested reach-and-dwell</a:t>
            </a:r>
          </a:p>
        </p:txBody>
      </p:sp>
      <p:sp>
        <p:nvSpPr>
          <p:cNvPr id="30" name="Label"/>
          <p:cNvSpPr txBox="1"/>
          <p:nvPr/>
        </p:nvSpPr>
        <p:spPr>
          <a:xfrm>
            <a:off x="566928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30.9°</a:t>
            </a:r>
          </a:p>
        </p:txBody>
      </p:sp>
      <p:sp>
        <p:nvSpPr>
          <p:cNvPr id="31" name="Label"/>
          <p:cNvSpPr txBox="1"/>
          <p:nvPr/>
        </p:nvSpPr>
        <p:spPr>
          <a:xfrm>
            <a:off x="786384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47 %</a:t>
            </a:r>
          </a:p>
        </p:txBody>
      </p:sp>
      <p:cxnSp>
        <p:nvCxnSpPr>
          <p:cNvPr id="32" name="Rule"/>
          <p:cNvCxnSpPr/>
          <p:nvPr/>
        </p:nvCxnSpPr>
        <p:spPr>
          <a:xfrm>
            <a:off x="640080" y="4023360"/>
            <a:ext cx="9235440" cy="0"/>
          </a:xfrm>
          <a:prstGeom prst="straightConnector1">
            <a:avLst/>
          </a:prstGeom>
          <a:ln w="9525">
            <a:solidFill>
              <a:srgbClr val="D2D2D2"/>
            </a:solidFill>
          </a:ln>
        </p:spPr>
      </p:cxnSp>
      <p:sp>
        <p:nvSpPr>
          <p:cNvPr id="33" name="Label"/>
          <p:cNvSpPr txBox="1"/>
          <p:nvPr/>
        </p:nvSpPr>
        <p:spPr>
          <a:xfrm>
            <a:off x="640080" y="4069080"/>
            <a:ext cx="4846320" cy="347472"/>
          </a:xfrm>
          <a:prstGeom prst="rect">
            <a:avLst/>
          </a:prstGeom>
          <a:noFill/>
        </p:spPr>
        <p:txBody>
          <a:bodyPr wrap="square" lIns="45720" tIns="0" rIns="45720" bIns="0" anchor="ctr">
            <a:noAutofit/>
          </a:bodyPr>
          <a:lstStyle/>
          <a:p>
            <a:pPr algn="l"/>
            <a:r>
              <a:rPr lang="en-GB" sz="1700" dirty="0">
                <a:solidFill>
                  <a:srgbClr val="1954A6"/>
                </a:solidFill>
              </a:rPr>
              <a:t>STL-FM, recurrence</a:t>
            </a:r>
          </a:p>
        </p:txBody>
      </p:sp>
      <p:sp>
        <p:nvSpPr>
          <p:cNvPr id="34" name="Label"/>
          <p:cNvSpPr txBox="1"/>
          <p:nvPr/>
        </p:nvSpPr>
        <p:spPr>
          <a:xfrm>
            <a:off x="566928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9.9°</a:t>
            </a:r>
          </a:p>
        </p:txBody>
      </p:sp>
      <p:sp>
        <p:nvSpPr>
          <p:cNvPr id="35" name="Label"/>
          <p:cNvSpPr txBox="1"/>
          <p:nvPr/>
        </p:nvSpPr>
        <p:spPr>
          <a:xfrm>
            <a:off x="7863840" y="4069080"/>
            <a:ext cx="2011680" cy="347472"/>
          </a:xfrm>
          <a:prstGeom prst="rect">
            <a:avLst/>
          </a:prstGeom>
          <a:noFill/>
        </p:spPr>
        <p:txBody>
          <a:bodyPr wrap="square" lIns="45720" tIns="0" rIns="45720" bIns="0" anchor="ctr">
            <a:noAutofit/>
          </a:bodyPr>
          <a:lstStyle/>
          <a:p>
            <a:pPr algn="ctr"/>
            <a:endParaRPr/>
          </a:p>
        </p:txBody>
      </p:sp>
      <p:cxnSp>
        <p:nvCxnSpPr>
          <p:cNvPr id="36" name="Rule"/>
          <p:cNvCxnSpPr/>
          <p:nvPr/>
        </p:nvCxnSpPr>
        <p:spPr>
          <a:xfrm>
            <a:off x="640080" y="4453128"/>
            <a:ext cx="9235440" cy="0"/>
          </a:xfrm>
          <a:prstGeom prst="straightConnector1">
            <a:avLst/>
          </a:prstGeom>
          <a:ln w="9525">
            <a:solidFill>
              <a:srgbClr val="D2D2D2"/>
            </a:solidFill>
          </a:ln>
        </p:spPr>
      </p:cxnSp>
      <p:sp>
        <p:nvSpPr>
          <p:cNvPr id="37" name="Label"/>
          <p:cNvSpPr txBox="1"/>
          <p:nvPr/>
        </p:nvSpPr>
        <p:spPr>
          <a:xfrm>
            <a:off x="640080" y="4498848"/>
            <a:ext cx="4846320" cy="347472"/>
          </a:xfrm>
          <a:prstGeom prst="rect">
            <a:avLst/>
          </a:prstGeom>
          <a:noFill/>
        </p:spPr>
        <p:txBody>
          <a:bodyPr wrap="square" lIns="45720" tIns="0" rIns="45720" bIns="0" anchor="ctr">
            <a:noAutofit/>
          </a:bodyPr>
          <a:lstStyle/>
          <a:p>
            <a:pPr algn="l"/>
            <a:r>
              <a:rPr lang="en-GB" sz="1700" dirty="0">
                <a:solidFill>
                  <a:srgbClr val="1954A6"/>
                </a:solidFill>
              </a:rPr>
              <a:t>STL-FM, composite</a:t>
            </a:r>
          </a:p>
        </p:txBody>
      </p:sp>
      <p:sp>
        <p:nvSpPr>
          <p:cNvPr id="38" name="Label"/>
          <p:cNvSpPr txBox="1"/>
          <p:nvPr/>
        </p:nvSpPr>
        <p:spPr>
          <a:xfrm>
            <a:off x="5669280" y="4498848"/>
            <a:ext cx="2011680" cy="347472"/>
          </a:xfrm>
          <a:prstGeom prst="rect">
            <a:avLst/>
          </a:prstGeom>
          <a:noFill/>
        </p:spPr>
        <p:txBody>
          <a:bodyPr wrap="square" lIns="45720" tIns="0" rIns="45720" bIns="0" anchor="ctr">
            <a:noAutofit/>
          </a:bodyPr>
          <a:lstStyle/>
          <a:p>
            <a:pPr algn="ctr"/>
            <a:endParaRPr/>
          </a:p>
        </p:txBody>
      </p:sp>
      <p:sp>
        <p:nvSpPr>
          <p:cNvPr id="39" name="Label"/>
          <p:cNvSpPr txBox="1"/>
          <p:nvPr/>
        </p:nvSpPr>
        <p:spPr>
          <a:xfrm>
            <a:off x="786384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18.5 %</a:t>
            </a:r>
          </a:p>
        </p:txBody>
      </p:sp>
      <p:cxnSp>
        <p:nvCxnSpPr>
          <p:cNvPr id="40" name="Rule"/>
          <p:cNvCxnSpPr/>
          <p:nvPr/>
        </p:nvCxnSpPr>
        <p:spPr>
          <a:xfrm>
            <a:off x="640080" y="4882896"/>
            <a:ext cx="9235440" cy="0"/>
          </a:xfrm>
          <a:prstGeom prst="straightConnector1">
            <a:avLst/>
          </a:prstGeom>
          <a:ln w="9525">
            <a:solidFill>
              <a:srgbClr val="D2D2D2"/>
            </a:solidFill>
          </a:ln>
        </p:spPr>
      </p:cxnSp>
      <p:sp>
        <p:nvSpPr>
          <p:cNvPr id="41" name="Label"/>
          <p:cNvSpPr txBox="1"/>
          <p:nvPr/>
        </p:nvSpPr>
        <p:spPr>
          <a:xfrm>
            <a:off x="640080" y="4928616"/>
            <a:ext cx="4846320" cy="347472"/>
          </a:xfrm>
          <a:prstGeom prst="rect">
            <a:avLst/>
          </a:prstGeom>
          <a:noFill/>
        </p:spPr>
        <p:txBody>
          <a:bodyPr wrap="square" lIns="45720" tIns="0" rIns="45720" bIns="0" anchor="ctr">
            <a:noAutofit/>
          </a:bodyPr>
          <a:lstStyle/>
          <a:p>
            <a:pPr algn="l"/>
            <a:r>
              <a:rPr lang="en-GB" sz="1700" dirty="0">
                <a:solidFill>
                  <a:srgbClr val="1954A6"/>
                </a:solidFill>
              </a:rPr>
              <a:t>STL Optimizer, pooled</a:t>
            </a:r>
          </a:p>
        </p:txBody>
      </p:sp>
      <p:sp>
        <p:nvSpPr>
          <p:cNvPr id="42" name="Label"/>
          <p:cNvSpPr txBox="1"/>
          <p:nvPr/>
        </p:nvSpPr>
        <p:spPr>
          <a:xfrm>
            <a:off x="5669280" y="4928616"/>
            <a:ext cx="2011680" cy="347472"/>
          </a:xfrm>
          <a:prstGeom prst="rect">
            <a:avLst/>
          </a:prstGeom>
          <a:noFill/>
        </p:spPr>
        <p:txBody>
          <a:bodyPr wrap="square" lIns="45720" tIns="0" rIns="45720" bIns="0" anchor="ctr">
            <a:noAutofit/>
          </a:bodyPr>
          <a:lstStyle/>
          <a:p>
            <a:pPr algn="ctr"/>
            <a:r>
              <a:rPr lang="en-GB" sz="1700" dirty="0">
                <a:solidFill>
                  <a:srgbClr val="1954A6"/>
                </a:solidFill>
              </a:rPr>
              <a:t>0.3°</a:t>
            </a:r>
          </a:p>
        </p:txBody>
      </p:sp>
      <p:sp>
        <p:nvSpPr>
          <p:cNvPr id="43" name="Label"/>
          <p:cNvSpPr txBox="1"/>
          <p:nvPr/>
        </p:nvSpPr>
        <p:spPr>
          <a:xfrm>
            <a:off x="7863840" y="4928616"/>
            <a:ext cx="2011680" cy="347472"/>
          </a:xfrm>
          <a:prstGeom prst="rect">
            <a:avLst/>
          </a:prstGeom>
          <a:noFill/>
        </p:spPr>
        <p:txBody>
          <a:bodyPr wrap="square" lIns="45720" tIns="0" rIns="45720" bIns="0" anchor="ctr">
            <a:noAutofit/>
          </a:bodyPr>
          <a:lstStyle/>
          <a:p>
            <a:pPr algn="ctr"/>
            <a:endParaRPr/>
          </a:p>
        </p:txBody>
      </p:sp>
      <p:cxnSp>
        <p:nvCxnSpPr>
          <p:cNvPr id="44" name="Rule"/>
          <p:cNvCxnSpPr/>
          <p:nvPr/>
        </p:nvCxnSpPr>
        <p:spPr>
          <a:xfrm>
            <a:off x="640080" y="5312664"/>
            <a:ext cx="9235440" cy="0"/>
          </a:xfrm>
          <a:prstGeom prst="straightConnector1">
            <a:avLst/>
          </a:prstGeom>
          <a:ln w="9525">
            <a:solidFill>
              <a:srgbClr val="D2D2D2"/>
            </a:solidFill>
          </a:ln>
        </p:spPr>
      </p:cxnSp>
      <p:sp>
        <p:nvSpPr>
          <p:cNvPr id="45" name="Label"/>
          <p:cNvSpPr txBox="1"/>
          <p:nvPr/>
        </p:nvSpPr>
        <p:spPr>
          <a:xfrm>
            <a:off x="640080" y="5440680"/>
            <a:ext cx="10972800" cy="822960"/>
          </a:xfrm>
          <a:prstGeom prst="rect">
            <a:avLst/>
          </a:prstGeom>
          <a:noFill/>
        </p:spPr>
        <p:txBody>
          <a:bodyPr wrap="square" lIns="45720" tIns="0" rIns="45720" bIns="0" anchor="t">
            <a:noAutofit/>
          </a:bodyPr>
          <a:lstStyle/>
          <a:p>
            <a:pPr algn="l"/>
            <a:r>
              <a:rPr lang="en-GB" sz="1500" dirty="0">
                <a:solidFill>
                  <a:srgbClr val="6E6E6E"/>
                </a:solidFill>
              </a:rPr>
              <a:t>The evaluation does not distinguish two explanations. Either the prior is undertrained, or guidance</a:t>
            </a:r>
          </a:p>
          <a:p>
            <a:pPr algn="l"/>
            <a:r>
              <a:rPr lang="en-GB" sz="1500" dirty="0">
                <a:solidFill>
                  <a:srgbClr val="6E6E6E"/>
                </a:solidFill>
              </a:rPr>
              <a:t>moves iterates away from plausible trajectories faster than the prior moves them back. The evidence</a:t>
            </a:r>
          </a:p>
          <a:p>
            <a:pPr algn="l"/>
            <a:r>
              <a:rPr lang="en-GB" sz="1500" dirty="0">
                <a:solidFill>
                  <a:srgbClr val="6E6E6E"/>
                </a:solidFill>
              </a:rPr>
              <a:t>for the contribution of the prior is the carry gap and the arena excursion.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Limitations</a:t>
            </a:r>
          </a:p>
        </p:txBody>
      </p:sp>
      <p:sp>
        <p:nvSpPr>
          <p:cNvPr id="12" name="Slide Number"/>
          <p:cNvSpPr>
            <a:spLocks noGrp="1"/>
          </p:cNvSpPr>
          <p:nvPr>
            <p:ph type="sldNum" sz="quarter" idx="12"/>
          </p:nvPr>
        </p:nvSpPr>
        <p:spPr/>
        <p:txBody>
          <a:bodyPr/>
          <a:lstStyle/>
          <a:p>
            <a:fld id="{619F89D8-7AE3-494A-97F3-03D680869632}" type="slidenum">
              <a:rPr lang="en-GB"/>
              <a:t>62</a:t>
            </a:fld>
            <a:endParaRPr lang="en-GB"/>
          </a:p>
        </p:txBody>
      </p:sp>
      <p:sp>
        <p:nvSpPr>
          <p:cNvPr id="13" name="Label"/>
          <p:cNvSpPr txBox="1"/>
          <p:nvPr/>
        </p:nvSpPr>
        <p:spPr>
          <a:xfrm>
            <a:off x="640080" y="1920240"/>
            <a:ext cx="3657600" cy="512064"/>
          </a:xfrm>
          <a:prstGeom prst="rect">
            <a:avLst/>
          </a:prstGeom>
          <a:noFill/>
        </p:spPr>
        <p:txBody>
          <a:bodyPr wrap="square" lIns="45720" tIns="0" rIns="45720" bIns="0" anchor="ctr">
            <a:noAutofit/>
          </a:bodyPr>
          <a:lstStyle/>
          <a:p>
            <a:pPr algn="l"/>
            <a:r>
              <a:rPr lang="en-GB" sz="1700" b="1" dirty="0">
                <a:solidFill>
                  <a:srgbClr val="262626"/>
                </a:solidFill>
              </a:rPr>
              <a:t>Fixed requirement instances</a:t>
            </a:r>
          </a:p>
        </p:txBody>
      </p:sp>
      <p:sp>
        <p:nvSpPr>
          <p:cNvPr id="14" name="Label"/>
          <p:cNvSpPr txBox="1"/>
          <p:nvPr/>
        </p:nvSpPr>
        <p:spPr>
          <a:xfrm>
            <a:off x="4389120" y="1920240"/>
            <a:ext cx="7205472" cy="512064"/>
          </a:xfrm>
          <a:prstGeom prst="rect">
            <a:avLst/>
          </a:prstGeom>
          <a:noFill/>
        </p:spPr>
        <p:txBody>
          <a:bodyPr wrap="square" lIns="45720" tIns="0" rIns="45720" bIns="0" anchor="ctr">
            <a:noAutofit/>
          </a:bodyPr>
          <a:lstStyle/>
          <a:p>
            <a:pPr algn="l"/>
            <a:r>
              <a:rPr lang="en-GB" sz="1600" dirty="0">
                <a:solidFill>
                  <a:srgbClr val="262626"/>
                </a:solidFill>
              </a:rPr>
              <a:t>every rate is measured on one instance per class</a:t>
            </a:r>
          </a:p>
        </p:txBody>
      </p:sp>
      <p:sp>
        <p:nvSpPr>
          <p:cNvPr id="15" name="Label"/>
          <p:cNvSpPr txBox="1"/>
          <p:nvPr/>
        </p:nvSpPr>
        <p:spPr>
          <a:xfrm>
            <a:off x="640080" y="2505456"/>
            <a:ext cx="3657600" cy="512064"/>
          </a:xfrm>
          <a:prstGeom prst="rect">
            <a:avLst/>
          </a:prstGeom>
          <a:noFill/>
        </p:spPr>
        <p:txBody>
          <a:bodyPr wrap="square" lIns="45720" tIns="0" rIns="45720" bIns="0" anchor="ctr">
            <a:noAutofit/>
          </a:bodyPr>
          <a:lstStyle/>
          <a:p>
            <a:pPr algn="l"/>
            <a:r>
              <a:rPr lang="en-GB" sz="1700" b="1" dirty="0">
                <a:solidFill>
                  <a:srgbClr val="262626"/>
                </a:solidFill>
              </a:rPr>
              <a:t>No certificate</a:t>
            </a:r>
          </a:p>
        </p:txBody>
      </p:sp>
      <p:sp>
        <p:nvSpPr>
          <p:cNvPr id="16" name="Label"/>
          <p:cNvSpPr txBox="1"/>
          <p:nvPr/>
        </p:nvSpPr>
        <p:spPr>
          <a:xfrm>
            <a:off x="4389120" y="2505456"/>
            <a:ext cx="7205472" cy="512064"/>
          </a:xfrm>
          <a:prstGeom prst="rect">
            <a:avLst/>
          </a:prstGeom>
          <a:noFill/>
        </p:spPr>
        <p:txBody>
          <a:bodyPr wrap="square" lIns="45720" tIns="0" rIns="45720" bIns="0" anchor="ctr">
            <a:noAutofit/>
          </a:bodyPr>
          <a:lstStyle/>
          <a:p>
            <a:pPr algn="l"/>
            <a:r>
              <a:rPr lang="en-GB" sz="1600" dirty="0">
                <a:solidFill>
                  <a:srgbClr val="262626"/>
                </a:solidFill>
              </a:rPr>
              <a:t>the guided sampler is a soft realization, so it gives a rate, not a guarantee</a:t>
            </a:r>
          </a:p>
        </p:txBody>
      </p:sp>
      <p:sp>
        <p:nvSpPr>
          <p:cNvPr id="17" name="Label"/>
          <p:cNvSpPr txBox="1"/>
          <p:nvPr/>
        </p:nvSpPr>
        <p:spPr>
          <a:xfrm>
            <a:off x="640080" y="3090672"/>
            <a:ext cx="3657600" cy="512064"/>
          </a:xfrm>
          <a:prstGeom prst="rect">
            <a:avLst/>
          </a:prstGeom>
          <a:noFill/>
        </p:spPr>
        <p:txBody>
          <a:bodyPr wrap="square" lIns="45720" tIns="0" rIns="45720" bIns="0" anchor="ctr">
            <a:noAutofit/>
          </a:bodyPr>
          <a:lstStyle/>
          <a:p>
            <a:pPr algn="l"/>
            <a:r>
              <a:rPr lang="en-GB" sz="1700" b="1" dirty="0">
                <a:solidFill>
                  <a:srgbClr val="262626"/>
                </a:solidFill>
              </a:rPr>
              <a:t>Sampled-state semantics</a:t>
            </a:r>
          </a:p>
        </p:txBody>
      </p:sp>
      <p:sp>
        <p:nvSpPr>
          <p:cNvPr id="18" name="Label"/>
          <p:cNvSpPr txBox="1"/>
          <p:nvPr/>
        </p:nvSpPr>
        <p:spPr>
          <a:xfrm>
            <a:off x="4389120" y="3090672"/>
            <a:ext cx="7205472" cy="512064"/>
          </a:xfrm>
          <a:prstGeom prst="rect">
            <a:avLst/>
          </a:prstGeom>
          <a:noFill/>
        </p:spPr>
        <p:txBody>
          <a:bodyPr wrap="square" lIns="45720" tIns="0" rIns="45720" bIns="0" anchor="ctr">
            <a:noAutofit/>
          </a:bodyPr>
          <a:lstStyle/>
          <a:p>
            <a:pPr algn="l"/>
            <a:r>
              <a:rPr lang="en-GB" sz="1600" dirty="0">
                <a:solidFill>
                  <a:srgbClr val="262626"/>
                </a:solidFill>
              </a:rPr>
              <a:t>robustness does not constrain the path between two sampled states</a:t>
            </a:r>
          </a:p>
        </p:txBody>
      </p:sp>
      <p:sp>
        <p:nvSpPr>
          <p:cNvPr id="19" name="Label"/>
          <p:cNvSpPr txBox="1"/>
          <p:nvPr/>
        </p:nvSpPr>
        <p:spPr>
          <a:xfrm>
            <a:off x="640080" y="3675888"/>
            <a:ext cx="3657600" cy="512064"/>
          </a:xfrm>
          <a:prstGeom prst="rect">
            <a:avLst/>
          </a:prstGeom>
          <a:noFill/>
        </p:spPr>
        <p:txBody>
          <a:bodyPr wrap="square" lIns="45720" tIns="0" rIns="45720" bIns="0" anchor="ctr">
            <a:noAutofit/>
          </a:bodyPr>
          <a:lstStyle/>
          <a:p>
            <a:pPr algn="l"/>
            <a:r>
              <a:rPr lang="en-GB" sz="1700" b="1" dirty="0">
                <a:solidFill>
                  <a:srgbClr val="262626"/>
                </a:solidFill>
              </a:rPr>
              <a:t>Requirement-neutral prior</a:t>
            </a:r>
          </a:p>
        </p:txBody>
      </p:sp>
      <p:sp>
        <p:nvSpPr>
          <p:cNvPr id="20" name="Label"/>
          <p:cNvSpPr txBox="1"/>
          <p:nvPr/>
        </p:nvSpPr>
        <p:spPr>
          <a:xfrm>
            <a:off x="4389120" y="3675888"/>
            <a:ext cx="7205472" cy="512064"/>
          </a:xfrm>
          <a:prstGeom prst="rect">
            <a:avLst/>
          </a:prstGeom>
          <a:noFill/>
        </p:spPr>
        <p:txBody>
          <a:bodyPr wrap="square" lIns="45720" tIns="0" rIns="45720" bIns="0" anchor="ctr">
            <a:noAutofit/>
          </a:bodyPr>
          <a:lstStyle/>
          <a:p>
            <a:pPr algn="l"/>
            <a:r>
              <a:rPr lang="en-GB" sz="1600" dirty="0">
                <a:solidFill>
                  <a:srgbClr val="262626"/>
                </a:solidFill>
              </a:rPr>
              <a:t>a modelling assumption, although demonstrations can retain task structure</a:t>
            </a:r>
          </a:p>
        </p:txBody>
      </p:sp>
      <p:sp>
        <p:nvSpPr>
          <p:cNvPr id="21" name="Label"/>
          <p:cNvSpPr txBox="1"/>
          <p:nvPr/>
        </p:nvSpPr>
        <p:spPr>
          <a:xfrm>
            <a:off x="640080" y="4261104"/>
            <a:ext cx="3657600" cy="512064"/>
          </a:xfrm>
          <a:prstGeom prst="rect">
            <a:avLst/>
          </a:prstGeom>
          <a:noFill/>
        </p:spPr>
        <p:txBody>
          <a:bodyPr wrap="square" lIns="45720" tIns="0" rIns="45720" bIns="0" anchor="ctr">
            <a:noAutofit/>
          </a:bodyPr>
          <a:lstStyle/>
          <a:p>
            <a:pPr algn="l"/>
            <a:r>
              <a:rPr lang="en-GB" sz="1700" b="1" dirty="0">
                <a:solidFill>
                  <a:srgbClr val="262626"/>
                </a:solidFill>
              </a:rPr>
              <a:t>Reproducibility</a:t>
            </a:r>
          </a:p>
        </p:txBody>
      </p:sp>
      <p:sp>
        <p:nvSpPr>
          <p:cNvPr id="22" name="Label"/>
          <p:cNvSpPr txBox="1"/>
          <p:nvPr/>
        </p:nvSpPr>
        <p:spPr>
          <a:xfrm>
            <a:off x="4389120" y="4261104"/>
            <a:ext cx="7205472" cy="512064"/>
          </a:xfrm>
          <a:prstGeom prst="rect">
            <a:avLst/>
          </a:prstGeom>
          <a:noFill/>
        </p:spPr>
        <p:txBody>
          <a:bodyPr wrap="square" lIns="45720" tIns="0" rIns="45720" bIns="0" anchor="ctr">
            <a:noAutofit/>
          </a:bodyPr>
          <a:lstStyle/>
          <a:p>
            <a:pPr algn="l"/>
            <a:r>
              <a:rPr lang="en-GB" sz="1600" dirty="0">
                <a:solidFill>
                  <a:srgbClr val="262626"/>
                </a:solidFill>
              </a:rPr>
              <a:t>runs with identical seeds agree on the satisfaction count in 27 of 28 cells and differ by one run in the other</a:t>
            </a:r>
          </a:p>
        </p:txBody>
      </p:sp>
      <p:sp>
        <p:nvSpPr>
          <p:cNvPr id="23" name="Label"/>
          <p:cNvSpPr txBox="1"/>
          <p:nvPr/>
        </p:nvSpPr>
        <p:spPr>
          <a:xfrm>
            <a:off x="640080" y="4846320"/>
            <a:ext cx="3657600" cy="512064"/>
          </a:xfrm>
          <a:prstGeom prst="rect">
            <a:avLst/>
          </a:prstGeom>
          <a:noFill/>
        </p:spPr>
        <p:txBody>
          <a:bodyPr wrap="square" lIns="45720" tIns="0" rIns="45720" bIns="0" anchor="ctr">
            <a:noAutofit/>
          </a:bodyPr>
          <a:lstStyle/>
          <a:p>
            <a:pPr algn="l"/>
            <a:r>
              <a:rPr lang="en-GB" sz="1700" b="1" dirty="0">
                <a:solidFill>
                  <a:srgbClr val="262626"/>
                </a:solidFill>
              </a:rPr>
              <a:t>Physical carry interval</a:t>
            </a:r>
          </a:p>
        </p:txBody>
      </p:sp>
      <p:sp>
        <p:nvSpPr>
          <p:cNvPr id="24" name="Label"/>
          <p:cNvSpPr txBox="1"/>
          <p:nvPr/>
        </p:nvSpPr>
        <p:spPr>
          <a:xfrm>
            <a:off x="4389120" y="4846320"/>
            <a:ext cx="7205472" cy="512064"/>
          </a:xfrm>
          <a:prstGeom prst="rect">
            <a:avLst/>
          </a:prstGeom>
          <a:noFill/>
        </p:spPr>
        <p:txBody>
          <a:bodyPr wrap="square" lIns="45720" tIns="0" rIns="45720" bIns="0" anchor="ctr">
            <a:noAutofit/>
          </a:bodyPr>
          <a:lstStyle/>
          <a:p>
            <a:pPr algn="l"/>
            <a:r>
              <a:rPr lang="en-GB" sz="1600" dirty="0">
                <a:solidFill>
                  <a:srgbClr val="262626"/>
                </a:solidFill>
              </a:rPr>
              <a:t>a proxy read from the gripper trace, longer than the planning horizon</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792d246-d363-40e2-82bc-6f0655128b68}" enabled="1" method="Standard" siteId="{372ee9e0-9ce0-4033-a64a-c07073a91ecd}" contentBits="0" removed="0"/>
</clbl:labelList>
</file>

<file path=docProps/app.xml><?xml version="1.0" encoding="utf-8"?>
<Properties xmlns="http://schemas.openxmlformats.org/officeDocument/2006/extended-properties" xmlns:vt="http://schemas.openxmlformats.org/officeDocument/2006/docPropsVTypes">
  <Template/>
  <TotalTime>281</TotalTime>
  <Words>10240</Words>
  <Application>Microsoft Office PowerPoint</Application>
  <PresentationFormat>Widescreen</PresentationFormat>
  <Paragraphs>1037</Paragraphs>
  <Slides>62</Slides>
  <Notes>53</Notes>
  <HiddenSlides>0</HiddenSlides>
  <MMClips>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Cambria Math</vt:lpstr>
      <vt:lpstr>Figtree</vt:lpstr>
      <vt:lpstr>Office-tema</vt:lpstr>
      <vt:lpstr>STL-FM: Trajectory Planning Through STL-Guided Flow Matching</vt:lpstr>
      <vt:lpstr>Agenda</vt:lpstr>
      <vt:lpstr>Motivation</vt:lpstr>
      <vt:lpstr>Requirements that change after training</vt:lpstr>
      <vt:lpstr>Problem</vt:lpstr>
      <vt:lpstr>Aim and research questions</vt:lpstr>
      <vt:lpstr>Approach</vt:lpstr>
      <vt:lpstr>Stating the requirement</vt:lpstr>
      <vt:lpstr>Signal Temporal Logic</vt:lpstr>
      <vt:lpstr>Robustness</vt:lpstr>
      <vt:lpstr>Learning the prior</vt:lpstr>
      <vt:lpstr>Flow matching</vt:lpstr>
      <vt:lpstr>Generation from noise</vt:lpstr>
      <vt:lpstr>Related work</vt:lpstr>
      <vt:lpstr>Guiding the prior</vt:lpstr>
      <vt:lpstr>Guided velocity field</vt:lpstr>
      <vt:lpstr>Guided velocity field</vt:lpstr>
      <vt:lpstr>Guided velocity field</vt:lpstr>
      <vt:lpstr>Guided velocity field</vt:lpstr>
      <vt:lpstr>Guided velocity field</vt:lpstr>
      <vt:lpstr>Guided velocity field</vt:lpstr>
      <vt:lpstr>Guided velocity field</vt:lpstr>
      <vt:lpstr>Guided velocity field</vt:lpstr>
      <vt:lpstr>Guided sampler</vt:lpstr>
      <vt:lpstr>Guided sampler</vt:lpstr>
      <vt:lpstr>Guided sampler</vt:lpstr>
      <vt:lpstr>Evaluating the plans</vt:lpstr>
      <vt:lpstr>Experimental setup</vt:lpstr>
      <vt:lpstr>Six requirement classes</vt:lpstr>
      <vt:lpstr>Logic satisfaction and time to satisfaction</vt:lpstr>
      <vt:lpstr>Arena excursion</vt:lpstr>
      <vt:lpstr>Underdetermination by robustness</vt:lpstr>
      <vt:lpstr>Cube manipulation</vt:lpstr>
      <vt:lpstr>Logic satisfaction and task success</vt:lpstr>
      <vt:lpstr>Conclusions</vt:lpstr>
      <vt:lpstr>Future work</vt:lpstr>
      <vt:lpstr>Franka Kitchen Benchmark</vt:lpstr>
      <vt:lpstr>Physical platform</vt:lpstr>
      <vt:lpstr>Thank you! </vt:lpstr>
      <vt:lpstr>PowerPoint Presentation</vt:lpstr>
      <vt:lpstr>Supplementary material</vt:lpstr>
      <vt:lpstr>Plausible samples that violate the requirement</vt:lpstr>
      <vt:lpstr>Comparison of approaches</vt:lpstr>
      <vt:lpstr>Requirements witnessed by one demonstration</vt:lpstr>
      <vt:lpstr>Sparsity of the robustness gradient</vt:lpstr>
      <vt:lpstr>Maximizers of a reach requirement</vt:lpstr>
      <vt:lpstr>Unbounded maximizers under avoidance</vt:lpstr>
      <vt:lpstr>Maximization over plausible trajectories</vt:lpstr>
      <vt:lpstr>Constant guidance strength</vt:lpstr>
      <vt:lpstr>Compilation and smoothing bias</vt:lpstr>
      <vt:lpstr>Steps of the guided sampler</vt:lpstr>
      <vt:lpstr>Reproducing the STL Optimizer</vt:lpstr>
      <vt:lpstr>Navigation results, all four planners</vt:lpstr>
      <vt:lpstr>Disjunction and until in navigation</vt:lpstr>
      <vt:lpstr>Robustness against budget</vt:lpstr>
      <vt:lpstr>Cube results, all three classes</vt:lpstr>
      <vt:lpstr>Logic satisfaction and task success per class</vt:lpstr>
      <vt:lpstr>Cube manipulation, sequence</vt:lpstr>
      <vt:lpstr>Cube manipulation, nested reach-and-dwell</vt:lpstr>
      <vt:lpstr>Cube manipulation, sequence with avoidance</vt:lpstr>
      <vt:lpstr>Roughness of guided plans</vt:lpstr>
      <vt:lpstr>Limitations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Gawtam Ramesh</cp:lastModifiedBy>
  <cp:revision>15</cp:revision>
  <dcterms:created xsi:type="dcterms:W3CDTF">2025-11-27T14:16:18Z</dcterms:created>
  <dcterms:modified xsi:type="dcterms:W3CDTF">2026-10-23T14:36:29Z</dcterms:modified>
</cp:coreProperties>
</file>