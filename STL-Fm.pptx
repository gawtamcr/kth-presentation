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2"/>
  </p:notesMasterIdLst>
  <p:sldIdLst>
    <p:sldId id="262"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4" autoAdjust="0"/>
    <p:restoredTop sz="68465" autoAdjust="0"/>
  </p:normalViewPr>
  <p:slideViewPr>
    <p:cSldViewPr snapToGrid="0">
      <p:cViewPr varScale="1">
        <p:scale>
          <a:sx n="28" d="100"/>
          <a:sy n="28" d="100"/>
        </p:scale>
        <p:origin x="1152" y="48"/>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2026-10-23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robot learns its motion from demonstrations. This thesis imposes a requirement on that learned motion afterwards, at inference, without retraining.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real cell from ABB.</a:t>
            </a:r>
          </a:p>
          <a:p>
            <a:endParaRPr lang="en-GB" dirty="0"/>
          </a:p>
          <a:p>
            <a:r>
              <a:rPr lang="en-GB" dirty="0"/>
              <a:t>At GE Healthcare in Helsinki a single-arm YuMi picks a prototype component from a jig, applies a bead of fast-setting glue that is hard to apply by hand, and returns the part. </a:t>
            </a:r>
          </a:p>
          <a:p>
            <a:endParaRPr lang="en-GB" dirty="0"/>
          </a:p>
          <a:p>
            <a:r>
              <a:rPr lang="en-GB" dirty="0"/>
              <a:t>The prototypes change on a rapid schedule. </a:t>
            </a:r>
          </a:p>
          <a:p>
            <a:endParaRPr lang="en-GB" dirty="0"/>
          </a:p>
          <a:p>
            <a:r>
              <a:rPr lang="en-GB" dirty="0"/>
              <a:t>The customer's own words: even in half an hour they can get major changes done to the code. Every change of the product or the process requires a change of the program. </a:t>
            </a:r>
          </a:p>
          <a:p>
            <a:endParaRPr lang="en-GB" dirty="0"/>
          </a:p>
          <a:p>
            <a:r>
              <a:rPr lang="en-GB" dirty="0"/>
              <a:t>[ABB customer story, IRB 14050 at GE Healthcare]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such a cell works today. The motion is taught or programmed once and replayed exactly, run after run, and every run seats the part inside the adhesive's open time. [Click] A faster-curing adhesive shortens the open time. The same program now seats the part too late. [Click] An engineer changes the timing in the code. [Click] The bead is laid at a different position. The same program places the part off the bead. [Click] An engineer changes the path in the code. [Click] Each change of product or process requires a code change, because the requirements, when to seat and where, are not stated explicitly, and the program encodes them only implicitly. [§1.1; ABB customer story]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three ways to obtain the motion. </a:t>
            </a:r>
          </a:p>
          <a:p>
            <a:endParaRPr lang="en-GB" dirty="0"/>
          </a:p>
          <a:p>
            <a:r>
              <a:rPr lang="en-GB" dirty="0"/>
              <a:t>One: program it. One motion, coded by hand, and every change is a code change, as on the previous slide. </a:t>
            </a:r>
          </a:p>
          <a:p>
            <a:endParaRPr lang="en-GB" dirty="0"/>
          </a:p>
          <a:p>
            <a:r>
              <a:rPr lang="en-GB" dirty="0"/>
              <a:t>[Click] Two: record demonstrations instead, and train a network on them. Ordinary regression predicts the most likely motion for each state; it generalizes to states near the demonstrations, but it returns a single trajectory, and the same input returns the same trajectory every time. It also blends distinct demonstrated motions into an average. </a:t>
            </a:r>
          </a:p>
          <a:p>
            <a:endParaRPr lang="en-GB" dirty="0"/>
          </a:p>
          <a:p>
            <a:r>
              <a:rPr lang="en-GB" dirty="0"/>
              <a:t>[Click] Three: a generative model represents the distribution of plausible motions, and two draws give two different, plausible trajectories. The method depends on this property, because selection by a requirement stated after training is possible only where alternatives exist. Here a zone stated after training rules out three samples and leaves five. [§3.3.1; ALVINN, Ross et al.; §1.4]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states the timing explicitly. In a load-and-bond cell the robot seats a component on an adhesive bead. It must seat within the adhesive's open time, hold for a minimum duration, and keep clear of the operator's side. Left, samples of a model trained on demonstrations. The same samples satisfy the requirement for one adhesive and violate it for another. The window and the hold depend on the adhesive, so they can change after the demonstrations are recorded. [§1.1, eq. 1.1]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demonstration records the instant of seating, not the required window: it witnesses that the requirement can be satisfied without determining it. A model trained on demonstrations alone has no input for the requirement, so a sample can seat too late and still end on the housing, and a benchmark that judges the final state counts it as a success. [Click] The problem: given demonstrations recorded before training and a requirement stated after it, generate a trajectory that is plausible under the demonstrations and satisfies the requirement, without retraining. Training-time conditioning, such as TeLoGraF, learns the requirement from paired data and degrades outside its training distribution. [§1.1, §1.2, Problem 4.1]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aim, from Section 1.3: a method for imposing STL requirements on a trained generative model at inference time. Section 1.2 identifies two open questions, which concern the requirement itself rather than the performance of a planner: whether a demonstration determines the requirement, and whether the robustness score alone determines a trajectory. The first two contributions answer them by proof (Chapter 4, Appendix A). The third contribution is the method, STL-FM, which guides the learned prior, an unconditional model trained once by flow matching, by the gradient of STL robustness at one constant strength, evaluated in Chapter 5. [§1.2, §1.3]</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trained model is called the learned prior, because it provides the motion the requirement does not specify. The prior is trained once, offline, on demonstrations. Each requirement is compiled into a robustness score at inference. The guided sampler combines the two into a plan, which a controller executes. The bar at the top of each slide shows the section. [§1.3, Fig. 5.1]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how the requirement is written and how it is scored.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Signal Temporal Logic expresses time bounds over real-valued signals, such as a robot trajectory. [Click] Eventually, the diamond, means at some instant of its window. Always, the box, means at every instant. The requirement says: at some instant in [a, b] the part becomes seated and stays seated for d, and at every instant the robot stays out of the operator zone. [Click] The requirement bounds only the timing of the seating and the region to avoid. The grasp, the approach and the rest of the motion are hard to write as a formula and are learned from the demonstrations. [§1.1, eq. 1.1; §3.2]</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fragment of Remark rem:fragment. A predicate is a margin function of the state that is non-negative when the predicate holds, for example the part within a tolerance of the seat. Negation, conjunction and the two bounded temporal operators build every requirement evaluated in the thesis. Disjunction and until are compiled but not evaluated. [§3.2; Remark rem:fragment; §1.4]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replaces the Boolean verdict with a real number, defined by recursion over the formula. A predicate gives its margin h, negation changes the sign, conjunction and always take a minimum, eventually a maximum over its window. Soundness: a positive score certifies satisfaction. Below, three executions in the cell. (a) The part is seated inside the window and held, so the margin is positive. (b) At the end of the window the part is still 8.6 cm from the seat. (c) The robot crosses 6 cm into the operator zone. The margin is a distance, in the units of the predicate, not a time. [§3.2, def:robustness, eq:robustness-sound]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exact min and max have a gradient on a single argument. With the exact semantics the gradient acts on a single waypoint, here the state at the end of the open time. Log-sum-exp replaces max and min, and at sharpness kappa = 10 in the experiments it spreads the gradient over a few neighbouring waypoints. The formula is compiled by recursion over its syntax tree into this differentiable score, with no learned component, so a new requirement requires only a new syntax tree. The smoothed score is sound only up to a margin, so satisfaction is always scored exactly. Implementation: stljax, the JAX library of STLCG++. [§3.2.3, eq:logsumexp; §4.2, alg:build-rho, prop:smoothing-bias]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Second, the learned prior that generates the motion.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[Click to play] A point of this space is a whole trajectory. Flow matching trains a velocity field v_theta by regression onto the straight-line target tau_1 minus tau_0, from noise to data. Sampling integrates the field from s = 0 to s = 1, here in K = 64 Euler steps. The density deforms from one Gaussian into two modes, two plausible behaviours, here passing a fixture on either side. The prior is unconditional, trained once on demonstrations, and its only conditioning is the start state. [§3.3, def:fm, eq:fm-loss, eq:fm-ode-bg, Fig. 3.1; §5.1.1]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[Click to play] Generation from noise, applied to a robot trajectory. This clip shows a diffusion model. Flow matching produces the same kind of result along straight-line paths. The prior used here is unconditional, trained once on demonstrations, and its only conditioning is the start state. [§3.3; §5.1.1]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Forty demonstrations and forty prior samples from the same start states, with no requirement imposed. The prior reproduces the extent of the demonstrated motion and the spread of the endpoints, and it has no input for any requirement. If asked: the prior samples are rougher than the demonstrations, a median turn angle of 6.4 against 0.6 degrees. [§5.2, fig:nav-data-prior]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Previous work differs in where the requirement enters. Training-time conditioning, such as TeLoGraF, learns the requirement from paired data and degrades outside the conditioning distribution. Decompose-and-stitch, such as ZSTP, splits the formula into timed waypoints before generation and fixes each operator's timing in advance. Trajectory optimization uses robustness with a known dynamics model, specified by hand. Safe-set enforcement, such as SafeDiffuser, keeps samples in a time-invariant safe set, which expresses no dwell or order. STL-FM belongs to inference-time robustness guidance, with CTG. Unlike CTG, it guides a flow-matching prior, whose velocity is bounded, so one constant strength is well posed where diffusion needs a schedule. It also evaluates long-horizon dwell, sequence and avoidance, including nested operators. [Ch. 2, §2.7]</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table compares each approach by where the requirement enters and by what determines the rest of the motion. Trajectory optimization and control synthesis with barrier functions represent the requirement explicitly, as STL-FM does, and the dynamics model and costs determine what the score leaves free; the barrier-function formulation of Lindemann and Dimarogonas also conjoins a boundedness clause to the requirement, and later work extends it to disjunctions and nested operators. Training-time conditioning learns the requirement from requirement-demonstration pairs. Decompose-and-stitch fixes the timing of each operator before generation. Safe-set enforcement gives an invariance certificate, but for a time-invariant safe set. CTG shares the guidance mechanism, on a diffusion model. STL-FM takes the rest of the motion from a learned prior, at one constant strength, and gives no certificate; a barrier-based tracker could execute an STL-FM plan, which is future work. [Ch. 2: rw-modelbased, rw-guidance, rw-decompose, rw-conditioning, rw-constraints, positioning]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Third, the guided sampler that combines the learned prior with the robustness score.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sampler integrates the guided velocity from the same Gaussian start as the prior. The prior velocity moves the iterate toward trajectories likely under the learned prior. The requirement term moves it toward satisfaction. The gradient is taken of a penalized objective, the robustness minus a small finite-difference smoothness penalty, masked to the position coordinates, and normalized to unit length, so lambda_0 is a step size that transfers across requirements. This is a soft realization of the constrained problem, not a solution with a certificate. [§4.3, eq:guided-velocity; §4.5, eq:smoothness-penalty, eq:grad-normalize]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step of the sampler. Early in the flow the iterate is mostly noise, and the gradient of its robustness points in a direction unrelated to any plausible trajectory. The predicted endpoint is the prior's running estimate of the finished trajectory, obtained from the straight-line path. The requirement is scored on that estimate, and the gradient is taken with respect to it, not through the network. Then mask and normalize, take a constant-strength Euler step, and re-pin the start state. [§4.4, eq:predicted-endpoint; §4.7, alg:guided-ode]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the evaluation: what the plans satisfy, and what their executions achieve.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settings. Planar navigation: 100 runs per class on one fixed instance per class, plans only. Cube manipulation in OGBench: 10 runs per class on three classes, each plan executed in the simulator. Each baseline differs from STL-FM in one component. The endpoint-inpaint planner replaces the requirement by a pinned endpoint instead of the robustness gradient. The requirement-only optimizer keeps the requirement and removes the prior; it descends the violation penalty with a smoothness penalty and a velocity limit. A fourth planner, STL-FM with endpoint pin, differs from STL-FM in satisfaction rate by at most 0.05 on any class. [§5.1.2-5.1.3, tab:families, tab:planners]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Logic satisfaction is the fraction of plans with positive robustness under the exact semantics, which certifies that the plan satisfies the requirement by soundness. Task success is decided by the environment on the executed trajectory: a proportional controller tracks the planned effector, and a gripper state machine follows the plan. The two do not coincide, so they are reported separately. The requirement instance is fixed within a class, so a rate measures reliability on that instance under the planner's own randomness, not generalization across scenes. [§5.1.4, rem:fixed-instance]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same prior and the same lambda_0 for all six classes. A new requirement requires only a new syntax tree. Satisfaction rates of STL-FM: reach 0.96, nested reach-and-dwell 1.00, recurrence 0.98, sequence 0.89, sequence with avoidance 0.89, composite 0.78. A sweep of one requirement's own parameters is future work, so this does not test adaptation to a changed parameter. If asked about roughness: on nested reach-and-dwell 47 percent of turns exceed a right angle. [tab:families; tab:openloop; §4.2; §6.1; §7.2]</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Over 100 runs per class. </a:t>
            </a:r>
          </a:p>
          <a:p>
            <a:endParaRPr lang="en-GB" dirty="0"/>
          </a:p>
          <a:p>
            <a:r>
              <a:rPr lang="en-GB" dirty="0"/>
              <a:t>The endpoint-inpaint planner satisfies reach on every run and no other class on any run: the pin fixes the end, and the prior generates the remainder of the trajectory, which contains no dwell, order or avoidance. </a:t>
            </a:r>
          </a:p>
          <a:p>
            <a:endParaRPr lang="en-GB"/>
          </a:p>
          <a:p>
            <a:r>
              <a:rPr lang="en-GB"/>
              <a:t>STL-FM </a:t>
            </a:r>
            <a:r>
              <a:rPr lang="en-GB" dirty="0"/>
              <a:t>satisfies the five history-dependent classes at 0.78 to 1.00. The requirement-only optimizer satisfies every class on every run, so satisfaction alone does not separate it from STL-FM. Evidence about the prior must come from other properties of the plans. Plan time: 0.71 s for STL-FM, 20.14 s for the requirement-only optimizer. [tab:openloop, tab:anytime, §6.1]</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requirement-only optimizer removes the prior and optimizes robustness directly. It descends the violation penalty with a smoothness penalty and a velocity limit. It satisfies every requirement class on every run. On sequence with avoidance every one of its plans leaves the arena, at a median largest coordinate of 10.27 against a half-width of 5.0. The excursion lies at steps 31 to 63, which no reach window covers. Deleting the avoidance conjuncts leaves the plans outside the arena, so the avoidance conjuncts do not cause the excursion. Plans that use the prior cross the arena edge in at most 4 of 100 runs, by at most 0.10. [§5.1.3; §5.2.2; §6.1; app:noobs-ablation]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is computed from a few predicate evaluations combined by min and max. A formula with m predicate occurrences is determined by at most m waypoints, and m is between 1 and 5 here, against horizons of 64 to 256. Under the exact semantics the gradient is zero at every other waypoint, and the score is flat along a subspace of dimension at least (H - m) d. At steps that only avoidance constrains, the set of maximizers is unbounded. A planner guided by robustness therefore needs a component besides the requirement to determine the rest of the trajectory. Here that is the learned prior. Its contribution is measured, not assumed, because the prior does not meet the idealized conditions of Theorem thm:prior-resolves. [Contribution 2; §4.1.1; prop:sparse-gradient, prop:no-maximizer; rem:prior-idealization]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OGBench single cube. The prior generates the effector and the cube position over 128 steps, so the requirement and the environment's success criterion refer to the same cube. Place is a 4 cm ball about the target, the environment's own tolerance; pick holds when the effector is within 5 cm of the cube. [Click to play] A proportional controller tracks the effector and a gripper state machine follows the plan. STL-FM completes 10 of 30 runs, the requirement-only optimizer none, Fisher exact test p = 0.0008. The endpoint-inpaint planner completes 1. [§5.3, tab:closedloop]</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carry gap is the mean distance between the effector and the cube over the steps in which the planned cube moves. Planned effector paths are solid and planned cube paths dashed, sequence class, all ten runs. The requirement-only plans satisfy the requirement at the largest margin the place predicate admits, +0.40. The planned cube crosses the table in near-straight lines while the planned effector departs upward. [Click to play] Executed, the arm never reaches the cube. Carry gap 12.5 cm against 6.9 cm for STL-FM, Mann-Whitney p &lt; 1e-6. The requirement has no clause that the cube moves only when carried. The prior provides that property, because no demonstration contains a cube moving without contact. [§5.3, fig:closedloop-sequence, §6.1]</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Left, pooled over the three classes. Right, STL-FM per class. On nested reach-and-dwell STL-FM satisfies the requirement in 1 of 10 runs and completes the task in 9. The requirement constrains the grasp and the placement to hold over windows that close by step 30, whereas success requires only that the cube arrive. On sequence it satisfies 10 of 10 and completes 1. A requirement written on the generated variables constrains only those variables. The kitchen study shows the same gap more strongly (backup). [tab:closedloop, §6.2]</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 to the two questions. RQ1: a demonstration witnesses a requirement without determining it, so the requirement is stated as a formula and the demonstrations provide plausibility. RQ2: the robustness score alone does not determine a trajectory; its gradient acts on a few waypoints and its maximizers are unbounded where only avoidance applies. The learned prior provides the rest of the trajectory, as the navigation excursion and the cube carry gap show, and its contribution is not smoothness. The method: STL-FM guides the learned prior at one constant strength, without retraining, and covers nested and recurrent operators. Finally, satisfying the requirement on the plan is not completing the task: a requirement written on the generated variables constrains only those variables. STL-FM is a soft realization without a certificate. [§7.1; §6.1-6.3]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a differentiable dynamics or world model, so that a requirement can be written on contact, an object's pose or a hinge angle and constrain the executed behaviour. In the kitchen study under the complete-v2 prior every plan satisfies the requirement, and no execution does. Second, completion of the physical study: the GoFA prior is trained and the requirement compiled, but no plan has been executed. Third, a sweep of a requirement's own parameters with the prior held fixed, such as the open time or the dwell, which tests adaptation without retraining directly. Fourth, a barrier-filtered controller paired with the planner, for an execution-time guarantee. Fifth, an evaluation of disjunction and until. [§7.2; §2.6]</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Backup for the problem slide. The demonstrations record the instant of seating. Samples of the learned prior can satisfy the window, seat too late, or release too early, and still end with the component on the housing. [§1.1, Fig. 1.1(b)]</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Contribution 1, RQ1. Any trajectory witnesses uncountably many requirements, ordered from 'do exactly this' to 'do anything', so no map from one demonstration to a requirement is determined by its argument. The requirement is therefore stated, not inferred. [App. A, prop:witness-underdetermines]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Contribution 2, RQ2, first half. Under the exact semantics the gradient is supported on at most m active waypoints, and the score is flat along a subspace of dimension at least (H - m) d. [App. A, prop:sparse-gradient]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Contribution 2, RQ2, second half. Pure safety has no maximizer; with a reach conjunct the maximizers exist but are unbounded at time indices covered only by avoidance. In neither case does the requirement bound the trajectory. Control-synthesis formulations obtain the bound from the dynamics and costs, or conjoin a boundedness clause (Lindemann and Dimarogonas 2019). [App. A, prop:no-maximizer; §2.2]</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Under idealized conditions, a compact manifold of plausible trajectories, the constrained problem attains its maximum and its maximizers are isolated. The learned prior meets neither hypothesis (Remark rem:prior-idealization), so the contribution of the prior is measured in Chapter 5, not assumed. [App. A, thm:prior-resolves]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one constant strength is well posed. The diffusion score grows like 1 over sigma_t squared as the noise vanishes, so a constant guidance weight has an influence that varies with the noise level, and diffusion guidance needs a schedule. Under the straight-line path the flow-matching target is tau_1 minus tau_0, of order one at every flow time, and the conditioned gradient has unit norm, so the guided velocity is bounded uniformly in s. One lambda_0 therefore has the same meaning throughout the flow. The thesis says well posed, not that a constant suffices in every setting. The same lambda_0 = 50 is used in navigation and cube without retuning. [eq:tweedie; §3.3; §4.6, eq:guided-bounded; tab:diffusion-vs-fm]</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compilation is a post-order traversal of the syntax tree with no learned component. Smoothing replaces min and max by log-sum-exp; the bias is bounded by log n over kappa per node, and soundness is recovered exactly as kappa grows. kappa = 10 in the experiments, and satisfaction is scored with the exact semantics. [§4.2, alg:build-rho, prop:smoothing-bias]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Algorithm 2 in full. Line 5, predicted endpoint; line 6, penalized requirement gradient; line 7, mask and normalize; line 8, constant-strength update; lines 9 to 10, optional clamp, off in all reported runs; line 13, re-pin the start. [§4.7, alg:guided-ode]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Table 5.4: satisfaction and mean robustness over 100 runs; a star marks entries whose plans all leave the arena. Table 5.5: when each planner first satisfies and when it does best, and the wall-clock plan time. STL-FM with endpoint pin differs from STL-FM by at most 0.05. [tab:openloop, tab:anytime]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Table 5.6: sat is logic satisfaction on the plan, task is success on the rollout, gap the mean carry gap. The pooled gap row of the table reads 0.64, 0.69 and 1.25, whereas the class rows are in centimetres and the text gives pooled medians of 12.5 and 6.9 cm. [tab:closedloop]</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D4RL kitchen. The requirement: open the microwave within steps 60 to 130, then move the kettle onto its burner within 140 to 230, with predicates on the fixtures' own state at the environment's tolerance. Two priors, complete-v2 and mixed, and two planners, the unguided prior and STL-FM, 20 runs each. Under complete-v2 every plan satisfies the requirement under both planners, because the demonstrations operate the fixtures in the required order, so guidance performs no selection. Under mixed, 6 of 20 without and 2 of 20 with guidance, Fisher p = 0.235, no effect detected. No execution satisfies the requirement: the planned microwave crosses the threshold in every complete-v2 plan, the executed one in none. The prior generates the state, not the actions that produce it. [§5.4, tab:kitchen, §6.2]</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ABB GoFA CRB 15000-12/1.27 with a parallel gripper. Five door-opening demonstrations of 894 to 1872 frames at 15 fps. The prior generates six joint angles and the gripper state over 128 steps. The carry requirement states that between grasp and release the tool must not rotate by more than 5 degrees about any axis, compiled through differentiable forward kinematics. No recorded demonstration satisfies it. Distance to the demonstration falls from 0.451 to 0.315 in the first 10,000 steps and then stays flat; only smoothness keeps improving; diversity falls about sevenfold, measured on four samples per checkpoint. No plan has been executed on the robot. The carry interval is a proxy read from the gripper trace. [§5.5, tab:gofa-checkpoints, §6.3]</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Moving steps are steps longer than 0.05 world units. The prior does not reproduce the smoothness of its demonstrations, and guidance raises the turn angle on nested reach-and-dwell, where nearly half the turns exceed a right angle. On sequence and sequence with avoidance the guided plans are no rougher than the prior. The requirement-only optimizer is smoother than the demonstrations because of its hand-specified smoothness penalty. Two explanations remain open, and the thesis does not distinguish them. The evidence for the contribution of the prior is the cube carry gap and the navigation excursion. [§5.2, §6.1]</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limitations as stated in §6.3, one line each.</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2026-10-23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2026-10-23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2026-10-23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2026-10-23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2026-10-23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2026-10-23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35.xml"/><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5.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35.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image" Target="../media/image3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35.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3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35.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35.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35.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35.xml"/><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image" Target="../media/image64.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6.xml"/><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8.xml"/><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9.xml"/><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0.xml"/><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1.xml"/><Relationship Id="rId1" Type="http://schemas.openxmlformats.org/officeDocument/2006/relationships/slideLayout" Target="../slideLayouts/slideLayout35.xml"/><Relationship Id="rId4" Type="http://schemas.openxmlformats.org/officeDocument/2006/relationships/image" Target="../media/image74.png"/></Relationships>
</file>

<file path=ppt/slides/_rels/slide4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2.xml"/><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3.xml"/><Relationship Id="rId1" Type="http://schemas.openxmlformats.org/officeDocument/2006/relationships/slideLayout" Target="../slideLayouts/slideLayout35.xml"/><Relationship Id="rId4" Type="http://schemas.openxmlformats.org/officeDocument/2006/relationships/image" Target="../media/image77.png"/></Relationships>
</file>

<file path=ppt/slides/_rels/slide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4.xml"/><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35.xml"/><Relationship Id="rId5" Type="http://schemas.openxmlformats.org/officeDocument/2006/relationships/image" Target="../media/image80.png"/><Relationship Id="rId4" Type="http://schemas.openxmlformats.org/officeDocument/2006/relationships/image" Target="../media/image79.png"/></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6.xml"/><Relationship Id="rId1" Type="http://schemas.openxmlformats.org/officeDocument/2006/relationships/slideLayout" Target="../slideLayouts/slideLayout35.xml"/><Relationship Id="rId5" Type="http://schemas.openxmlformats.org/officeDocument/2006/relationships/image" Target="../media/image83.png"/><Relationship Id="rId4" Type="http://schemas.openxmlformats.org/officeDocument/2006/relationships/image" Target="../media/image82.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ctrTitle"/>
          </p:nvPr>
        </p:nvSpPr>
        <p:spPr>
          <a:xfrm>
            <a:off x="914400" y="3063240"/>
            <a:ext cx="10360152" cy="1143000"/>
          </a:xfrm>
        </p:spPr>
        <p:txBody>
          <a:bodyPr/>
          <a:lstStyle/>
          <a:p>
            <a:r>
              <a:rPr lang="en-GB" sz="3200" dirty="0"/>
              <a:t>STL-FM: Trajectory Planning Through </a:t>
            </a:r>
            <a:br>
              <a:rPr lang="en-GB" sz="3200" dirty="0"/>
            </a:br>
            <a:r>
              <a:rPr lang="en-GB" sz="3200" dirty="0"/>
              <a:t>STL-Guided Flow Matching</a:t>
            </a:r>
          </a:p>
        </p:txBody>
      </p:sp>
      <p:sp>
        <p:nvSpPr>
          <p:cNvPr id="12" name="Thesis subtitle"/>
          <p:cNvSpPr txBox="1"/>
          <p:nvPr/>
        </p:nvSpPr>
        <p:spPr>
          <a:xfrm>
            <a:off x="914400" y="4224528"/>
            <a:ext cx="10360152" cy="365760"/>
          </a:xfrm>
          <a:prstGeom prst="rect">
            <a:avLst/>
          </a:prstGeom>
          <a:noFill/>
        </p:spPr>
        <p:txBody>
          <a:bodyPr wrap="square" lIns="45720" tIns="0" rIns="45720" bIns="0" anchor="t">
            <a:noAutofit/>
          </a:bodyPr>
          <a:lstStyle/>
          <a:p>
            <a:pPr algn="ctr"/>
            <a:r>
              <a:rPr lang="en-GB" sz="1900" dirty="0">
                <a:solidFill>
                  <a:srgbClr val="DEF0FF"/>
                </a:solidFill>
              </a:rPr>
              <a:t>Imposing temporal requirements on a generative motion prior at inference time</a:t>
            </a:r>
          </a:p>
        </p:txBody>
      </p:sp>
      <p:sp>
        <p:nvSpPr>
          <p:cNvPr id="13" name="Subtitle"/>
          <p:cNvSpPr>
            <a:spLocks noGrp="1"/>
          </p:cNvSpPr>
          <p:nvPr>
            <p:ph type="subTitle" idx="1"/>
          </p:nvPr>
        </p:nvSpPr>
        <p:spPr>
          <a:xfrm>
            <a:off x="2130552" y="4754880"/>
            <a:ext cx="7927848" cy="384048"/>
          </a:xfrm>
        </p:spPr>
        <p:txBody>
          <a:bodyPr/>
          <a:lstStyle/>
          <a:p>
            <a:r>
              <a:rPr lang="en-GB" sz="2000" dirty="0"/>
              <a:t>Gawtam Chithra Ramesh</a:t>
            </a:r>
          </a:p>
        </p:txBody>
      </p:sp>
      <p:sp>
        <p:nvSpPr>
          <p:cNvPr id="14" name="Credits"/>
          <p:cNvSpPr txBox="1"/>
          <p:nvPr/>
        </p:nvSpPr>
        <p:spPr>
          <a:xfrm>
            <a:off x="2130552" y="5230368"/>
            <a:ext cx="7927848" cy="1005840"/>
          </a:xfrm>
          <a:prstGeom prst="rect">
            <a:avLst/>
          </a:prstGeom>
          <a:noFill/>
        </p:spPr>
        <p:txBody>
          <a:bodyPr wrap="square" lIns="45720" tIns="0" rIns="45720" bIns="0" anchor="t">
            <a:noAutofit/>
          </a:bodyPr>
          <a:lstStyle/>
          <a:p>
            <a:pPr algn="ctr"/>
            <a:r>
              <a:rPr lang="en-GB" sz="1300" dirty="0">
                <a:solidFill>
                  <a:srgbClr val="FFFFFF"/>
                </a:solidFill>
              </a:rPr>
              <a:t>Master’s thesis, carried out at ABB Robotics</a:t>
            </a:r>
          </a:p>
          <a:p>
            <a:pPr algn="ctr"/>
            <a:r>
              <a:rPr lang="en-GB" sz="1300" dirty="0">
                <a:solidFill>
                  <a:srgbClr val="FFFFFF"/>
                </a:solidFill>
              </a:rPr>
              <a:t>Examiner: Dimos V. Dimarogonas</a:t>
            </a:r>
          </a:p>
          <a:p>
            <a:pPr algn="ctr"/>
            <a:r>
              <a:rPr lang="en-GB" sz="1300" dirty="0">
                <a:solidFill>
                  <a:srgbClr val="FFFFFF"/>
                </a:solidFill>
              </a:rPr>
              <a:t>Supervisors: Luzia Knödler, Shaohang Han, Matthew Lock and Jonathan Styrud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Adhesive bonding with an ABB YuMi</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2</a:t>
            </a:fld>
            <a:endParaRPr lang="en-GB"/>
          </a:p>
        </p:txBody>
      </p:sp>
      <p:pic>
        <p:nvPicPr>
          <p:cNvPr id="14" name="Figure" descr="Single-arm YuMi holding a part under a glue dispenser"/>
          <p:cNvPicPr>
            <a:picLocks noChangeAspect="1"/>
          </p:cNvPicPr>
          <p:nvPr/>
        </p:nvPicPr>
        <p:blipFill>
          <a:blip r:embed="rId3"/>
          <a:stretch>
            <a:fillRect/>
          </a:stretch>
        </p:blipFill>
        <p:spPr>
          <a:xfrm>
            <a:off x="8555029" y="1874520"/>
            <a:ext cx="2714134" cy="4069080"/>
          </a:xfrm>
          <a:prstGeom prst="rect">
            <a:avLst/>
          </a:prstGeom>
        </p:spPr>
      </p:pic>
      <p:sp>
        <p:nvSpPr>
          <p:cNvPr id="15" name="Label"/>
          <p:cNvSpPr txBox="1"/>
          <p:nvPr/>
        </p:nvSpPr>
        <p:spPr>
          <a:xfrm>
            <a:off x="8280709" y="5998464"/>
            <a:ext cx="3262774" cy="365760"/>
          </a:xfrm>
          <a:prstGeom prst="rect">
            <a:avLst/>
          </a:prstGeom>
          <a:noFill/>
        </p:spPr>
        <p:txBody>
          <a:bodyPr wrap="square" lIns="45720" tIns="0" rIns="45720" bIns="0" anchor="t">
            <a:noAutofit/>
          </a:bodyPr>
          <a:lstStyle/>
          <a:p>
            <a:pPr algn="ctr"/>
            <a:r>
              <a:rPr lang="en-GB" sz="1100" dirty="0">
                <a:solidFill>
                  <a:srgbClr val="6E6E6E"/>
                </a:solidFill>
              </a:rPr>
              <a:t>Photo and quote: ABB customer story,</a:t>
            </a:r>
          </a:p>
          <a:p>
            <a:pPr algn="ctr"/>
            <a:r>
              <a:rPr lang="en-GB" sz="1100" dirty="0">
                <a:solidFill>
                  <a:schemeClr val="tx1">
                    <a:lumMod val="50000"/>
                    <a:lumOff val="50000"/>
                  </a:schemeClr>
                </a:solidFill>
              </a:rPr>
              <a:t>IRB 14050 at </a:t>
            </a:r>
            <a:r>
              <a:rPr lang="en-GB" sz="1100" dirty="0">
                <a:solidFill>
                  <a:srgbClr val="6E6E6E"/>
                </a:solidFill>
              </a:rPr>
              <a:t>GE Healthcare, Helsinki</a:t>
            </a:r>
          </a:p>
        </p:txBody>
      </p:sp>
      <p:sp>
        <p:nvSpPr>
          <p:cNvPr id="16" name="Label"/>
          <p:cNvSpPr txBox="1"/>
          <p:nvPr/>
        </p:nvSpPr>
        <p:spPr>
          <a:xfrm>
            <a:off x="603504" y="2103120"/>
            <a:ext cx="7315200" cy="868680"/>
          </a:xfrm>
          <a:prstGeom prst="rect">
            <a:avLst/>
          </a:prstGeom>
          <a:noFill/>
        </p:spPr>
        <p:txBody>
          <a:bodyPr wrap="square" lIns="45720" tIns="0" rIns="45720" bIns="0" anchor="t">
            <a:noAutofit/>
          </a:bodyPr>
          <a:lstStyle/>
          <a:p>
            <a:pPr algn="l"/>
            <a:r>
              <a:rPr lang="en-GB" sz="2000" dirty="0">
                <a:solidFill>
                  <a:srgbClr val="262626"/>
                </a:solidFill>
              </a:rPr>
              <a:t>A single-arm YuMi applies a bead of fast-setting glue</a:t>
            </a:r>
          </a:p>
          <a:p>
            <a:pPr algn="l"/>
            <a:r>
              <a:rPr lang="en-GB" sz="2000" dirty="0">
                <a:solidFill>
                  <a:srgbClr val="262626"/>
                </a:solidFill>
              </a:rPr>
              <a:t>to a prototype part.</a:t>
            </a:r>
          </a:p>
        </p:txBody>
      </p:sp>
      <p:sp>
        <p:nvSpPr>
          <p:cNvPr id="17" name="Label"/>
          <p:cNvSpPr txBox="1"/>
          <p:nvPr/>
        </p:nvSpPr>
        <p:spPr>
          <a:xfrm>
            <a:off x="603504" y="3108960"/>
            <a:ext cx="7315200" cy="868680"/>
          </a:xfrm>
          <a:prstGeom prst="rect">
            <a:avLst/>
          </a:prstGeom>
          <a:noFill/>
        </p:spPr>
        <p:txBody>
          <a:bodyPr wrap="square" lIns="45720" tIns="0" rIns="45720" bIns="0" anchor="t">
            <a:noAutofit/>
          </a:bodyPr>
          <a:lstStyle/>
          <a:p>
            <a:pPr algn="l"/>
            <a:r>
              <a:rPr lang="en-GB" sz="2000" dirty="0">
                <a:solidFill>
                  <a:srgbClr val="262626"/>
                </a:solidFill>
              </a:rPr>
              <a:t>The part changes on a rapid schedule,</a:t>
            </a:r>
          </a:p>
          <a:p>
            <a:pPr algn="l"/>
            <a:r>
              <a:rPr lang="en-GB" sz="2000" dirty="0">
                <a:solidFill>
                  <a:srgbClr val="262626"/>
                </a:solidFill>
              </a:rPr>
              <a:t>so the program changes with it.</a:t>
            </a:r>
          </a:p>
        </p:txBody>
      </p:sp>
      <p:sp>
        <p:nvSpPr>
          <p:cNvPr id="18" name="Label"/>
          <p:cNvSpPr txBox="1"/>
          <p:nvPr/>
        </p:nvSpPr>
        <p:spPr>
          <a:xfrm>
            <a:off x="603504" y="4297680"/>
            <a:ext cx="7315200" cy="868680"/>
          </a:xfrm>
          <a:prstGeom prst="rect">
            <a:avLst/>
          </a:prstGeom>
          <a:noFill/>
        </p:spPr>
        <p:txBody>
          <a:bodyPr wrap="square" lIns="45720" tIns="0" rIns="45720" bIns="0" anchor="t">
            <a:noAutofit/>
          </a:bodyPr>
          <a:lstStyle/>
          <a:p>
            <a:pPr algn="l"/>
            <a:r>
              <a:rPr lang="en-GB" sz="2000" i="1" dirty="0">
                <a:solidFill>
                  <a:srgbClr val="63666A"/>
                </a:solidFill>
              </a:rPr>
              <a:t>“Even in </a:t>
            </a:r>
            <a:r>
              <a:rPr lang="en-GB" sz="2000" i="1" u="sng" dirty="0">
                <a:solidFill>
                  <a:srgbClr val="63666A"/>
                </a:solidFill>
              </a:rPr>
              <a:t>half an hour</a:t>
            </a:r>
            <a:r>
              <a:rPr lang="en-GB" sz="2000" i="1" dirty="0">
                <a:solidFill>
                  <a:srgbClr val="63666A"/>
                </a:solidFill>
              </a:rPr>
              <a:t>, we can get some major changes done to the code.”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Current practice</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3</a:t>
            </a:fld>
            <a:endParaRPr lang="en-GB"/>
          </a:p>
        </p:txBody>
      </p:sp>
      <p:sp>
        <p:nvSpPr>
          <p:cNvPr id="14" name="Label"/>
          <p:cNvSpPr txBox="1"/>
          <p:nvPr/>
        </p:nvSpPr>
        <p:spPr>
          <a:xfrm>
            <a:off x="603504"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Adhesive A</a:t>
            </a:r>
          </a:p>
        </p:txBody>
      </p:sp>
      <p:sp>
        <p:nvSpPr>
          <p:cNvPr id="15" name="Label"/>
          <p:cNvSpPr txBox="1"/>
          <p:nvPr/>
        </p:nvSpPr>
        <p:spPr>
          <a:xfrm>
            <a:off x="603504" y="2295144"/>
            <a:ext cx="3520440" cy="274320"/>
          </a:xfrm>
          <a:prstGeom prst="rect">
            <a:avLst/>
          </a:prstGeom>
          <a:noFill/>
        </p:spPr>
        <p:txBody>
          <a:bodyPr wrap="square" lIns="45720" tIns="0" rIns="45720" bIns="0" anchor="t">
            <a:noAutofit/>
          </a:bodyPr>
          <a:lstStyle/>
          <a:p>
            <a:pPr algn="l"/>
            <a:r>
              <a:rPr lang="en-GB" sz="1300" dirty="0">
                <a:solidFill>
                  <a:srgbClr val="6E6E6E"/>
                </a:solidFill>
              </a:rPr>
              <a:t>programmed once, then replayed</a:t>
            </a:r>
          </a:p>
        </p:txBody>
      </p:sp>
      <p:cxnSp>
        <p:nvCxnSpPr>
          <p:cNvPr id="16" name="Arrow"/>
          <p:cNvCxnSpPr/>
          <p:nvPr/>
        </p:nvCxnSpPr>
        <p:spPr>
          <a:xfrm>
            <a:off x="603504" y="4846320"/>
            <a:ext cx="3429000" cy="0"/>
          </a:xfrm>
          <a:prstGeom prst="straightConnector1">
            <a:avLst/>
          </a:prstGeom>
          <a:ln w="15875">
            <a:solidFill>
              <a:srgbClr val="63666A"/>
            </a:solidFill>
            <a:tailEnd type="triangle" w="med" len="med"/>
          </a:ln>
        </p:spPr>
      </p:cxnSp>
      <p:sp>
        <p:nvSpPr>
          <p:cNvPr id="17" name="Label"/>
          <p:cNvSpPr txBox="1"/>
          <p:nvPr/>
        </p:nvSpPr>
        <p:spPr>
          <a:xfrm>
            <a:off x="3118104" y="4892040"/>
            <a:ext cx="914400" cy="256032"/>
          </a:xfrm>
          <a:prstGeom prst="rect">
            <a:avLst/>
          </a:prstGeom>
          <a:noFill/>
        </p:spPr>
        <p:txBody>
          <a:bodyPr wrap="square" lIns="45720" tIns="0" rIns="45720" bIns="0" anchor="t">
            <a:noAutofit/>
          </a:bodyPr>
          <a:lstStyle/>
          <a:p>
            <a:pPr algn="r"/>
            <a:r>
              <a:rPr lang="en-GB" sz="1200" dirty="0">
                <a:solidFill>
                  <a:srgbClr val="6E6E6E"/>
                </a:solidFill>
              </a:rPr>
              <a:t>time</a:t>
            </a:r>
          </a:p>
        </p:txBody>
      </p:sp>
      <p:sp>
        <p:nvSpPr>
          <p:cNvPr id="18" name="Band"/>
          <p:cNvSpPr/>
          <p:nvPr/>
        </p:nvSpPr>
        <p:spPr>
          <a:xfrm>
            <a:off x="1609344" y="2880360"/>
            <a:ext cx="731520" cy="1920240"/>
          </a:xfrm>
          <a:prstGeom prst="roundRect">
            <a:avLst>
              <a:gd name="adj" fmla="val 0"/>
            </a:avLst>
          </a:prstGeom>
          <a:solidFill>
            <a:srgbClr val="CFEAF6"/>
          </a:solidFill>
          <a:ln>
            <a:noFill/>
          </a:ln>
        </p:spPr>
        <p:txBody>
          <a:bodyPr wrap="square" lIns="64008" tIns="27432" rIns="64008" bIns="27432" anchor="ctr">
            <a:noAutofit/>
          </a:bodyPr>
          <a:lstStyle/>
          <a:p>
            <a:pPr algn="ctr"/>
            <a:endParaRPr/>
          </a:p>
        </p:txBody>
      </p:sp>
      <p:sp>
        <p:nvSpPr>
          <p:cNvPr id="19" name="Label"/>
          <p:cNvSpPr txBox="1"/>
          <p:nvPr/>
        </p:nvSpPr>
        <p:spPr>
          <a:xfrm>
            <a:off x="1335024" y="2624328"/>
            <a:ext cx="1280160" cy="237744"/>
          </a:xfrm>
          <a:prstGeom prst="rect">
            <a:avLst/>
          </a:prstGeom>
          <a:noFill/>
        </p:spPr>
        <p:txBody>
          <a:bodyPr wrap="square" lIns="45720" tIns="0" rIns="45720" bIns="0" anchor="t">
            <a:noAutofit/>
          </a:bodyPr>
          <a:lstStyle/>
          <a:p>
            <a:pPr algn="ctr"/>
            <a:r>
              <a:rPr lang="en-GB" sz="1100" dirty="0">
                <a:solidFill>
                  <a:srgbClr val="24A0D8"/>
                </a:solidFill>
              </a:rPr>
              <a:t>open time</a:t>
            </a:r>
          </a:p>
        </p:txBody>
      </p:sp>
      <p:cxnSp>
        <p:nvCxnSpPr>
          <p:cNvPr id="20" name="Arrow"/>
          <p:cNvCxnSpPr/>
          <p:nvPr/>
        </p:nvCxnSpPr>
        <p:spPr>
          <a:xfrm>
            <a:off x="603504" y="3017520"/>
            <a:ext cx="3246120" cy="0"/>
          </a:xfrm>
          <a:prstGeom prst="straightConnector1">
            <a:avLst/>
          </a:prstGeom>
          <a:ln w="9525">
            <a:solidFill>
              <a:srgbClr val="D2D2D2"/>
            </a:solidFill>
          </a:ln>
        </p:spPr>
      </p:cxnSp>
      <p:sp>
        <p:nvSpPr>
          <p:cNvPr id="21" name="Bar"/>
          <p:cNvSpPr/>
          <p:nvPr/>
        </p:nvSpPr>
        <p:spPr>
          <a:xfrm>
            <a:off x="1883664" y="293522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endParaRPr/>
          </a:p>
        </p:txBody>
      </p:sp>
      <p:sp>
        <p:nvSpPr>
          <p:cNvPr id="22" name="Label"/>
          <p:cNvSpPr txBox="1"/>
          <p:nvPr/>
        </p:nvSpPr>
        <p:spPr>
          <a:xfrm>
            <a:off x="3803904" y="283464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23" name="Label"/>
          <p:cNvSpPr txBox="1"/>
          <p:nvPr/>
        </p:nvSpPr>
        <p:spPr>
          <a:xfrm>
            <a:off x="603504" y="3127248"/>
            <a:ext cx="3200400" cy="256032"/>
          </a:xfrm>
          <a:prstGeom prst="rect">
            <a:avLst/>
          </a:prstGeom>
          <a:noFill/>
        </p:spPr>
        <p:txBody>
          <a:bodyPr wrap="square" lIns="45720" tIns="0" rIns="45720" bIns="0" anchor="t">
            <a:noAutofit/>
          </a:bodyPr>
          <a:lstStyle/>
          <a:p>
            <a:pPr algn="l"/>
            <a:r>
              <a:rPr lang="en-GB" sz="1200" dirty="0">
                <a:solidFill>
                  <a:srgbClr val="7B8D1E"/>
                </a:solidFill>
              </a:rPr>
              <a:t>run 1</a:t>
            </a:r>
          </a:p>
        </p:txBody>
      </p:sp>
      <p:cxnSp>
        <p:nvCxnSpPr>
          <p:cNvPr id="24" name="Arrow"/>
          <p:cNvCxnSpPr/>
          <p:nvPr/>
        </p:nvCxnSpPr>
        <p:spPr>
          <a:xfrm>
            <a:off x="603504" y="3657600"/>
            <a:ext cx="3246120" cy="0"/>
          </a:xfrm>
          <a:prstGeom prst="straightConnector1">
            <a:avLst/>
          </a:prstGeom>
          <a:ln w="9525">
            <a:solidFill>
              <a:srgbClr val="D2D2D2"/>
            </a:solidFill>
          </a:ln>
        </p:spPr>
      </p:cxnSp>
      <p:sp>
        <p:nvSpPr>
          <p:cNvPr id="25" name="Bar"/>
          <p:cNvSpPr/>
          <p:nvPr/>
        </p:nvSpPr>
        <p:spPr>
          <a:xfrm>
            <a:off x="1883664" y="357530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endParaRPr/>
          </a:p>
        </p:txBody>
      </p:sp>
      <p:sp>
        <p:nvSpPr>
          <p:cNvPr id="26" name="Label"/>
          <p:cNvSpPr txBox="1"/>
          <p:nvPr/>
        </p:nvSpPr>
        <p:spPr>
          <a:xfrm>
            <a:off x="3803904" y="347472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27" name="Label"/>
          <p:cNvSpPr txBox="1"/>
          <p:nvPr/>
        </p:nvSpPr>
        <p:spPr>
          <a:xfrm>
            <a:off x="603504" y="3767328"/>
            <a:ext cx="3200400" cy="256032"/>
          </a:xfrm>
          <a:prstGeom prst="rect">
            <a:avLst/>
          </a:prstGeom>
          <a:noFill/>
        </p:spPr>
        <p:txBody>
          <a:bodyPr wrap="square" lIns="45720" tIns="0" rIns="45720" bIns="0" anchor="t">
            <a:noAutofit/>
          </a:bodyPr>
          <a:lstStyle/>
          <a:p>
            <a:pPr algn="l"/>
            <a:r>
              <a:rPr lang="en-GB" sz="1200" dirty="0">
                <a:solidFill>
                  <a:srgbClr val="7B8D1E"/>
                </a:solidFill>
              </a:rPr>
              <a:t>run 2, identical</a:t>
            </a:r>
          </a:p>
        </p:txBody>
      </p:sp>
      <p:cxnSp>
        <p:nvCxnSpPr>
          <p:cNvPr id="28" name="Arrow"/>
          <p:cNvCxnSpPr/>
          <p:nvPr/>
        </p:nvCxnSpPr>
        <p:spPr>
          <a:xfrm>
            <a:off x="603504" y="4297680"/>
            <a:ext cx="3246120" cy="0"/>
          </a:xfrm>
          <a:prstGeom prst="straightConnector1">
            <a:avLst/>
          </a:prstGeom>
          <a:ln w="9525">
            <a:solidFill>
              <a:srgbClr val="D2D2D2"/>
            </a:solidFill>
          </a:ln>
        </p:spPr>
      </p:cxnSp>
      <p:sp>
        <p:nvSpPr>
          <p:cNvPr id="29" name="Bar"/>
          <p:cNvSpPr/>
          <p:nvPr/>
        </p:nvSpPr>
        <p:spPr>
          <a:xfrm>
            <a:off x="1883664" y="421538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endParaRPr/>
          </a:p>
        </p:txBody>
      </p:sp>
      <p:sp>
        <p:nvSpPr>
          <p:cNvPr id="30" name="Label"/>
          <p:cNvSpPr txBox="1"/>
          <p:nvPr/>
        </p:nvSpPr>
        <p:spPr>
          <a:xfrm>
            <a:off x="3803904" y="411480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31" name="Label"/>
          <p:cNvSpPr txBox="1"/>
          <p:nvPr/>
        </p:nvSpPr>
        <p:spPr>
          <a:xfrm>
            <a:off x="603504" y="4407408"/>
            <a:ext cx="3200400" cy="256032"/>
          </a:xfrm>
          <a:prstGeom prst="rect">
            <a:avLst/>
          </a:prstGeom>
          <a:noFill/>
        </p:spPr>
        <p:txBody>
          <a:bodyPr wrap="square" lIns="45720" tIns="0" rIns="45720" bIns="0" anchor="t">
            <a:noAutofit/>
          </a:bodyPr>
          <a:lstStyle/>
          <a:p>
            <a:pPr algn="l"/>
            <a:r>
              <a:rPr lang="en-GB" sz="1200" dirty="0">
                <a:solidFill>
                  <a:srgbClr val="7B8D1E"/>
                </a:solidFill>
              </a:rPr>
              <a:t>run 3, identical</a:t>
            </a:r>
          </a:p>
        </p:txBody>
      </p:sp>
      <p:sp>
        <p:nvSpPr>
          <p:cNvPr id="32" name="Label"/>
          <p:cNvSpPr txBox="1"/>
          <p:nvPr/>
        </p:nvSpPr>
        <p:spPr>
          <a:xfrm>
            <a:off x="4370832"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Adhesive B, faster curing</a:t>
            </a:r>
          </a:p>
        </p:txBody>
      </p:sp>
      <p:sp>
        <p:nvSpPr>
          <p:cNvPr id="33" name="Label"/>
          <p:cNvSpPr txBox="1"/>
          <p:nvPr/>
        </p:nvSpPr>
        <p:spPr>
          <a:xfrm>
            <a:off x="4370832" y="2295144"/>
            <a:ext cx="3520440" cy="274320"/>
          </a:xfrm>
          <a:prstGeom prst="rect">
            <a:avLst/>
          </a:prstGeom>
          <a:noFill/>
        </p:spPr>
        <p:txBody>
          <a:bodyPr wrap="square" lIns="45720" tIns="0" rIns="45720" bIns="0" anchor="t">
            <a:noAutofit/>
          </a:bodyPr>
          <a:lstStyle/>
          <a:p>
            <a:pPr algn="l"/>
            <a:r>
              <a:rPr lang="en-GB" sz="1300" dirty="0">
                <a:solidFill>
                  <a:srgbClr val="6E6E6E"/>
                </a:solidFill>
              </a:rPr>
              <a:t>need to re-program</a:t>
            </a:r>
          </a:p>
        </p:txBody>
      </p:sp>
      <p:cxnSp>
        <p:nvCxnSpPr>
          <p:cNvPr id="34" name="Arrow"/>
          <p:cNvCxnSpPr/>
          <p:nvPr/>
        </p:nvCxnSpPr>
        <p:spPr>
          <a:xfrm>
            <a:off x="4370832" y="4846320"/>
            <a:ext cx="3429000" cy="0"/>
          </a:xfrm>
          <a:prstGeom prst="straightConnector1">
            <a:avLst/>
          </a:prstGeom>
          <a:ln w="15875">
            <a:solidFill>
              <a:srgbClr val="63666A"/>
            </a:solidFill>
            <a:tailEnd type="triangle" w="med" len="med"/>
          </a:ln>
        </p:spPr>
      </p:cxnSp>
      <p:sp>
        <p:nvSpPr>
          <p:cNvPr id="35" name="Label"/>
          <p:cNvSpPr txBox="1"/>
          <p:nvPr/>
        </p:nvSpPr>
        <p:spPr>
          <a:xfrm>
            <a:off x="6885432" y="4892040"/>
            <a:ext cx="914400" cy="256032"/>
          </a:xfrm>
          <a:prstGeom prst="rect">
            <a:avLst/>
          </a:prstGeom>
          <a:noFill/>
        </p:spPr>
        <p:txBody>
          <a:bodyPr wrap="square" lIns="45720" tIns="0" rIns="45720" bIns="0" anchor="t">
            <a:noAutofit/>
          </a:bodyPr>
          <a:lstStyle/>
          <a:p>
            <a:pPr algn="r"/>
            <a:r>
              <a:rPr lang="en-GB" sz="1200" dirty="0">
                <a:solidFill>
                  <a:srgbClr val="6E6E6E"/>
                </a:solidFill>
              </a:rPr>
              <a:t>time</a:t>
            </a:r>
          </a:p>
        </p:txBody>
      </p:sp>
      <p:sp>
        <p:nvSpPr>
          <p:cNvPr id="36" name="Band"/>
          <p:cNvSpPr/>
          <p:nvPr/>
        </p:nvSpPr>
        <p:spPr>
          <a:xfrm>
            <a:off x="4782312" y="2880360"/>
            <a:ext cx="548640" cy="1920240"/>
          </a:xfrm>
          <a:prstGeom prst="roundRect">
            <a:avLst>
              <a:gd name="adj" fmla="val 0"/>
            </a:avLst>
          </a:prstGeom>
          <a:solidFill>
            <a:srgbClr val="CFEAF6"/>
          </a:solidFill>
          <a:ln>
            <a:noFill/>
          </a:ln>
        </p:spPr>
        <p:txBody>
          <a:bodyPr wrap="square" lIns="64008" tIns="27432" rIns="64008" bIns="27432" anchor="ctr">
            <a:noAutofit/>
          </a:bodyPr>
          <a:lstStyle/>
          <a:p>
            <a:pPr algn="ctr"/>
            <a:endParaRPr/>
          </a:p>
        </p:txBody>
      </p:sp>
      <p:sp>
        <p:nvSpPr>
          <p:cNvPr id="37" name="Label"/>
          <p:cNvSpPr txBox="1"/>
          <p:nvPr/>
        </p:nvSpPr>
        <p:spPr>
          <a:xfrm>
            <a:off x="4507992" y="2624328"/>
            <a:ext cx="1097280" cy="237744"/>
          </a:xfrm>
          <a:prstGeom prst="rect">
            <a:avLst/>
          </a:prstGeom>
          <a:noFill/>
        </p:spPr>
        <p:txBody>
          <a:bodyPr wrap="square" lIns="45720" tIns="0" rIns="45720" bIns="0" anchor="t">
            <a:noAutofit/>
          </a:bodyPr>
          <a:lstStyle/>
          <a:p>
            <a:pPr algn="ctr"/>
            <a:r>
              <a:rPr lang="en-GB" sz="1100" dirty="0">
                <a:solidFill>
                  <a:srgbClr val="24A0D8"/>
                </a:solidFill>
              </a:rPr>
              <a:t>open time</a:t>
            </a:r>
          </a:p>
        </p:txBody>
      </p:sp>
      <p:cxnSp>
        <p:nvCxnSpPr>
          <p:cNvPr id="38" name="Arrow"/>
          <p:cNvCxnSpPr/>
          <p:nvPr/>
        </p:nvCxnSpPr>
        <p:spPr>
          <a:xfrm>
            <a:off x="4370832" y="3017520"/>
            <a:ext cx="3246120" cy="0"/>
          </a:xfrm>
          <a:prstGeom prst="straightConnector1">
            <a:avLst/>
          </a:prstGeom>
          <a:ln w="9525">
            <a:solidFill>
              <a:srgbClr val="D2D2D2"/>
            </a:solidFill>
          </a:ln>
        </p:spPr>
      </p:cxnSp>
      <p:sp>
        <p:nvSpPr>
          <p:cNvPr id="39" name="Bar"/>
          <p:cNvSpPr/>
          <p:nvPr/>
        </p:nvSpPr>
        <p:spPr>
          <a:xfrm>
            <a:off x="5650992" y="2935224"/>
            <a:ext cx="1463040" cy="164592"/>
          </a:xfrm>
          <a:prstGeom prst="roundRect">
            <a:avLst>
              <a:gd name="adj" fmla="val 50000"/>
            </a:avLst>
          </a:prstGeom>
          <a:solidFill>
            <a:srgbClr val="D85497"/>
          </a:solidFill>
          <a:ln>
            <a:noFill/>
          </a:ln>
        </p:spPr>
        <p:txBody>
          <a:bodyPr wrap="square" lIns="64008" tIns="27432" rIns="64008" bIns="27432" anchor="ctr">
            <a:noAutofit/>
          </a:bodyPr>
          <a:lstStyle/>
          <a:p>
            <a:pPr algn="ctr"/>
            <a:endParaRPr/>
          </a:p>
        </p:txBody>
      </p:sp>
      <p:sp>
        <p:nvSpPr>
          <p:cNvPr id="40" name="Label"/>
          <p:cNvSpPr txBox="1"/>
          <p:nvPr/>
        </p:nvSpPr>
        <p:spPr>
          <a:xfrm>
            <a:off x="7571232" y="2834640"/>
            <a:ext cx="365760" cy="365760"/>
          </a:xfrm>
          <a:prstGeom prst="rect">
            <a:avLst/>
          </a:prstGeom>
          <a:noFill/>
        </p:spPr>
        <p:txBody>
          <a:bodyPr wrap="square" lIns="45720" tIns="0" rIns="45720" bIns="0" anchor="ctr">
            <a:noAutofit/>
          </a:bodyPr>
          <a:lstStyle/>
          <a:p>
            <a:pPr algn="ctr"/>
            <a:r>
              <a:rPr lang="en-GB" sz="1600" dirty="0">
                <a:solidFill>
                  <a:srgbClr val="D85497"/>
                </a:solidFill>
              </a:rPr>
              <a:t>✗</a:t>
            </a:r>
          </a:p>
        </p:txBody>
      </p:sp>
      <p:sp>
        <p:nvSpPr>
          <p:cNvPr id="41" name="Label"/>
          <p:cNvSpPr txBox="1"/>
          <p:nvPr/>
        </p:nvSpPr>
        <p:spPr>
          <a:xfrm>
            <a:off x="4370832" y="3127248"/>
            <a:ext cx="3200400" cy="256032"/>
          </a:xfrm>
          <a:prstGeom prst="rect">
            <a:avLst/>
          </a:prstGeom>
          <a:noFill/>
        </p:spPr>
        <p:txBody>
          <a:bodyPr wrap="square" lIns="45720" tIns="0" rIns="45720" bIns="0" anchor="t">
            <a:noAutofit/>
          </a:bodyPr>
          <a:lstStyle/>
          <a:p>
            <a:pPr algn="l"/>
            <a:r>
              <a:rPr lang="en-GB" sz="1200" dirty="0">
                <a:solidFill>
                  <a:srgbClr val="D85497"/>
                </a:solidFill>
              </a:rPr>
              <a:t>seated too late</a:t>
            </a:r>
          </a:p>
        </p:txBody>
      </p:sp>
      <p:cxnSp>
        <p:nvCxnSpPr>
          <p:cNvPr id="42" name="Arrow"/>
          <p:cNvCxnSpPr/>
          <p:nvPr/>
        </p:nvCxnSpPr>
        <p:spPr>
          <a:xfrm>
            <a:off x="4370832" y="3749040"/>
            <a:ext cx="3246120" cy="0"/>
          </a:xfrm>
          <a:prstGeom prst="straightConnector1">
            <a:avLst/>
          </a:prstGeom>
          <a:ln w="9525">
            <a:solidFill>
              <a:srgbClr val="D2D2D2"/>
            </a:solidFill>
          </a:ln>
        </p:spPr>
      </p:cxnSp>
      <p:sp>
        <p:nvSpPr>
          <p:cNvPr id="43" name="Bar"/>
          <p:cNvSpPr/>
          <p:nvPr/>
        </p:nvSpPr>
        <p:spPr>
          <a:xfrm>
            <a:off x="4919472" y="366674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endParaRPr/>
          </a:p>
        </p:txBody>
      </p:sp>
      <p:sp>
        <p:nvSpPr>
          <p:cNvPr id="44" name="Label"/>
          <p:cNvSpPr txBox="1"/>
          <p:nvPr/>
        </p:nvSpPr>
        <p:spPr>
          <a:xfrm>
            <a:off x="7571232" y="356616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45" name="Label"/>
          <p:cNvSpPr txBox="1"/>
          <p:nvPr/>
        </p:nvSpPr>
        <p:spPr>
          <a:xfrm>
            <a:off x="4370832" y="3858768"/>
            <a:ext cx="3200400" cy="256032"/>
          </a:xfrm>
          <a:prstGeom prst="rect">
            <a:avLst/>
          </a:prstGeom>
          <a:noFill/>
        </p:spPr>
        <p:txBody>
          <a:bodyPr wrap="square" lIns="45720" tIns="0" rIns="45720" bIns="0" anchor="t">
            <a:noAutofit/>
          </a:bodyPr>
          <a:lstStyle/>
          <a:p>
            <a:pPr algn="l"/>
            <a:r>
              <a:rPr lang="en-GB" sz="1200" dirty="0">
                <a:solidFill>
                  <a:srgbClr val="7B8D1E"/>
                </a:solidFill>
              </a:rPr>
              <a:t>timing reprogrammed</a:t>
            </a:r>
          </a:p>
        </p:txBody>
      </p:sp>
      <p:sp>
        <p:nvSpPr>
          <p:cNvPr id="46" name="Label"/>
          <p:cNvSpPr txBox="1"/>
          <p:nvPr/>
        </p:nvSpPr>
        <p:spPr>
          <a:xfrm>
            <a:off x="8138160"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Bead moved</a:t>
            </a:r>
          </a:p>
        </p:txBody>
      </p:sp>
      <p:sp>
        <p:nvSpPr>
          <p:cNvPr id="47" name="Label"/>
          <p:cNvSpPr txBox="1"/>
          <p:nvPr/>
        </p:nvSpPr>
        <p:spPr>
          <a:xfrm>
            <a:off x="8138160" y="2295144"/>
            <a:ext cx="3520440" cy="274320"/>
          </a:xfrm>
          <a:prstGeom prst="rect">
            <a:avLst/>
          </a:prstGeom>
          <a:noFill/>
        </p:spPr>
        <p:txBody>
          <a:bodyPr wrap="square" lIns="45720" tIns="0" rIns="45720" bIns="0" anchor="t">
            <a:noAutofit/>
          </a:bodyPr>
          <a:lstStyle/>
          <a:p>
            <a:pPr algn="l"/>
            <a:r>
              <a:rPr lang="en-GB" sz="1300" dirty="0">
                <a:solidFill>
                  <a:srgbClr val="6E6E6E"/>
                </a:solidFill>
              </a:rPr>
              <a:t>need to re-program</a:t>
            </a:r>
          </a:p>
        </p:txBody>
      </p:sp>
      <p:cxnSp>
        <p:nvCxnSpPr>
          <p:cNvPr id="48" name="Arrow"/>
          <p:cNvCxnSpPr/>
          <p:nvPr/>
        </p:nvCxnSpPr>
        <p:spPr>
          <a:xfrm>
            <a:off x="8138160" y="4846320"/>
            <a:ext cx="3429000" cy="0"/>
          </a:xfrm>
          <a:prstGeom prst="straightConnector1">
            <a:avLst/>
          </a:prstGeom>
          <a:ln w="15875">
            <a:solidFill>
              <a:srgbClr val="63666A"/>
            </a:solidFill>
            <a:tailEnd type="triangle" w="med" len="med"/>
          </a:ln>
        </p:spPr>
      </p:cxnSp>
      <p:sp>
        <p:nvSpPr>
          <p:cNvPr id="49" name="Label"/>
          <p:cNvSpPr txBox="1"/>
          <p:nvPr/>
        </p:nvSpPr>
        <p:spPr>
          <a:xfrm>
            <a:off x="10652760" y="4892040"/>
            <a:ext cx="914400" cy="256032"/>
          </a:xfrm>
          <a:prstGeom prst="rect">
            <a:avLst/>
          </a:prstGeom>
          <a:noFill/>
        </p:spPr>
        <p:txBody>
          <a:bodyPr wrap="square" lIns="45720" tIns="0" rIns="45720" bIns="0" anchor="t">
            <a:noAutofit/>
          </a:bodyPr>
          <a:lstStyle/>
          <a:p>
            <a:pPr algn="r"/>
            <a:r>
              <a:rPr lang="en-GB" sz="1200" dirty="0">
                <a:solidFill>
                  <a:srgbClr val="6E6E6E"/>
                </a:solidFill>
              </a:rPr>
              <a:t>position</a:t>
            </a:r>
          </a:p>
        </p:txBody>
      </p:sp>
      <p:sp>
        <p:nvSpPr>
          <p:cNvPr id="50" name="Band"/>
          <p:cNvSpPr/>
          <p:nvPr/>
        </p:nvSpPr>
        <p:spPr>
          <a:xfrm>
            <a:off x="9646920" y="2880360"/>
            <a:ext cx="457200" cy="1920240"/>
          </a:xfrm>
          <a:prstGeom prst="roundRect">
            <a:avLst>
              <a:gd name="adj" fmla="val 0"/>
            </a:avLst>
          </a:prstGeom>
          <a:noFill/>
          <a:ln w="12700">
            <a:solidFill>
              <a:srgbClr val="63666A"/>
            </a:solidFill>
            <a:prstDash val="dash"/>
          </a:ln>
        </p:spPr>
        <p:txBody>
          <a:bodyPr wrap="square" lIns="64008" tIns="27432" rIns="64008" bIns="27432" anchor="ctr">
            <a:noAutofit/>
          </a:bodyPr>
          <a:lstStyle/>
          <a:p>
            <a:pPr algn="ctr"/>
            <a:endParaRPr/>
          </a:p>
        </p:txBody>
      </p:sp>
      <p:sp>
        <p:nvSpPr>
          <p:cNvPr id="51" name="Label"/>
          <p:cNvSpPr txBox="1"/>
          <p:nvPr/>
        </p:nvSpPr>
        <p:spPr>
          <a:xfrm>
            <a:off x="9171432" y="2624328"/>
            <a:ext cx="1207008" cy="237744"/>
          </a:xfrm>
          <a:prstGeom prst="rect">
            <a:avLst/>
          </a:prstGeom>
          <a:noFill/>
        </p:spPr>
        <p:txBody>
          <a:bodyPr wrap="square" lIns="45720" tIns="0" rIns="45720" bIns="0" anchor="t">
            <a:noAutofit/>
          </a:bodyPr>
          <a:lstStyle/>
          <a:p>
            <a:pPr algn="ctr"/>
            <a:r>
              <a:rPr lang="en-GB" sz="1100" dirty="0">
                <a:solidFill>
                  <a:srgbClr val="63666A"/>
                </a:solidFill>
              </a:rPr>
              <a:t>programmed bead</a:t>
            </a:r>
          </a:p>
        </p:txBody>
      </p:sp>
      <p:sp>
        <p:nvSpPr>
          <p:cNvPr id="52" name="Band"/>
          <p:cNvSpPr/>
          <p:nvPr/>
        </p:nvSpPr>
        <p:spPr>
          <a:xfrm>
            <a:off x="10561320" y="2880360"/>
            <a:ext cx="457200" cy="1920240"/>
          </a:xfrm>
          <a:prstGeom prst="roundRect">
            <a:avLst>
              <a:gd name="adj" fmla="val 0"/>
            </a:avLst>
          </a:prstGeom>
          <a:solidFill>
            <a:srgbClr val="F8E2C7"/>
          </a:solidFill>
          <a:ln>
            <a:noFill/>
          </a:ln>
        </p:spPr>
        <p:txBody>
          <a:bodyPr wrap="square" lIns="64008" tIns="27432" rIns="64008" bIns="27432" anchor="ctr">
            <a:noAutofit/>
          </a:bodyPr>
          <a:lstStyle/>
          <a:p>
            <a:pPr algn="ctr"/>
            <a:endParaRPr/>
          </a:p>
        </p:txBody>
      </p:sp>
      <p:sp>
        <p:nvSpPr>
          <p:cNvPr id="53" name="Label"/>
          <p:cNvSpPr txBox="1"/>
          <p:nvPr/>
        </p:nvSpPr>
        <p:spPr>
          <a:xfrm>
            <a:off x="10287000" y="2624328"/>
            <a:ext cx="1005840" cy="237744"/>
          </a:xfrm>
          <a:prstGeom prst="rect">
            <a:avLst/>
          </a:prstGeom>
          <a:noFill/>
        </p:spPr>
        <p:txBody>
          <a:bodyPr wrap="square" lIns="45720" tIns="0" rIns="45720" bIns="0" anchor="t">
            <a:noAutofit/>
          </a:bodyPr>
          <a:lstStyle/>
          <a:p>
            <a:pPr algn="ctr"/>
            <a:r>
              <a:rPr lang="en-GB" sz="1100" dirty="0">
                <a:solidFill>
                  <a:srgbClr val="E07B00"/>
                </a:solidFill>
              </a:rPr>
              <a:t>current bead</a:t>
            </a:r>
          </a:p>
        </p:txBody>
      </p:sp>
      <p:cxnSp>
        <p:nvCxnSpPr>
          <p:cNvPr id="54" name="Arrow"/>
          <p:cNvCxnSpPr/>
          <p:nvPr/>
        </p:nvCxnSpPr>
        <p:spPr>
          <a:xfrm>
            <a:off x="8138160" y="3017520"/>
            <a:ext cx="3246120" cy="0"/>
          </a:xfrm>
          <a:prstGeom prst="straightConnector1">
            <a:avLst/>
          </a:prstGeom>
          <a:ln w="9525">
            <a:solidFill>
              <a:srgbClr val="D2D2D2"/>
            </a:solidFill>
          </a:ln>
        </p:spPr>
      </p:cxnSp>
      <p:sp>
        <p:nvSpPr>
          <p:cNvPr id="55" name="Bar"/>
          <p:cNvSpPr/>
          <p:nvPr/>
        </p:nvSpPr>
        <p:spPr>
          <a:xfrm>
            <a:off x="9710928" y="2935224"/>
            <a:ext cx="329184" cy="164592"/>
          </a:xfrm>
          <a:prstGeom prst="roundRect">
            <a:avLst>
              <a:gd name="adj" fmla="val 50000"/>
            </a:avLst>
          </a:prstGeom>
          <a:solidFill>
            <a:srgbClr val="D85497"/>
          </a:solidFill>
          <a:ln>
            <a:noFill/>
          </a:ln>
        </p:spPr>
        <p:txBody>
          <a:bodyPr wrap="square" lIns="64008" tIns="27432" rIns="64008" bIns="27432" anchor="ctr">
            <a:noAutofit/>
          </a:bodyPr>
          <a:lstStyle/>
          <a:p>
            <a:pPr algn="ctr"/>
            <a:endParaRPr/>
          </a:p>
        </p:txBody>
      </p:sp>
      <p:sp>
        <p:nvSpPr>
          <p:cNvPr id="56" name="Label"/>
          <p:cNvSpPr txBox="1"/>
          <p:nvPr/>
        </p:nvSpPr>
        <p:spPr>
          <a:xfrm>
            <a:off x="11338560" y="2834640"/>
            <a:ext cx="365760" cy="365760"/>
          </a:xfrm>
          <a:prstGeom prst="rect">
            <a:avLst/>
          </a:prstGeom>
          <a:noFill/>
        </p:spPr>
        <p:txBody>
          <a:bodyPr wrap="square" lIns="45720" tIns="0" rIns="45720" bIns="0" anchor="ctr">
            <a:noAutofit/>
          </a:bodyPr>
          <a:lstStyle/>
          <a:p>
            <a:pPr algn="ctr"/>
            <a:r>
              <a:rPr lang="en-GB" sz="1600" dirty="0">
                <a:solidFill>
                  <a:srgbClr val="D85497"/>
                </a:solidFill>
              </a:rPr>
              <a:t>✗</a:t>
            </a:r>
          </a:p>
        </p:txBody>
      </p:sp>
      <p:sp>
        <p:nvSpPr>
          <p:cNvPr id="57" name="Label"/>
          <p:cNvSpPr txBox="1"/>
          <p:nvPr/>
        </p:nvSpPr>
        <p:spPr>
          <a:xfrm>
            <a:off x="8138160" y="3127248"/>
            <a:ext cx="3200400" cy="256032"/>
          </a:xfrm>
          <a:prstGeom prst="rect">
            <a:avLst/>
          </a:prstGeom>
          <a:noFill/>
        </p:spPr>
        <p:txBody>
          <a:bodyPr wrap="square" lIns="45720" tIns="0" rIns="45720" bIns="0" anchor="t">
            <a:noAutofit/>
          </a:bodyPr>
          <a:lstStyle/>
          <a:p>
            <a:pPr algn="l"/>
            <a:r>
              <a:rPr lang="en-GB" sz="1200" dirty="0">
                <a:solidFill>
                  <a:srgbClr val="D85497"/>
                </a:solidFill>
              </a:rPr>
              <a:t>placed off the bead</a:t>
            </a:r>
          </a:p>
        </p:txBody>
      </p:sp>
      <p:cxnSp>
        <p:nvCxnSpPr>
          <p:cNvPr id="58" name="Arrow"/>
          <p:cNvCxnSpPr/>
          <p:nvPr/>
        </p:nvCxnSpPr>
        <p:spPr>
          <a:xfrm>
            <a:off x="8138160" y="3749040"/>
            <a:ext cx="3246120" cy="0"/>
          </a:xfrm>
          <a:prstGeom prst="straightConnector1">
            <a:avLst/>
          </a:prstGeom>
          <a:ln w="9525">
            <a:solidFill>
              <a:srgbClr val="D2D2D2"/>
            </a:solidFill>
          </a:ln>
        </p:spPr>
      </p:cxnSp>
      <p:sp>
        <p:nvSpPr>
          <p:cNvPr id="59" name="Bar"/>
          <p:cNvSpPr/>
          <p:nvPr/>
        </p:nvSpPr>
        <p:spPr>
          <a:xfrm>
            <a:off x="10625328" y="3666744"/>
            <a:ext cx="329184" cy="164592"/>
          </a:xfrm>
          <a:prstGeom prst="roundRect">
            <a:avLst>
              <a:gd name="adj" fmla="val 50000"/>
            </a:avLst>
          </a:prstGeom>
          <a:solidFill>
            <a:srgbClr val="7B8D1E"/>
          </a:solidFill>
          <a:ln>
            <a:noFill/>
          </a:ln>
        </p:spPr>
        <p:txBody>
          <a:bodyPr wrap="square" lIns="64008" tIns="27432" rIns="64008" bIns="27432" anchor="ctr">
            <a:noAutofit/>
          </a:bodyPr>
          <a:lstStyle/>
          <a:p>
            <a:pPr algn="ctr"/>
            <a:endParaRPr/>
          </a:p>
        </p:txBody>
      </p:sp>
      <p:sp>
        <p:nvSpPr>
          <p:cNvPr id="60" name="Label"/>
          <p:cNvSpPr txBox="1"/>
          <p:nvPr/>
        </p:nvSpPr>
        <p:spPr>
          <a:xfrm>
            <a:off x="11338560" y="356616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61" name="Label"/>
          <p:cNvSpPr txBox="1"/>
          <p:nvPr/>
        </p:nvSpPr>
        <p:spPr>
          <a:xfrm>
            <a:off x="8138160" y="3858768"/>
            <a:ext cx="3200400" cy="256032"/>
          </a:xfrm>
          <a:prstGeom prst="rect">
            <a:avLst/>
          </a:prstGeom>
          <a:noFill/>
        </p:spPr>
        <p:txBody>
          <a:bodyPr wrap="square" lIns="45720" tIns="0" rIns="45720" bIns="0" anchor="t">
            <a:noAutofit/>
          </a:bodyPr>
          <a:lstStyle/>
          <a:p>
            <a:pPr algn="l"/>
            <a:r>
              <a:rPr lang="en-GB" sz="1200" dirty="0">
                <a:solidFill>
                  <a:srgbClr val="7B8D1E"/>
                </a:solidFill>
              </a:rPr>
              <a:t>path reprogrammed</a:t>
            </a:r>
          </a:p>
        </p:txBody>
      </p:sp>
      <p:sp>
        <p:nvSpPr>
          <p:cNvPr id="62" name="Label"/>
          <p:cNvSpPr txBox="1"/>
          <p:nvPr/>
        </p:nvSpPr>
        <p:spPr>
          <a:xfrm>
            <a:off x="603504" y="5349240"/>
            <a:ext cx="10991088" cy="365760"/>
          </a:xfrm>
          <a:prstGeom prst="rect">
            <a:avLst/>
          </a:prstGeom>
          <a:noFill/>
        </p:spPr>
        <p:txBody>
          <a:bodyPr wrap="square" lIns="45720" tIns="0" rIns="45720" bIns="0" anchor="t">
            <a:noAutofit/>
          </a:bodyPr>
          <a:lstStyle/>
          <a:p>
            <a:pPr algn="ctr"/>
            <a:r>
              <a:rPr lang="en-GB" sz="1900" dirty="0">
                <a:solidFill>
                  <a:srgbClr val="262626"/>
                </a:solidFill>
              </a:rPr>
              <a:t>Each change in the product or the process requires a change in the code</a:t>
            </a:r>
          </a:p>
        </p:txBody>
      </p:sp>
      <p:sp>
        <p:nvSpPr>
          <p:cNvPr id="63" name="Label"/>
          <p:cNvSpPr txBox="1"/>
          <p:nvPr/>
        </p:nvSpPr>
        <p:spPr>
          <a:xfrm>
            <a:off x="603504" y="5760720"/>
            <a:ext cx="10991088" cy="329184"/>
          </a:xfrm>
          <a:prstGeom prst="rect">
            <a:avLst/>
          </a:prstGeom>
          <a:noFill/>
        </p:spPr>
        <p:txBody>
          <a:bodyPr wrap="square" lIns="45720" tIns="0" rIns="45720" bIns="0" anchor="t">
            <a:noAutofit/>
          </a:bodyPr>
          <a:lstStyle/>
          <a:p>
            <a:pPr algn="ctr"/>
            <a:r>
              <a:rPr lang="en-GB" sz="1500" dirty="0">
                <a:solidFill>
                  <a:srgbClr val="6E6E6E"/>
                </a:solidFill>
              </a:rPr>
              <a:t>The timing and the position are not stated explicitly, and the program encodes them only implicitly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29" grpId="0" animBg="1"/>
      <p:bldP spid="30" grpId="0"/>
      <p:bldP spid="31" grpId="0"/>
      <p:bldP spid="32" grpId="0"/>
      <p:bldP spid="33" grpId="0"/>
      <p:bldP spid="35" grpId="0"/>
      <p:bldP spid="36" grpId="0" animBg="1"/>
      <p:bldP spid="37" grpId="0"/>
      <p:bldP spid="39" grpId="0" animBg="1"/>
      <p:bldP spid="40" grpId="0"/>
      <p:bldP spid="41" grpId="0"/>
      <p:bldP spid="43" grpId="0" animBg="1"/>
      <p:bldP spid="44" grpId="0"/>
      <p:bldP spid="45" grpId="0"/>
      <p:bldP spid="46" grpId="0"/>
      <p:bldP spid="47" grpId="0"/>
      <p:bldP spid="49" grpId="0"/>
      <p:bldP spid="50" grpId="0" animBg="1"/>
      <p:bldP spid="51" grpId="0"/>
      <p:bldP spid="52" grpId="0" animBg="1"/>
      <p:bldP spid="53" grpId="0"/>
      <p:bldP spid="55" grpId="0" animBg="1"/>
      <p:bldP spid="56" grpId="0"/>
      <p:bldP spid="57" grpId="0"/>
      <p:bldP spid="59" grpId="0" animBg="1"/>
      <p:bldP spid="60" grpId="0"/>
      <p:bldP spid="61" grpId="0"/>
      <p:bldP spid="62" grpId="0"/>
      <p:bldP spid="6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From programming to generation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4</a:t>
            </a:fld>
            <a:endParaRPr lang="en-GB"/>
          </a:p>
        </p:txBody>
      </p:sp>
      <p:sp>
        <p:nvSpPr>
          <p:cNvPr id="14" name="Label"/>
          <p:cNvSpPr txBox="1"/>
          <p:nvPr/>
        </p:nvSpPr>
        <p:spPr>
          <a:xfrm>
            <a:off x="603504"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Program</a:t>
            </a:r>
          </a:p>
        </p:txBody>
      </p:sp>
      <p:pic>
        <p:nvPicPr>
          <p:cNvPr id="15" name="Figure" descr="Program: One motion, coded by hand"/>
          <p:cNvPicPr>
            <a:picLocks noChangeAspect="1"/>
          </p:cNvPicPr>
          <p:nvPr/>
        </p:nvPicPr>
        <p:blipFill>
          <a:blip r:embed="rId3"/>
          <a:stretch>
            <a:fillRect/>
          </a:stretch>
        </p:blipFill>
        <p:spPr>
          <a:xfrm>
            <a:off x="603504" y="2379726"/>
            <a:ext cx="3520440" cy="2464308"/>
          </a:xfrm>
          <a:prstGeom prst="rect">
            <a:avLst/>
          </a:prstGeom>
        </p:spPr>
      </p:pic>
      <p:sp>
        <p:nvSpPr>
          <p:cNvPr id="16" name="Label"/>
          <p:cNvSpPr txBox="1"/>
          <p:nvPr/>
        </p:nvSpPr>
        <p:spPr>
          <a:xfrm>
            <a:off x="603504" y="4983480"/>
            <a:ext cx="3520440" cy="731520"/>
          </a:xfrm>
          <a:prstGeom prst="rect">
            <a:avLst/>
          </a:prstGeom>
          <a:noFill/>
        </p:spPr>
        <p:txBody>
          <a:bodyPr wrap="square" lIns="45720" tIns="0" rIns="45720" bIns="0" anchor="t">
            <a:noAutofit/>
          </a:bodyPr>
          <a:lstStyle/>
          <a:p>
            <a:pPr algn="l"/>
            <a:r>
              <a:rPr lang="en-GB" sz="1500" dirty="0">
                <a:solidFill>
                  <a:srgbClr val="262626"/>
                </a:solidFill>
              </a:rPr>
              <a:t>One motion, coded by hand</a:t>
            </a:r>
          </a:p>
          <a:p>
            <a:pPr algn="l"/>
            <a:endParaRPr lang="en-GB" sz="1500" dirty="0">
              <a:solidFill>
                <a:srgbClr val="262626"/>
              </a:solidFill>
            </a:endParaRPr>
          </a:p>
          <a:p>
            <a:pPr algn="l"/>
            <a:r>
              <a:rPr lang="en-GB" sz="1500" dirty="0">
                <a:solidFill>
                  <a:srgbClr val="262626"/>
                </a:solidFill>
              </a:rPr>
              <a:t>Change code for a different state</a:t>
            </a:r>
          </a:p>
        </p:txBody>
      </p:sp>
      <p:sp>
        <p:nvSpPr>
          <p:cNvPr id="17" name="Label"/>
          <p:cNvSpPr txBox="1"/>
          <p:nvPr/>
        </p:nvSpPr>
        <p:spPr>
          <a:xfrm>
            <a:off x="4370832"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Imitate</a:t>
            </a:r>
          </a:p>
        </p:txBody>
      </p:sp>
      <p:pic>
        <p:nvPicPr>
          <p:cNvPr id="18" name="Figure" descr="Imitate: One predicted motion for each state"/>
          <p:cNvPicPr>
            <a:picLocks noChangeAspect="1"/>
          </p:cNvPicPr>
          <p:nvPr/>
        </p:nvPicPr>
        <p:blipFill>
          <a:blip r:embed="rId4"/>
          <a:stretch>
            <a:fillRect/>
          </a:stretch>
        </p:blipFill>
        <p:spPr>
          <a:xfrm>
            <a:off x="4370832" y="2379726"/>
            <a:ext cx="3520440" cy="2464308"/>
          </a:xfrm>
          <a:prstGeom prst="rect">
            <a:avLst/>
          </a:prstGeom>
        </p:spPr>
      </p:pic>
      <p:sp>
        <p:nvSpPr>
          <p:cNvPr id="19" name="Label"/>
          <p:cNvSpPr txBox="1"/>
          <p:nvPr/>
        </p:nvSpPr>
        <p:spPr>
          <a:xfrm>
            <a:off x="4370832" y="4983480"/>
            <a:ext cx="3520440" cy="1029014"/>
          </a:xfrm>
          <a:prstGeom prst="rect">
            <a:avLst/>
          </a:prstGeom>
          <a:noFill/>
        </p:spPr>
        <p:txBody>
          <a:bodyPr wrap="square" lIns="45720" tIns="0" rIns="45720" bIns="0" anchor="t">
            <a:noAutofit/>
          </a:bodyPr>
          <a:lstStyle/>
          <a:p>
            <a:pPr algn="l"/>
            <a:r>
              <a:rPr lang="en-GB" sz="1500" dirty="0">
                <a:solidFill>
                  <a:srgbClr val="262626"/>
                </a:solidFill>
              </a:rPr>
              <a:t>Show multiple Demonstrations</a:t>
            </a:r>
            <a:br>
              <a:rPr lang="en-GB" sz="1500" dirty="0">
                <a:solidFill>
                  <a:srgbClr val="262626"/>
                </a:solidFill>
              </a:rPr>
            </a:br>
            <a:endParaRPr lang="en-GB" sz="1500" dirty="0">
              <a:solidFill>
                <a:srgbClr val="262626"/>
              </a:solidFill>
            </a:endParaRPr>
          </a:p>
          <a:p>
            <a:pPr algn="l"/>
            <a:r>
              <a:rPr lang="en-GB" sz="1500" dirty="0">
                <a:solidFill>
                  <a:srgbClr val="262626"/>
                </a:solidFill>
              </a:rPr>
              <a:t>Robot predicts the most probable trajectory for a given state</a:t>
            </a:r>
          </a:p>
        </p:txBody>
      </p:sp>
      <p:cxnSp>
        <p:nvCxnSpPr>
          <p:cNvPr id="20" name="Arrow"/>
          <p:cNvCxnSpPr/>
          <p:nvPr/>
        </p:nvCxnSpPr>
        <p:spPr>
          <a:xfrm>
            <a:off x="4142232" y="3611880"/>
            <a:ext cx="201168" cy="0"/>
          </a:xfrm>
          <a:prstGeom prst="straightConnector1">
            <a:avLst/>
          </a:prstGeom>
          <a:ln w="25400">
            <a:solidFill>
              <a:srgbClr val="63666A"/>
            </a:solidFill>
            <a:tailEnd type="triangle" w="med" len="med"/>
          </a:ln>
        </p:spPr>
      </p:cxnSp>
      <p:sp>
        <p:nvSpPr>
          <p:cNvPr id="21" name="Label"/>
          <p:cNvSpPr txBox="1"/>
          <p:nvPr/>
        </p:nvSpPr>
        <p:spPr>
          <a:xfrm>
            <a:off x="8138160"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Generate</a:t>
            </a:r>
          </a:p>
        </p:txBody>
      </p:sp>
      <p:pic>
        <p:nvPicPr>
          <p:cNvPr id="22" name="Figure" descr="Generate: Plausible samples, which a requirement stated after training accepts or rejects"/>
          <p:cNvPicPr>
            <a:picLocks noChangeAspect="1"/>
          </p:cNvPicPr>
          <p:nvPr/>
        </p:nvPicPr>
        <p:blipFill>
          <a:blip r:embed="rId5"/>
          <a:stretch>
            <a:fillRect/>
          </a:stretch>
        </p:blipFill>
        <p:spPr>
          <a:xfrm>
            <a:off x="8138160" y="2379726"/>
            <a:ext cx="3520440" cy="2464308"/>
          </a:xfrm>
          <a:prstGeom prst="rect">
            <a:avLst/>
          </a:prstGeom>
        </p:spPr>
      </p:pic>
      <p:sp>
        <p:nvSpPr>
          <p:cNvPr id="23" name="Label"/>
          <p:cNvSpPr txBox="1"/>
          <p:nvPr/>
        </p:nvSpPr>
        <p:spPr>
          <a:xfrm>
            <a:off x="8138160" y="4983480"/>
            <a:ext cx="3520440" cy="731520"/>
          </a:xfrm>
          <a:prstGeom prst="rect">
            <a:avLst/>
          </a:prstGeom>
          <a:noFill/>
        </p:spPr>
        <p:txBody>
          <a:bodyPr wrap="square" lIns="45720" tIns="0" rIns="45720" bIns="0" anchor="t">
            <a:noAutofit/>
          </a:bodyPr>
          <a:lstStyle/>
          <a:p>
            <a:pPr algn="l"/>
            <a:r>
              <a:rPr lang="en-GB" sz="1500" dirty="0">
                <a:solidFill>
                  <a:srgbClr val="262626"/>
                </a:solidFill>
              </a:rPr>
              <a:t>Plausible samples, which a requirement stated after training accepts or rejects</a:t>
            </a:r>
          </a:p>
        </p:txBody>
      </p:sp>
      <p:sp>
        <p:nvSpPr>
          <p:cNvPr id="24" name="Label"/>
          <p:cNvSpPr txBox="1"/>
          <p:nvPr/>
        </p:nvSpPr>
        <p:spPr>
          <a:xfrm>
            <a:off x="9692640" y="4526280"/>
            <a:ext cx="1920240" cy="256032"/>
          </a:xfrm>
          <a:prstGeom prst="rect">
            <a:avLst/>
          </a:prstGeom>
          <a:noFill/>
        </p:spPr>
        <p:txBody>
          <a:bodyPr wrap="square" lIns="45720" tIns="0" rIns="45720" bIns="0" anchor="t">
            <a:noAutofit/>
          </a:bodyPr>
          <a:lstStyle/>
          <a:p>
            <a:pPr algn="r"/>
            <a:r>
              <a:rPr lang="en-GB" sz="1100" dirty="0">
                <a:solidFill>
                  <a:srgbClr val="D85497"/>
                </a:solidFill>
              </a:rPr>
              <a:t>zone stated after training</a:t>
            </a:r>
          </a:p>
        </p:txBody>
      </p:sp>
      <p:cxnSp>
        <p:nvCxnSpPr>
          <p:cNvPr id="25" name="Arrow"/>
          <p:cNvCxnSpPr/>
          <p:nvPr/>
        </p:nvCxnSpPr>
        <p:spPr>
          <a:xfrm>
            <a:off x="7909560" y="3611880"/>
            <a:ext cx="201168" cy="0"/>
          </a:xfrm>
          <a:prstGeom prst="straightConnector1">
            <a:avLst/>
          </a:prstGeom>
          <a:ln w="25400">
            <a:solidFill>
              <a:srgbClr val="63666A"/>
            </a:solidFill>
            <a:tailEnd type="triangle" w="med" len="med"/>
          </a:ln>
        </p:spPr>
      </p:cxnSp>
      <p:sp>
        <p:nvSpPr>
          <p:cNvPr id="2" name="TextBox 1">
            <a:extLst>
              <a:ext uri="{FF2B5EF4-FFF2-40B4-BE49-F238E27FC236}">
                <a16:creationId xmlns:a16="http://schemas.microsoft.com/office/drawing/2014/main" id="{873BCFF7-E999-1BFE-B483-FE7F08FDF968}"/>
              </a:ext>
            </a:extLst>
          </p:cNvPr>
          <p:cNvSpPr txBox="1"/>
          <p:nvPr/>
        </p:nvSpPr>
        <p:spPr>
          <a:xfrm>
            <a:off x="564193" y="6288662"/>
            <a:ext cx="3265638" cy="230832"/>
          </a:xfrm>
          <a:prstGeom prst="rect">
            <a:avLst/>
          </a:prstGeom>
          <a:noFill/>
        </p:spPr>
        <p:txBody>
          <a:bodyPr wrap="none" rtlCol="0">
            <a:spAutoFit/>
          </a:bodyPr>
          <a:lstStyle/>
          <a:p>
            <a:r>
              <a:rPr lang="en-US" sz="900" dirty="0"/>
              <a:t>State : Robot joint positions, environment (camera, sensor, etc.. ) </a:t>
            </a:r>
            <a:endParaRPr lang="sv-SE"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Requirements that change after training</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5</a:t>
            </a:fld>
            <a:endParaRPr lang="en-GB"/>
          </a:p>
        </p:txBody>
      </p:sp>
      <p:pic>
        <p:nvPicPr>
          <p:cNvPr id="14" name="Figure" descr="The same samples of the learned prior, accepted or rejected differently by a fast-curing and a slow-curing adhesive"/>
          <p:cNvPicPr>
            <a:picLocks noChangeAspect="1"/>
          </p:cNvPicPr>
          <p:nvPr/>
        </p:nvPicPr>
        <p:blipFill>
          <a:blip r:embed="rId3"/>
          <a:stretch>
            <a:fillRect/>
          </a:stretch>
        </p:blipFill>
        <p:spPr>
          <a:xfrm>
            <a:off x="603504" y="1907411"/>
            <a:ext cx="10991088" cy="436905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Problem</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6</a:t>
            </a:fld>
            <a:endParaRPr lang="en-GB"/>
          </a:p>
        </p:txBody>
      </p:sp>
      <p:pic>
        <p:nvPicPr>
          <p:cNvPr id="14" name="Figure" descr="Figure 1.1: the requirement does not enter the generative model, so one of three samples meets it"/>
          <p:cNvPicPr>
            <a:picLocks noChangeAspect="1"/>
          </p:cNvPicPr>
          <p:nvPr/>
        </p:nvPicPr>
        <p:blipFill>
          <a:blip r:embed="rId3"/>
          <a:stretch>
            <a:fillRect/>
          </a:stretch>
        </p:blipFill>
        <p:spPr>
          <a:xfrm>
            <a:off x="2540469" y="1874520"/>
            <a:ext cx="7117159" cy="2651760"/>
          </a:xfrm>
          <a:prstGeom prst="rect">
            <a:avLst/>
          </a:prstGeom>
        </p:spPr>
      </p:pic>
      <p:sp>
        <p:nvSpPr>
          <p:cNvPr id="15" name="Box"/>
          <p:cNvSpPr/>
          <p:nvPr/>
        </p:nvSpPr>
        <p:spPr>
          <a:xfrm>
            <a:off x="822960" y="4709160"/>
            <a:ext cx="10561320" cy="84124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l"/>
            <a:r>
              <a:rPr lang="en-GB" sz="1800" dirty="0">
                <a:solidFill>
                  <a:srgbClr val="262626"/>
                </a:solidFill>
              </a:rPr>
              <a:t>Given demonstrations recorded before training and a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stated after it, generate a trajectory that is plausible under the demonstrations and satisfies </a:t>
            </a:r>
            <a:r>
              <a:rPr lang="en-GB" sz="1800" dirty="0">
                <a:solidFill>
                  <a:srgbClr val="262626"/>
                </a:solidFill>
                <a:latin typeface="Cambria Math"/>
                <a:ea typeface="Cambria Math"/>
                <a:cs typeface="Cambria Math"/>
                <a:sym typeface="Cambria Math"/>
              </a:rPr>
              <a:t>φ</a:t>
            </a:r>
            <a:r>
              <a:rPr lang="en-GB" sz="1800" dirty="0">
                <a:solidFill>
                  <a:srgbClr val="262626"/>
                </a:solidFill>
              </a:rPr>
              <a:t>, without retraining.</a:t>
            </a:r>
          </a:p>
        </p:txBody>
      </p:sp>
      <p:sp>
        <p:nvSpPr>
          <p:cNvPr id="16" name="Label"/>
          <p:cNvSpPr txBox="1"/>
          <p:nvPr/>
        </p:nvSpPr>
        <p:spPr>
          <a:xfrm>
            <a:off x="822960" y="5669280"/>
            <a:ext cx="10561320" cy="292608"/>
          </a:xfrm>
          <a:prstGeom prst="rect">
            <a:avLst/>
          </a:prstGeom>
          <a:noFill/>
        </p:spPr>
        <p:txBody>
          <a:bodyPr wrap="square" lIns="45720" tIns="0" rIns="45720" bIns="0" anchor="t">
            <a:noAutofit/>
          </a:bodyPr>
          <a:lstStyle/>
          <a:p>
            <a:pPr algn="l"/>
            <a:r>
              <a:rPr lang="en-GB" sz="1300" dirty="0">
                <a:solidFill>
                  <a:srgbClr val="6E6E6E"/>
                </a:solidFill>
              </a:rPr>
              <a:t>Training-time conditioning learns the requirement from paired data and can require retraining outside its distribution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Aim and research questions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7</a:t>
            </a:fld>
            <a:endParaRPr lang="en-GB"/>
          </a:p>
        </p:txBody>
      </p:sp>
      <p:sp>
        <p:nvSpPr>
          <p:cNvPr id="14" name="Label"/>
          <p:cNvSpPr txBox="1"/>
          <p:nvPr/>
        </p:nvSpPr>
        <p:spPr>
          <a:xfrm>
            <a:off x="603504" y="1965960"/>
            <a:ext cx="10991088" cy="292608"/>
          </a:xfrm>
          <a:prstGeom prst="rect">
            <a:avLst/>
          </a:prstGeom>
          <a:noFill/>
        </p:spPr>
        <p:txBody>
          <a:bodyPr wrap="square" lIns="45720" tIns="0" rIns="45720" bIns="0" anchor="t">
            <a:noAutofit/>
          </a:bodyPr>
          <a:lstStyle/>
          <a:p>
            <a:pPr algn="l"/>
            <a:r>
              <a:rPr lang="en-GB" sz="1600" b="1" dirty="0">
                <a:solidFill>
                  <a:srgbClr val="262626"/>
                </a:solidFill>
              </a:rPr>
              <a:t>Aim</a:t>
            </a:r>
          </a:p>
        </p:txBody>
      </p:sp>
      <p:sp>
        <p:nvSpPr>
          <p:cNvPr id="15" name="Label"/>
          <p:cNvSpPr txBox="1"/>
          <p:nvPr/>
        </p:nvSpPr>
        <p:spPr>
          <a:xfrm>
            <a:off x="603504" y="2286000"/>
            <a:ext cx="10991088" cy="411480"/>
          </a:xfrm>
          <a:prstGeom prst="rect">
            <a:avLst/>
          </a:prstGeom>
          <a:noFill/>
        </p:spPr>
        <p:txBody>
          <a:bodyPr wrap="square" lIns="45720" tIns="0" rIns="45720" bIns="0" anchor="t">
            <a:noAutofit/>
          </a:bodyPr>
          <a:lstStyle/>
          <a:p>
            <a:pPr algn="l"/>
            <a:r>
              <a:rPr lang="en-GB" sz="1900" dirty="0">
                <a:solidFill>
                  <a:srgbClr val="262626"/>
                </a:solidFill>
              </a:rPr>
              <a:t>A method for imposing STL requirements on a trained generative model at inference time</a:t>
            </a:r>
          </a:p>
        </p:txBody>
      </p:sp>
      <p:sp>
        <p:nvSpPr>
          <p:cNvPr id="16" name="Label"/>
          <p:cNvSpPr txBox="1"/>
          <p:nvPr/>
        </p:nvSpPr>
        <p:spPr>
          <a:xfrm>
            <a:off x="603504" y="2697480"/>
            <a:ext cx="10991088" cy="292608"/>
          </a:xfrm>
          <a:prstGeom prst="rect">
            <a:avLst/>
          </a:prstGeom>
          <a:noFill/>
        </p:spPr>
        <p:txBody>
          <a:bodyPr wrap="square" lIns="45720" tIns="0" rIns="45720" bIns="0" anchor="t">
            <a:noAutofit/>
          </a:bodyPr>
          <a:lstStyle/>
          <a:p>
            <a:pPr algn="l"/>
            <a:r>
              <a:rPr lang="en-GB" sz="1500" dirty="0">
                <a:solidFill>
                  <a:srgbClr val="6E6E6E"/>
                </a:solidFill>
              </a:rPr>
              <a:t>The trained model is called the learned prior, because it provides the motion that the requirement does not specify</a:t>
            </a:r>
          </a:p>
        </p:txBody>
      </p:sp>
      <p:sp>
        <p:nvSpPr>
          <p:cNvPr id="17" name="Callout"/>
          <p:cNvSpPr/>
          <p:nvPr/>
        </p:nvSpPr>
        <p:spPr>
          <a:xfrm>
            <a:off x="603504" y="3154680"/>
            <a:ext cx="10991088" cy="731520"/>
          </a:xfrm>
          <a:prstGeom prst="rect">
            <a:avLst/>
          </a:prstGeom>
          <a:solidFill>
            <a:srgbClr val="EAF0F7"/>
          </a:solidFill>
          <a:ln>
            <a:noFill/>
          </a:ln>
        </p:spPr>
        <p:txBody>
          <a:bodyPr wrap="square" lIns="64008" tIns="27432" rIns="64008" bIns="27432" anchor="ctr">
            <a:noAutofit/>
          </a:bodyPr>
          <a:lstStyle/>
          <a:p>
            <a:pPr algn="ctr"/>
            <a:endParaRPr/>
          </a:p>
        </p:txBody>
      </p:sp>
      <p:sp>
        <p:nvSpPr>
          <p:cNvPr id="18" name="Callout bar"/>
          <p:cNvSpPr/>
          <p:nvPr/>
        </p:nvSpPr>
        <p:spPr>
          <a:xfrm>
            <a:off x="603504" y="3154680"/>
            <a:ext cx="64008" cy="731520"/>
          </a:xfrm>
          <a:prstGeom prst="rect">
            <a:avLst/>
          </a:prstGeom>
          <a:solidFill>
            <a:srgbClr val="1954A6"/>
          </a:solidFill>
          <a:ln>
            <a:noFill/>
          </a:ln>
        </p:spPr>
        <p:txBody>
          <a:bodyPr wrap="square" lIns="64008" tIns="27432" rIns="64008" bIns="27432" anchor="ctr">
            <a:noAutofit/>
          </a:bodyPr>
          <a:lstStyle/>
          <a:p>
            <a:pPr algn="ctr"/>
            <a:endParaRPr/>
          </a:p>
        </p:txBody>
      </p:sp>
      <p:sp>
        <p:nvSpPr>
          <p:cNvPr id="19" name="Callout tag"/>
          <p:cNvSpPr txBox="1"/>
          <p:nvPr/>
        </p:nvSpPr>
        <p:spPr>
          <a:xfrm>
            <a:off x="832104" y="3154680"/>
            <a:ext cx="1188720" cy="731520"/>
          </a:xfrm>
          <a:prstGeom prst="rect">
            <a:avLst/>
          </a:prstGeom>
          <a:noFill/>
        </p:spPr>
        <p:txBody>
          <a:bodyPr wrap="square" lIns="45720" tIns="0" rIns="45720" bIns="0" anchor="ctr">
            <a:noAutofit/>
          </a:bodyPr>
          <a:lstStyle/>
          <a:p>
            <a:pPr algn="l"/>
            <a:r>
              <a:rPr lang="en-GB" sz="2000" b="1" dirty="0">
                <a:solidFill>
                  <a:srgbClr val="144385"/>
                </a:solidFill>
              </a:rPr>
              <a:t>RQ1</a:t>
            </a:r>
          </a:p>
        </p:txBody>
      </p:sp>
      <p:sp>
        <p:nvSpPr>
          <p:cNvPr id="20" name="Callout text"/>
          <p:cNvSpPr txBox="1"/>
          <p:nvPr/>
        </p:nvSpPr>
        <p:spPr>
          <a:xfrm>
            <a:off x="2066544" y="3154680"/>
            <a:ext cx="9390888" cy="731520"/>
          </a:xfrm>
          <a:prstGeom prst="rect">
            <a:avLst/>
          </a:prstGeom>
          <a:noFill/>
        </p:spPr>
        <p:txBody>
          <a:bodyPr wrap="square" lIns="45720" tIns="0" rIns="45720" bIns="0" anchor="ctr">
            <a:noAutofit/>
          </a:bodyPr>
          <a:lstStyle/>
          <a:p>
            <a:pPr algn="l"/>
            <a:r>
              <a:rPr lang="en-GB" sz="2000" dirty="0">
                <a:solidFill>
                  <a:srgbClr val="262626"/>
                </a:solidFill>
              </a:rPr>
              <a:t>Does a demonstration determine the requirement?</a:t>
            </a:r>
          </a:p>
        </p:txBody>
      </p:sp>
      <p:sp>
        <p:nvSpPr>
          <p:cNvPr id="21" name="Callout"/>
          <p:cNvSpPr/>
          <p:nvPr/>
        </p:nvSpPr>
        <p:spPr>
          <a:xfrm>
            <a:off x="603504" y="4005072"/>
            <a:ext cx="10991088" cy="731520"/>
          </a:xfrm>
          <a:prstGeom prst="rect">
            <a:avLst/>
          </a:prstGeom>
          <a:solidFill>
            <a:srgbClr val="FBF0F6"/>
          </a:solidFill>
          <a:ln>
            <a:noFill/>
          </a:ln>
        </p:spPr>
        <p:txBody>
          <a:bodyPr wrap="square" lIns="64008" tIns="27432" rIns="64008" bIns="27432" anchor="ctr">
            <a:noAutofit/>
          </a:bodyPr>
          <a:lstStyle/>
          <a:p>
            <a:pPr algn="ctr"/>
            <a:endParaRPr/>
          </a:p>
        </p:txBody>
      </p:sp>
      <p:sp>
        <p:nvSpPr>
          <p:cNvPr id="22" name="Callout bar"/>
          <p:cNvSpPr/>
          <p:nvPr/>
        </p:nvSpPr>
        <p:spPr>
          <a:xfrm>
            <a:off x="603504" y="4005072"/>
            <a:ext cx="64008" cy="731520"/>
          </a:xfrm>
          <a:prstGeom prst="rect">
            <a:avLst/>
          </a:prstGeom>
          <a:solidFill>
            <a:srgbClr val="D85497"/>
          </a:solidFill>
          <a:ln>
            <a:noFill/>
          </a:ln>
        </p:spPr>
        <p:txBody>
          <a:bodyPr wrap="square" lIns="64008" tIns="27432" rIns="64008" bIns="27432" anchor="ctr">
            <a:noAutofit/>
          </a:bodyPr>
          <a:lstStyle/>
          <a:p>
            <a:pPr algn="ctr"/>
            <a:endParaRPr/>
          </a:p>
        </p:txBody>
      </p:sp>
      <p:sp>
        <p:nvSpPr>
          <p:cNvPr id="23" name="Callout tag"/>
          <p:cNvSpPr txBox="1"/>
          <p:nvPr/>
        </p:nvSpPr>
        <p:spPr>
          <a:xfrm>
            <a:off x="832104" y="4005072"/>
            <a:ext cx="1188720" cy="731520"/>
          </a:xfrm>
          <a:prstGeom prst="rect">
            <a:avLst/>
          </a:prstGeom>
          <a:noFill/>
        </p:spPr>
        <p:txBody>
          <a:bodyPr wrap="square" lIns="45720" tIns="0" rIns="45720" bIns="0" anchor="ctr">
            <a:noAutofit/>
          </a:bodyPr>
          <a:lstStyle/>
          <a:p>
            <a:pPr algn="l"/>
            <a:r>
              <a:rPr lang="en-GB" sz="2000" b="1" dirty="0">
                <a:solidFill>
                  <a:srgbClr val="AD4379"/>
                </a:solidFill>
              </a:rPr>
              <a:t>RQ2</a:t>
            </a:r>
          </a:p>
        </p:txBody>
      </p:sp>
      <p:sp>
        <p:nvSpPr>
          <p:cNvPr id="24" name="Callout text"/>
          <p:cNvSpPr txBox="1"/>
          <p:nvPr/>
        </p:nvSpPr>
        <p:spPr>
          <a:xfrm>
            <a:off x="2066544" y="4005072"/>
            <a:ext cx="9390888" cy="731520"/>
          </a:xfrm>
          <a:prstGeom prst="rect">
            <a:avLst/>
          </a:prstGeom>
          <a:noFill/>
        </p:spPr>
        <p:txBody>
          <a:bodyPr wrap="square" lIns="45720" tIns="0" rIns="45720" bIns="0" anchor="ctr">
            <a:noAutofit/>
          </a:bodyPr>
          <a:lstStyle/>
          <a:p>
            <a:pPr algn="l"/>
            <a:r>
              <a:rPr lang="en-GB" sz="2000" dirty="0">
                <a:solidFill>
                  <a:srgbClr val="262626"/>
                </a:solidFill>
              </a:rPr>
              <a:t>Does the robustness score alone determine a trajectory?</a:t>
            </a:r>
          </a:p>
        </p:txBody>
      </p:sp>
      <p:sp>
        <p:nvSpPr>
          <p:cNvPr id="25" name="Callout"/>
          <p:cNvSpPr/>
          <p:nvPr/>
        </p:nvSpPr>
        <p:spPr>
          <a:xfrm>
            <a:off x="603504" y="4855464"/>
            <a:ext cx="10991088" cy="731520"/>
          </a:xfrm>
          <a:prstGeom prst="rect">
            <a:avLst/>
          </a:prstGeom>
          <a:solidFill>
            <a:srgbClr val="EBF6FB"/>
          </a:solidFill>
          <a:ln>
            <a:noFill/>
          </a:ln>
        </p:spPr>
        <p:txBody>
          <a:bodyPr wrap="square" lIns="64008" tIns="27432" rIns="64008" bIns="27432" anchor="ctr">
            <a:noAutofit/>
          </a:bodyPr>
          <a:lstStyle/>
          <a:p>
            <a:pPr algn="ctr"/>
            <a:endParaRPr/>
          </a:p>
        </p:txBody>
      </p:sp>
      <p:sp>
        <p:nvSpPr>
          <p:cNvPr id="26" name="Callout bar"/>
          <p:cNvSpPr/>
          <p:nvPr/>
        </p:nvSpPr>
        <p:spPr>
          <a:xfrm>
            <a:off x="603504" y="4855464"/>
            <a:ext cx="64008" cy="731520"/>
          </a:xfrm>
          <a:prstGeom prst="rect">
            <a:avLst/>
          </a:prstGeom>
          <a:solidFill>
            <a:srgbClr val="24A0D8"/>
          </a:solidFill>
          <a:ln>
            <a:noFill/>
          </a:ln>
        </p:spPr>
        <p:txBody>
          <a:bodyPr wrap="square" lIns="64008" tIns="27432" rIns="64008" bIns="27432" anchor="ctr">
            <a:noAutofit/>
          </a:bodyPr>
          <a:lstStyle/>
          <a:p>
            <a:pPr algn="ctr"/>
            <a:endParaRPr/>
          </a:p>
        </p:txBody>
      </p:sp>
      <p:sp>
        <p:nvSpPr>
          <p:cNvPr id="27" name="Callout tag"/>
          <p:cNvSpPr txBox="1"/>
          <p:nvPr/>
        </p:nvSpPr>
        <p:spPr>
          <a:xfrm>
            <a:off x="832104" y="4855464"/>
            <a:ext cx="1188720" cy="731520"/>
          </a:xfrm>
          <a:prstGeom prst="rect">
            <a:avLst/>
          </a:prstGeom>
          <a:noFill/>
        </p:spPr>
        <p:txBody>
          <a:bodyPr wrap="square" lIns="45720" tIns="0" rIns="45720" bIns="0" anchor="ctr">
            <a:noAutofit/>
          </a:bodyPr>
          <a:lstStyle/>
          <a:p>
            <a:pPr algn="l"/>
            <a:r>
              <a:rPr lang="en-GB" sz="2000" b="1" dirty="0">
                <a:solidFill>
                  <a:srgbClr val="1D80AD"/>
                </a:solidFill>
              </a:rPr>
              <a:t>Method</a:t>
            </a:r>
          </a:p>
        </p:txBody>
      </p:sp>
      <p:sp>
        <p:nvSpPr>
          <p:cNvPr id="28" name="Callout text"/>
          <p:cNvSpPr txBox="1"/>
          <p:nvPr/>
        </p:nvSpPr>
        <p:spPr>
          <a:xfrm>
            <a:off x="2066544" y="4855464"/>
            <a:ext cx="9390888" cy="731520"/>
          </a:xfrm>
          <a:prstGeom prst="rect">
            <a:avLst/>
          </a:prstGeom>
          <a:noFill/>
        </p:spPr>
        <p:txBody>
          <a:bodyPr wrap="square" lIns="45720" tIns="0" rIns="45720" bIns="0" anchor="ctr">
            <a:noAutofit/>
          </a:bodyPr>
          <a:lstStyle/>
          <a:p>
            <a:pPr algn="l"/>
            <a:r>
              <a:rPr lang="en-GB" sz="2000" dirty="0">
                <a:solidFill>
                  <a:srgbClr val="262626"/>
                </a:solidFill>
              </a:rPr>
              <a:t>STL-FM, robustness guidance of the learned prior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Approach</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Background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8</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Demonstrations</a:t>
            </a:r>
          </a:p>
        </p:txBody>
      </p:sp>
      <p:sp>
        <p:nvSpPr>
          <p:cNvPr id="21" name="train"/>
          <p:cNvSpPr/>
          <p:nvPr/>
        </p:nvSpPr>
        <p:spPr>
          <a:xfrm>
            <a:off x="3516804"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Flow-matching training</a:t>
            </a:r>
          </a:p>
        </p:txBody>
      </p:sp>
      <p:sp>
        <p:nvSpPr>
          <p:cNvPr id="22" name="prior"/>
          <p:cNvSpPr/>
          <p:nvPr/>
        </p:nvSpPr>
        <p:spPr>
          <a:xfrm>
            <a:off x="6209400" y="2130552"/>
            <a:ext cx="2207046" cy="640080"/>
          </a:xfrm>
          <a:prstGeom prst="roundRect">
            <a:avLst>
              <a:gd name="adj" fmla="val 8000"/>
            </a:avLst>
          </a:prstGeom>
          <a:solidFill>
            <a:srgbClr val="CCD9EB"/>
          </a:solidFill>
          <a:ln w="19050">
            <a:solidFill>
              <a:srgbClr val="1954A6"/>
            </a:solidFill>
          </a:ln>
        </p:spPr>
        <p:txBody>
          <a:bodyPr wrap="square" lIns="64008" tIns="27432" rIns="64008" bIns="27432" anchor="ctr">
            <a:noAutofit/>
          </a:bodyPr>
          <a:lstStyle/>
          <a:p>
            <a:pPr algn="ctr"/>
            <a:r>
              <a:rPr lang="en-GB" sz="1600" dirty="0">
                <a:solidFill>
                  <a:srgbClr val="262626"/>
                </a:solidFill>
              </a:rPr>
              <a:t>Learned prior</a:t>
            </a:r>
          </a:p>
        </p:txBody>
      </p:sp>
      <p:sp>
        <p:nvSpPr>
          <p:cNvPr id="23" name="phi"/>
          <p:cNvSpPr/>
          <p:nvPr/>
        </p:nvSpPr>
        <p:spPr>
          <a:xfrm>
            <a:off x="824209"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STL requirement </a:t>
            </a:r>
            <a:r>
              <a:rPr lang="en-GB" sz="1600" i="1" dirty="0">
                <a:solidFill>
                  <a:srgbClr val="262626"/>
                </a:solidFill>
              </a:rPr>
              <a:t>φ</a:t>
            </a:r>
          </a:p>
        </p:txBody>
      </p:sp>
      <p:sp>
        <p:nvSpPr>
          <p:cNvPr id="24" name="comp"/>
          <p:cNvSpPr/>
          <p:nvPr/>
        </p:nvSpPr>
        <p:spPr>
          <a:xfrm>
            <a:off x="3516804"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Compiler</a:t>
            </a:r>
          </a:p>
        </p:txBody>
      </p:sp>
      <p:sp>
        <p:nvSpPr>
          <p:cNvPr id="25" name="score"/>
          <p:cNvSpPr/>
          <p:nvPr/>
        </p:nvSpPr>
        <p:spPr>
          <a:xfrm>
            <a:off x="6209400" y="3456432"/>
            <a:ext cx="2207046" cy="640080"/>
          </a:xfrm>
          <a:prstGeom prst="roundRect">
            <a:avLst>
              <a:gd name="adj" fmla="val 8000"/>
            </a:avLst>
          </a:prstGeom>
          <a:solidFill>
            <a:srgbClr val="F6D9E8"/>
          </a:solidFill>
          <a:ln w="19050">
            <a:solidFill>
              <a:srgbClr val="D85497"/>
            </a:solidFill>
          </a:ln>
        </p:spPr>
        <p:txBody>
          <a:bodyPr wrap="square" lIns="64008" tIns="27432" rIns="64008" bIns="27432" anchor="ctr">
            <a:noAutofit/>
          </a:bodyPr>
          <a:lstStyle/>
          <a:p>
            <a:pPr algn="ctr"/>
            <a:r>
              <a:rPr lang="en-GB" sz="1600" dirty="0">
                <a:solidFill>
                  <a:srgbClr val="262626"/>
                </a:solidFill>
              </a:rPr>
              <a:t>Robustness score </a:t>
            </a:r>
            <a:r>
              <a:rPr lang="en-GB" sz="1600" i="1" dirty="0">
                <a:solidFill>
                  <a:srgbClr val="262626"/>
                </a:solidFill>
              </a:rPr>
              <a:t>ρ</a:t>
            </a:r>
          </a:p>
        </p:txBody>
      </p:sp>
      <p:sp>
        <p:nvSpPr>
          <p:cNvPr id="26" name="samp"/>
          <p:cNvSpPr/>
          <p:nvPr/>
        </p:nvSpPr>
        <p:spPr>
          <a:xfrm>
            <a:off x="9122701" y="2130552"/>
            <a:ext cx="2251187" cy="1965960"/>
          </a:xfrm>
          <a:prstGeom prst="roundRect">
            <a:avLst>
              <a:gd name="adj" fmla="val 8000"/>
            </a:avLst>
          </a:prstGeom>
          <a:solidFill>
            <a:srgbClr val="CFEAF6"/>
          </a:solidFill>
          <a:ln w="19050">
            <a:solidFill>
              <a:srgbClr val="24A0D8"/>
            </a:solidFill>
          </a:ln>
        </p:spPr>
        <p:txBody>
          <a:bodyPr wrap="square" lIns="64008" tIns="27432" rIns="64008" bIns="27432" anchor="ctr">
            <a:noAutofit/>
          </a:bodyPr>
          <a:lstStyle/>
          <a:p>
            <a:pPr algn="ctr"/>
            <a:r>
              <a:rPr lang="en-GB" sz="1600" dirty="0">
                <a:solidFill>
                  <a:srgbClr val="262626"/>
                </a:solidFill>
              </a:rPr>
              <a:t>Guided sampler</a:t>
            </a:r>
          </a:p>
        </p:txBody>
      </p:sp>
      <p:sp>
        <p:nvSpPr>
          <p:cNvPr id="27" name="plan"/>
          <p:cNvSpPr/>
          <p:nvPr/>
        </p:nvSpPr>
        <p:spPr>
          <a:xfrm>
            <a:off x="9122701" y="4507992"/>
            <a:ext cx="2251187" cy="56692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600" dirty="0">
                <a:solidFill>
                  <a:srgbClr val="262626"/>
                </a:solidFill>
              </a:rPr>
              <a:t>Plan</a:t>
            </a:r>
          </a:p>
        </p:txBody>
      </p:sp>
      <p:sp>
        <p:nvSpPr>
          <p:cNvPr id="28" name="exec"/>
          <p:cNvSpPr/>
          <p:nvPr/>
        </p:nvSpPr>
        <p:spPr>
          <a:xfrm>
            <a:off x="9122701" y="5486400"/>
            <a:ext cx="2251187" cy="566928"/>
          </a:xfrm>
          <a:prstGeom prst="roundRect">
            <a:avLst>
              <a:gd name="adj" fmla="val 8000"/>
            </a:avLst>
          </a:prstGeom>
          <a:solidFill>
            <a:srgbClr val="F9FBEE"/>
          </a:solidFill>
          <a:ln w="19050">
            <a:solidFill>
              <a:srgbClr val="B0C92B"/>
            </a:solidFill>
          </a:ln>
        </p:spPr>
        <p:txBody>
          <a:bodyPr wrap="square" lIns="64008" tIns="27432" rIns="64008" bIns="27432" anchor="ctr">
            <a:noAutofit/>
          </a:bodyPr>
          <a:lstStyle/>
          <a:p>
            <a:pPr algn="ctr"/>
            <a:r>
              <a:rPr lang="en-GB" sz="1600" dirty="0">
                <a:solidFill>
                  <a:srgbClr val="262626"/>
                </a:solidFill>
              </a:rPr>
              <a:t>Execution</a:t>
            </a:r>
          </a:p>
        </p:txBody>
      </p:sp>
      <p:cxnSp>
        <p:nvCxnSpPr>
          <p:cNvPr id="29" name="Arrow"/>
          <p:cNvCxnSpPr/>
          <p:nvPr/>
        </p:nvCxnSpPr>
        <p:spPr>
          <a:xfrm>
            <a:off x="3031254" y="2450592"/>
            <a:ext cx="485550" cy="0"/>
          </a:xfrm>
          <a:prstGeom prst="straightConnector1">
            <a:avLst/>
          </a:prstGeom>
          <a:ln w="25400">
            <a:solidFill>
              <a:srgbClr val="1954A6"/>
            </a:solidFill>
            <a:tailEnd type="triangle" w="med" len="med"/>
          </a:ln>
        </p:spPr>
      </p:cxnSp>
      <p:cxnSp>
        <p:nvCxnSpPr>
          <p:cNvPr id="30" name="Arrow"/>
          <p:cNvCxnSpPr/>
          <p:nvPr/>
        </p:nvCxnSpPr>
        <p:spPr>
          <a:xfrm>
            <a:off x="5723850" y="2450592"/>
            <a:ext cx="485550" cy="0"/>
          </a:xfrm>
          <a:prstGeom prst="straightConnector1">
            <a:avLst/>
          </a:prstGeom>
          <a:ln w="25400">
            <a:solidFill>
              <a:srgbClr val="1954A6"/>
            </a:solidFill>
            <a:tailEnd type="triangle" w="med" len="med"/>
          </a:ln>
        </p:spPr>
      </p:cxnSp>
      <p:cxnSp>
        <p:nvCxnSpPr>
          <p:cNvPr id="31" name="Arrow"/>
          <p:cNvCxnSpPr/>
          <p:nvPr/>
        </p:nvCxnSpPr>
        <p:spPr>
          <a:xfrm>
            <a:off x="3031254" y="3776472"/>
            <a:ext cx="485550" cy="0"/>
          </a:xfrm>
          <a:prstGeom prst="straightConnector1">
            <a:avLst/>
          </a:prstGeom>
          <a:ln w="25400">
            <a:solidFill>
              <a:srgbClr val="D85497"/>
            </a:solidFill>
            <a:tailEnd type="triangle" w="med" len="med"/>
          </a:ln>
        </p:spPr>
      </p:cxnSp>
      <p:cxnSp>
        <p:nvCxnSpPr>
          <p:cNvPr id="32" name="Arrow"/>
          <p:cNvCxnSpPr/>
          <p:nvPr/>
        </p:nvCxnSpPr>
        <p:spPr>
          <a:xfrm>
            <a:off x="5723850" y="3776472"/>
            <a:ext cx="485550" cy="0"/>
          </a:xfrm>
          <a:prstGeom prst="straightConnector1">
            <a:avLst/>
          </a:prstGeom>
          <a:ln w="25400">
            <a:solidFill>
              <a:srgbClr val="D85497"/>
            </a:solidFill>
            <a:tailEnd type="triangle" w="med" len="med"/>
          </a:ln>
        </p:spPr>
      </p:cxnSp>
      <p:cxnSp>
        <p:nvCxnSpPr>
          <p:cNvPr id="33" name="Arrow"/>
          <p:cNvCxnSpPr/>
          <p:nvPr/>
        </p:nvCxnSpPr>
        <p:spPr>
          <a:xfrm>
            <a:off x="8416446" y="2450592"/>
            <a:ext cx="706255" cy="0"/>
          </a:xfrm>
          <a:prstGeom prst="straightConnector1">
            <a:avLst/>
          </a:prstGeom>
          <a:ln w="25400">
            <a:solidFill>
              <a:srgbClr val="1954A6"/>
            </a:solidFill>
            <a:tailEnd type="triangle" w="med" len="med"/>
          </a:ln>
        </p:spPr>
      </p:cxnSp>
      <p:cxnSp>
        <p:nvCxnSpPr>
          <p:cNvPr id="34" name="Arrow"/>
          <p:cNvCxnSpPr/>
          <p:nvPr/>
        </p:nvCxnSpPr>
        <p:spPr>
          <a:xfrm>
            <a:off x="8416446" y="3776472"/>
            <a:ext cx="706255" cy="0"/>
          </a:xfrm>
          <a:prstGeom prst="straightConnector1">
            <a:avLst/>
          </a:prstGeom>
          <a:ln w="25400">
            <a:solidFill>
              <a:srgbClr val="D85497"/>
            </a:solidFill>
            <a:tailEnd type="triangle" w="med" len="med"/>
          </a:ln>
        </p:spPr>
      </p:cxnSp>
      <p:cxnSp>
        <p:nvCxnSpPr>
          <p:cNvPr id="35" name="Arrow"/>
          <p:cNvCxnSpPr/>
          <p:nvPr/>
        </p:nvCxnSpPr>
        <p:spPr>
          <a:xfrm>
            <a:off x="10248294" y="4096512"/>
            <a:ext cx="0" cy="411480"/>
          </a:xfrm>
          <a:prstGeom prst="straightConnector1">
            <a:avLst/>
          </a:prstGeom>
          <a:ln w="25400">
            <a:solidFill>
              <a:srgbClr val="24A0D8"/>
            </a:solidFill>
            <a:tailEnd type="triangle" w="med" len="med"/>
          </a:ln>
        </p:spPr>
      </p:cxnSp>
      <p:cxnSp>
        <p:nvCxnSpPr>
          <p:cNvPr id="36" name="Arrow"/>
          <p:cNvCxnSpPr/>
          <p:nvPr/>
        </p:nvCxnSpPr>
        <p:spPr>
          <a:xfrm>
            <a:off x="10248294" y="5074920"/>
            <a:ext cx="0" cy="411480"/>
          </a:xfrm>
          <a:prstGeom prst="straightConnector1">
            <a:avLst/>
          </a:prstGeom>
          <a:ln w="25400">
            <a:solidFill>
              <a:srgbClr val="B0C92B"/>
            </a:solidFill>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Stating the requirement as an STL </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9</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STL requirement </a:t>
            </a:r>
            <a:r>
              <a:rPr lang="en-GB" sz="1600" i="1" dirty="0">
                <a:solidFill>
                  <a:srgbClr val="262626"/>
                </a:solidFill>
              </a:rPr>
              <a:t>φ</a:t>
            </a:r>
          </a:p>
        </p:txBody>
      </p:sp>
      <p:sp>
        <p:nvSpPr>
          <p:cNvPr id="24" name="comp"/>
          <p:cNvSpPr/>
          <p:nvPr/>
        </p:nvSpPr>
        <p:spPr>
          <a:xfrm>
            <a:off x="3516804"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Compiler</a:t>
            </a:r>
          </a:p>
        </p:txBody>
      </p:sp>
      <p:sp>
        <p:nvSpPr>
          <p:cNvPr id="25" name="score"/>
          <p:cNvSpPr/>
          <p:nvPr/>
        </p:nvSpPr>
        <p:spPr>
          <a:xfrm>
            <a:off x="6209400" y="3456432"/>
            <a:ext cx="2207046" cy="640080"/>
          </a:xfrm>
          <a:prstGeom prst="roundRect">
            <a:avLst>
              <a:gd name="adj" fmla="val 8000"/>
            </a:avLst>
          </a:prstGeom>
          <a:solidFill>
            <a:srgbClr val="F6D9E8"/>
          </a:solidFill>
          <a:ln w="19050">
            <a:solidFill>
              <a:srgbClr val="D85497"/>
            </a:solidFill>
          </a:ln>
        </p:spPr>
        <p:txBody>
          <a:bodyPr wrap="square" lIns="64008" tIns="27432" rIns="64008" bIns="27432" anchor="ctr">
            <a:noAutofit/>
          </a:bodyPr>
          <a:lstStyle/>
          <a:p>
            <a:pPr algn="ctr"/>
            <a:r>
              <a:rPr lang="en-GB" sz="1600" dirty="0">
                <a:solidFill>
                  <a:srgbClr val="262626"/>
                </a:solidFill>
              </a:rPr>
              <a:t>Robustness score </a:t>
            </a:r>
            <a:r>
              <a:rPr lang="en-GB" sz="1600" i="1" dirty="0">
                <a:solidFill>
                  <a:srgbClr val="262626"/>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85497"/>
            </a:solidFill>
            <a:tailEnd type="triangle" w="med" len="med"/>
          </a:ln>
        </p:spPr>
      </p:cxnSp>
      <p:cxnSp>
        <p:nvCxnSpPr>
          <p:cNvPr id="32" name="Arrow"/>
          <p:cNvCxnSpPr/>
          <p:nvPr/>
        </p:nvCxnSpPr>
        <p:spPr>
          <a:xfrm>
            <a:off x="5723850" y="3776472"/>
            <a:ext cx="485550" cy="0"/>
          </a:xfrm>
          <a:prstGeom prst="straightConnector1">
            <a:avLst/>
          </a:prstGeom>
          <a:ln w="25400">
            <a:solidFill>
              <a:srgbClr val="D85497"/>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Signal Temporal Logic</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10</a:t>
            </a:fld>
            <a:endParaRPr lang="en-GB"/>
          </a:p>
        </p:txBody>
      </p:sp>
      <p:sp>
        <p:nvSpPr>
          <p:cNvPr id="14" name="Label"/>
          <p:cNvSpPr txBox="1"/>
          <p:nvPr/>
        </p:nvSpPr>
        <p:spPr>
          <a:xfrm>
            <a:off x="603504" y="2240280"/>
            <a:ext cx="10991088" cy="548640"/>
          </a:xfrm>
          <a:prstGeom prst="rect">
            <a:avLst/>
          </a:prstGeom>
          <a:noFill/>
        </p:spPr>
        <p:txBody>
          <a:bodyPr wrap="square" lIns="45720" tIns="0" rIns="45720" bIns="0" anchor="ctr">
            <a:noAutofit/>
          </a:bodyPr>
          <a:lstStyle/>
          <a:p>
            <a:pPr algn="ctr"/>
            <a:r>
              <a:rPr lang="en-GB" sz="2800" dirty="0">
                <a:solidFill>
                  <a:srgbClr val="1954A6"/>
                </a:solidFill>
              </a:rPr>
              <a:t>Seat within [a, b]</a:t>
            </a:r>
            <a:r>
              <a:rPr lang="en-GB" sz="2800" dirty="0">
                <a:solidFill>
                  <a:srgbClr val="6E6E6E"/>
                </a:solidFill>
              </a:rPr>
              <a:t>,  </a:t>
            </a:r>
            <a:r>
              <a:rPr lang="en-GB" sz="2800" dirty="0">
                <a:solidFill>
                  <a:srgbClr val="7B8D1E"/>
                </a:solidFill>
              </a:rPr>
              <a:t>hold for d</a:t>
            </a:r>
            <a:r>
              <a:rPr lang="en-GB" sz="2800" dirty="0">
                <a:solidFill>
                  <a:srgbClr val="6E6E6E"/>
                </a:solidFill>
              </a:rPr>
              <a:t>,  </a:t>
            </a:r>
            <a:r>
              <a:rPr lang="en-GB" sz="2800" dirty="0">
                <a:solidFill>
                  <a:srgbClr val="D85497"/>
                </a:solidFill>
              </a:rPr>
              <a:t>avoid the operator zone</a:t>
            </a:r>
          </a:p>
        </p:txBody>
      </p:sp>
      <p:cxnSp>
        <p:nvCxnSpPr>
          <p:cNvPr id="15" name="Arrow"/>
          <p:cNvCxnSpPr/>
          <p:nvPr/>
        </p:nvCxnSpPr>
        <p:spPr>
          <a:xfrm>
            <a:off x="6099048" y="2926080"/>
            <a:ext cx="0" cy="594360"/>
          </a:xfrm>
          <a:prstGeom prst="straightConnector1">
            <a:avLst/>
          </a:prstGeom>
          <a:ln w="25400">
            <a:solidFill>
              <a:srgbClr val="A9A9A9"/>
            </a:solidFill>
            <a:tailEnd type="triangle" w="med" len="med"/>
          </a:ln>
        </p:spPr>
      </p:cxnSp>
      <p:pic>
        <p:nvPicPr>
          <p:cNvPr id="16" name="Equation" descr="phi equals eventually within a b, always within 0 d, seated, and always within 0 T, not operator"/>
          <p:cNvPicPr>
            <a:picLocks noChangeAspect="1"/>
          </p:cNvPicPr>
          <p:nvPr/>
        </p:nvPicPr>
        <p:blipFill>
          <a:blip r:embed="rId3"/>
          <a:stretch>
            <a:fillRect/>
          </a:stretch>
        </p:blipFill>
        <p:spPr>
          <a:xfrm>
            <a:off x="2546604" y="3703320"/>
            <a:ext cx="7104888" cy="434340"/>
          </a:xfrm>
          <a:prstGeom prst="rect">
            <a:avLst/>
          </a:prstGeom>
        </p:spPr>
      </p:pic>
      <p:sp>
        <p:nvSpPr>
          <p:cNvPr id="17" name="Label"/>
          <p:cNvSpPr txBox="1"/>
          <p:nvPr/>
        </p:nvSpPr>
        <p:spPr>
          <a:xfrm>
            <a:off x="603504" y="4846320"/>
            <a:ext cx="10991088" cy="365760"/>
          </a:xfrm>
          <a:prstGeom prst="rect">
            <a:avLst/>
          </a:prstGeom>
          <a:noFill/>
        </p:spPr>
        <p:txBody>
          <a:bodyPr wrap="square" lIns="45720" tIns="0" rIns="45720" bIns="0" anchor="t">
            <a:noAutofit/>
          </a:bodyPr>
          <a:lstStyle/>
          <a:p>
            <a:pPr algn="ctr"/>
            <a:r>
              <a:rPr lang="en-GB" sz="1700" dirty="0">
                <a:solidFill>
                  <a:srgbClr val="6E6E6E"/>
                </a:solidFill>
              </a:rPr>
              <a:t>The requirement bounds when the part is seated and where the robot may not go</a:t>
            </a:r>
          </a:p>
        </p:txBody>
      </p:sp>
      <p:sp>
        <p:nvSpPr>
          <p:cNvPr id="18"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Maler and Nickovic 2004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Evaluated fragment</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11</a:t>
            </a:fld>
            <a:endParaRPr lang="en-GB"/>
          </a:p>
        </p:txBody>
      </p:sp>
      <p:pic>
        <p:nvPicPr>
          <p:cNvPr id="14" name="Equation" descr="Syntax of the evaluated fragment"/>
          <p:cNvPicPr>
            <a:picLocks noChangeAspect="1"/>
          </p:cNvPicPr>
          <p:nvPr/>
        </p:nvPicPr>
        <p:blipFill>
          <a:blip r:embed="rId3"/>
          <a:stretch>
            <a:fillRect/>
          </a:stretch>
        </p:blipFill>
        <p:spPr>
          <a:xfrm>
            <a:off x="2132838" y="1965960"/>
            <a:ext cx="7932420" cy="344424"/>
          </a:xfrm>
          <a:prstGeom prst="rect">
            <a:avLst/>
          </a:prstGeom>
        </p:spPr>
      </p:pic>
      <p:sp>
        <p:nvSpPr>
          <p:cNvPr id="15" name="Label"/>
          <p:cNvSpPr txBox="1"/>
          <p:nvPr/>
        </p:nvSpPr>
        <p:spPr>
          <a:xfrm>
            <a:off x="640080" y="2633472"/>
            <a:ext cx="1828800" cy="274320"/>
          </a:xfrm>
          <a:prstGeom prst="rect">
            <a:avLst/>
          </a:prstGeom>
          <a:noFill/>
        </p:spPr>
        <p:txBody>
          <a:bodyPr wrap="square" lIns="45720" tIns="0" rIns="45720" bIns="0" anchor="t">
            <a:noAutofit/>
          </a:bodyPr>
          <a:lstStyle/>
          <a:p>
            <a:pPr algn="l"/>
            <a:r>
              <a:rPr lang="en-GB" sz="1400" dirty="0">
                <a:solidFill>
                  <a:srgbClr val="6E6E6E"/>
                </a:solidFill>
              </a:rPr>
              <a:t>Construct</a:t>
            </a:r>
          </a:p>
        </p:txBody>
      </p:sp>
      <p:sp>
        <p:nvSpPr>
          <p:cNvPr id="16" name="Label"/>
          <p:cNvSpPr txBox="1"/>
          <p:nvPr/>
        </p:nvSpPr>
        <p:spPr>
          <a:xfrm>
            <a:off x="2560320" y="2633472"/>
            <a:ext cx="3566160" cy="274320"/>
          </a:xfrm>
          <a:prstGeom prst="rect">
            <a:avLst/>
          </a:prstGeom>
          <a:noFill/>
        </p:spPr>
        <p:txBody>
          <a:bodyPr wrap="square" lIns="45720" tIns="0" rIns="45720" bIns="0" anchor="t">
            <a:noAutofit/>
          </a:bodyPr>
          <a:lstStyle/>
          <a:p>
            <a:pPr algn="l"/>
            <a:r>
              <a:rPr lang="en-GB" sz="1400" dirty="0">
                <a:solidFill>
                  <a:srgbClr val="6E6E6E"/>
                </a:solidFill>
              </a:rPr>
              <a:t>Reads as</a:t>
            </a:r>
          </a:p>
        </p:txBody>
      </p:sp>
      <p:sp>
        <p:nvSpPr>
          <p:cNvPr id="17" name="Label"/>
          <p:cNvSpPr txBox="1"/>
          <p:nvPr/>
        </p:nvSpPr>
        <p:spPr>
          <a:xfrm>
            <a:off x="6217920" y="2633472"/>
            <a:ext cx="5349240" cy="274320"/>
          </a:xfrm>
          <a:prstGeom prst="rect">
            <a:avLst/>
          </a:prstGeom>
          <a:noFill/>
        </p:spPr>
        <p:txBody>
          <a:bodyPr wrap="square" lIns="45720" tIns="0" rIns="45720" bIns="0" anchor="t">
            <a:noAutofit/>
          </a:bodyPr>
          <a:lstStyle/>
          <a:p>
            <a:pPr algn="l"/>
            <a:r>
              <a:rPr lang="en-GB" sz="1400" dirty="0">
                <a:solidFill>
                  <a:srgbClr val="6E6E6E"/>
                </a:solidFill>
              </a:rPr>
              <a:t>In the load-and-bond requirement</a:t>
            </a:r>
          </a:p>
        </p:txBody>
      </p:sp>
      <p:cxnSp>
        <p:nvCxnSpPr>
          <p:cNvPr id="18" name="Rule"/>
          <p:cNvCxnSpPr/>
          <p:nvPr/>
        </p:nvCxnSpPr>
        <p:spPr>
          <a:xfrm>
            <a:off x="640080" y="2944368"/>
            <a:ext cx="10927080" cy="0"/>
          </a:xfrm>
          <a:prstGeom prst="straightConnector1">
            <a:avLst/>
          </a:prstGeom>
          <a:ln w="9525">
            <a:solidFill>
              <a:srgbClr val="D2D2D2"/>
            </a:solidFill>
          </a:ln>
        </p:spPr>
      </p:cxnSp>
      <p:sp>
        <p:nvSpPr>
          <p:cNvPr id="19" name="Label"/>
          <p:cNvSpPr txBox="1"/>
          <p:nvPr/>
        </p:nvSpPr>
        <p:spPr>
          <a:xfrm>
            <a:off x="640080" y="3017520"/>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μ</a:t>
            </a:r>
          </a:p>
        </p:txBody>
      </p:sp>
      <p:sp>
        <p:nvSpPr>
          <p:cNvPr id="20" name="Label"/>
          <p:cNvSpPr txBox="1"/>
          <p:nvPr/>
        </p:nvSpPr>
        <p:spPr>
          <a:xfrm>
            <a:off x="2560320" y="3017520"/>
            <a:ext cx="3566160" cy="402336"/>
          </a:xfrm>
          <a:prstGeom prst="rect">
            <a:avLst/>
          </a:prstGeom>
          <a:noFill/>
        </p:spPr>
        <p:txBody>
          <a:bodyPr wrap="square" lIns="45720" tIns="0" rIns="45720" bIns="0" anchor="ctr">
            <a:noAutofit/>
          </a:bodyPr>
          <a:lstStyle/>
          <a:p>
            <a:pPr algn="l"/>
            <a:r>
              <a:rPr lang="en-GB" sz="1700" dirty="0">
                <a:solidFill>
                  <a:srgbClr val="262626"/>
                </a:solidFill>
              </a:rPr>
              <a:t>a predicate, </a:t>
            </a:r>
            <a:r>
              <a:rPr lang="en-GB" sz="1700" dirty="0">
                <a:solidFill>
                  <a:srgbClr val="262626"/>
                </a:solidFill>
                <a:latin typeface="Cambria Math"/>
                <a:ea typeface="Cambria Math"/>
                <a:cs typeface="Cambria Math"/>
                <a:sym typeface="Cambria Math"/>
              </a:rPr>
              <a:t>h(x) ≥ 0</a:t>
            </a:r>
          </a:p>
        </p:txBody>
      </p:sp>
      <p:sp>
        <p:nvSpPr>
          <p:cNvPr id="21" name="Label"/>
          <p:cNvSpPr txBox="1"/>
          <p:nvPr/>
        </p:nvSpPr>
        <p:spPr>
          <a:xfrm>
            <a:off x="6217920" y="3017520"/>
            <a:ext cx="5349240" cy="402336"/>
          </a:xfrm>
          <a:prstGeom prst="rect">
            <a:avLst/>
          </a:prstGeom>
          <a:noFill/>
        </p:spPr>
        <p:txBody>
          <a:bodyPr wrap="square" lIns="45720" tIns="0" rIns="45720" bIns="0" anchor="ctr">
            <a:noAutofit/>
          </a:bodyPr>
          <a:lstStyle/>
          <a:p>
            <a:pPr algn="l"/>
            <a:r>
              <a:rPr lang="en-GB" sz="1700" i="1" dirty="0">
                <a:solidFill>
                  <a:srgbClr val="262626"/>
                </a:solidFill>
              </a:rPr>
              <a:t>seated</a:t>
            </a:r>
            <a:r>
              <a:rPr lang="en-GB" sz="1700" dirty="0">
                <a:solidFill>
                  <a:srgbClr val="262626"/>
                </a:solidFill>
              </a:rPr>
              <a:t>, the part within tolerance of the seat</a:t>
            </a:r>
          </a:p>
        </p:txBody>
      </p:sp>
      <p:cxnSp>
        <p:nvCxnSpPr>
          <p:cNvPr id="22" name="Rule"/>
          <p:cNvCxnSpPr/>
          <p:nvPr/>
        </p:nvCxnSpPr>
        <p:spPr>
          <a:xfrm>
            <a:off x="640080" y="3474720"/>
            <a:ext cx="10927080" cy="0"/>
          </a:xfrm>
          <a:prstGeom prst="straightConnector1">
            <a:avLst/>
          </a:prstGeom>
          <a:ln w="9525">
            <a:solidFill>
              <a:srgbClr val="D2D2D2"/>
            </a:solidFill>
          </a:ln>
        </p:spPr>
      </p:cxnSp>
      <p:sp>
        <p:nvSpPr>
          <p:cNvPr id="23" name="Label"/>
          <p:cNvSpPr txBox="1"/>
          <p:nvPr/>
        </p:nvSpPr>
        <p:spPr>
          <a:xfrm>
            <a:off x="640080" y="3547872"/>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¬μ</a:t>
            </a:r>
          </a:p>
        </p:txBody>
      </p:sp>
      <p:sp>
        <p:nvSpPr>
          <p:cNvPr id="24" name="Label"/>
          <p:cNvSpPr txBox="1"/>
          <p:nvPr/>
        </p:nvSpPr>
        <p:spPr>
          <a:xfrm>
            <a:off x="2560320" y="3547872"/>
            <a:ext cx="3566160" cy="402336"/>
          </a:xfrm>
          <a:prstGeom prst="rect">
            <a:avLst/>
          </a:prstGeom>
          <a:noFill/>
        </p:spPr>
        <p:txBody>
          <a:bodyPr wrap="square" lIns="45720" tIns="0" rIns="45720" bIns="0" anchor="ctr">
            <a:noAutofit/>
          </a:bodyPr>
          <a:lstStyle/>
          <a:p>
            <a:pPr algn="l"/>
            <a:r>
              <a:rPr lang="en-GB" sz="1700" dirty="0">
                <a:solidFill>
                  <a:srgbClr val="262626"/>
                </a:solidFill>
                <a:latin typeface="Cambria Math"/>
                <a:ea typeface="Cambria Math"/>
                <a:cs typeface="Cambria Math"/>
                <a:sym typeface="Cambria Math"/>
              </a:rPr>
              <a:t>μ</a:t>
            </a:r>
            <a:r>
              <a:rPr lang="en-GB" sz="1700" dirty="0">
                <a:solidFill>
                  <a:srgbClr val="262626"/>
                </a:solidFill>
              </a:rPr>
              <a:t> does not hold</a:t>
            </a:r>
          </a:p>
        </p:txBody>
      </p:sp>
      <p:sp>
        <p:nvSpPr>
          <p:cNvPr id="25" name="Label"/>
          <p:cNvSpPr txBox="1"/>
          <p:nvPr/>
        </p:nvSpPr>
        <p:spPr>
          <a:xfrm>
            <a:off x="6217920" y="3547872"/>
            <a:ext cx="5349240" cy="402336"/>
          </a:xfrm>
          <a:prstGeom prst="rect">
            <a:avLst/>
          </a:prstGeom>
          <a:noFill/>
        </p:spPr>
        <p:txBody>
          <a:bodyPr wrap="square" lIns="45720" tIns="0" rIns="45720" bIns="0" anchor="ctr">
            <a:noAutofit/>
          </a:bodyPr>
          <a:lstStyle/>
          <a:p>
            <a:pPr algn="l"/>
            <a:r>
              <a:rPr lang="en-GB" sz="1700" dirty="0">
                <a:solidFill>
                  <a:srgbClr val="262626"/>
                </a:solidFill>
                <a:latin typeface="Cambria Math"/>
                <a:ea typeface="Cambria Math"/>
                <a:cs typeface="Cambria Math"/>
                <a:sym typeface="Cambria Math"/>
              </a:rPr>
              <a:t>¬</a:t>
            </a:r>
            <a:r>
              <a:rPr lang="en-GB" sz="1700" i="1" dirty="0">
                <a:solidFill>
                  <a:srgbClr val="262626"/>
                </a:solidFill>
              </a:rPr>
              <a:t>operator</a:t>
            </a:r>
            <a:r>
              <a:rPr lang="en-GB" sz="1700" dirty="0">
                <a:solidFill>
                  <a:srgbClr val="262626"/>
                </a:solidFill>
              </a:rPr>
              <a:t>, outside the operator zone</a:t>
            </a:r>
          </a:p>
        </p:txBody>
      </p:sp>
      <p:cxnSp>
        <p:nvCxnSpPr>
          <p:cNvPr id="26" name="Rule"/>
          <p:cNvCxnSpPr/>
          <p:nvPr/>
        </p:nvCxnSpPr>
        <p:spPr>
          <a:xfrm>
            <a:off x="640080" y="4005072"/>
            <a:ext cx="10927080" cy="0"/>
          </a:xfrm>
          <a:prstGeom prst="straightConnector1">
            <a:avLst/>
          </a:prstGeom>
          <a:ln w="9525">
            <a:solidFill>
              <a:srgbClr val="D2D2D2"/>
            </a:solidFill>
          </a:ln>
        </p:spPr>
      </p:cxnSp>
      <p:sp>
        <p:nvSpPr>
          <p:cNvPr id="27" name="Label"/>
          <p:cNvSpPr txBox="1"/>
          <p:nvPr/>
        </p:nvSpPr>
        <p:spPr>
          <a:xfrm>
            <a:off x="640080" y="4078224"/>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φ</a:t>
            </a:r>
            <a:r>
              <a:rPr lang="en-GB" sz="2200" baseline="-25000" dirty="0">
                <a:solidFill>
                  <a:srgbClr val="262626"/>
                </a:solidFill>
              </a:rPr>
              <a:t>1</a:t>
            </a:r>
            <a:r>
              <a:rPr lang="en-GB" sz="2200" dirty="0">
                <a:solidFill>
                  <a:srgbClr val="262626"/>
                </a:solidFill>
                <a:latin typeface="Cambria Math"/>
                <a:ea typeface="Cambria Math"/>
                <a:cs typeface="Cambria Math"/>
                <a:sym typeface="Cambria Math"/>
              </a:rPr>
              <a:t> ∧ φ</a:t>
            </a:r>
            <a:r>
              <a:rPr lang="en-GB" sz="2200" baseline="-25000" dirty="0">
                <a:solidFill>
                  <a:srgbClr val="262626"/>
                </a:solidFill>
              </a:rPr>
              <a:t>2</a:t>
            </a:r>
          </a:p>
        </p:txBody>
      </p:sp>
      <p:sp>
        <p:nvSpPr>
          <p:cNvPr id="28" name="Label"/>
          <p:cNvSpPr txBox="1"/>
          <p:nvPr/>
        </p:nvSpPr>
        <p:spPr>
          <a:xfrm>
            <a:off x="2560320" y="4078224"/>
            <a:ext cx="3566160" cy="402336"/>
          </a:xfrm>
          <a:prstGeom prst="rect">
            <a:avLst/>
          </a:prstGeom>
          <a:noFill/>
        </p:spPr>
        <p:txBody>
          <a:bodyPr wrap="square" lIns="45720" tIns="0" rIns="45720" bIns="0" anchor="ctr">
            <a:noAutofit/>
          </a:bodyPr>
          <a:lstStyle/>
          <a:p>
            <a:pPr algn="l"/>
            <a:r>
              <a:rPr lang="en-GB" sz="1700" dirty="0">
                <a:solidFill>
                  <a:srgbClr val="262626"/>
                </a:solidFill>
              </a:rPr>
              <a:t>both hold</a:t>
            </a:r>
          </a:p>
        </p:txBody>
      </p:sp>
      <p:sp>
        <p:nvSpPr>
          <p:cNvPr id="29" name="Label"/>
          <p:cNvSpPr txBox="1"/>
          <p:nvPr/>
        </p:nvSpPr>
        <p:spPr>
          <a:xfrm>
            <a:off x="6217920" y="4078224"/>
            <a:ext cx="5349240" cy="402336"/>
          </a:xfrm>
          <a:prstGeom prst="rect">
            <a:avLst/>
          </a:prstGeom>
          <a:noFill/>
        </p:spPr>
        <p:txBody>
          <a:bodyPr wrap="square" lIns="45720" tIns="0" rIns="45720" bIns="0" anchor="ctr">
            <a:noAutofit/>
          </a:bodyPr>
          <a:lstStyle/>
          <a:p>
            <a:pPr algn="l"/>
            <a:r>
              <a:rPr lang="en-GB" sz="1700" dirty="0">
                <a:solidFill>
                  <a:srgbClr val="262626"/>
                </a:solidFill>
              </a:rPr>
              <a:t>seated on time and outside the zone</a:t>
            </a:r>
          </a:p>
        </p:txBody>
      </p:sp>
      <p:cxnSp>
        <p:nvCxnSpPr>
          <p:cNvPr id="30" name="Rule"/>
          <p:cNvCxnSpPr/>
          <p:nvPr/>
        </p:nvCxnSpPr>
        <p:spPr>
          <a:xfrm>
            <a:off x="640080" y="4535424"/>
            <a:ext cx="10927080" cy="0"/>
          </a:xfrm>
          <a:prstGeom prst="straightConnector1">
            <a:avLst/>
          </a:prstGeom>
          <a:ln w="9525">
            <a:solidFill>
              <a:srgbClr val="D2D2D2"/>
            </a:solidFill>
          </a:ln>
        </p:spPr>
      </p:cxnSp>
      <p:sp>
        <p:nvSpPr>
          <p:cNvPr id="31" name="Label"/>
          <p:cNvSpPr txBox="1"/>
          <p:nvPr/>
        </p:nvSpPr>
        <p:spPr>
          <a:xfrm>
            <a:off x="640080" y="4608576"/>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a:t>
            </a:r>
            <a:r>
              <a:rPr lang="en-GB" sz="2200" baseline="-25000" dirty="0">
                <a:solidFill>
                  <a:srgbClr val="262626"/>
                </a:solidFill>
              </a:rPr>
              <a:t>[a,b]</a:t>
            </a:r>
            <a:r>
              <a:rPr lang="en-GB" sz="2200" dirty="0">
                <a:solidFill>
                  <a:srgbClr val="262626"/>
                </a:solidFill>
                <a:latin typeface="Cambria Math"/>
                <a:ea typeface="Cambria Math"/>
                <a:cs typeface="Cambria Math"/>
                <a:sym typeface="Cambria Math"/>
              </a:rPr>
              <a:t> φ</a:t>
            </a:r>
          </a:p>
        </p:txBody>
      </p:sp>
      <p:sp>
        <p:nvSpPr>
          <p:cNvPr id="32" name="Label"/>
          <p:cNvSpPr txBox="1"/>
          <p:nvPr/>
        </p:nvSpPr>
        <p:spPr>
          <a:xfrm>
            <a:off x="2560320" y="4608576"/>
            <a:ext cx="3566160" cy="402336"/>
          </a:xfrm>
          <a:prstGeom prst="rect">
            <a:avLst/>
          </a:prstGeom>
          <a:noFill/>
        </p:spPr>
        <p:txBody>
          <a:bodyPr wrap="square" lIns="45720" tIns="0" rIns="45720" bIns="0" anchor="ctr">
            <a:noAutofit/>
          </a:bodyPr>
          <a:lstStyle/>
          <a:p>
            <a:pPr algn="l"/>
            <a:r>
              <a:rPr lang="en-GB" sz="1700" dirty="0">
                <a:solidFill>
                  <a:srgbClr val="262626"/>
                </a:solidFill>
                <a:latin typeface="Cambria Math"/>
                <a:ea typeface="Cambria Math"/>
                <a:cs typeface="Cambria Math"/>
                <a:sym typeface="Cambria Math"/>
              </a:rPr>
              <a:t>φ</a:t>
            </a:r>
            <a:r>
              <a:rPr lang="en-GB" sz="1700" dirty="0">
                <a:solidFill>
                  <a:srgbClr val="262626"/>
                </a:solidFill>
              </a:rPr>
              <a:t> at some instant of [a, b]</a:t>
            </a:r>
          </a:p>
        </p:txBody>
      </p:sp>
      <p:sp>
        <p:nvSpPr>
          <p:cNvPr id="33" name="Label"/>
          <p:cNvSpPr txBox="1"/>
          <p:nvPr/>
        </p:nvSpPr>
        <p:spPr>
          <a:xfrm>
            <a:off x="6217920" y="4608576"/>
            <a:ext cx="5349240" cy="402336"/>
          </a:xfrm>
          <a:prstGeom prst="rect">
            <a:avLst/>
          </a:prstGeom>
          <a:noFill/>
        </p:spPr>
        <p:txBody>
          <a:bodyPr wrap="square" lIns="45720" tIns="0" rIns="45720" bIns="0" anchor="ctr">
            <a:noAutofit/>
          </a:bodyPr>
          <a:lstStyle/>
          <a:p>
            <a:pPr algn="l"/>
            <a:r>
              <a:rPr lang="en-GB" sz="1700" dirty="0">
                <a:solidFill>
                  <a:srgbClr val="262626"/>
                </a:solidFill>
              </a:rPr>
              <a:t>the part is seated within the open time</a:t>
            </a:r>
          </a:p>
        </p:txBody>
      </p:sp>
      <p:cxnSp>
        <p:nvCxnSpPr>
          <p:cNvPr id="34" name="Rule"/>
          <p:cNvCxnSpPr/>
          <p:nvPr/>
        </p:nvCxnSpPr>
        <p:spPr>
          <a:xfrm>
            <a:off x="640080" y="5065776"/>
            <a:ext cx="10927080" cy="0"/>
          </a:xfrm>
          <a:prstGeom prst="straightConnector1">
            <a:avLst/>
          </a:prstGeom>
          <a:ln w="9525">
            <a:solidFill>
              <a:srgbClr val="D2D2D2"/>
            </a:solidFill>
          </a:ln>
        </p:spPr>
      </p:cxnSp>
      <p:sp>
        <p:nvSpPr>
          <p:cNvPr id="35" name="Label"/>
          <p:cNvSpPr txBox="1"/>
          <p:nvPr/>
        </p:nvSpPr>
        <p:spPr>
          <a:xfrm>
            <a:off x="640080" y="5138928"/>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a:t>
            </a:r>
            <a:r>
              <a:rPr lang="en-GB" sz="2200" baseline="-25000" dirty="0">
                <a:solidFill>
                  <a:srgbClr val="262626"/>
                </a:solidFill>
              </a:rPr>
              <a:t>[a,b]</a:t>
            </a:r>
            <a:r>
              <a:rPr lang="en-GB" sz="2200" dirty="0">
                <a:solidFill>
                  <a:srgbClr val="262626"/>
                </a:solidFill>
                <a:latin typeface="Cambria Math"/>
                <a:ea typeface="Cambria Math"/>
                <a:cs typeface="Cambria Math"/>
                <a:sym typeface="Cambria Math"/>
              </a:rPr>
              <a:t> φ</a:t>
            </a:r>
          </a:p>
        </p:txBody>
      </p:sp>
      <p:sp>
        <p:nvSpPr>
          <p:cNvPr id="36" name="Label"/>
          <p:cNvSpPr txBox="1"/>
          <p:nvPr/>
        </p:nvSpPr>
        <p:spPr>
          <a:xfrm>
            <a:off x="2560320" y="5138928"/>
            <a:ext cx="3566160" cy="402336"/>
          </a:xfrm>
          <a:prstGeom prst="rect">
            <a:avLst/>
          </a:prstGeom>
          <a:noFill/>
        </p:spPr>
        <p:txBody>
          <a:bodyPr wrap="square" lIns="45720" tIns="0" rIns="45720" bIns="0" anchor="ctr">
            <a:noAutofit/>
          </a:bodyPr>
          <a:lstStyle/>
          <a:p>
            <a:pPr algn="l"/>
            <a:r>
              <a:rPr lang="en-GB" sz="1700" dirty="0">
                <a:solidFill>
                  <a:srgbClr val="262626"/>
                </a:solidFill>
                <a:latin typeface="Cambria Math"/>
                <a:ea typeface="Cambria Math"/>
                <a:cs typeface="Cambria Math"/>
                <a:sym typeface="Cambria Math"/>
              </a:rPr>
              <a:t>φ</a:t>
            </a:r>
            <a:r>
              <a:rPr lang="en-GB" sz="1700" dirty="0">
                <a:solidFill>
                  <a:srgbClr val="262626"/>
                </a:solidFill>
              </a:rPr>
              <a:t> at every instant of [a, b]</a:t>
            </a:r>
          </a:p>
        </p:txBody>
      </p:sp>
      <p:sp>
        <p:nvSpPr>
          <p:cNvPr id="37" name="Label"/>
          <p:cNvSpPr txBox="1"/>
          <p:nvPr/>
        </p:nvSpPr>
        <p:spPr>
          <a:xfrm>
            <a:off x="6217920" y="5138928"/>
            <a:ext cx="5349240" cy="402336"/>
          </a:xfrm>
          <a:prstGeom prst="rect">
            <a:avLst/>
          </a:prstGeom>
          <a:noFill/>
        </p:spPr>
        <p:txBody>
          <a:bodyPr wrap="square" lIns="45720" tIns="0" rIns="45720" bIns="0" anchor="ctr">
            <a:noAutofit/>
          </a:bodyPr>
          <a:lstStyle/>
          <a:p>
            <a:pPr algn="l"/>
            <a:r>
              <a:rPr lang="en-GB" sz="1700" dirty="0">
                <a:solidFill>
                  <a:srgbClr val="262626"/>
                </a:solidFill>
              </a:rPr>
              <a:t>held for d, outside the zone throughout</a:t>
            </a:r>
          </a:p>
        </p:txBody>
      </p:sp>
      <p:cxnSp>
        <p:nvCxnSpPr>
          <p:cNvPr id="38" name="Rule"/>
          <p:cNvCxnSpPr/>
          <p:nvPr/>
        </p:nvCxnSpPr>
        <p:spPr>
          <a:xfrm>
            <a:off x="640080" y="5596128"/>
            <a:ext cx="10927080" cy="0"/>
          </a:xfrm>
          <a:prstGeom prst="straightConnector1">
            <a:avLst/>
          </a:prstGeom>
          <a:ln w="9525">
            <a:solidFill>
              <a:srgbClr val="D2D2D2"/>
            </a:solidFill>
          </a:ln>
        </p:spPr>
      </p:cxnSp>
      <p:sp>
        <p:nvSpPr>
          <p:cNvPr id="39" name="Label"/>
          <p:cNvSpPr txBox="1"/>
          <p:nvPr/>
        </p:nvSpPr>
        <p:spPr>
          <a:xfrm>
            <a:off x="640080" y="5715000"/>
            <a:ext cx="10972800" cy="292608"/>
          </a:xfrm>
          <a:prstGeom prst="rect">
            <a:avLst/>
          </a:prstGeom>
          <a:noFill/>
        </p:spPr>
        <p:txBody>
          <a:bodyPr wrap="square" lIns="45720" tIns="0" rIns="45720" bIns="0" anchor="t">
            <a:noAutofit/>
          </a:bodyPr>
          <a:lstStyle/>
          <a:p>
            <a:pPr algn="l"/>
            <a:r>
              <a:rPr lang="en-GB" sz="1400" dirty="0">
                <a:solidFill>
                  <a:srgbClr val="6E6E6E"/>
                </a:solidFill>
              </a:rPr>
              <a:t>Disjunction and until are part of STL and are compiled, but no study in this thesis evaluates them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Quantitative 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12</a:t>
            </a:fld>
            <a:endParaRPr lang="en-GB"/>
          </a:p>
        </p:txBody>
      </p:sp>
      <p:pic>
        <p:nvPicPr>
          <p:cNvPr id="14" name="Equation" descr="Robustness of the evaluated fragment"/>
          <p:cNvPicPr>
            <a:picLocks noChangeAspect="1"/>
          </p:cNvPicPr>
          <p:nvPr/>
        </p:nvPicPr>
        <p:blipFill>
          <a:blip r:embed="rId3"/>
          <a:stretch>
            <a:fillRect/>
          </a:stretch>
        </p:blipFill>
        <p:spPr>
          <a:xfrm>
            <a:off x="1931746" y="1920240"/>
            <a:ext cx="8334604" cy="1136066"/>
          </a:xfrm>
          <a:prstGeom prst="rect">
            <a:avLst/>
          </a:prstGeom>
        </p:spPr>
      </p:pic>
      <p:pic>
        <p:nvPicPr>
          <p:cNvPr id="15" name="Equation" descr="Soundness: positive robustness implies satisfaction"/>
          <p:cNvPicPr>
            <a:picLocks noChangeAspect="1"/>
          </p:cNvPicPr>
          <p:nvPr/>
        </p:nvPicPr>
        <p:blipFill>
          <a:blip r:embed="rId4"/>
          <a:stretch>
            <a:fillRect/>
          </a:stretch>
        </p:blipFill>
        <p:spPr>
          <a:xfrm>
            <a:off x="4976279" y="3127248"/>
            <a:ext cx="2245538" cy="304038"/>
          </a:xfrm>
          <a:prstGeom prst="rect">
            <a:avLst/>
          </a:prstGeom>
        </p:spPr>
      </p:pic>
      <p:pic>
        <p:nvPicPr>
          <p:cNvPr id="16" name="Figure" descr="Three executions in the load-and-bond cell with robustness +2.6, -8.6 and -6.0 cm"/>
          <p:cNvPicPr>
            <a:picLocks noChangeAspect="1"/>
          </p:cNvPicPr>
          <p:nvPr/>
        </p:nvPicPr>
        <p:blipFill>
          <a:blip r:embed="rId5"/>
          <a:stretch>
            <a:fillRect/>
          </a:stretch>
        </p:blipFill>
        <p:spPr>
          <a:xfrm>
            <a:off x="2481507" y="3584448"/>
            <a:ext cx="7235081" cy="2450592"/>
          </a:xfrm>
          <a:prstGeom prst="rect">
            <a:avLst/>
          </a:prstGeom>
        </p:spPr>
      </p:pic>
      <p:sp>
        <p:nvSpPr>
          <p:cNvPr id="17"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Donzé and Maler 2010.  Values in the figure are illustrative.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Smooth 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13</a:t>
            </a:fld>
            <a:endParaRPr lang="en-GB"/>
          </a:p>
        </p:txBody>
      </p:sp>
      <p:pic>
        <p:nvPicPr>
          <p:cNvPr id="14" name="Equation" descr="Log-sum-exp surrogate of max and min"/>
          <p:cNvPicPr>
            <a:picLocks noChangeAspect="1"/>
          </p:cNvPicPr>
          <p:nvPr/>
        </p:nvPicPr>
        <p:blipFill>
          <a:blip r:embed="rId3"/>
          <a:stretch>
            <a:fillRect/>
          </a:stretch>
        </p:blipFill>
        <p:spPr>
          <a:xfrm>
            <a:off x="2473452" y="1965960"/>
            <a:ext cx="7251192" cy="606552"/>
          </a:xfrm>
          <a:prstGeom prst="rect">
            <a:avLst/>
          </a:prstGeom>
        </p:spPr>
      </p:pic>
      <p:pic>
        <p:nvPicPr>
          <p:cNvPr id="15" name="Figure" descr="Gradient of the robustness score on a late plan, exact and smoothed"/>
          <p:cNvPicPr>
            <a:picLocks noChangeAspect="1"/>
          </p:cNvPicPr>
          <p:nvPr/>
        </p:nvPicPr>
        <p:blipFill>
          <a:blip r:embed="rId4"/>
          <a:stretch>
            <a:fillRect/>
          </a:stretch>
        </p:blipFill>
        <p:spPr>
          <a:xfrm>
            <a:off x="1814127" y="2724912"/>
            <a:ext cx="8569842" cy="2971800"/>
          </a:xfrm>
          <a:prstGeom prst="rect">
            <a:avLst/>
          </a:prstGeom>
        </p:spPr>
      </p:pic>
      <p:sp>
        <p:nvSpPr>
          <p:cNvPr id="16" name="Label"/>
          <p:cNvSpPr txBox="1"/>
          <p:nvPr/>
        </p:nvSpPr>
        <p:spPr>
          <a:xfrm>
            <a:off x="603504" y="5742432"/>
            <a:ext cx="10991088" cy="292608"/>
          </a:xfrm>
          <a:prstGeom prst="rect">
            <a:avLst/>
          </a:prstGeom>
          <a:noFill/>
        </p:spPr>
        <p:txBody>
          <a:bodyPr wrap="square" lIns="45720" tIns="0" rIns="45720" bIns="0" anchor="t">
            <a:noAutofit/>
          </a:bodyPr>
          <a:lstStyle/>
          <a:p>
            <a:pPr algn="ctr"/>
            <a:r>
              <a:rPr lang="en-GB" sz="1500" dirty="0">
                <a:solidFill>
                  <a:srgbClr val="6E6E6E"/>
                </a:solidFill>
              </a:rPr>
              <a:t>Guidance uses the surrogate at </a:t>
            </a:r>
            <a:r>
              <a:rPr lang="en-GB" sz="1500" dirty="0">
                <a:solidFill>
                  <a:srgbClr val="6E6E6E"/>
                </a:solidFill>
                <a:latin typeface="Cambria Math"/>
                <a:ea typeface="Cambria Math"/>
                <a:cs typeface="Cambria Math"/>
                <a:sym typeface="Cambria Math"/>
              </a:rPr>
              <a:t>κ</a:t>
            </a:r>
            <a:r>
              <a:rPr lang="en-GB" sz="1500" dirty="0">
                <a:solidFill>
                  <a:srgbClr val="6E6E6E"/>
                </a:solidFill>
              </a:rPr>
              <a:t> = 10.  Satisfaction is always scored with the exact semantics.</a:t>
            </a:r>
          </a:p>
        </p:txBody>
      </p:sp>
      <p:sp>
        <p:nvSpPr>
          <p:cNvPr id="17"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Leung et al. 2021; Kapoor et al. 2025 (STLCG++)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Learning the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14</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Demonstrations</a:t>
            </a:r>
          </a:p>
        </p:txBody>
      </p:sp>
      <p:sp>
        <p:nvSpPr>
          <p:cNvPr id="21" name="train"/>
          <p:cNvSpPr/>
          <p:nvPr/>
        </p:nvSpPr>
        <p:spPr>
          <a:xfrm>
            <a:off x="3516804"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Flow-matching training</a:t>
            </a:r>
          </a:p>
        </p:txBody>
      </p:sp>
      <p:sp>
        <p:nvSpPr>
          <p:cNvPr id="22" name="prior"/>
          <p:cNvSpPr/>
          <p:nvPr/>
        </p:nvSpPr>
        <p:spPr>
          <a:xfrm>
            <a:off x="6209400" y="2130552"/>
            <a:ext cx="2207046" cy="640080"/>
          </a:xfrm>
          <a:prstGeom prst="roundRect">
            <a:avLst>
              <a:gd name="adj" fmla="val 8000"/>
            </a:avLst>
          </a:prstGeom>
          <a:solidFill>
            <a:srgbClr val="CCD9EB"/>
          </a:solidFill>
          <a:ln w="19050">
            <a:solidFill>
              <a:srgbClr val="1954A6"/>
            </a:solidFill>
          </a:ln>
        </p:spPr>
        <p:txBody>
          <a:bodyPr wrap="square" lIns="64008" tIns="27432" rIns="64008" bIns="27432" anchor="ctr">
            <a:noAutofit/>
          </a:bodyPr>
          <a:lstStyle/>
          <a:p>
            <a:pPr algn="ctr"/>
            <a:r>
              <a:rPr lang="en-GB" sz="1600" dirty="0">
                <a:solidFill>
                  <a:srgbClr val="262626"/>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1954A6"/>
            </a:solidFill>
            <a:tailEnd type="triangle" w="med" len="med"/>
          </a:ln>
        </p:spPr>
      </p:cxnSp>
      <p:cxnSp>
        <p:nvCxnSpPr>
          <p:cNvPr id="30" name="Arrow"/>
          <p:cNvCxnSpPr/>
          <p:nvPr/>
        </p:nvCxnSpPr>
        <p:spPr>
          <a:xfrm>
            <a:off x="5723850" y="2450592"/>
            <a:ext cx="485550" cy="0"/>
          </a:xfrm>
          <a:prstGeom prst="straightConnector1">
            <a:avLst/>
          </a:prstGeom>
          <a:ln w="25400">
            <a:solidFill>
              <a:srgbClr val="1954A6"/>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Flow matching</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15</a:t>
            </a:fld>
            <a:endParaRPr lang="en-GB"/>
          </a:p>
        </p:txBody>
      </p:sp>
      <p:pic>
        <p:nvPicPr>
          <p:cNvPr id="14" name="Video" descr="Animation of Figure 3.1, flow matching as transport from noise to two mode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03504" y="1967514"/>
            <a:ext cx="4069080" cy="4020251"/>
          </a:xfrm>
          <a:prstGeom prst="rect">
            <a:avLst/>
          </a:prstGeom>
        </p:spPr>
      </p:pic>
      <p:sp>
        <p:nvSpPr>
          <p:cNvPr id="15" name="Label"/>
          <p:cNvSpPr txBox="1"/>
          <p:nvPr/>
        </p:nvSpPr>
        <p:spPr>
          <a:xfrm>
            <a:off x="5074920" y="2057400"/>
            <a:ext cx="6492240" cy="292608"/>
          </a:xfrm>
          <a:prstGeom prst="rect">
            <a:avLst/>
          </a:prstGeom>
          <a:noFill/>
        </p:spPr>
        <p:txBody>
          <a:bodyPr wrap="square" lIns="45720" tIns="0" rIns="45720" bIns="0" anchor="t">
            <a:noAutofit/>
          </a:bodyPr>
          <a:lstStyle/>
          <a:p>
            <a:pPr algn="l"/>
            <a:r>
              <a:rPr lang="en-GB" sz="1600" b="1" dirty="0">
                <a:solidFill>
                  <a:srgbClr val="262626"/>
                </a:solidFill>
              </a:rPr>
              <a:t>Training</a:t>
            </a:r>
          </a:p>
        </p:txBody>
      </p:sp>
      <p:pic>
        <p:nvPicPr>
          <p:cNvPr id="16" name="Equation" descr="Flow-matching loss with the linear path"/>
          <p:cNvPicPr>
            <a:picLocks noChangeAspect="1"/>
          </p:cNvPicPr>
          <p:nvPr/>
        </p:nvPicPr>
        <p:blipFill>
          <a:blip r:embed="rId6"/>
          <a:stretch>
            <a:fillRect/>
          </a:stretch>
        </p:blipFill>
        <p:spPr>
          <a:xfrm>
            <a:off x="5074920" y="2423160"/>
            <a:ext cx="6457523" cy="673669"/>
          </a:xfrm>
          <a:prstGeom prst="rect">
            <a:avLst/>
          </a:prstGeom>
        </p:spPr>
      </p:pic>
      <p:sp>
        <p:nvSpPr>
          <p:cNvPr id="17" name="Label"/>
          <p:cNvSpPr txBox="1"/>
          <p:nvPr/>
        </p:nvSpPr>
        <p:spPr>
          <a:xfrm>
            <a:off x="5074920" y="3383280"/>
            <a:ext cx="6492240" cy="292608"/>
          </a:xfrm>
          <a:prstGeom prst="rect">
            <a:avLst/>
          </a:prstGeom>
          <a:noFill/>
        </p:spPr>
        <p:txBody>
          <a:bodyPr wrap="square" lIns="45720" tIns="0" rIns="45720" bIns="0" anchor="t">
            <a:noAutofit/>
          </a:bodyPr>
          <a:lstStyle/>
          <a:p>
            <a:pPr algn="l"/>
            <a:r>
              <a:rPr lang="en-GB" sz="1600" b="1" dirty="0">
                <a:solidFill>
                  <a:srgbClr val="262626"/>
                </a:solidFill>
              </a:rPr>
              <a:t>Sampling</a:t>
            </a:r>
          </a:p>
        </p:txBody>
      </p:sp>
      <p:pic>
        <p:nvPicPr>
          <p:cNvPr id="18" name="Equation" descr="Generative ordinary differential equation"/>
          <p:cNvPicPr>
            <a:picLocks noChangeAspect="1"/>
          </p:cNvPicPr>
          <p:nvPr/>
        </p:nvPicPr>
        <p:blipFill>
          <a:blip r:embed="rId7"/>
          <a:stretch>
            <a:fillRect/>
          </a:stretch>
        </p:blipFill>
        <p:spPr>
          <a:xfrm>
            <a:off x="5074920" y="3749040"/>
            <a:ext cx="4505980" cy="498043"/>
          </a:xfrm>
          <a:prstGeom prst="rect">
            <a:avLst/>
          </a:prstGeom>
        </p:spPr>
      </p:pic>
      <p:sp>
        <p:nvSpPr>
          <p:cNvPr id="19" name="Label"/>
          <p:cNvSpPr txBox="1"/>
          <p:nvPr/>
        </p:nvSpPr>
        <p:spPr>
          <a:xfrm>
            <a:off x="5074920" y="4480560"/>
            <a:ext cx="6492240" cy="1005840"/>
          </a:xfrm>
          <a:prstGeom prst="rect">
            <a:avLst/>
          </a:prstGeom>
          <a:noFill/>
        </p:spPr>
        <p:txBody>
          <a:bodyPr wrap="square" lIns="45720" tIns="0" rIns="45720" bIns="0" anchor="t">
            <a:noAutofit/>
          </a:bodyPr>
          <a:lstStyle/>
          <a:p>
            <a:pPr algn="l"/>
            <a:r>
              <a:rPr lang="en-GB" sz="1500" dirty="0">
                <a:solidFill>
                  <a:srgbClr val="6E6E6E"/>
                </a:solidFill>
              </a:rPr>
              <a:t>K = 64 Euler steps. The prior is unconditional, trained once on</a:t>
            </a:r>
          </a:p>
          <a:p>
            <a:pPr algn="l"/>
            <a:r>
              <a:rPr lang="en-GB" sz="1500" dirty="0">
                <a:solidFill>
                  <a:srgbClr val="6E6E6E"/>
                </a:solidFill>
              </a:rPr>
              <a:t>demonstrations, and its only conditioning is the start state.</a:t>
            </a:r>
          </a:p>
        </p:txBody>
      </p:sp>
      <p:sp>
        <p:nvSpPr>
          <p:cNvPr id="20"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Lipman et al. 2023; Liu et al. 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Video" descr="Generation of a robot trajectory from nois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813048" y="658368"/>
            <a:ext cx="4206240" cy="4206240"/>
          </a:xfrm>
          <a:prstGeom prst="rect">
            <a:avLst/>
          </a:prstGeom>
        </p:spPr>
      </p:pic>
      <p:sp>
        <p:nvSpPr>
          <p:cNvPr id="11" name="Title"/>
          <p:cNvSpPr>
            <a:spLocks noGrp="1"/>
          </p:cNvSpPr>
          <p:nvPr>
            <p:ph type="title"/>
          </p:nvPr>
        </p:nvSpPr>
        <p:spPr/>
        <p:txBody>
          <a:bodyPr/>
          <a:lstStyle/>
          <a:p>
            <a:r>
              <a:rPr lang="en-GB" dirty="0"/>
              <a:t>How it looks in 3D</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16</a:t>
            </a:fld>
            <a:endParaRPr lang="en-GB"/>
          </a:p>
        </p:txBody>
      </p:sp>
      <p:sp>
        <p:nvSpPr>
          <p:cNvPr id="2" name="TextBox 1">
            <a:extLst>
              <a:ext uri="{FF2B5EF4-FFF2-40B4-BE49-F238E27FC236}">
                <a16:creationId xmlns:a16="http://schemas.microsoft.com/office/drawing/2014/main" id="{B52A7CDC-B5F7-53D0-3E4E-AA4AE7DCF52D}"/>
              </a:ext>
            </a:extLst>
          </p:cNvPr>
          <p:cNvSpPr txBox="1"/>
          <p:nvPr/>
        </p:nvSpPr>
        <p:spPr>
          <a:xfrm>
            <a:off x="3063240" y="5148072"/>
            <a:ext cx="3982950" cy="369332"/>
          </a:xfrm>
          <a:prstGeom prst="rect">
            <a:avLst/>
          </a:prstGeom>
          <a:noFill/>
        </p:spPr>
        <p:txBody>
          <a:bodyPr wrap="none" rtlCol="0">
            <a:spAutoFit/>
          </a:bodyPr>
          <a:lstStyle/>
          <a:p>
            <a:r>
              <a:rPr lang="en-US" dirty="0"/>
              <a:t>   </a:t>
            </a:r>
            <a:r>
              <a:rPr lang="en-US" dirty="0" err="1"/>
              <a:t>micheal</a:t>
            </a:r>
            <a:r>
              <a:rPr lang="en-US" dirty="0"/>
              <a:t> </a:t>
            </a:r>
            <a:r>
              <a:rPr lang="en-US" dirty="0" err="1"/>
              <a:t>janner</a:t>
            </a:r>
            <a:r>
              <a:rPr lang="en-US" dirty="0"/>
              <a:t> et. Al ??? Or something</a:t>
            </a:r>
            <a:endParaRPr lang="sv-S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5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Learned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17</a:t>
            </a:fld>
            <a:endParaRPr lang="en-GB"/>
          </a:p>
        </p:txBody>
      </p:sp>
      <p:sp>
        <p:nvSpPr>
          <p:cNvPr id="14" name="Label"/>
          <p:cNvSpPr txBox="1"/>
          <p:nvPr/>
        </p:nvSpPr>
        <p:spPr>
          <a:xfrm>
            <a:off x="822960" y="1965960"/>
            <a:ext cx="5120640" cy="310896"/>
          </a:xfrm>
          <a:prstGeom prst="rect">
            <a:avLst/>
          </a:prstGeom>
          <a:noFill/>
        </p:spPr>
        <p:txBody>
          <a:bodyPr wrap="square" lIns="45720" tIns="0" rIns="45720" bIns="0" anchor="t">
            <a:noAutofit/>
          </a:bodyPr>
          <a:lstStyle/>
          <a:p>
            <a:pPr algn="ctr"/>
            <a:r>
              <a:rPr lang="en-GB" sz="1600" dirty="0">
                <a:solidFill>
                  <a:srgbClr val="262626"/>
                </a:solidFill>
              </a:rPr>
              <a:t>Demonstrations</a:t>
            </a:r>
          </a:p>
        </p:txBody>
      </p:sp>
      <p:pic>
        <p:nvPicPr>
          <p:cNvPr id="15" name="Figure" descr="Demonstrations"/>
          <p:cNvPicPr>
            <a:picLocks noChangeAspect="1"/>
          </p:cNvPicPr>
          <p:nvPr/>
        </p:nvPicPr>
        <p:blipFill>
          <a:blip r:embed="rId3"/>
          <a:stretch>
            <a:fillRect/>
          </a:stretch>
        </p:blipFill>
        <p:spPr>
          <a:xfrm>
            <a:off x="1596263" y="2331720"/>
            <a:ext cx="3574034" cy="3886200"/>
          </a:xfrm>
          <a:prstGeom prst="rect">
            <a:avLst/>
          </a:prstGeom>
        </p:spPr>
      </p:pic>
      <p:sp>
        <p:nvSpPr>
          <p:cNvPr id="16" name="Label"/>
          <p:cNvSpPr txBox="1"/>
          <p:nvPr/>
        </p:nvSpPr>
        <p:spPr>
          <a:xfrm>
            <a:off x="6309360" y="1965960"/>
            <a:ext cx="5120640" cy="310896"/>
          </a:xfrm>
          <a:prstGeom prst="rect">
            <a:avLst/>
          </a:prstGeom>
          <a:noFill/>
        </p:spPr>
        <p:txBody>
          <a:bodyPr wrap="square" lIns="45720" tIns="0" rIns="45720" bIns="0" anchor="t">
            <a:noAutofit/>
          </a:bodyPr>
          <a:lstStyle/>
          <a:p>
            <a:pPr algn="ctr"/>
            <a:r>
              <a:rPr lang="en-GB" sz="1600" dirty="0">
                <a:solidFill>
                  <a:srgbClr val="262626"/>
                </a:solidFill>
              </a:rPr>
              <a:t>Samples of the unguided prior</a:t>
            </a:r>
          </a:p>
        </p:txBody>
      </p:sp>
      <p:pic>
        <p:nvPicPr>
          <p:cNvPr id="17" name="Figure" descr="Samples of the unguided prior"/>
          <p:cNvPicPr>
            <a:picLocks noChangeAspect="1"/>
          </p:cNvPicPr>
          <p:nvPr/>
        </p:nvPicPr>
        <p:blipFill>
          <a:blip r:embed="rId4"/>
          <a:stretch>
            <a:fillRect/>
          </a:stretch>
        </p:blipFill>
        <p:spPr>
          <a:xfrm>
            <a:off x="7082663" y="2331720"/>
            <a:ext cx="3574034" cy="3886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Related work</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18</a:t>
            </a:fld>
            <a:endParaRPr lang="en-GB"/>
          </a:p>
        </p:txBody>
      </p:sp>
      <p:sp>
        <p:nvSpPr>
          <p:cNvPr id="14" name="Label"/>
          <p:cNvSpPr txBox="1"/>
          <p:nvPr/>
        </p:nvSpPr>
        <p:spPr>
          <a:xfrm>
            <a:off x="603504" y="1901952"/>
            <a:ext cx="5303520" cy="274320"/>
          </a:xfrm>
          <a:prstGeom prst="rect">
            <a:avLst/>
          </a:prstGeom>
          <a:noFill/>
        </p:spPr>
        <p:txBody>
          <a:bodyPr wrap="square" lIns="45720" tIns="0" rIns="45720" bIns="0" anchor="t">
            <a:noAutofit/>
          </a:bodyPr>
          <a:lstStyle/>
          <a:p>
            <a:pPr algn="l"/>
            <a:r>
              <a:rPr lang="en-GB" sz="1500" b="1" dirty="0">
                <a:solidFill>
                  <a:srgbClr val="262626"/>
                </a:solidFill>
              </a:rPr>
              <a:t>Training-time conditioning</a:t>
            </a:r>
          </a:p>
        </p:txBody>
      </p:sp>
      <p:sp>
        <p:nvSpPr>
          <p:cNvPr id="15" name="Label"/>
          <p:cNvSpPr txBox="1"/>
          <p:nvPr/>
        </p:nvSpPr>
        <p:spPr>
          <a:xfrm>
            <a:off x="603504" y="2167128"/>
            <a:ext cx="5303520" cy="237744"/>
          </a:xfrm>
          <a:prstGeom prst="rect">
            <a:avLst/>
          </a:prstGeom>
          <a:noFill/>
        </p:spPr>
        <p:txBody>
          <a:bodyPr wrap="square" lIns="45720" tIns="0" rIns="45720" bIns="0" anchor="t">
            <a:noAutofit/>
          </a:bodyPr>
          <a:lstStyle/>
          <a:p>
            <a:pPr algn="l"/>
            <a:r>
              <a:rPr lang="en-GB" sz="1200" i="1" dirty="0">
                <a:solidFill>
                  <a:srgbClr val="6E6E6E"/>
                </a:solidFill>
              </a:rPr>
              <a:t>TeLoGraF, Meng and Fan 2025</a:t>
            </a:r>
          </a:p>
        </p:txBody>
      </p:sp>
      <p:pic>
        <p:nvPicPr>
          <p:cNvPr id="16" name="Figure" descr="Training-time conditioning: overview figure of TeLoGraF, Meng and Fan 2025"/>
          <p:cNvPicPr>
            <a:picLocks noChangeAspect="1"/>
          </p:cNvPicPr>
          <p:nvPr/>
        </p:nvPicPr>
        <p:blipFill>
          <a:blip r:embed="rId3"/>
          <a:stretch>
            <a:fillRect/>
          </a:stretch>
        </p:blipFill>
        <p:spPr>
          <a:xfrm>
            <a:off x="603504" y="2468880"/>
            <a:ext cx="4987255" cy="1325880"/>
          </a:xfrm>
          <a:prstGeom prst="rect">
            <a:avLst/>
          </a:prstGeom>
        </p:spPr>
      </p:pic>
      <p:sp>
        <p:nvSpPr>
          <p:cNvPr id="17" name="Label"/>
          <p:cNvSpPr txBox="1"/>
          <p:nvPr/>
        </p:nvSpPr>
        <p:spPr>
          <a:xfrm>
            <a:off x="6217920" y="1901952"/>
            <a:ext cx="2560320" cy="274320"/>
          </a:xfrm>
          <a:prstGeom prst="rect">
            <a:avLst/>
          </a:prstGeom>
          <a:noFill/>
        </p:spPr>
        <p:txBody>
          <a:bodyPr wrap="square" lIns="45720" tIns="0" rIns="45720" bIns="0" anchor="t">
            <a:noAutofit/>
          </a:bodyPr>
          <a:lstStyle/>
          <a:p>
            <a:pPr algn="l"/>
            <a:r>
              <a:rPr lang="en-GB" sz="1500" b="1" dirty="0">
                <a:solidFill>
                  <a:srgbClr val="262626"/>
                </a:solidFill>
              </a:rPr>
              <a:t>Decompose-and-stitch</a:t>
            </a:r>
          </a:p>
        </p:txBody>
      </p:sp>
      <p:sp>
        <p:nvSpPr>
          <p:cNvPr id="18" name="Label"/>
          <p:cNvSpPr txBox="1"/>
          <p:nvPr/>
        </p:nvSpPr>
        <p:spPr>
          <a:xfrm>
            <a:off x="6217920" y="2167128"/>
            <a:ext cx="2560320" cy="237744"/>
          </a:xfrm>
          <a:prstGeom prst="rect">
            <a:avLst/>
          </a:prstGeom>
          <a:noFill/>
        </p:spPr>
        <p:txBody>
          <a:bodyPr wrap="square" lIns="45720" tIns="0" rIns="45720" bIns="0" anchor="t">
            <a:noAutofit/>
          </a:bodyPr>
          <a:lstStyle/>
          <a:p>
            <a:pPr algn="l"/>
            <a:r>
              <a:rPr lang="en-GB" sz="1200" i="1" dirty="0">
                <a:solidFill>
                  <a:srgbClr val="6E6E6E"/>
                </a:solidFill>
              </a:rPr>
              <a:t>ZSTP, Liu et al. 2025</a:t>
            </a:r>
          </a:p>
        </p:txBody>
      </p:sp>
      <p:pic>
        <p:nvPicPr>
          <p:cNvPr id="19" name="Figure" descr="Decompose-and-stitch: overview figure of ZSTP, Liu et al. 2025"/>
          <p:cNvPicPr>
            <a:picLocks noChangeAspect="1"/>
          </p:cNvPicPr>
          <p:nvPr/>
        </p:nvPicPr>
        <p:blipFill>
          <a:blip r:embed="rId4"/>
          <a:stretch>
            <a:fillRect/>
          </a:stretch>
        </p:blipFill>
        <p:spPr>
          <a:xfrm>
            <a:off x="6217920" y="2468880"/>
            <a:ext cx="1803197" cy="1325880"/>
          </a:xfrm>
          <a:prstGeom prst="rect">
            <a:avLst/>
          </a:prstGeom>
        </p:spPr>
      </p:pic>
      <p:sp>
        <p:nvSpPr>
          <p:cNvPr id="20" name="Label"/>
          <p:cNvSpPr txBox="1"/>
          <p:nvPr/>
        </p:nvSpPr>
        <p:spPr>
          <a:xfrm>
            <a:off x="9052560" y="1901952"/>
            <a:ext cx="2542032" cy="274320"/>
          </a:xfrm>
          <a:prstGeom prst="rect">
            <a:avLst/>
          </a:prstGeom>
          <a:noFill/>
        </p:spPr>
        <p:txBody>
          <a:bodyPr wrap="square" lIns="45720" tIns="0" rIns="45720" bIns="0" anchor="t">
            <a:noAutofit/>
          </a:bodyPr>
          <a:lstStyle/>
          <a:p>
            <a:pPr algn="l"/>
            <a:r>
              <a:rPr lang="en-GB" sz="1500" b="1" dirty="0">
                <a:solidFill>
                  <a:srgbClr val="262626"/>
                </a:solidFill>
              </a:rPr>
              <a:t>Trajectory optimization</a:t>
            </a:r>
          </a:p>
        </p:txBody>
      </p:sp>
      <p:sp>
        <p:nvSpPr>
          <p:cNvPr id="21" name="Label"/>
          <p:cNvSpPr txBox="1"/>
          <p:nvPr/>
        </p:nvSpPr>
        <p:spPr>
          <a:xfrm>
            <a:off x="9052560" y="2167128"/>
            <a:ext cx="2542032" cy="237744"/>
          </a:xfrm>
          <a:prstGeom prst="rect">
            <a:avLst/>
          </a:prstGeom>
          <a:noFill/>
        </p:spPr>
        <p:txBody>
          <a:bodyPr wrap="square" lIns="45720" tIns="0" rIns="45720" bIns="0" anchor="t">
            <a:noAutofit/>
          </a:bodyPr>
          <a:lstStyle/>
          <a:p>
            <a:pPr algn="l"/>
            <a:r>
              <a:rPr lang="en-GB" sz="1200" i="1" dirty="0">
                <a:solidFill>
                  <a:srgbClr val="6E6E6E"/>
                </a:solidFill>
              </a:rPr>
              <a:t>Kurtz and Lin 2021</a:t>
            </a:r>
          </a:p>
        </p:txBody>
      </p:sp>
      <p:pic>
        <p:nvPicPr>
          <p:cNvPr id="22" name="Figure" descr="Trajectory optimization: overview figure of Kurtz and Lin 2021"/>
          <p:cNvPicPr>
            <a:picLocks noChangeAspect="1"/>
          </p:cNvPicPr>
          <p:nvPr/>
        </p:nvPicPr>
        <p:blipFill>
          <a:blip r:embed="rId5"/>
          <a:stretch>
            <a:fillRect/>
          </a:stretch>
        </p:blipFill>
        <p:spPr>
          <a:xfrm>
            <a:off x="9052560" y="2468880"/>
            <a:ext cx="1715845" cy="1325880"/>
          </a:xfrm>
          <a:prstGeom prst="rect">
            <a:avLst/>
          </a:prstGeom>
        </p:spPr>
      </p:pic>
      <p:sp>
        <p:nvSpPr>
          <p:cNvPr id="23" name="Label"/>
          <p:cNvSpPr txBox="1"/>
          <p:nvPr/>
        </p:nvSpPr>
        <p:spPr>
          <a:xfrm>
            <a:off x="603504" y="3986784"/>
            <a:ext cx="3474720" cy="274320"/>
          </a:xfrm>
          <a:prstGeom prst="rect">
            <a:avLst/>
          </a:prstGeom>
          <a:noFill/>
        </p:spPr>
        <p:txBody>
          <a:bodyPr wrap="square" lIns="45720" tIns="0" rIns="45720" bIns="0" anchor="t">
            <a:noAutofit/>
          </a:bodyPr>
          <a:lstStyle/>
          <a:p>
            <a:pPr algn="l"/>
            <a:r>
              <a:rPr lang="en-GB" sz="1500" b="1" dirty="0">
                <a:solidFill>
                  <a:srgbClr val="262626"/>
                </a:solidFill>
              </a:rPr>
              <a:t>Safe-set enforcement</a:t>
            </a:r>
          </a:p>
        </p:txBody>
      </p:sp>
      <p:sp>
        <p:nvSpPr>
          <p:cNvPr id="24" name="Label"/>
          <p:cNvSpPr txBox="1"/>
          <p:nvPr/>
        </p:nvSpPr>
        <p:spPr>
          <a:xfrm>
            <a:off x="603504" y="4251960"/>
            <a:ext cx="3474720" cy="237744"/>
          </a:xfrm>
          <a:prstGeom prst="rect">
            <a:avLst/>
          </a:prstGeom>
          <a:noFill/>
        </p:spPr>
        <p:txBody>
          <a:bodyPr wrap="square" lIns="45720" tIns="0" rIns="45720" bIns="0" anchor="t">
            <a:noAutofit/>
          </a:bodyPr>
          <a:lstStyle/>
          <a:p>
            <a:pPr algn="l"/>
            <a:r>
              <a:rPr lang="en-GB" sz="1200" i="1" dirty="0">
                <a:solidFill>
                  <a:srgbClr val="6E6E6E"/>
                </a:solidFill>
              </a:rPr>
              <a:t>SafeDiffuser, Xiao et al. 2023</a:t>
            </a:r>
          </a:p>
        </p:txBody>
      </p:sp>
      <p:pic>
        <p:nvPicPr>
          <p:cNvPr id="25" name="Figure" descr="Safe-set enforcement: overview figure of SafeDiffuser, Xiao et al. 2023"/>
          <p:cNvPicPr>
            <a:picLocks noChangeAspect="1"/>
          </p:cNvPicPr>
          <p:nvPr/>
        </p:nvPicPr>
        <p:blipFill>
          <a:blip r:embed="rId6"/>
          <a:stretch>
            <a:fillRect/>
          </a:stretch>
        </p:blipFill>
        <p:spPr>
          <a:xfrm>
            <a:off x="603504" y="4553712"/>
            <a:ext cx="2752704" cy="1481328"/>
          </a:xfrm>
          <a:prstGeom prst="rect">
            <a:avLst/>
          </a:prstGeom>
        </p:spPr>
      </p:pic>
      <p:sp>
        <p:nvSpPr>
          <p:cNvPr id="26" name="Label"/>
          <p:cNvSpPr txBox="1"/>
          <p:nvPr/>
        </p:nvSpPr>
        <p:spPr>
          <a:xfrm>
            <a:off x="4526280" y="3986784"/>
            <a:ext cx="3474720" cy="274320"/>
          </a:xfrm>
          <a:prstGeom prst="rect">
            <a:avLst/>
          </a:prstGeom>
          <a:noFill/>
        </p:spPr>
        <p:txBody>
          <a:bodyPr wrap="square" lIns="45720" tIns="0" rIns="45720" bIns="0" anchor="t">
            <a:noAutofit/>
          </a:bodyPr>
          <a:lstStyle/>
          <a:p>
            <a:pPr algn="l"/>
            <a:r>
              <a:rPr lang="en-GB" sz="1500" b="1" dirty="0">
                <a:solidFill>
                  <a:srgbClr val="262626"/>
                </a:solidFill>
              </a:rPr>
              <a:t>Inference-time robustness guidance</a:t>
            </a:r>
          </a:p>
        </p:txBody>
      </p:sp>
      <p:sp>
        <p:nvSpPr>
          <p:cNvPr id="27" name="Label"/>
          <p:cNvSpPr txBox="1"/>
          <p:nvPr/>
        </p:nvSpPr>
        <p:spPr>
          <a:xfrm>
            <a:off x="4526280" y="4251960"/>
            <a:ext cx="3474720" cy="237744"/>
          </a:xfrm>
          <a:prstGeom prst="rect">
            <a:avLst/>
          </a:prstGeom>
          <a:noFill/>
        </p:spPr>
        <p:txBody>
          <a:bodyPr wrap="square" lIns="45720" tIns="0" rIns="45720" bIns="0" anchor="t">
            <a:noAutofit/>
          </a:bodyPr>
          <a:lstStyle/>
          <a:p>
            <a:pPr algn="l"/>
            <a:r>
              <a:rPr lang="en-GB" sz="1200" i="1" dirty="0">
                <a:solidFill>
                  <a:srgbClr val="6E6E6E"/>
                </a:solidFill>
              </a:rPr>
              <a:t>CTG, Zhong et al. 2022</a:t>
            </a:r>
          </a:p>
        </p:txBody>
      </p:sp>
      <p:pic>
        <p:nvPicPr>
          <p:cNvPr id="28" name="Figure" descr="Inference-time robustness guidance: overview figure of CTG, Zhong et al. 2022"/>
          <p:cNvPicPr>
            <a:picLocks noChangeAspect="1"/>
          </p:cNvPicPr>
          <p:nvPr/>
        </p:nvPicPr>
        <p:blipFill>
          <a:blip r:embed="rId7"/>
          <a:stretch>
            <a:fillRect/>
          </a:stretch>
        </p:blipFill>
        <p:spPr>
          <a:xfrm>
            <a:off x="4526280" y="4553712"/>
            <a:ext cx="2689316" cy="1481328"/>
          </a:xfrm>
          <a:prstGeom prst="rect">
            <a:avLst/>
          </a:prstGeom>
        </p:spPr>
      </p:pic>
      <p:sp>
        <p:nvSpPr>
          <p:cNvPr id="29" name="Highlight"/>
          <p:cNvSpPr/>
          <p:nvPr/>
        </p:nvSpPr>
        <p:spPr>
          <a:xfrm>
            <a:off x="4416552" y="3895344"/>
            <a:ext cx="3694176" cy="2258568"/>
          </a:xfrm>
          <a:prstGeom prst="roundRect">
            <a:avLst>
              <a:gd name="adj" fmla="val 3000"/>
            </a:avLst>
          </a:prstGeom>
          <a:noFill/>
          <a:ln w="25400">
            <a:solidFill>
              <a:srgbClr val="24A0D8"/>
            </a:solidFill>
          </a:ln>
        </p:spPr>
        <p:txBody>
          <a:bodyPr wrap="square" lIns="64008" tIns="27432" rIns="64008" bIns="27432" anchor="ctr">
            <a:noAutofit/>
          </a:bodyPr>
          <a:lstStyle/>
          <a:p>
            <a:pPr algn="ctr"/>
            <a:endParaRPr/>
          </a:p>
        </p:txBody>
      </p:sp>
      <p:sp>
        <p:nvSpPr>
          <p:cNvPr id="30" name="Box"/>
          <p:cNvSpPr/>
          <p:nvPr/>
        </p:nvSpPr>
        <p:spPr>
          <a:xfrm>
            <a:off x="8503920" y="4590288"/>
            <a:ext cx="3090672" cy="960120"/>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500" dirty="0">
                <a:solidFill>
                  <a:srgbClr val="262626"/>
                </a:solidFill>
              </a:rPr>
              <a:t>STL-FM</a:t>
            </a:r>
          </a:p>
          <a:p>
            <a:pPr algn="ctr"/>
            <a:r>
              <a:rPr lang="en-GB" sz="1500" dirty="0">
                <a:solidFill>
                  <a:srgbClr val="262626"/>
                </a:solidFill>
              </a:rPr>
              <a:t>on a flow-matching prior</a:t>
            </a:r>
          </a:p>
        </p:txBody>
      </p:sp>
      <p:cxnSp>
        <p:nvCxnSpPr>
          <p:cNvPr id="31" name="Arrow"/>
          <p:cNvCxnSpPr/>
          <p:nvPr/>
        </p:nvCxnSpPr>
        <p:spPr>
          <a:xfrm>
            <a:off x="8110728" y="5070348"/>
            <a:ext cx="393192" cy="0"/>
          </a:xfrm>
          <a:prstGeom prst="straightConnector1">
            <a:avLst/>
          </a:prstGeom>
          <a:ln w="25400">
            <a:solidFill>
              <a:srgbClr val="24A0D8"/>
            </a:solidFill>
            <a:tailEnd type="triangle" w="med" len="med"/>
          </a:ln>
        </p:spPr>
      </p:cxnSp>
      <p:sp>
        <p:nvSpPr>
          <p:cNvPr id="32" name="Label"/>
          <p:cNvSpPr txBox="1"/>
          <p:nvPr/>
        </p:nvSpPr>
        <p:spPr>
          <a:xfrm>
            <a:off x="603504" y="6108192"/>
            <a:ext cx="10991088" cy="219456"/>
          </a:xfrm>
          <a:prstGeom prst="rect">
            <a:avLst/>
          </a:prstGeom>
          <a:noFill/>
        </p:spPr>
        <p:txBody>
          <a:bodyPr wrap="square" lIns="45720" tIns="0" rIns="45720" bIns="0" anchor="t">
            <a:noAutofit/>
          </a:bodyPr>
          <a:lstStyle/>
          <a:p>
            <a:pPr algn="l"/>
            <a:r>
              <a:rPr lang="en-GB" sz="1100" dirty="0">
                <a:solidFill>
                  <a:srgbClr val="6E6E6E"/>
                </a:solidFill>
              </a:rPr>
              <a:t>Overview figures reproduced from the cited papers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Comparison of approaches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a:t>
            </a:r>
            <a:r>
              <a:rPr lang="en-GB" sz="1300" b="1" dirty="0">
                <a:solidFill>
                  <a:srgbClr val="004791"/>
                </a:solidFill>
              </a:rPr>
              <a:t>Background</a:t>
            </a:r>
            <a:r>
              <a:rPr lang="en-GB" sz="1300" dirty="0">
                <a:solidFill>
                  <a:srgbClr val="A5A5A5"/>
                </a:solidFill>
              </a:rPr>
              <a:t>    →    Method    →    Results    →    Conclusions</a:t>
            </a:r>
          </a:p>
        </p:txBody>
      </p:sp>
      <p:sp>
        <p:nvSpPr>
          <p:cNvPr id="13" name="Slide Number"/>
          <p:cNvSpPr>
            <a:spLocks noGrp="1"/>
          </p:cNvSpPr>
          <p:nvPr>
            <p:ph type="sldNum" sz="quarter" idx="12"/>
          </p:nvPr>
        </p:nvSpPr>
        <p:spPr/>
        <p:txBody>
          <a:bodyPr/>
          <a:lstStyle/>
          <a:p>
            <a:fld id="{619F89D8-7AE3-494A-97F3-03D680869632}" type="slidenum">
              <a:rPr lang="en-GB"/>
              <a:t>19</a:t>
            </a:fld>
            <a:endParaRPr lang="en-GB"/>
          </a:p>
        </p:txBody>
      </p:sp>
      <p:sp>
        <p:nvSpPr>
          <p:cNvPr id="14" name="Label"/>
          <p:cNvSpPr txBox="1"/>
          <p:nvPr/>
        </p:nvSpPr>
        <p:spPr>
          <a:xfrm>
            <a:off x="603504" y="1938528"/>
            <a:ext cx="3246120" cy="274320"/>
          </a:xfrm>
          <a:prstGeom prst="rect">
            <a:avLst/>
          </a:prstGeom>
          <a:noFill/>
        </p:spPr>
        <p:txBody>
          <a:bodyPr wrap="square" lIns="45720" tIns="0" rIns="45720" bIns="0" anchor="t">
            <a:noAutofit/>
          </a:bodyPr>
          <a:lstStyle/>
          <a:p>
            <a:pPr algn="l"/>
            <a:r>
              <a:rPr lang="en-GB" sz="1400" dirty="0">
                <a:solidFill>
                  <a:srgbClr val="6E6E6E"/>
                </a:solidFill>
              </a:rPr>
              <a:t>Approach</a:t>
            </a:r>
          </a:p>
        </p:txBody>
      </p:sp>
      <p:sp>
        <p:nvSpPr>
          <p:cNvPr id="15" name="Label"/>
          <p:cNvSpPr txBox="1"/>
          <p:nvPr/>
        </p:nvSpPr>
        <p:spPr>
          <a:xfrm>
            <a:off x="3931920" y="1938528"/>
            <a:ext cx="2788920" cy="274320"/>
          </a:xfrm>
          <a:prstGeom prst="rect">
            <a:avLst/>
          </a:prstGeom>
          <a:noFill/>
        </p:spPr>
        <p:txBody>
          <a:bodyPr wrap="square" lIns="45720" tIns="0" rIns="45720" bIns="0" anchor="t">
            <a:noAutofit/>
          </a:bodyPr>
          <a:lstStyle/>
          <a:p>
            <a:pPr algn="l"/>
            <a:r>
              <a:rPr lang="en-GB" sz="1400" dirty="0">
                <a:solidFill>
                  <a:srgbClr val="6E6E6E"/>
                </a:solidFill>
              </a:rPr>
              <a:t>Requirement enters</a:t>
            </a:r>
          </a:p>
        </p:txBody>
      </p:sp>
      <p:sp>
        <p:nvSpPr>
          <p:cNvPr id="16" name="Label"/>
          <p:cNvSpPr txBox="1"/>
          <p:nvPr/>
        </p:nvSpPr>
        <p:spPr>
          <a:xfrm>
            <a:off x="6812280" y="1938528"/>
            <a:ext cx="2286000" cy="274320"/>
          </a:xfrm>
          <a:prstGeom prst="rect">
            <a:avLst/>
          </a:prstGeom>
          <a:noFill/>
        </p:spPr>
        <p:txBody>
          <a:bodyPr wrap="square" lIns="45720" tIns="0" rIns="45720" bIns="0" anchor="t">
            <a:noAutofit/>
          </a:bodyPr>
          <a:lstStyle/>
          <a:p>
            <a:pPr algn="l"/>
            <a:r>
              <a:rPr lang="en-GB" sz="1400" dirty="0">
                <a:solidFill>
                  <a:srgbClr val="6E6E6E"/>
                </a:solidFill>
              </a:rPr>
              <a:t>Rest of the motion from</a:t>
            </a:r>
          </a:p>
        </p:txBody>
      </p:sp>
      <p:sp>
        <p:nvSpPr>
          <p:cNvPr id="17" name="Label"/>
          <p:cNvSpPr txBox="1"/>
          <p:nvPr/>
        </p:nvSpPr>
        <p:spPr>
          <a:xfrm>
            <a:off x="9189720" y="1938528"/>
            <a:ext cx="2404872" cy="274320"/>
          </a:xfrm>
          <a:prstGeom prst="rect">
            <a:avLst/>
          </a:prstGeom>
          <a:noFill/>
        </p:spPr>
        <p:txBody>
          <a:bodyPr wrap="square" lIns="45720" tIns="0" rIns="45720" bIns="0" anchor="t">
            <a:noAutofit/>
          </a:bodyPr>
          <a:lstStyle/>
          <a:p>
            <a:pPr algn="l"/>
            <a:r>
              <a:rPr lang="en-GB" sz="1400" dirty="0">
                <a:solidFill>
                  <a:srgbClr val="6E6E6E"/>
                </a:solidFill>
              </a:rPr>
              <a:t>Property</a:t>
            </a:r>
          </a:p>
        </p:txBody>
      </p:sp>
      <p:cxnSp>
        <p:nvCxnSpPr>
          <p:cNvPr id="18" name="Rule"/>
          <p:cNvCxnSpPr/>
          <p:nvPr/>
        </p:nvCxnSpPr>
        <p:spPr>
          <a:xfrm>
            <a:off x="603504" y="2267712"/>
            <a:ext cx="10991088" cy="0"/>
          </a:xfrm>
          <a:prstGeom prst="straightConnector1">
            <a:avLst/>
          </a:prstGeom>
          <a:ln w="9525">
            <a:solidFill>
              <a:srgbClr val="D2D2D2"/>
            </a:solidFill>
          </a:ln>
        </p:spPr>
      </p:cxnSp>
      <p:sp>
        <p:nvSpPr>
          <p:cNvPr id="19" name="Label"/>
          <p:cNvSpPr txBox="1"/>
          <p:nvPr/>
        </p:nvSpPr>
        <p:spPr>
          <a:xfrm>
            <a:off x="603504" y="2313432"/>
            <a:ext cx="3246120" cy="457200"/>
          </a:xfrm>
          <a:prstGeom prst="rect">
            <a:avLst/>
          </a:prstGeom>
          <a:noFill/>
        </p:spPr>
        <p:txBody>
          <a:bodyPr wrap="square" lIns="45720" tIns="0" rIns="45720" bIns="0" anchor="ctr">
            <a:noAutofit/>
          </a:bodyPr>
          <a:lstStyle/>
          <a:p>
            <a:pPr algn="l"/>
            <a:r>
              <a:rPr lang="en-GB" sz="1400" b="1" dirty="0">
                <a:solidFill>
                  <a:srgbClr val="262626"/>
                </a:solidFill>
              </a:rPr>
              <a:t>Trajectory optimization</a:t>
            </a:r>
          </a:p>
          <a:p>
            <a:pPr algn="l"/>
            <a:r>
              <a:rPr lang="en-GB" sz="1100" dirty="0">
                <a:solidFill>
                  <a:srgbClr val="6E6E6E"/>
                </a:solidFill>
              </a:rPr>
              <a:t>Kurtz and Lin 2021</a:t>
            </a:r>
          </a:p>
        </p:txBody>
      </p:sp>
      <p:sp>
        <p:nvSpPr>
          <p:cNvPr id="20" name="Label"/>
          <p:cNvSpPr txBox="1"/>
          <p:nvPr/>
        </p:nvSpPr>
        <p:spPr>
          <a:xfrm>
            <a:off x="3931920" y="2313432"/>
            <a:ext cx="2788920" cy="457200"/>
          </a:xfrm>
          <a:prstGeom prst="rect">
            <a:avLst/>
          </a:prstGeom>
          <a:noFill/>
        </p:spPr>
        <p:txBody>
          <a:bodyPr wrap="square" lIns="45720" tIns="0" rIns="45720" bIns="0" anchor="ctr">
            <a:noAutofit/>
          </a:bodyPr>
          <a:lstStyle/>
          <a:p>
            <a:pPr algn="l"/>
            <a:r>
              <a:rPr lang="en-GB" sz="1300" dirty="0">
                <a:solidFill>
                  <a:srgbClr val="262626"/>
                </a:solidFill>
              </a:rPr>
              <a:t>cost or constraint, with a known dynamics model</a:t>
            </a:r>
          </a:p>
        </p:txBody>
      </p:sp>
      <p:sp>
        <p:nvSpPr>
          <p:cNvPr id="21" name="Label"/>
          <p:cNvSpPr txBox="1"/>
          <p:nvPr/>
        </p:nvSpPr>
        <p:spPr>
          <a:xfrm>
            <a:off x="6812280" y="2313432"/>
            <a:ext cx="2286000" cy="457200"/>
          </a:xfrm>
          <a:prstGeom prst="rect">
            <a:avLst/>
          </a:prstGeom>
          <a:noFill/>
        </p:spPr>
        <p:txBody>
          <a:bodyPr wrap="square" lIns="45720" tIns="0" rIns="45720" bIns="0" anchor="ctr">
            <a:noAutofit/>
          </a:bodyPr>
          <a:lstStyle/>
          <a:p>
            <a:pPr algn="l"/>
            <a:r>
              <a:rPr lang="en-GB" sz="1300" dirty="0">
                <a:solidFill>
                  <a:srgbClr val="262626"/>
                </a:solidFill>
              </a:rPr>
              <a:t>dynamics model, costs and feasibility constraints</a:t>
            </a:r>
          </a:p>
        </p:txBody>
      </p:sp>
      <p:sp>
        <p:nvSpPr>
          <p:cNvPr id="22" name="Label"/>
          <p:cNvSpPr txBox="1"/>
          <p:nvPr/>
        </p:nvSpPr>
        <p:spPr>
          <a:xfrm>
            <a:off x="9189720" y="2313432"/>
            <a:ext cx="2404872" cy="457200"/>
          </a:xfrm>
          <a:prstGeom prst="rect">
            <a:avLst/>
          </a:prstGeom>
          <a:noFill/>
        </p:spPr>
        <p:txBody>
          <a:bodyPr wrap="square" lIns="45720" tIns="0" rIns="45720" bIns="0" anchor="ctr">
            <a:noAutofit/>
          </a:bodyPr>
          <a:lstStyle/>
          <a:p>
            <a:pPr algn="l"/>
            <a:r>
              <a:rPr lang="en-GB" sz="1300" dirty="0">
                <a:solidFill>
                  <a:srgbClr val="262626"/>
                </a:solidFill>
              </a:rPr>
              <a:t>specified by hand</a:t>
            </a:r>
          </a:p>
        </p:txBody>
      </p:sp>
      <p:cxnSp>
        <p:nvCxnSpPr>
          <p:cNvPr id="23" name="Rule"/>
          <p:cNvCxnSpPr/>
          <p:nvPr/>
        </p:nvCxnSpPr>
        <p:spPr>
          <a:xfrm>
            <a:off x="603504" y="2798064"/>
            <a:ext cx="10991088" cy="0"/>
          </a:xfrm>
          <a:prstGeom prst="straightConnector1">
            <a:avLst/>
          </a:prstGeom>
          <a:ln w="9525">
            <a:solidFill>
              <a:srgbClr val="D2D2D2"/>
            </a:solidFill>
          </a:ln>
        </p:spPr>
      </p:cxnSp>
      <p:sp>
        <p:nvSpPr>
          <p:cNvPr id="24" name="Label"/>
          <p:cNvSpPr txBox="1"/>
          <p:nvPr/>
        </p:nvSpPr>
        <p:spPr>
          <a:xfrm>
            <a:off x="603504" y="2843784"/>
            <a:ext cx="3246120" cy="457200"/>
          </a:xfrm>
          <a:prstGeom prst="rect">
            <a:avLst/>
          </a:prstGeom>
          <a:noFill/>
        </p:spPr>
        <p:txBody>
          <a:bodyPr wrap="square" lIns="45720" tIns="0" rIns="45720" bIns="0" anchor="ctr">
            <a:noAutofit/>
          </a:bodyPr>
          <a:lstStyle/>
          <a:p>
            <a:pPr algn="l"/>
            <a:r>
              <a:rPr lang="en-GB" sz="1400" b="1" dirty="0">
                <a:solidFill>
                  <a:srgbClr val="262626"/>
                </a:solidFill>
              </a:rPr>
              <a:t>Control barrier functions</a:t>
            </a:r>
          </a:p>
          <a:p>
            <a:pPr algn="l"/>
            <a:r>
              <a:rPr lang="en-GB" sz="1100" dirty="0">
                <a:solidFill>
                  <a:srgbClr val="6E6E6E"/>
                </a:solidFill>
              </a:rPr>
              <a:t>Lindemann and Dimarogonas 2019</a:t>
            </a:r>
          </a:p>
        </p:txBody>
      </p:sp>
      <p:sp>
        <p:nvSpPr>
          <p:cNvPr id="25" name="Label"/>
          <p:cNvSpPr txBox="1"/>
          <p:nvPr/>
        </p:nvSpPr>
        <p:spPr>
          <a:xfrm>
            <a:off x="3931920" y="2843784"/>
            <a:ext cx="2788920" cy="457200"/>
          </a:xfrm>
          <a:prstGeom prst="rect">
            <a:avLst/>
          </a:prstGeom>
          <a:noFill/>
        </p:spPr>
        <p:txBody>
          <a:bodyPr wrap="square" lIns="45720" tIns="0" rIns="45720" bIns="0" anchor="ctr">
            <a:noAutofit/>
          </a:bodyPr>
          <a:lstStyle/>
          <a:p>
            <a:pPr algn="l"/>
            <a:r>
              <a:rPr lang="en-GB" sz="1300" dirty="0">
                <a:solidFill>
                  <a:srgbClr val="262626"/>
                </a:solidFill>
              </a:rPr>
              <a:t>time-varying barrier functions, quadratic program</a:t>
            </a:r>
          </a:p>
        </p:txBody>
      </p:sp>
      <p:sp>
        <p:nvSpPr>
          <p:cNvPr id="26" name="Label"/>
          <p:cNvSpPr txBox="1"/>
          <p:nvPr/>
        </p:nvSpPr>
        <p:spPr>
          <a:xfrm>
            <a:off x="6812280" y="2843784"/>
            <a:ext cx="2286000" cy="457200"/>
          </a:xfrm>
          <a:prstGeom prst="rect">
            <a:avLst/>
          </a:prstGeom>
          <a:noFill/>
        </p:spPr>
        <p:txBody>
          <a:bodyPr wrap="square" lIns="45720" tIns="0" rIns="45720" bIns="0" anchor="ctr">
            <a:noAutofit/>
          </a:bodyPr>
          <a:lstStyle/>
          <a:p>
            <a:pPr algn="l"/>
            <a:r>
              <a:rPr lang="en-GB" sz="1300" dirty="0">
                <a:solidFill>
                  <a:srgbClr val="262626"/>
                </a:solidFill>
              </a:rPr>
              <a:t>dynamics model and control cost</a:t>
            </a:r>
          </a:p>
        </p:txBody>
      </p:sp>
      <p:sp>
        <p:nvSpPr>
          <p:cNvPr id="27" name="Label"/>
          <p:cNvSpPr txBox="1"/>
          <p:nvPr/>
        </p:nvSpPr>
        <p:spPr>
          <a:xfrm>
            <a:off x="9189720" y="2843784"/>
            <a:ext cx="2404872" cy="457200"/>
          </a:xfrm>
          <a:prstGeom prst="rect">
            <a:avLst/>
          </a:prstGeom>
          <a:noFill/>
        </p:spPr>
        <p:txBody>
          <a:bodyPr wrap="square" lIns="45720" tIns="0" rIns="45720" bIns="0" anchor="ctr">
            <a:noAutofit/>
          </a:bodyPr>
          <a:lstStyle/>
          <a:p>
            <a:pPr algn="l"/>
            <a:r>
              <a:rPr lang="en-GB" sz="1300" dirty="0">
                <a:solidFill>
                  <a:srgbClr val="262626"/>
                </a:solidFill>
              </a:rPr>
              <a:t>boundedness conjoined to the requirement</a:t>
            </a:r>
          </a:p>
        </p:txBody>
      </p:sp>
      <p:cxnSp>
        <p:nvCxnSpPr>
          <p:cNvPr id="28" name="Rule"/>
          <p:cNvCxnSpPr/>
          <p:nvPr/>
        </p:nvCxnSpPr>
        <p:spPr>
          <a:xfrm>
            <a:off x="603504" y="3328416"/>
            <a:ext cx="10991088" cy="0"/>
          </a:xfrm>
          <a:prstGeom prst="straightConnector1">
            <a:avLst/>
          </a:prstGeom>
          <a:ln w="9525">
            <a:solidFill>
              <a:srgbClr val="D2D2D2"/>
            </a:solidFill>
          </a:ln>
        </p:spPr>
      </p:cxnSp>
      <p:sp>
        <p:nvSpPr>
          <p:cNvPr id="29" name="Label"/>
          <p:cNvSpPr txBox="1"/>
          <p:nvPr/>
        </p:nvSpPr>
        <p:spPr>
          <a:xfrm>
            <a:off x="603504" y="3374136"/>
            <a:ext cx="3246120" cy="457200"/>
          </a:xfrm>
          <a:prstGeom prst="rect">
            <a:avLst/>
          </a:prstGeom>
          <a:noFill/>
        </p:spPr>
        <p:txBody>
          <a:bodyPr wrap="square" lIns="45720" tIns="0" rIns="45720" bIns="0" anchor="ctr">
            <a:noAutofit/>
          </a:bodyPr>
          <a:lstStyle/>
          <a:p>
            <a:pPr algn="l"/>
            <a:r>
              <a:rPr lang="en-GB" sz="1400" b="1" dirty="0">
                <a:solidFill>
                  <a:srgbClr val="262626"/>
                </a:solidFill>
              </a:rPr>
              <a:t>Training-time conditioning</a:t>
            </a:r>
          </a:p>
          <a:p>
            <a:pPr algn="l"/>
            <a:r>
              <a:rPr lang="en-GB" sz="1100" dirty="0">
                <a:solidFill>
                  <a:srgbClr val="6E6E6E"/>
                </a:solidFill>
              </a:rPr>
              <a:t>TeLoGraF, Meng and Fan 2025</a:t>
            </a:r>
          </a:p>
        </p:txBody>
      </p:sp>
      <p:sp>
        <p:nvSpPr>
          <p:cNvPr id="30" name="Label"/>
          <p:cNvSpPr txBox="1"/>
          <p:nvPr/>
        </p:nvSpPr>
        <p:spPr>
          <a:xfrm>
            <a:off x="3931920" y="3374136"/>
            <a:ext cx="2788920" cy="457200"/>
          </a:xfrm>
          <a:prstGeom prst="rect">
            <a:avLst/>
          </a:prstGeom>
          <a:noFill/>
        </p:spPr>
        <p:txBody>
          <a:bodyPr wrap="square" lIns="45720" tIns="0" rIns="45720" bIns="0" anchor="ctr">
            <a:noAutofit/>
          </a:bodyPr>
          <a:lstStyle/>
          <a:p>
            <a:pPr algn="l"/>
            <a:r>
              <a:rPr lang="en-GB" sz="1300" dirty="0">
                <a:solidFill>
                  <a:srgbClr val="262626"/>
                </a:solidFill>
              </a:rPr>
              <a:t>training, from requirement–demonstration pairs</a:t>
            </a:r>
          </a:p>
        </p:txBody>
      </p:sp>
      <p:sp>
        <p:nvSpPr>
          <p:cNvPr id="31" name="Label"/>
          <p:cNvSpPr txBox="1"/>
          <p:nvPr/>
        </p:nvSpPr>
        <p:spPr>
          <a:xfrm>
            <a:off x="6812280" y="3374136"/>
            <a:ext cx="2286000" cy="457200"/>
          </a:xfrm>
          <a:prstGeom prst="rect">
            <a:avLst/>
          </a:prstGeom>
          <a:noFill/>
        </p:spPr>
        <p:txBody>
          <a:bodyPr wrap="square" lIns="45720" tIns="0" rIns="45720" bIns="0" anchor="ctr">
            <a:noAutofit/>
          </a:bodyPr>
          <a:lstStyle/>
          <a:p>
            <a:pPr algn="l"/>
            <a:r>
              <a:rPr lang="en-GB" sz="1300" dirty="0">
                <a:solidFill>
                  <a:srgbClr val="262626"/>
                </a:solidFill>
              </a:rPr>
              <a:t>conditioned flow-matching model</a:t>
            </a:r>
          </a:p>
        </p:txBody>
      </p:sp>
      <p:sp>
        <p:nvSpPr>
          <p:cNvPr id="32" name="Label"/>
          <p:cNvSpPr txBox="1"/>
          <p:nvPr/>
        </p:nvSpPr>
        <p:spPr>
          <a:xfrm>
            <a:off x="9189720" y="3374136"/>
            <a:ext cx="2404872" cy="457200"/>
          </a:xfrm>
          <a:prstGeom prst="rect">
            <a:avLst/>
          </a:prstGeom>
          <a:noFill/>
        </p:spPr>
        <p:txBody>
          <a:bodyPr wrap="square" lIns="45720" tIns="0" rIns="45720" bIns="0" anchor="ctr">
            <a:noAutofit/>
          </a:bodyPr>
          <a:lstStyle/>
          <a:p>
            <a:pPr algn="l"/>
            <a:r>
              <a:rPr lang="en-GB" sz="1300" dirty="0">
                <a:solidFill>
                  <a:srgbClr val="262626"/>
                </a:solidFill>
              </a:rPr>
              <a:t>degrades outside the conditioning distribution</a:t>
            </a:r>
          </a:p>
        </p:txBody>
      </p:sp>
      <p:cxnSp>
        <p:nvCxnSpPr>
          <p:cNvPr id="33" name="Rule"/>
          <p:cNvCxnSpPr/>
          <p:nvPr/>
        </p:nvCxnSpPr>
        <p:spPr>
          <a:xfrm>
            <a:off x="603504" y="3858768"/>
            <a:ext cx="10991088" cy="0"/>
          </a:xfrm>
          <a:prstGeom prst="straightConnector1">
            <a:avLst/>
          </a:prstGeom>
          <a:ln w="9525">
            <a:solidFill>
              <a:srgbClr val="D2D2D2"/>
            </a:solidFill>
          </a:ln>
        </p:spPr>
      </p:cxnSp>
      <p:sp>
        <p:nvSpPr>
          <p:cNvPr id="34" name="Label"/>
          <p:cNvSpPr txBox="1"/>
          <p:nvPr/>
        </p:nvSpPr>
        <p:spPr>
          <a:xfrm>
            <a:off x="603504" y="3904488"/>
            <a:ext cx="3246120" cy="457200"/>
          </a:xfrm>
          <a:prstGeom prst="rect">
            <a:avLst/>
          </a:prstGeom>
          <a:noFill/>
        </p:spPr>
        <p:txBody>
          <a:bodyPr wrap="square" lIns="45720" tIns="0" rIns="45720" bIns="0" anchor="ctr">
            <a:noAutofit/>
          </a:bodyPr>
          <a:lstStyle/>
          <a:p>
            <a:pPr algn="l"/>
            <a:r>
              <a:rPr lang="en-GB" sz="1400" b="1" dirty="0">
                <a:solidFill>
                  <a:srgbClr val="262626"/>
                </a:solidFill>
              </a:rPr>
              <a:t>Decompose-and-stitch</a:t>
            </a:r>
          </a:p>
          <a:p>
            <a:pPr algn="l"/>
            <a:r>
              <a:rPr lang="en-GB" sz="1100" dirty="0">
                <a:solidFill>
                  <a:srgbClr val="6E6E6E"/>
                </a:solidFill>
              </a:rPr>
              <a:t>ZSTP, Liu et al. 2025</a:t>
            </a:r>
          </a:p>
        </p:txBody>
      </p:sp>
      <p:sp>
        <p:nvSpPr>
          <p:cNvPr id="35" name="Label"/>
          <p:cNvSpPr txBox="1"/>
          <p:nvPr/>
        </p:nvSpPr>
        <p:spPr>
          <a:xfrm>
            <a:off x="3931920" y="3904488"/>
            <a:ext cx="2788920" cy="457200"/>
          </a:xfrm>
          <a:prstGeom prst="rect">
            <a:avLst/>
          </a:prstGeom>
          <a:noFill/>
        </p:spPr>
        <p:txBody>
          <a:bodyPr wrap="square" lIns="45720" tIns="0" rIns="45720" bIns="0" anchor="ctr">
            <a:noAutofit/>
          </a:bodyPr>
          <a:lstStyle/>
          <a:p>
            <a:pPr algn="l"/>
            <a:r>
              <a:rPr lang="en-GB" sz="1300" dirty="0">
                <a:solidFill>
                  <a:srgbClr val="262626"/>
                </a:solidFill>
              </a:rPr>
              <a:t>timed waypoints, before generation</a:t>
            </a:r>
          </a:p>
        </p:txBody>
      </p:sp>
      <p:sp>
        <p:nvSpPr>
          <p:cNvPr id="36" name="Label"/>
          <p:cNvSpPr txBox="1"/>
          <p:nvPr/>
        </p:nvSpPr>
        <p:spPr>
          <a:xfrm>
            <a:off x="6812280" y="3904488"/>
            <a:ext cx="2286000" cy="457200"/>
          </a:xfrm>
          <a:prstGeom prst="rect">
            <a:avLst/>
          </a:prstGeom>
          <a:noFill/>
        </p:spPr>
        <p:txBody>
          <a:bodyPr wrap="square" lIns="45720" tIns="0" rIns="45720" bIns="0" anchor="ctr">
            <a:noAutofit/>
          </a:bodyPr>
          <a:lstStyle/>
          <a:p>
            <a:pPr algn="l"/>
            <a:r>
              <a:rPr lang="en-GB" sz="1300" dirty="0">
                <a:solidFill>
                  <a:srgbClr val="262626"/>
                </a:solidFill>
              </a:rPr>
              <a:t>pretrained diffusion model, between waypoints</a:t>
            </a:r>
          </a:p>
        </p:txBody>
      </p:sp>
      <p:sp>
        <p:nvSpPr>
          <p:cNvPr id="37" name="Label"/>
          <p:cNvSpPr txBox="1"/>
          <p:nvPr/>
        </p:nvSpPr>
        <p:spPr>
          <a:xfrm>
            <a:off x="9189720" y="3904488"/>
            <a:ext cx="2404872" cy="457200"/>
          </a:xfrm>
          <a:prstGeom prst="rect">
            <a:avLst/>
          </a:prstGeom>
          <a:noFill/>
        </p:spPr>
        <p:txBody>
          <a:bodyPr wrap="square" lIns="45720" tIns="0" rIns="45720" bIns="0" anchor="ctr">
            <a:noAutofit/>
          </a:bodyPr>
          <a:lstStyle/>
          <a:p>
            <a:pPr algn="l"/>
            <a:r>
              <a:rPr lang="en-GB" sz="1300" dirty="0">
                <a:solidFill>
                  <a:srgbClr val="262626"/>
                </a:solidFill>
              </a:rPr>
              <a:t>timing of each operator fixed in advance</a:t>
            </a:r>
          </a:p>
        </p:txBody>
      </p:sp>
      <p:cxnSp>
        <p:nvCxnSpPr>
          <p:cNvPr id="38" name="Rule"/>
          <p:cNvCxnSpPr/>
          <p:nvPr/>
        </p:nvCxnSpPr>
        <p:spPr>
          <a:xfrm>
            <a:off x="603504" y="4389120"/>
            <a:ext cx="10991088" cy="0"/>
          </a:xfrm>
          <a:prstGeom prst="straightConnector1">
            <a:avLst/>
          </a:prstGeom>
          <a:ln w="9525">
            <a:solidFill>
              <a:srgbClr val="D2D2D2"/>
            </a:solidFill>
          </a:ln>
        </p:spPr>
      </p:cxnSp>
      <p:sp>
        <p:nvSpPr>
          <p:cNvPr id="39" name="Label"/>
          <p:cNvSpPr txBox="1"/>
          <p:nvPr/>
        </p:nvSpPr>
        <p:spPr>
          <a:xfrm>
            <a:off x="603504" y="4434840"/>
            <a:ext cx="3246120" cy="457200"/>
          </a:xfrm>
          <a:prstGeom prst="rect">
            <a:avLst/>
          </a:prstGeom>
          <a:noFill/>
        </p:spPr>
        <p:txBody>
          <a:bodyPr wrap="square" lIns="45720" tIns="0" rIns="45720" bIns="0" anchor="ctr">
            <a:noAutofit/>
          </a:bodyPr>
          <a:lstStyle/>
          <a:p>
            <a:pPr algn="l"/>
            <a:r>
              <a:rPr lang="en-GB" sz="1400" b="1" dirty="0">
                <a:solidFill>
                  <a:srgbClr val="262626"/>
                </a:solidFill>
              </a:rPr>
              <a:t>Safe-set enforcement</a:t>
            </a:r>
          </a:p>
          <a:p>
            <a:pPr algn="l"/>
            <a:r>
              <a:rPr lang="en-GB" sz="1100" dirty="0">
                <a:solidFill>
                  <a:srgbClr val="6E6E6E"/>
                </a:solidFill>
              </a:rPr>
              <a:t>SafeDiffuser, Xiao et al. 2023</a:t>
            </a:r>
          </a:p>
        </p:txBody>
      </p:sp>
      <p:sp>
        <p:nvSpPr>
          <p:cNvPr id="40" name="Label"/>
          <p:cNvSpPr txBox="1"/>
          <p:nvPr/>
        </p:nvSpPr>
        <p:spPr>
          <a:xfrm>
            <a:off x="3931920" y="4434840"/>
            <a:ext cx="2788920" cy="457200"/>
          </a:xfrm>
          <a:prstGeom prst="rect">
            <a:avLst/>
          </a:prstGeom>
          <a:noFill/>
        </p:spPr>
        <p:txBody>
          <a:bodyPr wrap="square" lIns="45720" tIns="0" rIns="45720" bIns="0" anchor="ctr">
            <a:noAutofit/>
          </a:bodyPr>
          <a:lstStyle/>
          <a:p>
            <a:pPr algn="l"/>
            <a:r>
              <a:rPr lang="en-GB" sz="1300" dirty="0">
                <a:solidFill>
                  <a:srgbClr val="262626"/>
                </a:solidFill>
              </a:rPr>
              <a:t>barrier invariance in each denoising step</a:t>
            </a:r>
          </a:p>
        </p:txBody>
      </p:sp>
      <p:sp>
        <p:nvSpPr>
          <p:cNvPr id="41" name="Label"/>
          <p:cNvSpPr txBox="1"/>
          <p:nvPr/>
        </p:nvSpPr>
        <p:spPr>
          <a:xfrm>
            <a:off x="6812280" y="4434840"/>
            <a:ext cx="2286000" cy="457200"/>
          </a:xfrm>
          <a:prstGeom prst="rect">
            <a:avLst/>
          </a:prstGeom>
          <a:noFill/>
        </p:spPr>
        <p:txBody>
          <a:bodyPr wrap="square" lIns="45720" tIns="0" rIns="45720" bIns="0" anchor="ctr">
            <a:noAutofit/>
          </a:bodyPr>
          <a:lstStyle/>
          <a:p>
            <a:pPr algn="l"/>
            <a:r>
              <a:rPr lang="en-GB" sz="1300" dirty="0">
                <a:solidFill>
                  <a:srgbClr val="262626"/>
                </a:solidFill>
              </a:rPr>
              <a:t>diffusion model</a:t>
            </a:r>
          </a:p>
        </p:txBody>
      </p:sp>
      <p:sp>
        <p:nvSpPr>
          <p:cNvPr id="42" name="Label"/>
          <p:cNvSpPr txBox="1"/>
          <p:nvPr/>
        </p:nvSpPr>
        <p:spPr>
          <a:xfrm>
            <a:off x="9189720" y="4434840"/>
            <a:ext cx="2404872" cy="457200"/>
          </a:xfrm>
          <a:prstGeom prst="rect">
            <a:avLst/>
          </a:prstGeom>
          <a:noFill/>
        </p:spPr>
        <p:txBody>
          <a:bodyPr wrap="square" lIns="45720" tIns="0" rIns="45720" bIns="0" anchor="ctr">
            <a:noAutofit/>
          </a:bodyPr>
          <a:lstStyle/>
          <a:p>
            <a:pPr algn="l"/>
            <a:r>
              <a:rPr lang="en-GB" sz="1300" dirty="0">
                <a:solidFill>
                  <a:srgbClr val="262626"/>
                </a:solidFill>
              </a:rPr>
              <a:t>time-invariant safe set, no temporal operators</a:t>
            </a:r>
          </a:p>
        </p:txBody>
      </p:sp>
      <p:cxnSp>
        <p:nvCxnSpPr>
          <p:cNvPr id="43" name="Rule"/>
          <p:cNvCxnSpPr/>
          <p:nvPr/>
        </p:nvCxnSpPr>
        <p:spPr>
          <a:xfrm>
            <a:off x="603504" y="4919472"/>
            <a:ext cx="10991088" cy="0"/>
          </a:xfrm>
          <a:prstGeom prst="straightConnector1">
            <a:avLst/>
          </a:prstGeom>
          <a:ln w="9525">
            <a:solidFill>
              <a:srgbClr val="D2D2D2"/>
            </a:solidFill>
          </a:ln>
        </p:spPr>
      </p:cxnSp>
      <p:sp>
        <p:nvSpPr>
          <p:cNvPr id="44" name="Label"/>
          <p:cNvSpPr txBox="1"/>
          <p:nvPr/>
        </p:nvSpPr>
        <p:spPr>
          <a:xfrm>
            <a:off x="603504" y="4965192"/>
            <a:ext cx="3246120" cy="457200"/>
          </a:xfrm>
          <a:prstGeom prst="rect">
            <a:avLst/>
          </a:prstGeom>
          <a:noFill/>
        </p:spPr>
        <p:txBody>
          <a:bodyPr wrap="square" lIns="45720" tIns="0" rIns="45720" bIns="0" anchor="ctr">
            <a:noAutofit/>
          </a:bodyPr>
          <a:lstStyle/>
          <a:p>
            <a:pPr algn="l"/>
            <a:r>
              <a:rPr lang="en-GB" sz="1400" b="1" dirty="0">
                <a:solidFill>
                  <a:srgbClr val="262626"/>
                </a:solidFill>
              </a:rPr>
              <a:t>Inference-time robustness guidance</a:t>
            </a:r>
          </a:p>
          <a:p>
            <a:pPr algn="l"/>
            <a:r>
              <a:rPr lang="en-GB" sz="1100" dirty="0">
                <a:solidFill>
                  <a:srgbClr val="6E6E6E"/>
                </a:solidFill>
              </a:rPr>
              <a:t>CTG, Zhong et al. 2022</a:t>
            </a:r>
          </a:p>
        </p:txBody>
      </p:sp>
      <p:sp>
        <p:nvSpPr>
          <p:cNvPr id="45" name="Label"/>
          <p:cNvSpPr txBox="1"/>
          <p:nvPr/>
        </p:nvSpPr>
        <p:spPr>
          <a:xfrm>
            <a:off x="3931920" y="4965192"/>
            <a:ext cx="2788920" cy="457200"/>
          </a:xfrm>
          <a:prstGeom prst="rect">
            <a:avLst/>
          </a:prstGeom>
          <a:noFill/>
        </p:spPr>
        <p:txBody>
          <a:bodyPr wrap="square" lIns="45720" tIns="0" rIns="45720" bIns="0" anchor="ctr">
            <a:noAutofit/>
          </a:bodyPr>
          <a:lstStyle/>
          <a:p>
            <a:pPr algn="l"/>
            <a:r>
              <a:rPr lang="en-GB" sz="1300" dirty="0">
                <a:solidFill>
                  <a:srgbClr val="262626"/>
                </a:solidFill>
              </a:rPr>
              <a:t>robustness gradient, during sampling</a:t>
            </a:r>
          </a:p>
        </p:txBody>
      </p:sp>
      <p:sp>
        <p:nvSpPr>
          <p:cNvPr id="46" name="Label"/>
          <p:cNvSpPr txBox="1"/>
          <p:nvPr/>
        </p:nvSpPr>
        <p:spPr>
          <a:xfrm>
            <a:off x="6812280" y="4965192"/>
            <a:ext cx="2286000" cy="457200"/>
          </a:xfrm>
          <a:prstGeom prst="rect">
            <a:avLst/>
          </a:prstGeom>
          <a:noFill/>
        </p:spPr>
        <p:txBody>
          <a:bodyPr wrap="square" lIns="45720" tIns="0" rIns="45720" bIns="0" anchor="ctr">
            <a:noAutofit/>
          </a:bodyPr>
          <a:lstStyle/>
          <a:p>
            <a:pPr algn="l"/>
            <a:r>
              <a:rPr lang="en-GB" sz="1300" dirty="0">
                <a:solidFill>
                  <a:srgbClr val="262626"/>
                </a:solidFill>
              </a:rPr>
              <a:t>diffusion model</a:t>
            </a:r>
          </a:p>
        </p:txBody>
      </p:sp>
      <p:sp>
        <p:nvSpPr>
          <p:cNvPr id="47" name="Label"/>
          <p:cNvSpPr txBox="1"/>
          <p:nvPr/>
        </p:nvSpPr>
        <p:spPr>
          <a:xfrm>
            <a:off x="9189720" y="4965192"/>
            <a:ext cx="2404872" cy="457200"/>
          </a:xfrm>
          <a:prstGeom prst="rect">
            <a:avLst/>
          </a:prstGeom>
          <a:noFill/>
        </p:spPr>
        <p:txBody>
          <a:bodyPr wrap="square" lIns="45720" tIns="0" rIns="45720" bIns="0" anchor="ctr">
            <a:noAutofit/>
          </a:bodyPr>
          <a:lstStyle/>
          <a:p>
            <a:pPr algn="l"/>
            <a:r>
              <a:rPr lang="en-GB" sz="1300" dirty="0">
                <a:solidFill>
                  <a:srgbClr val="262626"/>
                </a:solidFill>
              </a:rPr>
              <a:t>strength coupled to the noise level, no certificate</a:t>
            </a:r>
          </a:p>
        </p:txBody>
      </p:sp>
      <p:cxnSp>
        <p:nvCxnSpPr>
          <p:cNvPr id="48" name="Rule"/>
          <p:cNvCxnSpPr/>
          <p:nvPr/>
        </p:nvCxnSpPr>
        <p:spPr>
          <a:xfrm>
            <a:off x="603504" y="5449824"/>
            <a:ext cx="10991088" cy="0"/>
          </a:xfrm>
          <a:prstGeom prst="straightConnector1">
            <a:avLst/>
          </a:prstGeom>
          <a:ln w="9525">
            <a:solidFill>
              <a:srgbClr val="D2D2D2"/>
            </a:solidFill>
          </a:ln>
        </p:spPr>
      </p:cxnSp>
      <p:sp>
        <p:nvSpPr>
          <p:cNvPr id="49" name="Label"/>
          <p:cNvSpPr txBox="1"/>
          <p:nvPr/>
        </p:nvSpPr>
        <p:spPr>
          <a:xfrm>
            <a:off x="603504" y="5495544"/>
            <a:ext cx="3246120" cy="457200"/>
          </a:xfrm>
          <a:prstGeom prst="rect">
            <a:avLst/>
          </a:prstGeom>
          <a:noFill/>
        </p:spPr>
        <p:txBody>
          <a:bodyPr wrap="square" lIns="45720" tIns="0" rIns="45720" bIns="0" anchor="ctr">
            <a:noAutofit/>
          </a:bodyPr>
          <a:lstStyle/>
          <a:p>
            <a:pPr algn="l"/>
            <a:r>
              <a:rPr lang="en-GB" sz="1400" b="1" dirty="0">
                <a:solidFill>
                  <a:srgbClr val="1954A6"/>
                </a:solidFill>
              </a:rPr>
              <a:t>STL-FM</a:t>
            </a:r>
          </a:p>
          <a:p>
            <a:pPr algn="l"/>
            <a:r>
              <a:rPr lang="en-GB" sz="1100" dirty="0">
                <a:solidFill>
                  <a:srgbClr val="6E6E6E"/>
                </a:solidFill>
              </a:rPr>
              <a:t>this thesis</a:t>
            </a:r>
          </a:p>
        </p:txBody>
      </p:sp>
      <p:sp>
        <p:nvSpPr>
          <p:cNvPr id="50" name="Label"/>
          <p:cNvSpPr txBox="1"/>
          <p:nvPr/>
        </p:nvSpPr>
        <p:spPr>
          <a:xfrm>
            <a:off x="3931920" y="5495544"/>
            <a:ext cx="2788920" cy="457200"/>
          </a:xfrm>
          <a:prstGeom prst="rect">
            <a:avLst/>
          </a:prstGeom>
          <a:noFill/>
        </p:spPr>
        <p:txBody>
          <a:bodyPr wrap="square" lIns="45720" tIns="0" rIns="45720" bIns="0" anchor="ctr">
            <a:noAutofit/>
          </a:bodyPr>
          <a:lstStyle/>
          <a:p>
            <a:pPr algn="l"/>
            <a:r>
              <a:rPr lang="en-GB" sz="1300" dirty="0">
                <a:solidFill>
                  <a:srgbClr val="1954A6"/>
                </a:solidFill>
              </a:rPr>
              <a:t>robustness gradient at the predicted endpoint, during sampling</a:t>
            </a:r>
          </a:p>
        </p:txBody>
      </p:sp>
      <p:sp>
        <p:nvSpPr>
          <p:cNvPr id="51" name="Label"/>
          <p:cNvSpPr txBox="1"/>
          <p:nvPr/>
        </p:nvSpPr>
        <p:spPr>
          <a:xfrm>
            <a:off x="6812280" y="5495544"/>
            <a:ext cx="2286000" cy="457200"/>
          </a:xfrm>
          <a:prstGeom prst="rect">
            <a:avLst/>
          </a:prstGeom>
          <a:noFill/>
        </p:spPr>
        <p:txBody>
          <a:bodyPr wrap="square" lIns="45720" tIns="0" rIns="45720" bIns="0" anchor="ctr">
            <a:noAutofit/>
          </a:bodyPr>
          <a:lstStyle/>
          <a:p>
            <a:pPr algn="l"/>
            <a:r>
              <a:rPr lang="en-GB" sz="1300" dirty="0">
                <a:solidFill>
                  <a:srgbClr val="1954A6"/>
                </a:solidFill>
              </a:rPr>
              <a:t>learned prior, trained by flow matching</a:t>
            </a:r>
          </a:p>
        </p:txBody>
      </p:sp>
      <p:sp>
        <p:nvSpPr>
          <p:cNvPr id="52" name="Label"/>
          <p:cNvSpPr txBox="1"/>
          <p:nvPr/>
        </p:nvSpPr>
        <p:spPr>
          <a:xfrm>
            <a:off x="9189720" y="5495544"/>
            <a:ext cx="2404872" cy="457200"/>
          </a:xfrm>
          <a:prstGeom prst="rect">
            <a:avLst/>
          </a:prstGeom>
          <a:noFill/>
        </p:spPr>
        <p:txBody>
          <a:bodyPr wrap="square" lIns="45720" tIns="0" rIns="45720" bIns="0" anchor="ctr">
            <a:noAutofit/>
          </a:bodyPr>
          <a:lstStyle/>
          <a:p>
            <a:pPr algn="l"/>
            <a:r>
              <a:rPr lang="en-GB" sz="1300" dirty="0">
                <a:solidFill>
                  <a:srgbClr val="1954A6"/>
                </a:solidFill>
              </a:rPr>
              <a:t>one constant strength, no retraining, no certificate</a:t>
            </a:r>
          </a:p>
        </p:txBody>
      </p:sp>
      <p:cxnSp>
        <p:nvCxnSpPr>
          <p:cNvPr id="53" name="Rule"/>
          <p:cNvCxnSpPr/>
          <p:nvPr/>
        </p:nvCxnSpPr>
        <p:spPr>
          <a:xfrm>
            <a:off x="603504" y="5980176"/>
            <a:ext cx="10991088" cy="0"/>
          </a:xfrm>
          <a:prstGeom prst="straightConnector1">
            <a:avLst/>
          </a:prstGeom>
          <a:ln w="9525">
            <a:solidFill>
              <a:srgbClr val="D2D2D2"/>
            </a:solidFill>
          </a:ln>
        </p:spPr>
      </p:cxnSp>
      <p:sp>
        <p:nvSpPr>
          <p:cNvPr id="54" name="Label"/>
          <p:cNvSpPr txBox="1"/>
          <p:nvPr/>
        </p:nvSpPr>
        <p:spPr>
          <a:xfrm>
            <a:off x="603504" y="6053328"/>
            <a:ext cx="10991088" cy="237744"/>
          </a:xfrm>
          <a:prstGeom prst="rect">
            <a:avLst/>
          </a:prstGeom>
          <a:noFill/>
        </p:spPr>
        <p:txBody>
          <a:bodyPr wrap="square" lIns="45720" tIns="0" rIns="45720" bIns="0" anchor="t">
            <a:noAutofit/>
          </a:bodyPr>
          <a:lstStyle/>
          <a:p>
            <a:pPr algn="l"/>
            <a:r>
              <a:rPr lang="en-GB" sz="1100" dirty="0">
                <a:solidFill>
                  <a:srgbClr val="6E6E6E"/>
                </a:solidFill>
              </a:rPr>
              <a:t>Entries summarize Chapter 2 of the thesis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Guiding the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a:t>
            </a:r>
            <a:r>
              <a:rPr lang="en-GB" sz="1300" b="1" dirty="0">
                <a:solidFill>
                  <a:srgbClr val="004791"/>
                </a:solidFill>
              </a:rPr>
              <a:t>Method</a:t>
            </a:r>
            <a:r>
              <a:rPr lang="en-GB" sz="1300" dirty="0">
                <a:solidFill>
                  <a:srgbClr val="A5A5A5"/>
                </a:solidFill>
              </a:rPr>
              <a:t>    →    Results    →    Conclusions</a:t>
            </a:r>
          </a:p>
        </p:txBody>
      </p:sp>
      <p:sp>
        <p:nvSpPr>
          <p:cNvPr id="13" name="Slide Number"/>
          <p:cNvSpPr>
            <a:spLocks noGrp="1"/>
          </p:cNvSpPr>
          <p:nvPr>
            <p:ph type="sldNum" sz="quarter" idx="12"/>
          </p:nvPr>
        </p:nvSpPr>
        <p:spPr/>
        <p:txBody>
          <a:bodyPr/>
          <a:lstStyle/>
          <a:p>
            <a:fld id="{619F89D8-7AE3-494A-97F3-03D680869632}" type="slidenum">
              <a:rPr lang="en-GB"/>
              <a:t>20</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CFEAF6"/>
          </a:solidFill>
          <a:ln w="19050">
            <a:solidFill>
              <a:srgbClr val="24A0D8"/>
            </a:solidFill>
          </a:ln>
        </p:spPr>
        <p:txBody>
          <a:bodyPr wrap="square" lIns="64008" tIns="27432" rIns="64008" bIns="27432" anchor="ctr">
            <a:noAutofit/>
          </a:bodyPr>
          <a:lstStyle/>
          <a:p>
            <a:pPr algn="ctr"/>
            <a:r>
              <a:rPr lang="en-GB" sz="1600" dirty="0">
                <a:solidFill>
                  <a:srgbClr val="262626"/>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1954A6"/>
            </a:solidFill>
            <a:tailEnd type="triangle" w="med" len="med"/>
          </a:ln>
        </p:spPr>
      </p:cxnSp>
      <p:cxnSp>
        <p:nvCxnSpPr>
          <p:cNvPr id="34" name="Arrow"/>
          <p:cNvCxnSpPr/>
          <p:nvPr/>
        </p:nvCxnSpPr>
        <p:spPr>
          <a:xfrm>
            <a:off x="8416446" y="3776472"/>
            <a:ext cx="706255" cy="0"/>
          </a:xfrm>
          <a:prstGeom prst="straightConnector1">
            <a:avLst/>
          </a:prstGeom>
          <a:ln w="25400">
            <a:solidFill>
              <a:srgbClr val="D85497"/>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Guided velocity field</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a:t>
            </a:r>
            <a:r>
              <a:rPr lang="en-GB" sz="1300" b="1" dirty="0">
                <a:solidFill>
                  <a:srgbClr val="004791"/>
                </a:solidFill>
              </a:rPr>
              <a:t>Method</a:t>
            </a:r>
            <a:r>
              <a:rPr lang="en-GB" sz="1300" dirty="0">
                <a:solidFill>
                  <a:srgbClr val="A5A5A5"/>
                </a:solidFill>
              </a:rPr>
              <a:t>    →    Results    →    Conclusions</a:t>
            </a:r>
          </a:p>
        </p:txBody>
      </p:sp>
      <p:sp>
        <p:nvSpPr>
          <p:cNvPr id="13" name="Slide Number"/>
          <p:cNvSpPr>
            <a:spLocks noGrp="1"/>
          </p:cNvSpPr>
          <p:nvPr>
            <p:ph type="sldNum" sz="quarter" idx="12"/>
          </p:nvPr>
        </p:nvSpPr>
        <p:spPr/>
        <p:txBody>
          <a:bodyPr/>
          <a:lstStyle/>
          <a:p>
            <a:fld id="{619F89D8-7AE3-494A-97F3-03D680869632}" type="slidenum">
              <a:rPr lang="en-GB"/>
              <a:t>21</a:t>
            </a:fld>
            <a:endParaRPr lang="en-GB"/>
          </a:p>
        </p:txBody>
      </p:sp>
      <p:pic>
        <p:nvPicPr>
          <p:cNvPr id="14" name="Equation" descr="The guided velocity field, prior velocity plus a constant times the conditioned requirement gradient at the predicted endpoint"/>
          <p:cNvPicPr>
            <a:picLocks noChangeAspect="1"/>
          </p:cNvPicPr>
          <p:nvPr/>
        </p:nvPicPr>
        <p:blipFill>
          <a:blip r:embed="rId3"/>
          <a:stretch>
            <a:fillRect/>
          </a:stretch>
        </p:blipFill>
        <p:spPr>
          <a:xfrm>
            <a:off x="2555748" y="2011680"/>
            <a:ext cx="7086600" cy="1225296"/>
          </a:xfrm>
          <a:prstGeom prst="rect">
            <a:avLst/>
          </a:prstGeom>
        </p:spPr>
      </p:pic>
      <p:sp>
        <p:nvSpPr>
          <p:cNvPr id="15" name="Label"/>
          <p:cNvSpPr txBox="1"/>
          <p:nvPr/>
        </p:nvSpPr>
        <p:spPr>
          <a:xfrm>
            <a:off x="603504" y="3429000"/>
            <a:ext cx="10991088" cy="292608"/>
          </a:xfrm>
          <a:prstGeom prst="rect">
            <a:avLst/>
          </a:prstGeom>
          <a:noFill/>
        </p:spPr>
        <p:txBody>
          <a:bodyPr wrap="square" lIns="45720" tIns="0" rIns="45720" bIns="0" anchor="t">
            <a:noAutofit/>
          </a:bodyPr>
          <a:lstStyle/>
          <a:p>
            <a:pPr algn="ctr"/>
            <a:r>
              <a:rPr lang="en-GB" sz="1500" dirty="0">
                <a:solidFill>
                  <a:srgbClr val="6E6E6E"/>
                </a:solidFill>
              </a:rPr>
              <a:t>with the penalized objective and the conditioned gradient</a:t>
            </a:r>
          </a:p>
        </p:txBody>
      </p:sp>
      <p:pic>
        <p:nvPicPr>
          <p:cNvPr id="16" name="Equation" descr="Penalized objective and masked, normalized gradient"/>
          <p:cNvPicPr>
            <a:picLocks noChangeAspect="1"/>
          </p:cNvPicPr>
          <p:nvPr/>
        </p:nvPicPr>
        <p:blipFill>
          <a:blip r:embed="rId4"/>
          <a:stretch>
            <a:fillRect/>
          </a:stretch>
        </p:blipFill>
        <p:spPr>
          <a:xfrm>
            <a:off x="2458212" y="3794760"/>
            <a:ext cx="7281672" cy="739140"/>
          </a:xfrm>
          <a:prstGeom prst="rect">
            <a:avLst/>
          </a:prstGeom>
        </p:spPr>
      </p:pic>
      <p:sp>
        <p:nvSpPr>
          <p:cNvPr id="17" name="Label"/>
          <p:cNvSpPr txBox="1"/>
          <p:nvPr/>
        </p:nvSpPr>
        <p:spPr>
          <a:xfrm>
            <a:off x="603504" y="4937760"/>
            <a:ext cx="10991088" cy="685800"/>
          </a:xfrm>
          <a:prstGeom prst="rect">
            <a:avLst/>
          </a:prstGeom>
          <a:noFill/>
        </p:spPr>
        <p:txBody>
          <a:bodyPr wrap="square" lIns="45720" tIns="0" rIns="45720" bIns="0" anchor="t">
            <a:noAutofit/>
          </a:bodyPr>
          <a:lstStyle/>
          <a:p>
            <a:pPr algn="ct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 0 is one constant strength for the whole flow.</a:t>
            </a:r>
          </a:p>
          <a:p>
            <a:pPr algn="ctr"/>
            <a:r>
              <a:rPr lang="en-GB" sz="1700" dirty="0">
                <a:solidFill>
                  <a:srgbClr val="262626"/>
                </a:solidFill>
              </a:rPr>
              <a:t>No component of the sampling loop is trained, and the requirement is not an input to the network.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Guided sampler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a:t>
            </a:r>
            <a:r>
              <a:rPr lang="en-GB" sz="1300" b="1" dirty="0">
                <a:solidFill>
                  <a:srgbClr val="004791"/>
                </a:solidFill>
              </a:rPr>
              <a:t>Method</a:t>
            </a:r>
            <a:r>
              <a:rPr lang="en-GB" sz="1300" dirty="0">
                <a:solidFill>
                  <a:srgbClr val="A5A5A5"/>
                </a:solidFill>
              </a:rPr>
              <a:t>    →    Results    →    Conclusions</a:t>
            </a:r>
          </a:p>
        </p:txBody>
      </p:sp>
      <p:sp>
        <p:nvSpPr>
          <p:cNvPr id="13" name="Slide Number"/>
          <p:cNvSpPr>
            <a:spLocks noGrp="1"/>
          </p:cNvSpPr>
          <p:nvPr>
            <p:ph type="sldNum" sz="quarter" idx="12"/>
          </p:nvPr>
        </p:nvSpPr>
        <p:spPr/>
        <p:txBody>
          <a:bodyPr/>
          <a:lstStyle/>
          <a:p>
            <a:fld id="{619F89D8-7AE3-494A-97F3-03D680869632}" type="slidenum">
              <a:rPr lang="en-GB"/>
              <a:t>22</a:t>
            </a:fld>
            <a:endParaRPr lang="en-GB"/>
          </a:p>
        </p:txBody>
      </p:sp>
      <p:sp>
        <p:nvSpPr>
          <p:cNvPr id="14" name="Label"/>
          <p:cNvSpPr txBox="1"/>
          <p:nvPr/>
        </p:nvSpPr>
        <p:spPr>
          <a:xfrm>
            <a:off x="603504" y="1965960"/>
            <a:ext cx="10991088" cy="329184"/>
          </a:xfrm>
          <a:prstGeom prst="rect">
            <a:avLst/>
          </a:prstGeom>
          <a:noFill/>
        </p:spPr>
        <p:txBody>
          <a:bodyPr wrap="square" lIns="45720" tIns="0" rIns="45720" bIns="0" anchor="t">
            <a:noAutofit/>
          </a:bodyPr>
          <a:lstStyle/>
          <a:p>
            <a:pPr algn="ctr"/>
            <a:r>
              <a:rPr lang="en-GB" sz="1700" dirty="0">
                <a:solidFill>
                  <a:srgbClr val="262626"/>
                </a:solidFill>
              </a:rPr>
              <a:t>For k = 0, …, K − 1 with s = kΔs, Δs = 1/K and K = 64, from </a:t>
            </a:r>
            <a:r>
              <a:rPr lang="en-GB" sz="1700" dirty="0">
                <a:solidFill>
                  <a:srgbClr val="262626"/>
                </a:solidFill>
                <a:latin typeface="Cambria Math"/>
                <a:ea typeface="Cambria Math"/>
                <a:cs typeface="Cambria Math"/>
                <a:sym typeface="Cambria Math"/>
              </a:rPr>
              <a:t>τ</a:t>
            </a:r>
            <a:r>
              <a:rPr lang="en-GB" sz="1700" dirty="0">
                <a:solidFill>
                  <a:srgbClr val="262626"/>
                </a:solidFill>
              </a:rPr>
              <a:t> ~ N(0, I) with the start state pinned</a:t>
            </a:r>
          </a:p>
        </p:txBody>
      </p:sp>
      <p:pic>
        <p:nvPicPr>
          <p:cNvPr id="15" name="Equation" descr="One step of the guided sampler"/>
          <p:cNvPicPr>
            <a:picLocks noChangeAspect="1"/>
          </p:cNvPicPr>
          <p:nvPr/>
        </p:nvPicPr>
        <p:blipFill>
          <a:blip r:embed="rId3"/>
          <a:stretch>
            <a:fillRect/>
          </a:stretch>
        </p:blipFill>
        <p:spPr>
          <a:xfrm>
            <a:off x="1860042" y="2468880"/>
            <a:ext cx="8478012" cy="1589532"/>
          </a:xfrm>
          <a:prstGeom prst="rect">
            <a:avLst/>
          </a:prstGeom>
        </p:spPr>
      </p:pic>
      <p:sp>
        <p:nvSpPr>
          <p:cNvPr id="16" name="Label"/>
          <p:cNvSpPr txBox="1"/>
          <p:nvPr/>
        </p:nvSpPr>
        <p:spPr>
          <a:xfrm>
            <a:off x="603504" y="4526280"/>
            <a:ext cx="10991088" cy="1005840"/>
          </a:xfrm>
          <a:prstGeom prst="rect">
            <a:avLst/>
          </a:prstGeom>
          <a:noFill/>
        </p:spPr>
        <p:txBody>
          <a:bodyPr wrap="square" lIns="45720" tIns="0" rIns="45720" bIns="0" anchor="t">
            <a:noAutofit/>
          </a:bodyPr>
          <a:lstStyle/>
          <a:p>
            <a:pPr algn="ctr"/>
            <a:r>
              <a:rPr lang="en-GB" sz="1600" dirty="0">
                <a:solidFill>
                  <a:srgbClr val="6E6E6E"/>
                </a:solidFill>
              </a:rPr>
              <a:t>The gradient is taken with respect to the predicted endpoint, not through the network.</a:t>
            </a:r>
          </a:p>
          <a:p>
            <a:pPr algn="ctr"/>
            <a:r>
              <a:rPr lang="en-GB" sz="1600" dirty="0">
                <a:solidFill>
                  <a:srgbClr val="6E6E6E"/>
                </a:solidFill>
              </a:rPr>
              <a:t>Early in the flow the iterate </a:t>
            </a:r>
            <a:r>
              <a:rPr lang="en-GB" sz="1600" dirty="0">
                <a:solidFill>
                  <a:srgbClr val="6E6E6E"/>
                </a:solidFill>
                <a:latin typeface="Cambria Math"/>
                <a:ea typeface="Cambria Math"/>
                <a:cs typeface="Cambria Math"/>
                <a:sym typeface="Cambria Math"/>
              </a:rPr>
              <a:t>τ</a:t>
            </a:r>
            <a:r>
              <a:rPr lang="en-GB" sz="1600" dirty="0">
                <a:solidFill>
                  <a:srgbClr val="6E6E6E"/>
                </a:solidFill>
              </a:rPr>
              <a:t>(s) is mostly noise, whereas </a:t>
            </a:r>
            <a:r>
              <a:rPr lang="en-GB" sz="1600" dirty="0">
                <a:solidFill>
                  <a:srgbClr val="6E6E6E"/>
                </a:solidFill>
                <a:latin typeface="Cambria Math"/>
                <a:ea typeface="Cambria Math"/>
                <a:cs typeface="Cambria Math"/>
                <a:sym typeface="Cambria Math"/>
              </a:rPr>
              <a:t>τ̂</a:t>
            </a:r>
            <a:r>
              <a:rPr lang="en-GB" sz="1600" dirty="0">
                <a:solidFill>
                  <a:srgbClr val="6E6E6E"/>
                </a:solidFill>
              </a:rPr>
              <a:t>(s) is the prior’s estimate of the finished trajectory.</a:t>
            </a:r>
          </a:p>
        </p:txBody>
      </p:sp>
      <p:sp>
        <p:nvSpPr>
          <p:cNvPr id="17"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Algorithm 2 of the thesis, lines 4 to 13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Evaluating the plans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23</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endParaRP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600" dirty="0">
                <a:solidFill>
                  <a:srgbClr val="262626"/>
                </a:solidFill>
              </a:rPr>
              <a:t>Plan</a:t>
            </a:r>
          </a:p>
        </p:txBody>
      </p:sp>
      <p:sp>
        <p:nvSpPr>
          <p:cNvPr id="28" name="exec"/>
          <p:cNvSpPr/>
          <p:nvPr/>
        </p:nvSpPr>
        <p:spPr>
          <a:xfrm>
            <a:off x="9122701" y="5486400"/>
            <a:ext cx="2251187" cy="566928"/>
          </a:xfrm>
          <a:prstGeom prst="roundRect">
            <a:avLst>
              <a:gd name="adj" fmla="val 8000"/>
            </a:avLst>
          </a:prstGeom>
          <a:solidFill>
            <a:srgbClr val="F9FBEE"/>
          </a:solidFill>
          <a:ln w="19050">
            <a:solidFill>
              <a:srgbClr val="B0C92B"/>
            </a:solidFill>
          </a:ln>
        </p:spPr>
        <p:txBody>
          <a:bodyPr wrap="square" lIns="64008" tIns="27432" rIns="64008" bIns="27432" anchor="ctr">
            <a:noAutofit/>
          </a:bodyPr>
          <a:lstStyle/>
          <a:p>
            <a:pPr algn="ctr"/>
            <a:r>
              <a:rPr lang="en-GB" sz="1600" dirty="0">
                <a:solidFill>
                  <a:srgbClr val="262626"/>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24A0D8"/>
            </a:solidFill>
            <a:tailEnd type="triangle" w="med" len="med"/>
          </a:ln>
        </p:spPr>
      </p:cxnSp>
      <p:cxnSp>
        <p:nvCxnSpPr>
          <p:cNvPr id="36" name="Arrow"/>
          <p:cNvCxnSpPr/>
          <p:nvPr/>
        </p:nvCxnSpPr>
        <p:spPr>
          <a:xfrm>
            <a:off x="10248294" y="5074920"/>
            <a:ext cx="0" cy="411480"/>
          </a:xfrm>
          <a:prstGeom prst="straightConnector1">
            <a:avLst/>
          </a:prstGeom>
          <a:ln w="25400">
            <a:solidFill>
              <a:srgbClr val="B0C92B"/>
            </a:solidFill>
            <a:tailEnd type="triangl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Experimental setup</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24</a:t>
            </a:fld>
            <a:endParaRPr lang="en-GB"/>
          </a:p>
        </p:txBody>
      </p:sp>
      <p:pic>
        <p:nvPicPr>
          <p:cNvPr id="14" name="Figure" descr="Planar navigation"/>
          <p:cNvPicPr>
            <a:picLocks noChangeAspect="1"/>
          </p:cNvPicPr>
          <p:nvPr/>
        </p:nvPicPr>
        <p:blipFill>
          <a:blip r:embed="rId3"/>
          <a:stretch>
            <a:fillRect/>
          </a:stretch>
        </p:blipFill>
        <p:spPr>
          <a:xfrm>
            <a:off x="603504" y="2034540"/>
            <a:ext cx="2377440" cy="2377440"/>
          </a:xfrm>
          <a:prstGeom prst="rect">
            <a:avLst/>
          </a:prstGeom>
        </p:spPr>
      </p:pic>
      <p:sp>
        <p:nvSpPr>
          <p:cNvPr id="15" name="Label"/>
          <p:cNvSpPr txBox="1"/>
          <p:nvPr/>
        </p:nvSpPr>
        <p:spPr>
          <a:xfrm>
            <a:off x="603504" y="4617720"/>
            <a:ext cx="2377440" cy="274320"/>
          </a:xfrm>
          <a:prstGeom prst="rect">
            <a:avLst/>
          </a:prstGeom>
          <a:noFill/>
        </p:spPr>
        <p:txBody>
          <a:bodyPr wrap="square" lIns="45720" tIns="0" rIns="45720" bIns="0" anchor="t">
            <a:noAutofit/>
          </a:bodyPr>
          <a:lstStyle/>
          <a:p>
            <a:pPr algn="ctr"/>
            <a:r>
              <a:rPr lang="en-GB" sz="1600" b="1" dirty="0">
                <a:solidFill>
                  <a:srgbClr val="262626"/>
                </a:solidFill>
              </a:rPr>
              <a:t>Planar navigation</a:t>
            </a:r>
          </a:p>
        </p:txBody>
      </p:sp>
      <p:sp>
        <p:nvSpPr>
          <p:cNvPr id="16" name="Label"/>
          <p:cNvSpPr txBox="1"/>
          <p:nvPr/>
        </p:nvSpPr>
        <p:spPr>
          <a:xfrm>
            <a:off x="603504" y="4910328"/>
            <a:ext cx="2377440" cy="274320"/>
          </a:xfrm>
          <a:prstGeom prst="rect">
            <a:avLst/>
          </a:prstGeom>
          <a:noFill/>
        </p:spPr>
        <p:txBody>
          <a:bodyPr wrap="square" lIns="45720" tIns="0" rIns="45720" bIns="0" anchor="t">
            <a:noAutofit/>
          </a:bodyPr>
          <a:lstStyle/>
          <a:p>
            <a:pPr algn="ctr"/>
            <a:r>
              <a:rPr lang="en-GB" sz="1300" dirty="0">
                <a:solidFill>
                  <a:srgbClr val="6E6E6E"/>
                </a:solidFill>
              </a:rPr>
              <a:t>100 runs per class, plans only</a:t>
            </a:r>
          </a:p>
        </p:txBody>
      </p:sp>
      <p:pic>
        <p:nvPicPr>
          <p:cNvPr id="17" name="Figure" descr="Cube manipulation"/>
          <p:cNvPicPr>
            <a:picLocks noChangeAspect="1"/>
          </p:cNvPicPr>
          <p:nvPr/>
        </p:nvPicPr>
        <p:blipFill>
          <a:blip r:embed="rId4"/>
          <a:stretch>
            <a:fillRect/>
          </a:stretch>
        </p:blipFill>
        <p:spPr>
          <a:xfrm>
            <a:off x="3163824" y="2034540"/>
            <a:ext cx="2377440" cy="2377440"/>
          </a:xfrm>
          <a:prstGeom prst="rect">
            <a:avLst/>
          </a:prstGeom>
        </p:spPr>
      </p:pic>
      <p:sp>
        <p:nvSpPr>
          <p:cNvPr id="18" name="Label"/>
          <p:cNvSpPr txBox="1"/>
          <p:nvPr/>
        </p:nvSpPr>
        <p:spPr>
          <a:xfrm>
            <a:off x="3163824" y="4617720"/>
            <a:ext cx="2377440" cy="274320"/>
          </a:xfrm>
          <a:prstGeom prst="rect">
            <a:avLst/>
          </a:prstGeom>
          <a:noFill/>
        </p:spPr>
        <p:txBody>
          <a:bodyPr wrap="square" lIns="45720" tIns="0" rIns="45720" bIns="0" anchor="t">
            <a:noAutofit/>
          </a:bodyPr>
          <a:lstStyle/>
          <a:p>
            <a:pPr algn="ctr"/>
            <a:r>
              <a:rPr lang="en-GB" sz="1600" b="1" dirty="0">
                <a:solidFill>
                  <a:srgbClr val="262626"/>
                </a:solidFill>
              </a:rPr>
              <a:t>Cube manipulation</a:t>
            </a:r>
          </a:p>
        </p:txBody>
      </p:sp>
      <p:sp>
        <p:nvSpPr>
          <p:cNvPr id="19" name="Label"/>
          <p:cNvSpPr txBox="1"/>
          <p:nvPr/>
        </p:nvSpPr>
        <p:spPr>
          <a:xfrm>
            <a:off x="3163824" y="4910328"/>
            <a:ext cx="2377440" cy="274320"/>
          </a:xfrm>
          <a:prstGeom prst="rect">
            <a:avLst/>
          </a:prstGeom>
          <a:noFill/>
        </p:spPr>
        <p:txBody>
          <a:bodyPr wrap="square" lIns="45720" tIns="0" rIns="45720" bIns="0" anchor="t">
            <a:noAutofit/>
          </a:bodyPr>
          <a:lstStyle/>
          <a:p>
            <a:pPr algn="ctr"/>
            <a:r>
              <a:rPr lang="en-GB" sz="1300" dirty="0">
                <a:solidFill>
                  <a:srgbClr val="6E6E6E"/>
                </a:solidFill>
              </a:rPr>
              <a:t>10 runs per class, executed</a:t>
            </a:r>
          </a:p>
        </p:txBody>
      </p:sp>
      <p:sp>
        <p:nvSpPr>
          <p:cNvPr id="20" name="Label"/>
          <p:cNvSpPr txBox="1"/>
          <p:nvPr/>
        </p:nvSpPr>
        <p:spPr>
          <a:xfrm>
            <a:off x="5742432" y="2103120"/>
            <a:ext cx="2880360" cy="502920"/>
          </a:xfrm>
          <a:prstGeom prst="rect">
            <a:avLst/>
          </a:prstGeom>
          <a:noFill/>
        </p:spPr>
        <p:txBody>
          <a:bodyPr wrap="square" lIns="45720" tIns="0" rIns="45720" bIns="0" anchor="b">
            <a:noAutofit/>
          </a:bodyPr>
          <a:lstStyle/>
          <a:p>
            <a:pPr algn="l"/>
            <a:r>
              <a:rPr lang="en-GB" sz="1400" dirty="0">
                <a:solidFill>
                  <a:srgbClr val="6E6E6E"/>
                </a:solidFill>
              </a:rPr>
              <a:t>Planner</a:t>
            </a:r>
          </a:p>
        </p:txBody>
      </p:sp>
      <p:sp>
        <p:nvSpPr>
          <p:cNvPr id="21" name="Label"/>
          <p:cNvSpPr txBox="1"/>
          <p:nvPr/>
        </p:nvSpPr>
        <p:spPr>
          <a:xfrm>
            <a:off x="8622792" y="2103120"/>
            <a:ext cx="868680" cy="502920"/>
          </a:xfrm>
          <a:prstGeom prst="rect">
            <a:avLst/>
          </a:prstGeom>
          <a:noFill/>
        </p:spPr>
        <p:txBody>
          <a:bodyPr wrap="square" lIns="45720" tIns="0" rIns="45720" bIns="0" anchor="b">
            <a:noAutofit/>
          </a:bodyPr>
          <a:lstStyle/>
          <a:p>
            <a:pPr algn="ctr"/>
            <a:r>
              <a:rPr lang="en-GB" sz="1400" dirty="0">
                <a:solidFill>
                  <a:srgbClr val="6E6E6E"/>
                </a:solidFill>
              </a:rPr>
              <a:t>Learned prior</a:t>
            </a:r>
          </a:p>
        </p:txBody>
      </p:sp>
      <p:sp>
        <p:nvSpPr>
          <p:cNvPr id="22" name="Label"/>
          <p:cNvSpPr txBox="1"/>
          <p:nvPr/>
        </p:nvSpPr>
        <p:spPr>
          <a:xfrm>
            <a:off x="9491472" y="2103120"/>
            <a:ext cx="1234440" cy="502920"/>
          </a:xfrm>
          <a:prstGeom prst="rect">
            <a:avLst/>
          </a:prstGeom>
          <a:noFill/>
        </p:spPr>
        <p:txBody>
          <a:bodyPr wrap="square" lIns="45720" tIns="0" rIns="45720" bIns="0" anchor="b">
            <a:noAutofit/>
          </a:bodyPr>
          <a:lstStyle/>
          <a:p>
            <a:pPr algn="ctr"/>
            <a:r>
              <a:rPr lang="en-GB" sz="1400" dirty="0">
                <a:solidFill>
                  <a:srgbClr val="6E6E6E"/>
                </a:solidFill>
              </a:rPr>
              <a:t>Requirement</a:t>
            </a:r>
          </a:p>
        </p:txBody>
      </p:sp>
      <p:sp>
        <p:nvSpPr>
          <p:cNvPr id="23" name="Label"/>
          <p:cNvSpPr txBox="1"/>
          <p:nvPr/>
        </p:nvSpPr>
        <p:spPr>
          <a:xfrm>
            <a:off x="10725912" y="2103120"/>
            <a:ext cx="868680" cy="502920"/>
          </a:xfrm>
          <a:prstGeom prst="rect">
            <a:avLst/>
          </a:prstGeom>
          <a:noFill/>
        </p:spPr>
        <p:txBody>
          <a:bodyPr wrap="square" lIns="45720" tIns="0" rIns="45720" bIns="0" anchor="b">
            <a:noAutofit/>
          </a:bodyPr>
          <a:lstStyle/>
          <a:p>
            <a:pPr algn="ctr"/>
            <a:r>
              <a:rPr lang="en-GB" sz="1400" dirty="0">
                <a:solidFill>
                  <a:srgbClr val="6E6E6E"/>
                </a:solidFill>
              </a:rPr>
              <a:t>Endpoint pin</a:t>
            </a:r>
          </a:p>
        </p:txBody>
      </p:sp>
      <p:cxnSp>
        <p:nvCxnSpPr>
          <p:cNvPr id="24" name="Rule"/>
          <p:cNvCxnSpPr/>
          <p:nvPr/>
        </p:nvCxnSpPr>
        <p:spPr>
          <a:xfrm>
            <a:off x="5742432" y="2670048"/>
            <a:ext cx="5852160" cy="0"/>
          </a:xfrm>
          <a:prstGeom prst="straightConnector1">
            <a:avLst/>
          </a:prstGeom>
          <a:ln w="9525">
            <a:solidFill>
              <a:srgbClr val="D2D2D2"/>
            </a:solidFill>
          </a:ln>
        </p:spPr>
      </p:cxnSp>
      <p:sp>
        <p:nvSpPr>
          <p:cNvPr id="25" name="Label"/>
          <p:cNvSpPr txBox="1"/>
          <p:nvPr/>
        </p:nvSpPr>
        <p:spPr>
          <a:xfrm>
            <a:off x="5742432" y="2743200"/>
            <a:ext cx="2880360" cy="566928"/>
          </a:xfrm>
          <a:prstGeom prst="rect">
            <a:avLst/>
          </a:prstGeom>
          <a:noFill/>
        </p:spPr>
        <p:txBody>
          <a:bodyPr wrap="square" lIns="45720" tIns="0" rIns="45720" bIns="0" anchor="ctr">
            <a:noAutofit/>
          </a:bodyPr>
          <a:lstStyle/>
          <a:p>
            <a:pPr algn="l"/>
            <a:r>
              <a:rPr lang="en-GB" sz="1500" b="1" dirty="0">
                <a:solidFill>
                  <a:srgbClr val="9A9A9A"/>
                </a:solidFill>
              </a:rPr>
              <a:t>Endpoint-inpaint planner</a:t>
            </a:r>
          </a:p>
        </p:txBody>
      </p:sp>
      <p:sp>
        <p:nvSpPr>
          <p:cNvPr id="26" name="Label"/>
          <p:cNvSpPr txBox="1"/>
          <p:nvPr/>
        </p:nvSpPr>
        <p:spPr>
          <a:xfrm>
            <a:off x="8622792" y="274320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27" name="Label"/>
          <p:cNvSpPr txBox="1"/>
          <p:nvPr/>
        </p:nvSpPr>
        <p:spPr>
          <a:xfrm>
            <a:off x="9491472" y="2743200"/>
            <a:ext cx="1234440" cy="566928"/>
          </a:xfrm>
          <a:prstGeom prst="rect">
            <a:avLst/>
          </a:prstGeom>
          <a:noFill/>
        </p:spPr>
        <p:txBody>
          <a:bodyPr wrap="square" lIns="45720" tIns="0" rIns="45720" bIns="0" anchor="ctr">
            <a:noAutofit/>
          </a:bodyPr>
          <a:lstStyle/>
          <a:p>
            <a:pPr algn="ctr"/>
            <a:endParaRPr/>
          </a:p>
        </p:txBody>
      </p:sp>
      <p:sp>
        <p:nvSpPr>
          <p:cNvPr id="28" name="Label"/>
          <p:cNvSpPr txBox="1"/>
          <p:nvPr/>
        </p:nvSpPr>
        <p:spPr>
          <a:xfrm>
            <a:off x="10725912" y="274320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cxnSp>
        <p:nvCxnSpPr>
          <p:cNvPr id="29" name="Rule"/>
          <p:cNvCxnSpPr/>
          <p:nvPr/>
        </p:nvCxnSpPr>
        <p:spPr>
          <a:xfrm>
            <a:off x="5742432" y="3401568"/>
            <a:ext cx="5852160" cy="0"/>
          </a:xfrm>
          <a:prstGeom prst="straightConnector1">
            <a:avLst/>
          </a:prstGeom>
          <a:ln w="9525">
            <a:solidFill>
              <a:srgbClr val="D2D2D2"/>
            </a:solidFill>
          </a:ln>
        </p:spPr>
      </p:cxnSp>
      <p:sp>
        <p:nvSpPr>
          <p:cNvPr id="30" name="Label"/>
          <p:cNvSpPr txBox="1"/>
          <p:nvPr/>
        </p:nvSpPr>
        <p:spPr>
          <a:xfrm>
            <a:off x="5742432" y="3474720"/>
            <a:ext cx="2880360" cy="566928"/>
          </a:xfrm>
          <a:prstGeom prst="rect">
            <a:avLst/>
          </a:prstGeom>
          <a:noFill/>
        </p:spPr>
        <p:txBody>
          <a:bodyPr wrap="square" lIns="45720" tIns="0" rIns="45720" bIns="0" anchor="ctr">
            <a:noAutofit/>
          </a:bodyPr>
          <a:lstStyle/>
          <a:p>
            <a:pPr algn="l"/>
            <a:r>
              <a:rPr lang="en-GB" sz="1500" b="1" dirty="0">
                <a:solidFill>
                  <a:srgbClr val="1954A6"/>
                </a:solidFill>
              </a:rPr>
              <a:t>STL-FM</a:t>
            </a:r>
          </a:p>
        </p:txBody>
      </p:sp>
      <p:sp>
        <p:nvSpPr>
          <p:cNvPr id="31" name="Label"/>
          <p:cNvSpPr txBox="1"/>
          <p:nvPr/>
        </p:nvSpPr>
        <p:spPr>
          <a:xfrm>
            <a:off x="8622792" y="347472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2" name="Label"/>
          <p:cNvSpPr txBox="1"/>
          <p:nvPr/>
        </p:nvSpPr>
        <p:spPr>
          <a:xfrm>
            <a:off x="9491472" y="3474720"/>
            <a:ext cx="123444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3" name="Label"/>
          <p:cNvSpPr txBox="1"/>
          <p:nvPr/>
        </p:nvSpPr>
        <p:spPr>
          <a:xfrm>
            <a:off x="10725912" y="3474720"/>
            <a:ext cx="868680" cy="566928"/>
          </a:xfrm>
          <a:prstGeom prst="rect">
            <a:avLst/>
          </a:prstGeom>
          <a:noFill/>
        </p:spPr>
        <p:txBody>
          <a:bodyPr wrap="square" lIns="45720" tIns="0" rIns="45720" bIns="0" anchor="ctr">
            <a:noAutofit/>
          </a:bodyPr>
          <a:lstStyle/>
          <a:p>
            <a:pPr algn="ctr"/>
            <a:endParaRPr/>
          </a:p>
        </p:txBody>
      </p:sp>
      <p:cxnSp>
        <p:nvCxnSpPr>
          <p:cNvPr id="34" name="Rule"/>
          <p:cNvCxnSpPr/>
          <p:nvPr/>
        </p:nvCxnSpPr>
        <p:spPr>
          <a:xfrm>
            <a:off x="5742432" y="4133088"/>
            <a:ext cx="5852160" cy="0"/>
          </a:xfrm>
          <a:prstGeom prst="straightConnector1">
            <a:avLst/>
          </a:prstGeom>
          <a:ln w="9525">
            <a:solidFill>
              <a:srgbClr val="D2D2D2"/>
            </a:solidFill>
          </a:ln>
        </p:spPr>
      </p:cxnSp>
      <p:sp>
        <p:nvSpPr>
          <p:cNvPr id="35" name="Label"/>
          <p:cNvSpPr txBox="1"/>
          <p:nvPr/>
        </p:nvSpPr>
        <p:spPr>
          <a:xfrm>
            <a:off x="5742432" y="4206240"/>
            <a:ext cx="2880360" cy="566928"/>
          </a:xfrm>
          <a:prstGeom prst="rect">
            <a:avLst/>
          </a:prstGeom>
          <a:noFill/>
        </p:spPr>
        <p:txBody>
          <a:bodyPr wrap="square" lIns="45720" tIns="0" rIns="45720" bIns="0" anchor="ctr">
            <a:noAutofit/>
          </a:bodyPr>
          <a:lstStyle/>
          <a:p>
            <a:pPr algn="l"/>
            <a:r>
              <a:rPr lang="en-GB" sz="1500" b="1" dirty="0">
                <a:solidFill>
                  <a:srgbClr val="D85497"/>
                </a:solidFill>
              </a:rPr>
              <a:t>Requirement-only optimizer</a:t>
            </a:r>
          </a:p>
        </p:txBody>
      </p:sp>
      <p:sp>
        <p:nvSpPr>
          <p:cNvPr id="36" name="Label"/>
          <p:cNvSpPr txBox="1"/>
          <p:nvPr/>
        </p:nvSpPr>
        <p:spPr>
          <a:xfrm>
            <a:off x="8622792" y="4206240"/>
            <a:ext cx="868680" cy="566928"/>
          </a:xfrm>
          <a:prstGeom prst="rect">
            <a:avLst/>
          </a:prstGeom>
          <a:noFill/>
        </p:spPr>
        <p:txBody>
          <a:bodyPr wrap="square" lIns="45720" tIns="0" rIns="45720" bIns="0" anchor="ctr">
            <a:noAutofit/>
          </a:bodyPr>
          <a:lstStyle/>
          <a:p>
            <a:pPr algn="ctr"/>
            <a:endParaRPr/>
          </a:p>
        </p:txBody>
      </p:sp>
      <p:sp>
        <p:nvSpPr>
          <p:cNvPr id="37" name="Label"/>
          <p:cNvSpPr txBox="1"/>
          <p:nvPr/>
        </p:nvSpPr>
        <p:spPr>
          <a:xfrm>
            <a:off x="9491472" y="4206240"/>
            <a:ext cx="123444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8" name="Label"/>
          <p:cNvSpPr txBox="1"/>
          <p:nvPr/>
        </p:nvSpPr>
        <p:spPr>
          <a:xfrm>
            <a:off x="10725912" y="4206240"/>
            <a:ext cx="868680" cy="566928"/>
          </a:xfrm>
          <a:prstGeom prst="rect">
            <a:avLst/>
          </a:prstGeom>
          <a:noFill/>
        </p:spPr>
        <p:txBody>
          <a:bodyPr wrap="square" lIns="45720" tIns="0" rIns="45720" bIns="0" anchor="ctr">
            <a:noAutofit/>
          </a:bodyPr>
          <a:lstStyle/>
          <a:p>
            <a:pPr algn="ctr"/>
            <a:endParaRPr/>
          </a:p>
        </p:txBody>
      </p:sp>
      <p:cxnSp>
        <p:nvCxnSpPr>
          <p:cNvPr id="39" name="Rule"/>
          <p:cNvCxnSpPr/>
          <p:nvPr/>
        </p:nvCxnSpPr>
        <p:spPr>
          <a:xfrm>
            <a:off x="5742432" y="4864608"/>
            <a:ext cx="5852160" cy="0"/>
          </a:xfrm>
          <a:prstGeom prst="straightConnector1">
            <a:avLst/>
          </a:prstGeom>
          <a:ln w="9525">
            <a:solidFill>
              <a:srgbClr val="D2D2D2"/>
            </a:solidFill>
          </a:ln>
        </p:spPr>
      </p:cxnSp>
      <p:sp>
        <p:nvSpPr>
          <p:cNvPr id="40" name="Label"/>
          <p:cNvSpPr txBox="1"/>
          <p:nvPr/>
        </p:nvSpPr>
        <p:spPr>
          <a:xfrm>
            <a:off x="5742432" y="5029200"/>
            <a:ext cx="5669280" cy="548640"/>
          </a:xfrm>
          <a:prstGeom prst="rect">
            <a:avLst/>
          </a:prstGeom>
          <a:noFill/>
        </p:spPr>
        <p:txBody>
          <a:bodyPr wrap="square" lIns="45720" tIns="0" rIns="45720" bIns="0" anchor="t">
            <a:noAutofit/>
          </a:bodyPr>
          <a:lstStyle/>
          <a:p>
            <a:pPr algn="l"/>
            <a:r>
              <a:rPr lang="en-GB" sz="1300" dirty="0">
                <a:solidFill>
                  <a:srgbClr val="6E6E6E"/>
                </a:solidFill>
              </a:rPr>
              <a:t>STL-FM with endpoint pin differs from STL-FM in satisfaction rate by at most 0.05 on any class (backup)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Evaluation metrics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25</a:t>
            </a:fld>
            <a:endParaRPr lang="en-GB"/>
          </a:p>
        </p:txBody>
      </p:sp>
      <p:pic>
        <p:nvPicPr>
          <p:cNvPr id="14" name="Equation" descr="Logic satisfaction rate and task success rate"/>
          <p:cNvPicPr>
            <a:picLocks noChangeAspect="1"/>
          </p:cNvPicPr>
          <p:nvPr/>
        </p:nvPicPr>
        <p:blipFill>
          <a:blip r:embed="rId3"/>
          <a:stretch>
            <a:fillRect/>
          </a:stretch>
        </p:blipFill>
        <p:spPr>
          <a:xfrm>
            <a:off x="1267206" y="2103120"/>
            <a:ext cx="9663684" cy="1624584"/>
          </a:xfrm>
          <a:prstGeom prst="rect">
            <a:avLst/>
          </a:prstGeom>
        </p:spPr>
      </p:pic>
      <p:sp>
        <p:nvSpPr>
          <p:cNvPr id="15" name="Label"/>
          <p:cNvSpPr txBox="1"/>
          <p:nvPr/>
        </p:nvSpPr>
        <p:spPr>
          <a:xfrm>
            <a:off x="603504" y="4160520"/>
            <a:ext cx="10991088" cy="1463040"/>
          </a:xfrm>
          <a:prstGeom prst="rect">
            <a:avLst/>
          </a:prstGeom>
          <a:noFill/>
        </p:spPr>
        <p:txBody>
          <a:bodyPr wrap="square" lIns="45720" tIns="0" rIns="45720" bIns="0" anchor="t">
            <a:noAutofit/>
          </a:bodyPr>
          <a:lstStyle/>
          <a:p>
            <a:pPr algn="ctr"/>
            <a:r>
              <a:rPr lang="en-GB" sz="1600" dirty="0">
                <a:solidFill>
                  <a:srgbClr val="262626"/>
                </a:solidFill>
              </a:rPr>
              <a:t>A run is one planner producing one plan for one requirement instance.</a:t>
            </a:r>
          </a:p>
          <a:p>
            <a:pPr algn="ctr"/>
            <a:r>
              <a:rPr lang="en-GB" sz="1600" dirty="0">
                <a:solidFill>
                  <a:srgbClr val="262626"/>
                </a:solidFill>
              </a:rPr>
              <a:t>The instance is fixed within a class, so a rate measures reliability on that instance</a:t>
            </a:r>
          </a:p>
          <a:p>
            <a:pPr algn="ctr"/>
            <a:r>
              <a:rPr lang="en-GB" sz="1600" dirty="0">
                <a:solidFill>
                  <a:srgbClr val="262626"/>
                </a:solidFill>
              </a:rPr>
              <a:t>under the planner’s own randomness, not generalization across scenes.</a:t>
            </a:r>
          </a:p>
          <a:p>
            <a:pPr algn="ctr"/>
            <a:r>
              <a:rPr lang="en-GB" sz="1600" dirty="0">
                <a:solidFill>
                  <a:srgbClr val="262626"/>
                </a:solidFill>
              </a:rPr>
              <a:t>In the cube study a proportional controller tracks the plan and a gripper state machine follows the plan.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Six requirement classes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26</a:t>
            </a:fld>
            <a:endParaRPr lang="en-GB"/>
          </a:p>
        </p:txBody>
      </p:sp>
      <p:sp>
        <p:nvSpPr>
          <p:cNvPr id="14" name="Label"/>
          <p:cNvSpPr txBox="1"/>
          <p:nvPr/>
        </p:nvSpPr>
        <p:spPr>
          <a:xfrm>
            <a:off x="1005840" y="1874520"/>
            <a:ext cx="3108960" cy="274320"/>
          </a:xfrm>
          <a:prstGeom prst="rect">
            <a:avLst/>
          </a:prstGeom>
          <a:noFill/>
        </p:spPr>
        <p:txBody>
          <a:bodyPr wrap="square" lIns="45720" tIns="0" rIns="45720" bIns="0" anchor="t">
            <a:noAutofit/>
          </a:bodyPr>
          <a:lstStyle/>
          <a:p>
            <a:pPr algn="ctr"/>
            <a:r>
              <a:rPr lang="en-GB" sz="1500" b="1" dirty="0">
                <a:solidFill>
                  <a:srgbClr val="262626"/>
                </a:solidFill>
              </a:rPr>
              <a:t>Reach</a:t>
            </a:r>
          </a:p>
        </p:txBody>
      </p:sp>
      <p:pic>
        <p:nvPicPr>
          <p:cNvPr id="15" name="Figure" descr="STL-FM plans, Reach"/>
          <p:cNvPicPr>
            <a:picLocks noChangeAspect="1"/>
          </p:cNvPicPr>
          <p:nvPr/>
        </p:nvPicPr>
        <p:blipFill>
          <a:blip r:embed="rId3"/>
          <a:stretch>
            <a:fillRect/>
          </a:stretch>
        </p:blipFill>
        <p:spPr>
          <a:xfrm>
            <a:off x="1790851" y="2148840"/>
            <a:ext cx="1538937" cy="1673352"/>
          </a:xfrm>
          <a:prstGeom prst="rect">
            <a:avLst/>
          </a:prstGeom>
        </p:spPr>
      </p:pic>
      <p:sp>
        <p:nvSpPr>
          <p:cNvPr id="16" name="Label"/>
          <p:cNvSpPr txBox="1"/>
          <p:nvPr/>
        </p:nvSpPr>
        <p:spPr>
          <a:xfrm>
            <a:off x="4480560" y="1874520"/>
            <a:ext cx="3108960" cy="274320"/>
          </a:xfrm>
          <a:prstGeom prst="rect">
            <a:avLst/>
          </a:prstGeom>
          <a:noFill/>
        </p:spPr>
        <p:txBody>
          <a:bodyPr wrap="square" lIns="45720" tIns="0" rIns="45720" bIns="0" anchor="t">
            <a:noAutofit/>
          </a:bodyPr>
          <a:lstStyle/>
          <a:p>
            <a:pPr algn="ctr"/>
            <a:r>
              <a:rPr lang="en-GB" sz="1500" b="1" dirty="0">
                <a:solidFill>
                  <a:srgbClr val="262626"/>
                </a:solidFill>
              </a:rPr>
              <a:t>Nested reach-and-dwell</a:t>
            </a:r>
          </a:p>
        </p:txBody>
      </p:sp>
      <p:pic>
        <p:nvPicPr>
          <p:cNvPr id="17" name="Figure" descr="STL-FM plans, Nested reach-and-dwell"/>
          <p:cNvPicPr>
            <a:picLocks noChangeAspect="1"/>
          </p:cNvPicPr>
          <p:nvPr/>
        </p:nvPicPr>
        <p:blipFill>
          <a:blip r:embed="rId4"/>
          <a:stretch>
            <a:fillRect/>
          </a:stretch>
        </p:blipFill>
        <p:spPr>
          <a:xfrm>
            <a:off x="5265571" y="2148840"/>
            <a:ext cx="1538937" cy="1673352"/>
          </a:xfrm>
          <a:prstGeom prst="rect">
            <a:avLst/>
          </a:prstGeom>
        </p:spPr>
      </p:pic>
      <p:sp>
        <p:nvSpPr>
          <p:cNvPr id="18" name="Label"/>
          <p:cNvSpPr txBox="1"/>
          <p:nvPr/>
        </p:nvSpPr>
        <p:spPr>
          <a:xfrm>
            <a:off x="7955280" y="1874520"/>
            <a:ext cx="3108960" cy="274320"/>
          </a:xfrm>
          <a:prstGeom prst="rect">
            <a:avLst/>
          </a:prstGeom>
          <a:noFill/>
        </p:spPr>
        <p:txBody>
          <a:bodyPr wrap="square" lIns="45720" tIns="0" rIns="45720" bIns="0" anchor="t">
            <a:noAutofit/>
          </a:bodyPr>
          <a:lstStyle/>
          <a:p>
            <a:pPr algn="ctr"/>
            <a:r>
              <a:rPr lang="en-GB" sz="1500" b="1" dirty="0">
                <a:solidFill>
                  <a:srgbClr val="262626"/>
                </a:solidFill>
              </a:rPr>
              <a:t>Recurrence</a:t>
            </a:r>
          </a:p>
        </p:txBody>
      </p:sp>
      <p:pic>
        <p:nvPicPr>
          <p:cNvPr id="19" name="Figure" descr="STL-FM plans, Recurrence"/>
          <p:cNvPicPr>
            <a:picLocks noChangeAspect="1"/>
          </p:cNvPicPr>
          <p:nvPr/>
        </p:nvPicPr>
        <p:blipFill>
          <a:blip r:embed="rId5"/>
          <a:stretch>
            <a:fillRect/>
          </a:stretch>
        </p:blipFill>
        <p:spPr>
          <a:xfrm>
            <a:off x="8740291" y="2148840"/>
            <a:ext cx="1538937" cy="1673352"/>
          </a:xfrm>
          <a:prstGeom prst="rect">
            <a:avLst/>
          </a:prstGeom>
        </p:spPr>
      </p:pic>
      <p:sp>
        <p:nvSpPr>
          <p:cNvPr id="20" name="Label"/>
          <p:cNvSpPr txBox="1"/>
          <p:nvPr/>
        </p:nvSpPr>
        <p:spPr>
          <a:xfrm>
            <a:off x="1005840" y="3858768"/>
            <a:ext cx="3108960" cy="274320"/>
          </a:xfrm>
          <a:prstGeom prst="rect">
            <a:avLst/>
          </a:prstGeom>
          <a:noFill/>
        </p:spPr>
        <p:txBody>
          <a:bodyPr wrap="square" lIns="45720" tIns="0" rIns="45720" bIns="0" anchor="t">
            <a:noAutofit/>
          </a:bodyPr>
          <a:lstStyle/>
          <a:p>
            <a:pPr algn="ctr"/>
            <a:r>
              <a:rPr lang="en-GB" sz="1500" b="1" dirty="0">
                <a:solidFill>
                  <a:srgbClr val="262626"/>
                </a:solidFill>
              </a:rPr>
              <a:t>Sequence</a:t>
            </a:r>
          </a:p>
        </p:txBody>
      </p:sp>
      <p:pic>
        <p:nvPicPr>
          <p:cNvPr id="21" name="Figure" descr="STL-FM plans, Sequence"/>
          <p:cNvPicPr>
            <a:picLocks noChangeAspect="1"/>
          </p:cNvPicPr>
          <p:nvPr/>
        </p:nvPicPr>
        <p:blipFill>
          <a:blip r:embed="rId6"/>
          <a:stretch>
            <a:fillRect/>
          </a:stretch>
        </p:blipFill>
        <p:spPr>
          <a:xfrm>
            <a:off x="1790851" y="4133088"/>
            <a:ext cx="1538937" cy="1673352"/>
          </a:xfrm>
          <a:prstGeom prst="rect">
            <a:avLst/>
          </a:prstGeom>
        </p:spPr>
      </p:pic>
      <p:sp>
        <p:nvSpPr>
          <p:cNvPr id="22" name="Label"/>
          <p:cNvSpPr txBox="1"/>
          <p:nvPr/>
        </p:nvSpPr>
        <p:spPr>
          <a:xfrm>
            <a:off x="4480560" y="3858768"/>
            <a:ext cx="3108960" cy="274320"/>
          </a:xfrm>
          <a:prstGeom prst="rect">
            <a:avLst/>
          </a:prstGeom>
          <a:noFill/>
        </p:spPr>
        <p:txBody>
          <a:bodyPr wrap="square" lIns="45720" tIns="0" rIns="45720" bIns="0" anchor="t">
            <a:noAutofit/>
          </a:bodyPr>
          <a:lstStyle/>
          <a:p>
            <a:pPr algn="ctr"/>
            <a:r>
              <a:rPr lang="en-GB" sz="1500" b="1" dirty="0">
                <a:solidFill>
                  <a:srgbClr val="262626"/>
                </a:solidFill>
              </a:rPr>
              <a:t>Sequence with avoidance</a:t>
            </a:r>
          </a:p>
        </p:txBody>
      </p:sp>
      <p:pic>
        <p:nvPicPr>
          <p:cNvPr id="23" name="Figure" descr="STL-FM plans, Sequence with avoidance"/>
          <p:cNvPicPr>
            <a:picLocks noChangeAspect="1"/>
          </p:cNvPicPr>
          <p:nvPr/>
        </p:nvPicPr>
        <p:blipFill>
          <a:blip r:embed="rId7"/>
          <a:stretch>
            <a:fillRect/>
          </a:stretch>
        </p:blipFill>
        <p:spPr>
          <a:xfrm>
            <a:off x="5265571" y="4133088"/>
            <a:ext cx="1538937" cy="1673352"/>
          </a:xfrm>
          <a:prstGeom prst="rect">
            <a:avLst/>
          </a:prstGeom>
        </p:spPr>
      </p:pic>
      <p:sp>
        <p:nvSpPr>
          <p:cNvPr id="24" name="Label"/>
          <p:cNvSpPr txBox="1"/>
          <p:nvPr/>
        </p:nvSpPr>
        <p:spPr>
          <a:xfrm>
            <a:off x="7955280" y="3858768"/>
            <a:ext cx="3108960" cy="274320"/>
          </a:xfrm>
          <a:prstGeom prst="rect">
            <a:avLst/>
          </a:prstGeom>
          <a:noFill/>
        </p:spPr>
        <p:txBody>
          <a:bodyPr wrap="square" lIns="45720" tIns="0" rIns="45720" bIns="0" anchor="t">
            <a:noAutofit/>
          </a:bodyPr>
          <a:lstStyle/>
          <a:p>
            <a:pPr algn="ctr"/>
            <a:r>
              <a:rPr lang="en-GB" sz="1500" b="1" dirty="0">
                <a:solidFill>
                  <a:srgbClr val="262626"/>
                </a:solidFill>
              </a:rPr>
              <a:t>Composite</a:t>
            </a:r>
          </a:p>
        </p:txBody>
      </p:sp>
      <p:pic>
        <p:nvPicPr>
          <p:cNvPr id="25" name="Figure" descr="STL-FM plans, Composite"/>
          <p:cNvPicPr>
            <a:picLocks noChangeAspect="1"/>
          </p:cNvPicPr>
          <p:nvPr/>
        </p:nvPicPr>
        <p:blipFill>
          <a:blip r:embed="rId8"/>
          <a:stretch>
            <a:fillRect/>
          </a:stretch>
        </p:blipFill>
        <p:spPr>
          <a:xfrm>
            <a:off x="8740291" y="4133088"/>
            <a:ext cx="1538937" cy="1673352"/>
          </a:xfrm>
          <a:prstGeom prst="rect">
            <a:avLst/>
          </a:prstGeom>
        </p:spPr>
      </p:pic>
      <p:sp>
        <p:nvSpPr>
          <p:cNvPr id="2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One learned prior and one constant strength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rPr>
              <a:t> are used for all six requirement classes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Logic satisfaction in navigation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27</a:t>
            </a:fld>
            <a:endParaRPr lang="en-GB"/>
          </a:p>
        </p:txBody>
      </p:sp>
      <p:pic>
        <p:nvPicPr>
          <p:cNvPr id="14" name="Figure" descr="Satisfaction rate per class for three planners"/>
          <p:cNvPicPr>
            <a:picLocks noChangeAspect="1"/>
          </p:cNvPicPr>
          <p:nvPr/>
        </p:nvPicPr>
        <p:blipFill>
          <a:blip r:embed="rId3"/>
          <a:stretch>
            <a:fillRect/>
          </a:stretch>
        </p:blipFill>
        <p:spPr>
          <a:xfrm>
            <a:off x="603504" y="1890448"/>
            <a:ext cx="10991088" cy="3900063"/>
          </a:xfrm>
          <a:prstGeom prst="rect">
            <a:avLst/>
          </a:prstGeom>
        </p:spPr>
      </p:pic>
      <p:sp>
        <p:nvSpPr>
          <p:cNvPr id="15"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Logic satisfaction alone does not distinguish STL-FM from the requirement-only optimizer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Arena excursion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28</a:t>
            </a:fld>
            <a:endParaRPr lang="en-GB"/>
          </a:p>
        </p:txBody>
      </p:sp>
      <p:sp>
        <p:nvSpPr>
          <p:cNvPr id="14" name="Label"/>
          <p:cNvSpPr txBox="1"/>
          <p:nvPr/>
        </p:nvSpPr>
        <p:spPr>
          <a:xfrm>
            <a:off x="1097280" y="1920240"/>
            <a:ext cx="4754880" cy="310896"/>
          </a:xfrm>
          <a:prstGeom prst="rect">
            <a:avLst/>
          </a:prstGeom>
          <a:noFill/>
        </p:spPr>
        <p:txBody>
          <a:bodyPr wrap="square" lIns="45720" tIns="0" rIns="45720" bIns="0" anchor="t">
            <a:noAutofit/>
          </a:bodyPr>
          <a:lstStyle/>
          <a:p>
            <a:pPr algn="ctr"/>
            <a:r>
              <a:rPr lang="en-GB" sz="1700" b="1" dirty="0">
                <a:solidFill>
                  <a:srgbClr val="262626"/>
                </a:solidFill>
              </a:rPr>
              <a:t>Requirement-only optimizer, no prior</a:t>
            </a:r>
          </a:p>
        </p:txBody>
      </p:sp>
      <p:pic>
        <p:nvPicPr>
          <p:cNvPr id="15" name="Figure" descr="Requirement-only optimizer, no prior, sequence with avoidance"/>
          <p:cNvPicPr>
            <a:picLocks noChangeAspect="1"/>
          </p:cNvPicPr>
          <p:nvPr/>
        </p:nvPicPr>
        <p:blipFill>
          <a:blip r:embed="rId3"/>
          <a:stretch>
            <a:fillRect/>
          </a:stretch>
        </p:blipFill>
        <p:spPr>
          <a:xfrm>
            <a:off x="1982035" y="2267712"/>
            <a:ext cx="2985370" cy="3246120"/>
          </a:xfrm>
          <a:prstGeom prst="rect">
            <a:avLst/>
          </a:prstGeom>
        </p:spPr>
      </p:pic>
      <p:sp>
        <p:nvSpPr>
          <p:cNvPr id="16" name="Label"/>
          <p:cNvSpPr txBox="1"/>
          <p:nvPr/>
        </p:nvSpPr>
        <p:spPr>
          <a:xfrm>
            <a:off x="6309360" y="1920240"/>
            <a:ext cx="4754880" cy="310896"/>
          </a:xfrm>
          <a:prstGeom prst="rect">
            <a:avLst/>
          </a:prstGeom>
          <a:noFill/>
        </p:spPr>
        <p:txBody>
          <a:bodyPr wrap="square" lIns="45720" tIns="0" rIns="45720" bIns="0" anchor="t">
            <a:noAutofit/>
          </a:bodyPr>
          <a:lstStyle/>
          <a:p>
            <a:pPr algn="ctr"/>
            <a:r>
              <a:rPr lang="en-GB" sz="1700" b="1" dirty="0">
                <a:solidFill>
                  <a:srgbClr val="262626"/>
                </a:solidFill>
              </a:rPr>
              <a:t>STL-FM</a:t>
            </a:r>
          </a:p>
        </p:txBody>
      </p:sp>
      <p:pic>
        <p:nvPicPr>
          <p:cNvPr id="17" name="Figure" descr="STL-FM, sequence with avoidance"/>
          <p:cNvPicPr>
            <a:picLocks noChangeAspect="1"/>
          </p:cNvPicPr>
          <p:nvPr/>
        </p:nvPicPr>
        <p:blipFill>
          <a:blip r:embed="rId4"/>
          <a:stretch>
            <a:fillRect/>
          </a:stretch>
        </p:blipFill>
        <p:spPr>
          <a:xfrm>
            <a:off x="7194115" y="2267712"/>
            <a:ext cx="2985370" cy="3246120"/>
          </a:xfrm>
          <a:prstGeom prst="rect">
            <a:avLst/>
          </a:prstGeom>
        </p:spPr>
      </p:pic>
      <p:sp>
        <p:nvSpPr>
          <p:cNvPr id="18" name="Label"/>
          <p:cNvSpPr txBox="1"/>
          <p:nvPr/>
        </p:nvSpPr>
        <p:spPr>
          <a:xfrm>
            <a:off x="603504" y="5550408"/>
            <a:ext cx="10991088" cy="256032"/>
          </a:xfrm>
          <a:prstGeom prst="rect">
            <a:avLst/>
          </a:prstGeom>
          <a:noFill/>
        </p:spPr>
        <p:txBody>
          <a:bodyPr wrap="square" lIns="45720" tIns="0" rIns="45720" bIns="0" anchor="t">
            <a:noAutofit/>
          </a:bodyPr>
          <a:lstStyle/>
          <a:p>
            <a:pPr algn="ctr"/>
            <a:r>
              <a:rPr lang="en-GB" sz="1300" dirty="0">
                <a:solidFill>
                  <a:srgbClr val="6E6E6E"/>
                </a:solidFill>
              </a:rPr>
              <a:t>Sequence with avoidance, 25 of 100 plans per planner, arena clipped at its edge</a:t>
            </a:r>
          </a:p>
        </p:txBody>
      </p:sp>
      <p:sp>
        <p:nvSpPr>
          <p:cNvPr id="19"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Every plan of the requirement-only optimizer for sequence with avoidance leaves the arena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Underdetermination by 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29</a:t>
            </a:fld>
            <a:endParaRPr lang="en-GB"/>
          </a:p>
        </p:txBody>
      </p:sp>
      <p:pic>
        <p:nvPicPr>
          <p:cNvPr id="14" name="Figure" descr="The robustness gradient acts on a few waypoints, and tails after the last window leave the score unchanged"/>
          <p:cNvPicPr>
            <a:picLocks noChangeAspect="1"/>
          </p:cNvPicPr>
          <p:nvPr/>
        </p:nvPicPr>
        <p:blipFill>
          <a:blip r:embed="rId3"/>
          <a:stretch>
            <a:fillRect/>
          </a:stretch>
        </p:blipFill>
        <p:spPr>
          <a:xfrm>
            <a:off x="1230862" y="1874520"/>
            <a:ext cx="9736372" cy="3611880"/>
          </a:xfrm>
          <a:prstGeom prst="rect">
            <a:avLst/>
          </a:prstGeom>
        </p:spPr>
      </p:pic>
      <p:sp>
        <p:nvSpPr>
          <p:cNvPr id="15" name="Label"/>
          <p:cNvSpPr txBox="1"/>
          <p:nvPr/>
        </p:nvSpPr>
        <p:spPr>
          <a:xfrm>
            <a:off x="603504" y="5522976"/>
            <a:ext cx="10991088" cy="274320"/>
          </a:xfrm>
          <a:prstGeom prst="rect">
            <a:avLst/>
          </a:prstGeom>
          <a:noFill/>
        </p:spPr>
        <p:txBody>
          <a:bodyPr wrap="square" lIns="45720" tIns="0" rIns="45720" bIns="0" anchor="t">
            <a:noAutofit/>
          </a:bodyPr>
          <a:lstStyle/>
          <a:p>
            <a:pPr algn="ctr"/>
            <a:r>
              <a:rPr lang="en-GB" sz="1500" dirty="0">
                <a:solidFill>
                  <a:srgbClr val="6E6E6E"/>
                </a:solidFill>
              </a:rPr>
              <a:t>At most m of 64 to 256 waypoints determine the score, with m between 1 and 5</a:t>
            </a:r>
          </a:p>
        </p:txBody>
      </p:sp>
      <p:sp>
        <p:nvSpPr>
          <p:cNvPr id="1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Robustness alone does not determine a trajectory (Propositions A.3.1 and A.3.4, backup)</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Cube manipulation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30</a:t>
            </a:fld>
            <a:endParaRPr lang="en-GB"/>
          </a:p>
        </p:txBody>
      </p:sp>
      <p:sp>
        <p:nvSpPr>
          <p:cNvPr id="14" name="Label"/>
          <p:cNvSpPr txBox="1"/>
          <p:nvPr/>
        </p:nvSpPr>
        <p:spPr>
          <a:xfrm>
            <a:off x="603504" y="2011680"/>
            <a:ext cx="5852160" cy="292608"/>
          </a:xfrm>
          <a:prstGeom prst="rect">
            <a:avLst/>
          </a:prstGeom>
          <a:noFill/>
        </p:spPr>
        <p:txBody>
          <a:bodyPr wrap="square" lIns="45720" tIns="0" rIns="45720" bIns="0" anchor="t">
            <a:noAutofit/>
          </a:bodyPr>
          <a:lstStyle/>
          <a:p>
            <a:pPr algn="l"/>
            <a:r>
              <a:rPr lang="en-GB" sz="1600" b="1" dirty="0">
                <a:solidFill>
                  <a:srgbClr val="262626"/>
                </a:solidFill>
              </a:rPr>
              <a:t>Sequence requirement</a:t>
            </a:r>
          </a:p>
        </p:txBody>
      </p:sp>
      <p:sp>
        <p:nvSpPr>
          <p:cNvPr id="15" name="Label"/>
          <p:cNvSpPr txBox="1"/>
          <p:nvPr/>
        </p:nvSpPr>
        <p:spPr>
          <a:xfrm>
            <a:off x="603504" y="2395728"/>
            <a:ext cx="5852160" cy="731520"/>
          </a:xfrm>
          <a:prstGeom prst="rect">
            <a:avLst/>
          </a:prstGeom>
          <a:noFill/>
        </p:spPr>
        <p:txBody>
          <a:bodyPr wrap="square" lIns="45720" tIns="0" rIns="45720" bIns="0" anchor="t">
            <a:noAutofit/>
          </a:bodyPr>
          <a:lstStyle/>
          <a:p>
            <a:pPr algn="l"/>
            <a:r>
              <a:rPr lang="en-GB" sz="2000" dirty="0">
                <a:solidFill>
                  <a:srgbClr val="262626"/>
                </a:solidFill>
              </a:rPr>
              <a:t>Grasp the cube within 20 steps,</a:t>
            </a:r>
          </a:p>
          <a:p>
            <a:pPr algn="l"/>
            <a:r>
              <a:rPr lang="en-GB" sz="2000" dirty="0">
                <a:solidFill>
                  <a:srgbClr val="262626"/>
                </a:solidFill>
              </a:rPr>
              <a:t>place it between steps 20 and 100</a:t>
            </a:r>
          </a:p>
        </p:txBody>
      </p:sp>
      <p:pic>
        <p:nvPicPr>
          <p:cNvPr id="16" name="Equation" descr="phi equals eventually within 0 20 pick and eventually within 20 100 place"/>
          <p:cNvPicPr>
            <a:picLocks noChangeAspect="1"/>
          </p:cNvPicPr>
          <p:nvPr/>
        </p:nvPicPr>
        <p:blipFill>
          <a:blip r:embed="rId5"/>
          <a:stretch>
            <a:fillRect/>
          </a:stretch>
        </p:blipFill>
        <p:spPr>
          <a:xfrm>
            <a:off x="603504" y="3383280"/>
            <a:ext cx="4521708" cy="382524"/>
          </a:xfrm>
          <a:prstGeom prst="rect">
            <a:avLst/>
          </a:prstGeom>
        </p:spPr>
      </p:pic>
      <p:sp>
        <p:nvSpPr>
          <p:cNvPr id="17" name="Label"/>
          <p:cNvSpPr txBox="1"/>
          <p:nvPr/>
        </p:nvSpPr>
        <p:spPr>
          <a:xfrm>
            <a:off x="603504" y="4114800"/>
            <a:ext cx="6172200" cy="640080"/>
          </a:xfrm>
          <a:prstGeom prst="rect">
            <a:avLst/>
          </a:prstGeom>
          <a:noFill/>
        </p:spPr>
        <p:txBody>
          <a:bodyPr wrap="square" lIns="45720" tIns="0" rIns="45720" bIns="0" anchor="t">
            <a:noAutofit/>
          </a:bodyPr>
          <a:lstStyle/>
          <a:p>
            <a:pPr algn="l"/>
            <a:r>
              <a:rPr lang="en-GB" sz="1400" dirty="0">
                <a:solidFill>
                  <a:srgbClr val="6E6E6E"/>
                </a:solidFill>
              </a:rPr>
              <a:t>pick, the effector within 5 cm of the cube</a:t>
            </a:r>
          </a:p>
          <a:p>
            <a:pPr algn="l"/>
            <a:r>
              <a:rPr lang="en-GB" sz="1400" dirty="0">
                <a:solidFill>
                  <a:srgbClr val="6E6E6E"/>
                </a:solidFill>
              </a:rPr>
              <a:t>place, the cube within 4 cm of the target, the environment’s tolerance</a:t>
            </a:r>
          </a:p>
        </p:txBody>
      </p:sp>
      <p:pic>
        <p:nvPicPr>
          <p:cNvPr id="18" name="Video" descr="STL-FM plan executed in the cube task">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397496" y="1874520"/>
            <a:ext cx="3611880" cy="3611880"/>
          </a:xfrm>
          <a:prstGeom prst="rect">
            <a:avLst/>
          </a:prstGeom>
        </p:spPr>
      </p:pic>
      <p:sp>
        <p:nvSpPr>
          <p:cNvPr id="19" name="Label"/>
          <p:cNvSpPr txBox="1"/>
          <p:nvPr/>
        </p:nvSpPr>
        <p:spPr>
          <a:xfrm>
            <a:off x="6812280" y="5541264"/>
            <a:ext cx="4782312" cy="256032"/>
          </a:xfrm>
          <a:prstGeom prst="rect">
            <a:avLst/>
          </a:prstGeom>
          <a:noFill/>
        </p:spPr>
        <p:txBody>
          <a:bodyPr wrap="square" lIns="45720" tIns="0" rIns="45720" bIns="0" anchor="t">
            <a:noAutofit/>
          </a:bodyPr>
          <a:lstStyle/>
          <a:p>
            <a:pPr algn="ctr"/>
            <a:r>
              <a:rPr lang="en-GB" sz="1300" dirty="0">
                <a:solidFill>
                  <a:srgbClr val="6E6E6E"/>
                </a:solidFill>
              </a:rPr>
              <a:t>STL-FM plan, executed</a:t>
            </a:r>
          </a:p>
        </p:txBody>
      </p:sp>
      <p:sp>
        <p:nvSpPr>
          <p:cNvPr id="2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STL-FM completes 10 of 30 executions, the requirement-only optimizer none (Fisher exact test, p = 0.0008)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7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Carry gap</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31</a:t>
            </a:fld>
            <a:endParaRPr lang="en-GB"/>
          </a:p>
        </p:txBody>
      </p:sp>
      <p:sp>
        <p:nvSpPr>
          <p:cNvPr id="14" name="Label"/>
          <p:cNvSpPr txBox="1"/>
          <p:nvPr/>
        </p:nvSpPr>
        <p:spPr>
          <a:xfrm>
            <a:off x="603504" y="1920240"/>
            <a:ext cx="3337560" cy="292608"/>
          </a:xfrm>
          <a:prstGeom prst="rect">
            <a:avLst/>
          </a:prstGeom>
          <a:noFill/>
        </p:spPr>
        <p:txBody>
          <a:bodyPr wrap="square" lIns="45720" tIns="0" rIns="45720" bIns="0" anchor="t">
            <a:noAutofit/>
          </a:bodyPr>
          <a:lstStyle/>
          <a:p>
            <a:pPr algn="ctr"/>
            <a:r>
              <a:rPr lang="en-GB" sz="1500" b="1" dirty="0">
                <a:solidFill>
                  <a:srgbClr val="D85497"/>
                </a:solidFill>
              </a:rPr>
              <a:t>Requirement-only, planned</a:t>
            </a:r>
          </a:p>
        </p:txBody>
      </p:sp>
      <p:pic>
        <p:nvPicPr>
          <p:cNvPr id="15" name="Figure" descr="Planned effector and cube paths, Requirement-only, planned"/>
          <p:cNvPicPr>
            <a:picLocks noChangeAspect="1"/>
          </p:cNvPicPr>
          <p:nvPr/>
        </p:nvPicPr>
        <p:blipFill>
          <a:blip r:embed="rId5"/>
          <a:stretch>
            <a:fillRect/>
          </a:stretch>
        </p:blipFill>
        <p:spPr>
          <a:xfrm>
            <a:off x="849456" y="2240280"/>
            <a:ext cx="2845656" cy="3273552"/>
          </a:xfrm>
          <a:prstGeom prst="rect">
            <a:avLst/>
          </a:prstGeom>
        </p:spPr>
      </p:pic>
      <p:sp>
        <p:nvSpPr>
          <p:cNvPr id="16" name="Label"/>
          <p:cNvSpPr txBox="1"/>
          <p:nvPr/>
        </p:nvSpPr>
        <p:spPr>
          <a:xfrm>
            <a:off x="4123944" y="1920240"/>
            <a:ext cx="3337560" cy="292608"/>
          </a:xfrm>
          <a:prstGeom prst="rect">
            <a:avLst/>
          </a:prstGeom>
          <a:noFill/>
        </p:spPr>
        <p:txBody>
          <a:bodyPr wrap="square" lIns="45720" tIns="0" rIns="45720" bIns="0" anchor="t">
            <a:noAutofit/>
          </a:bodyPr>
          <a:lstStyle/>
          <a:p>
            <a:pPr algn="ctr"/>
            <a:r>
              <a:rPr lang="en-GB" sz="1500" b="1" dirty="0">
                <a:solidFill>
                  <a:srgbClr val="1954A6"/>
                </a:solidFill>
              </a:rPr>
              <a:t>STL-FM, planned</a:t>
            </a:r>
          </a:p>
        </p:txBody>
      </p:sp>
      <p:pic>
        <p:nvPicPr>
          <p:cNvPr id="17" name="Figure" descr="Planned effector and cube paths, STL-FM, planned"/>
          <p:cNvPicPr>
            <a:picLocks noChangeAspect="1"/>
          </p:cNvPicPr>
          <p:nvPr/>
        </p:nvPicPr>
        <p:blipFill>
          <a:blip r:embed="rId6"/>
          <a:stretch>
            <a:fillRect/>
          </a:stretch>
        </p:blipFill>
        <p:spPr>
          <a:xfrm>
            <a:off x="4369896" y="2240280"/>
            <a:ext cx="2845656" cy="3273552"/>
          </a:xfrm>
          <a:prstGeom prst="rect">
            <a:avLst/>
          </a:prstGeom>
        </p:spPr>
      </p:pic>
      <p:pic>
        <p:nvPicPr>
          <p:cNvPr id="18" name="Video" descr="Requirement-only plan executed">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7868412" y="1920240"/>
            <a:ext cx="3584448" cy="3584448"/>
          </a:xfrm>
          <a:prstGeom prst="rect">
            <a:avLst/>
          </a:prstGeom>
        </p:spPr>
      </p:pic>
      <p:sp>
        <p:nvSpPr>
          <p:cNvPr id="19" name="Label"/>
          <p:cNvSpPr txBox="1"/>
          <p:nvPr/>
        </p:nvSpPr>
        <p:spPr>
          <a:xfrm>
            <a:off x="7726680" y="5541264"/>
            <a:ext cx="3867912" cy="256032"/>
          </a:xfrm>
          <a:prstGeom prst="rect">
            <a:avLst/>
          </a:prstGeom>
          <a:noFill/>
        </p:spPr>
        <p:txBody>
          <a:bodyPr wrap="square" lIns="45720" tIns="0" rIns="45720" bIns="0" anchor="t">
            <a:noAutofit/>
          </a:bodyPr>
          <a:lstStyle/>
          <a:p>
            <a:pPr algn="ctr"/>
            <a:r>
              <a:rPr lang="en-GB" sz="1300" dirty="0">
                <a:solidFill>
                  <a:srgbClr val="6E6E6E"/>
                </a:solidFill>
              </a:rPr>
              <a:t>Requirement-only plan, executed</a:t>
            </a:r>
          </a:p>
        </p:txBody>
      </p:sp>
      <p:sp>
        <p:nvSpPr>
          <p:cNvPr id="20" name="Label"/>
          <p:cNvSpPr txBox="1"/>
          <p:nvPr/>
        </p:nvSpPr>
        <p:spPr>
          <a:xfrm>
            <a:off x="603504" y="5541264"/>
            <a:ext cx="6858000" cy="256032"/>
          </a:xfrm>
          <a:prstGeom prst="rect">
            <a:avLst/>
          </a:prstGeom>
          <a:noFill/>
        </p:spPr>
        <p:txBody>
          <a:bodyPr wrap="square" lIns="45720" tIns="0" rIns="45720" bIns="0" anchor="t">
            <a:noAutofit/>
          </a:bodyPr>
          <a:lstStyle/>
          <a:p>
            <a:pPr algn="ctr"/>
            <a:r>
              <a:rPr lang="en-GB" sz="1200" dirty="0">
                <a:solidFill>
                  <a:srgbClr val="6E6E6E"/>
                </a:solidFill>
              </a:rPr>
              <a:t>Pooled median carry gap, 12.5 cm for the requirement-only optimizer and 6.9 cm for STL-FM</a:t>
            </a:r>
          </a:p>
        </p:txBody>
      </p:sp>
      <p:sp>
        <p:nvSpPr>
          <p:cNvPr id="21"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Without the prior, the planned cube moves without contact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2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Logic satisfaction and task success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a:t>
            </a:r>
            <a:r>
              <a:rPr lang="en-GB" sz="1300" b="1" dirty="0">
                <a:solidFill>
                  <a:srgbClr val="004791"/>
                </a:solidFill>
              </a:rPr>
              <a:t>Results</a:t>
            </a:r>
            <a:r>
              <a:rPr lang="en-GB" sz="1300" dirty="0">
                <a:solidFill>
                  <a:srgbClr val="A5A5A5"/>
                </a:solidFill>
              </a:rPr>
              <a:t>    →    Conclusions</a:t>
            </a:r>
          </a:p>
        </p:txBody>
      </p:sp>
      <p:sp>
        <p:nvSpPr>
          <p:cNvPr id="13" name="Slide Number"/>
          <p:cNvSpPr>
            <a:spLocks noGrp="1"/>
          </p:cNvSpPr>
          <p:nvPr>
            <p:ph type="sldNum" sz="quarter" idx="12"/>
          </p:nvPr>
        </p:nvSpPr>
        <p:spPr/>
        <p:txBody>
          <a:bodyPr/>
          <a:lstStyle/>
          <a:p>
            <a:fld id="{619F89D8-7AE3-494A-97F3-03D680869632}" type="slidenum">
              <a:rPr lang="en-GB"/>
              <a:t>32</a:t>
            </a:fld>
            <a:endParaRPr lang="en-GB"/>
          </a:p>
        </p:txBody>
      </p:sp>
      <p:pic>
        <p:nvPicPr>
          <p:cNvPr id="14" name="Figure" descr="Logic satisfaction and task success in the cube study"/>
          <p:cNvPicPr>
            <a:picLocks noChangeAspect="1"/>
          </p:cNvPicPr>
          <p:nvPr/>
        </p:nvPicPr>
        <p:blipFill>
          <a:blip r:embed="rId3"/>
          <a:stretch>
            <a:fillRect/>
          </a:stretch>
        </p:blipFill>
        <p:spPr>
          <a:xfrm>
            <a:off x="603504" y="1890448"/>
            <a:ext cx="10991088" cy="3900063"/>
          </a:xfrm>
          <a:prstGeom prst="rect">
            <a:avLst/>
          </a:prstGeom>
        </p:spPr>
      </p:pic>
      <p:sp>
        <p:nvSpPr>
          <p:cNvPr id="15"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Logic satisfaction and task success each occur without the other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Conclusions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Results    →    </a:t>
            </a:r>
            <a:r>
              <a:rPr lang="en-GB" sz="1300" b="1" dirty="0">
                <a:solidFill>
                  <a:srgbClr val="004791"/>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33</a:t>
            </a:fld>
            <a:endParaRPr lang="en-GB"/>
          </a:p>
        </p:txBody>
      </p:sp>
      <p:sp>
        <p:nvSpPr>
          <p:cNvPr id="14" name="Callout"/>
          <p:cNvSpPr/>
          <p:nvPr/>
        </p:nvSpPr>
        <p:spPr>
          <a:xfrm>
            <a:off x="603504" y="1901952"/>
            <a:ext cx="10991088" cy="1115568"/>
          </a:xfrm>
          <a:prstGeom prst="rect">
            <a:avLst/>
          </a:prstGeom>
          <a:solidFill>
            <a:srgbClr val="EAF0F7"/>
          </a:solidFill>
          <a:ln>
            <a:noFill/>
          </a:ln>
        </p:spPr>
        <p:txBody>
          <a:bodyPr wrap="square" lIns="64008" tIns="27432" rIns="64008" bIns="27432" anchor="ctr">
            <a:noAutofit/>
          </a:bodyPr>
          <a:lstStyle/>
          <a:p>
            <a:pPr algn="ctr"/>
            <a:endParaRPr/>
          </a:p>
        </p:txBody>
      </p:sp>
      <p:sp>
        <p:nvSpPr>
          <p:cNvPr id="15" name="Callout bar"/>
          <p:cNvSpPr/>
          <p:nvPr/>
        </p:nvSpPr>
        <p:spPr>
          <a:xfrm>
            <a:off x="603504" y="1901952"/>
            <a:ext cx="64008" cy="1115568"/>
          </a:xfrm>
          <a:prstGeom prst="rect">
            <a:avLst/>
          </a:prstGeom>
          <a:solidFill>
            <a:srgbClr val="1954A6"/>
          </a:solidFill>
          <a:ln>
            <a:noFill/>
          </a:ln>
        </p:spPr>
        <p:txBody>
          <a:bodyPr wrap="square" lIns="64008" tIns="27432" rIns="64008" bIns="27432" anchor="ctr">
            <a:noAutofit/>
          </a:bodyPr>
          <a:lstStyle/>
          <a:p>
            <a:pPr algn="ctr"/>
            <a:endParaRPr/>
          </a:p>
        </p:txBody>
      </p:sp>
      <p:sp>
        <p:nvSpPr>
          <p:cNvPr id="16" name="Callout tag"/>
          <p:cNvSpPr txBox="1"/>
          <p:nvPr/>
        </p:nvSpPr>
        <p:spPr>
          <a:xfrm>
            <a:off x="832104" y="1901952"/>
            <a:ext cx="1188720" cy="1115568"/>
          </a:xfrm>
          <a:prstGeom prst="rect">
            <a:avLst/>
          </a:prstGeom>
          <a:noFill/>
        </p:spPr>
        <p:txBody>
          <a:bodyPr wrap="square" lIns="45720" tIns="0" rIns="45720" bIns="0" anchor="ctr">
            <a:noAutofit/>
          </a:bodyPr>
          <a:lstStyle/>
          <a:p>
            <a:pPr algn="l"/>
            <a:r>
              <a:rPr lang="en-GB" sz="1500" b="1" dirty="0">
                <a:solidFill>
                  <a:srgbClr val="144385"/>
                </a:solidFill>
              </a:rPr>
              <a:t>RQ1</a:t>
            </a:r>
          </a:p>
        </p:txBody>
      </p:sp>
      <p:sp>
        <p:nvSpPr>
          <p:cNvPr id="17" name="Callout text"/>
          <p:cNvSpPr txBox="1"/>
          <p:nvPr/>
        </p:nvSpPr>
        <p:spPr>
          <a:xfrm>
            <a:off x="2066544" y="1901952"/>
            <a:ext cx="9390888" cy="1115568"/>
          </a:xfrm>
          <a:prstGeom prst="rect">
            <a:avLst/>
          </a:prstGeom>
          <a:noFill/>
        </p:spPr>
        <p:txBody>
          <a:bodyPr wrap="square" lIns="45720" tIns="0" rIns="45720" bIns="0" anchor="ctr">
            <a:noAutofit/>
          </a:bodyPr>
          <a:lstStyle/>
          <a:p>
            <a:pPr algn="l"/>
            <a:r>
              <a:rPr lang="en-GB" sz="1500" b="1" dirty="0">
                <a:solidFill>
                  <a:srgbClr val="262626"/>
                </a:solidFill>
              </a:rPr>
              <a:t>Does a demonstration determine the requirement?</a:t>
            </a:r>
          </a:p>
          <a:p>
            <a:pPr algn="l"/>
            <a:r>
              <a:rPr lang="en-GB" sz="1500" dirty="0">
                <a:solidFill>
                  <a:srgbClr val="262626"/>
                </a:solidFill>
              </a:rPr>
              <a:t>A demonstration witnesses a requirement without determining it (Proposition A.1.2), so the requirement is stated separately from the demonstrations.</a:t>
            </a:r>
          </a:p>
        </p:txBody>
      </p:sp>
      <p:sp>
        <p:nvSpPr>
          <p:cNvPr id="18" name="Callout"/>
          <p:cNvSpPr/>
          <p:nvPr/>
        </p:nvSpPr>
        <p:spPr>
          <a:xfrm>
            <a:off x="603504" y="3127248"/>
            <a:ext cx="10991088" cy="1115568"/>
          </a:xfrm>
          <a:prstGeom prst="rect">
            <a:avLst/>
          </a:prstGeom>
          <a:solidFill>
            <a:srgbClr val="FBF0F6"/>
          </a:solidFill>
          <a:ln>
            <a:noFill/>
          </a:ln>
        </p:spPr>
        <p:txBody>
          <a:bodyPr wrap="square" lIns="64008" tIns="27432" rIns="64008" bIns="27432" anchor="ctr">
            <a:noAutofit/>
          </a:bodyPr>
          <a:lstStyle/>
          <a:p>
            <a:pPr algn="ctr"/>
            <a:endParaRPr/>
          </a:p>
        </p:txBody>
      </p:sp>
      <p:sp>
        <p:nvSpPr>
          <p:cNvPr id="19" name="Callout bar"/>
          <p:cNvSpPr/>
          <p:nvPr/>
        </p:nvSpPr>
        <p:spPr>
          <a:xfrm>
            <a:off x="603504" y="3127248"/>
            <a:ext cx="64008" cy="1115568"/>
          </a:xfrm>
          <a:prstGeom prst="rect">
            <a:avLst/>
          </a:prstGeom>
          <a:solidFill>
            <a:srgbClr val="D85497"/>
          </a:solidFill>
          <a:ln>
            <a:noFill/>
          </a:ln>
        </p:spPr>
        <p:txBody>
          <a:bodyPr wrap="square" lIns="64008" tIns="27432" rIns="64008" bIns="27432" anchor="ctr">
            <a:noAutofit/>
          </a:bodyPr>
          <a:lstStyle/>
          <a:p>
            <a:pPr algn="ctr"/>
            <a:endParaRPr/>
          </a:p>
        </p:txBody>
      </p:sp>
      <p:sp>
        <p:nvSpPr>
          <p:cNvPr id="20" name="Callout tag"/>
          <p:cNvSpPr txBox="1"/>
          <p:nvPr/>
        </p:nvSpPr>
        <p:spPr>
          <a:xfrm>
            <a:off x="832104" y="3127248"/>
            <a:ext cx="1188720" cy="1115568"/>
          </a:xfrm>
          <a:prstGeom prst="rect">
            <a:avLst/>
          </a:prstGeom>
          <a:noFill/>
        </p:spPr>
        <p:txBody>
          <a:bodyPr wrap="square" lIns="45720" tIns="0" rIns="45720" bIns="0" anchor="ctr">
            <a:noAutofit/>
          </a:bodyPr>
          <a:lstStyle/>
          <a:p>
            <a:pPr algn="l"/>
            <a:r>
              <a:rPr lang="en-GB" sz="1500" b="1" dirty="0">
                <a:solidFill>
                  <a:srgbClr val="AD4379"/>
                </a:solidFill>
              </a:rPr>
              <a:t>RQ2</a:t>
            </a:r>
          </a:p>
        </p:txBody>
      </p:sp>
      <p:sp>
        <p:nvSpPr>
          <p:cNvPr id="21" name="Callout text"/>
          <p:cNvSpPr txBox="1"/>
          <p:nvPr/>
        </p:nvSpPr>
        <p:spPr>
          <a:xfrm>
            <a:off x="2066544" y="3127248"/>
            <a:ext cx="9390888" cy="1115568"/>
          </a:xfrm>
          <a:prstGeom prst="rect">
            <a:avLst/>
          </a:prstGeom>
          <a:noFill/>
        </p:spPr>
        <p:txBody>
          <a:bodyPr wrap="square" lIns="45720" tIns="0" rIns="45720" bIns="0" anchor="ctr">
            <a:noAutofit/>
          </a:bodyPr>
          <a:lstStyle/>
          <a:p>
            <a:pPr algn="l"/>
            <a:r>
              <a:rPr lang="en-GB" sz="1500" b="1" dirty="0">
                <a:solidFill>
                  <a:srgbClr val="262626"/>
                </a:solidFill>
              </a:rPr>
              <a:t>Does the robustness score alone determine a trajectory?</a:t>
            </a:r>
          </a:p>
          <a:p>
            <a:pPr algn="l"/>
            <a:r>
              <a:rPr lang="en-GB" sz="1500" dirty="0">
                <a:solidFill>
                  <a:srgbClr val="262626"/>
                </a:solidFill>
              </a:rPr>
              <a:t>The robustness score alone does not determine a trajectory. Its gradient depends on at most m waypoints, and its maximizers are unbounded where only avoidance applies (Propositions A.3.1 and A.3.4). Without the prior, plans for the two sequence classes leave the arena, and the planned cube moves without contact.</a:t>
            </a:r>
          </a:p>
        </p:txBody>
      </p:sp>
      <p:sp>
        <p:nvSpPr>
          <p:cNvPr id="22" name="Callout"/>
          <p:cNvSpPr/>
          <p:nvPr/>
        </p:nvSpPr>
        <p:spPr>
          <a:xfrm>
            <a:off x="603504" y="4352544"/>
            <a:ext cx="10991088" cy="1115568"/>
          </a:xfrm>
          <a:prstGeom prst="rect">
            <a:avLst/>
          </a:prstGeom>
          <a:solidFill>
            <a:srgbClr val="EBF6FB"/>
          </a:solidFill>
          <a:ln>
            <a:noFill/>
          </a:ln>
        </p:spPr>
        <p:txBody>
          <a:bodyPr wrap="square" lIns="64008" tIns="27432" rIns="64008" bIns="27432" anchor="ctr">
            <a:noAutofit/>
          </a:bodyPr>
          <a:lstStyle/>
          <a:p>
            <a:pPr algn="ctr"/>
            <a:endParaRPr/>
          </a:p>
        </p:txBody>
      </p:sp>
      <p:sp>
        <p:nvSpPr>
          <p:cNvPr id="23" name="Callout bar"/>
          <p:cNvSpPr/>
          <p:nvPr/>
        </p:nvSpPr>
        <p:spPr>
          <a:xfrm>
            <a:off x="603504" y="4352544"/>
            <a:ext cx="64008" cy="1115568"/>
          </a:xfrm>
          <a:prstGeom prst="rect">
            <a:avLst/>
          </a:prstGeom>
          <a:solidFill>
            <a:srgbClr val="24A0D8"/>
          </a:solidFill>
          <a:ln>
            <a:noFill/>
          </a:ln>
        </p:spPr>
        <p:txBody>
          <a:bodyPr wrap="square" lIns="64008" tIns="27432" rIns="64008" bIns="27432" anchor="ctr">
            <a:noAutofit/>
          </a:bodyPr>
          <a:lstStyle/>
          <a:p>
            <a:pPr algn="ctr"/>
            <a:endParaRPr/>
          </a:p>
        </p:txBody>
      </p:sp>
      <p:sp>
        <p:nvSpPr>
          <p:cNvPr id="24" name="Callout tag"/>
          <p:cNvSpPr txBox="1"/>
          <p:nvPr/>
        </p:nvSpPr>
        <p:spPr>
          <a:xfrm>
            <a:off x="832104" y="4352544"/>
            <a:ext cx="1188720" cy="1115568"/>
          </a:xfrm>
          <a:prstGeom prst="rect">
            <a:avLst/>
          </a:prstGeom>
          <a:noFill/>
        </p:spPr>
        <p:txBody>
          <a:bodyPr wrap="square" lIns="45720" tIns="0" rIns="45720" bIns="0" anchor="ctr">
            <a:noAutofit/>
          </a:bodyPr>
          <a:lstStyle/>
          <a:p>
            <a:pPr algn="l"/>
            <a:r>
              <a:rPr lang="en-GB" sz="1500" b="1" dirty="0">
                <a:solidFill>
                  <a:srgbClr val="1D80AD"/>
                </a:solidFill>
              </a:rPr>
              <a:t>Method</a:t>
            </a:r>
          </a:p>
        </p:txBody>
      </p:sp>
      <p:sp>
        <p:nvSpPr>
          <p:cNvPr id="25" name="Callout text"/>
          <p:cNvSpPr txBox="1"/>
          <p:nvPr/>
        </p:nvSpPr>
        <p:spPr>
          <a:xfrm>
            <a:off x="2066544" y="4352544"/>
            <a:ext cx="9390888" cy="1115568"/>
          </a:xfrm>
          <a:prstGeom prst="rect">
            <a:avLst/>
          </a:prstGeom>
          <a:noFill/>
        </p:spPr>
        <p:txBody>
          <a:bodyPr wrap="square" lIns="45720" tIns="0" rIns="45720" bIns="0" anchor="ctr">
            <a:noAutofit/>
          </a:bodyPr>
          <a:lstStyle/>
          <a:p>
            <a:pPr algn="l"/>
            <a:r>
              <a:rPr lang="en-GB" sz="1500" b="1" dirty="0">
                <a:solidFill>
                  <a:srgbClr val="262626"/>
                </a:solidFill>
              </a:rPr>
              <a:t>STL-FM guides the learned prior at one constant strength, without retraining</a:t>
            </a:r>
          </a:p>
          <a:p>
            <a:pPr algn="l"/>
            <a:r>
              <a:rPr lang="en-GB" sz="1500" dirty="0">
                <a:solidFill>
                  <a:srgbClr val="262626"/>
                </a:solidFill>
              </a:rPr>
              <a:t>STL-FM satisfies the requirement at rates of 0.78 to 1.00 across the six navigation classes and completes 10 of 30 cube executions, against none for the requirement-only optimizer.</a:t>
            </a:r>
          </a:p>
        </p:txBody>
      </p:sp>
      <p:sp>
        <p:nvSpPr>
          <p:cNvPr id="26" name="Label"/>
          <p:cNvSpPr txBox="1"/>
          <p:nvPr/>
        </p:nvSpPr>
        <p:spPr>
          <a:xfrm>
            <a:off x="603504" y="5632704"/>
            <a:ext cx="10991088" cy="365760"/>
          </a:xfrm>
          <a:prstGeom prst="rect">
            <a:avLst/>
          </a:prstGeom>
          <a:noFill/>
        </p:spPr>
        <p:txBody>
          <a:bodyPr wrap="square" lIns="45720" tIns="0" rIns="45720" bIns="0" anchor="t">
            <a:noAutofit/>
          </a:bodyPr>
          <a:lstStyle/>
          <a:p>
            <a:pPr algn="ctr"/>
            <a:r>
              <a:rPr lang="en-GB" sz="1500" dirty="0">
                <a:solidFill>
                  <a:srgbClr val="262626"/>
                </a:solidFill>
              </a:rPr>
              <a:t>Logic satisfaction and task success do not coincide. A requirement constrains only the variables the prior generates.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Future work</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    →    Background    →    Method    →    Results    →    </a:t>
            </a:r>
            <a:r>
              <a:rPr lang="en-GB" sz="1300" b="1" dirty="0">
                <a:solidFill>
                  <a:srgbClr val="004791"/>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34</a:t>
            </a:fld>
            <a:endParaRPr lang="en-GB"/>
          </a:p>
        </p:txBody>
      </p:sp>
      <p:sp>
        <p:nvSpPr>
          <p:cNvPr id="14" name="Label"/>
          <p:cNvSpPr txBox="1"/>
          <p:nvPr/>
        </p:nvSpPr>
        <p:spPr>
          <a:xfrm>
            <a:off x="603504" y="1965960"/>
            <a:ext cx="411480" cy="329184"/>
          </a:xfrm>
          <a:prstGeom prst="rect">
            <a:avLst/>
          </a:prstGeom>
          <a:noFill/>
        </p:spPr>
        <p:txBody>
          <a:bodyPr wrap="square" lIns="45720" tIns="0" rIns="45720" bIns="0" anchor="t">
            <a:noAutofit/>
          </a:bodyPr>
          <a:lstStyle/>
          <a:p>
            <a:pPr algn="l"/>
            <a:r>
              <a:rPr lang="en-GB" sz="1700" b="1" dirty="0">
                <a:solidFill>
                  <a:srgbClr val="262626"/>
                </a:solidFill>
              </a:rPr>
              <a:t>1.</a:t>
            </a:r>
          </a:p>
        </p:txBody>
      </p:sp>
      <p:sp>
        <p:nvSpPr>
          <p:cNvPr id="15" name="Label"/>
          <p:cNvSpPr txBox="1"/>
          <p:nvPr/>
        </p:nvSpPr>
        <p:spPr>
          <a:xfrm>
            <a:off x="1014984" y="1965960"/>
            <a:ext cx="6400800" cy="822960"/>
          </a:xfrm>
          <a:prstGeom prst="rect">
            <a:avLst/>
          </a:prstGeom>
          <a:noFill/>
        </p:spPr>
        <p:txBody>
          <a:bodyPr wrap="square" lIns="45720" tIns="0" rIns="45720" bIns="0" anchor="t">
            <a:noAutofit/>
          </a:bodyPr>
          <a:lstStyle/>
          <a:p>
            <a:pPr algn="l"/>
            <a:r>
              <a:rPr lang="en-GB" sz="1600" b="1" dirty="0">
                <a:solidFill>
                  <a:srgbClr val="262626"/>
                </a:solidFill>
              </a:rPr>
              <a:t>A differentiable dynamics model</a:t>
            </a:r>
          </a:p>
          <a:p>
            <a:pPr algn="l"/>
            <a:r>
              <a:rPr lang="en-GB" sz="1600" dirty="0">
                <a:solidFill>
                  <a:srgbClr val="262626"/>
                </a:solidFill>
              </a:rPr>
              <a:t>so that a requirement can constrain contact and object pose</a:t>
            </a:r>
          </a:p>
        </p:txBody>
      </p:sp>
      <p:sp>
        <p:nvSpPr>
          <p:cNvPr id="16" name="Label"/>
          <p:cNvSpPr txBox="1"/>
          <p:nvPr/>
        </p:nvSpPr>
        <p:spPr>
          <a:xfrm>
            <a:off x="603504" y="2770632"/>
            <a:ext cx="411480" cy="329184"/>
          </a:xfrm>
          <a:prstGeom prst="rect">
            <a:avLst/>
          </a:prstGeom>
          <a:noFill/>
        </p:spPr>
        <p:txBody>
          <a:bodyPr wrap="square" lIns="45720" tIns="0" rIns="45720" bIns="0" anchor="t">
            <a:noAutofit/>
          </a:bodyPr>
          <a:lstStyle/>
          <a:p>
            <a:pPr algn="l"/>
            <a:r>
              <a:rPr lang="en-GB" sz="1700" b="1" dirty="0">
                <a:solidFill>
                  <a:srgbClr val="262626"/>
                </a:solidFill>
              </a:rPr>
              <a:t>2.</a:t>
            </a:r>
          </a:p>
        </p:txBody>
      </p:sp>
      <p:sp>
        <p:nvSpPr>
          <p:cNvPr id="17" name="Label"/>
          <p:cNvSpPr txBox="1"/>
          <p:nvPr/>
        </p:nvSpPr>
        <p:spPr>
          <a:xfrm>
            <a:off x="1014984" y="2770632"/>
            <a:ext cx="6400800" cy="822960"/>
          </a:xfrm>
          <a:prstGeom prst="rect">
            <a:avLst/>
          </a:prstGeom>
          <a:noFill/>
        </p:spPr>
        <p:txBody>
          <a:bodyPr wrap="square" lIns="45720" tIns="0" rIns="45720" bIns="0" anchor="t">
            <a:noAutofit/>
          </a:bodyPr>
          <a:lstStyle/>
          <a:p>
            <a:pPr algn="l"/>
            <a:r>
              <a:rPr lang="en-GB" sz="1600" b="1" dirty="0">
                <a:solidFill>
                  <a:srgbClr val="262626"/>
                </a:solidFill>
              </a:rPr>
              <a:t>Execution on the physical platform</a:t>
            </a:r>
          </a:p>
          <a:p>
            <a:pPr algn="l"/>
            <a:r>
              <a:rPr lang="en-GB" sz="1600" dirty="0">
                <a:solidFill>
                  <a:srgbClr val="262626"/>
                </a:solidFill>
              </a:rPr>
              <a:t>plans for the GoFA door task, executed and scored on the robot</a:t>
            </a:r>
          </a:p>
        </p:txBody>
      </p:sp>
      <p:sp>
        <p:nvSpPr>
          <p:cNvPr id="18" name="Label"/>
          <p:cNvSpPr txBox="1"/>
          <p:nvPr/>
        </p:nvSpPr>
        <p:spPr>
          <a:xfrm>
            <a:off x="603504" y="3575304"/>
            <a:ext cx="411480" cy="329184"/>
          </a:xfrm>
          <a:prstGeom prst="rect">
            <a:avLst/>
          </a:prstGeom>
          <a:noFill/>
        </p:spPr>
        <p:txBody>
          <a:bodyPr wrap="square" lIns="45720" tIns="0" rIns="45720" bIns="0" anchor="t">
            <a:noAutofit/>
          </a:bodyPr>
          <a:lstStyle/>
          <a:p>
            <a:pPr algn="l"/>
            <a:r>
              <a:rPr lang="en-GB" sz="1700" b="1" dirty="0">
                <a:solidFill>
                  <a:srgbClr val="262626"/>
                </a:solidFill>
              </a:rPr>
              <a:t>3.</a:t>
            </a:r>
          </a:p>
        </p:txBody>
      </p:sp>
      <p:sp>
        <p:nvSpPr>
          <p:cNvPr id="19" name="Label"/>
          <p:cNvSpPr txBox="1"/>
          <p:nvPr/>
        </p:nvSpPr>
        <p:spPr>
          <a:xfrm>
            <a:off x="1014984" y="3575304"/>
            <a:ext cx="6400800" cy="822960"/>
          </a:xfrm>
          <a:prstGeom prst="rect">
            <a:avLst/>
          </a:prstGeom>
          <a:noFill/>
        </p:spPr>
        <p:txBody>
          <a:bodyPr wrap="square" lIns="45720" tIns="0" rIns="45720" bIns="0" anchor="t">
            <a:noAutofit/>
          </a:bodyPr>
          <a:lstStyle/>
          <a:p>
            <a:pPr algn="l"/>
            <a:r>
              <a:rPr lang="en-GB" sz="1600" b="1" dirty="0">
                <a:solidFill>
                  <a:srgbClr val="262626"/>
                </a:solidFill>
              </a:rPr>
              <a:t>A sweep of a requirement’s parameters</a:t>
            </a:r>
          </a:p>
          <a:p>
            <a:pPr algn="l"/>
            <a:r>
              <a:rPr lang="en-GB" sz="1600" dirty="0">
                <a:solidFill>
                  <a:srgbClr val="262626"/>
                </a:solidFill>
              </a:rPr>
              <a:t>the same prior under changed windows and dwell times</a:t>
            </a:r>
          </a:p>
        </p:txBody>
      </p:sp>
      <p:sp>
        <p:nvSpPr>
          <p:cNvPr id="20" name="Label"/>
          <p:cNvSpPr txBox="1"/>
          <p:nvPr/>
        </p:nvSpPr>
        <p:spPr>
          <a:xfrm>
            <a:off x="603504" y="4379976"/>
            <a:ext cx="411480" cy="329184"/>
          </a:xfrm>
          <a:prstGeom prst="rect">
            <a:avLst/>
          </a:prstGeom>
          <a:noFill/>
        </p:spPr>
        <p:txBody>
          <a:bodyPr wrap="square" lIns="45720" tIns="0" rIns="45720" bIns="0" anchor="t">
            <a:noAutofit/>
          </a:bodyPr>
          <a:lstStyle/>
          <a:p>
            <a:pPr algn="l"/>
            <a:r>
              <a:rPr lang="en-GB" sz="1700" b="1" dirty="0">
                <a:solidFill>
                  <a:srgbClr val="262626"/>
                </a:solidFill>
              </a:rPr>
              <a:t>4.</a:t>
            </a:r>
          </a:p>
        </p:txBody>
      </p:sp>
      <p:sp>
        <p:nvSpPr>
          <p:cNvPr id="21" name="Label"/>
          <p:cNvSpPr txBox="1"/>
          <p:nvPr/>
        </p:nvSpPr>
        <p:spPr>
          <a:xfrm>
            <a:off x="1014984" y="4379976"/>
            <a:ext cx="6400800" cy="822960"/>
          </a:xfrm>
          <a:prstGeom prst="rect">
            <a:avLst/>
          </a:prstGeom>
          <a:noFill/>
        </p:spPr>
        <p:txBody>
          <a:bodyPr wrap="square" lIns="45720" tIns="0" rIns="45720" bIns="0" anchor="t">
            <a:noAutofit/>
          </a:bodyPr>
          <a:lstStyle/>
          <a:p>
            <a:pPr algn="l"/>
            <a:r>
              <a:rPr lang="en-GB" sz="1600" b="1" dirty="0">
                <a:solidFill>
                  <a:srgbClr val="262626"/>
                </a:solidFill>
              </a:rPr>
              <a:t>A barrier-filtered controller for execution</a:t>
            </a:r>
          </a:p>
          <a:p>
            <a:pPr algn="l"/>
            <a:r>
              <a:rPr lang="en-GB" sz="1600" dirty="0">
                <a:solidFill>
                  <a:srgbClr val="262626"/>
                </a:solidFill>
              </a:rPr>
              <a:t>for an execution-time guarantee</a:t>
            </a:r>
          </a:p>
        </p:txBody>
      </p:sp>
      <p:sp>
        <p:nvSpPr>
          <p:cNvPr id="22" name="Label"/>
          <p:cNvSpPr txBox="1"/>
          <p:nvPr/>
        </p:nvSpPr>
        <p:spPr>
          <a:xfrm>
            <a:off x="603504" y="5184648"/>
            <a:ext cx="411480" cy="329184"/>
          </a:xfrm>
          <a:prstGeom prst="rect">
            <a:avLst/>
          </a:prstGeom>
          <a:noFill/>
        </p:spPr>
        <p:txBody>
          <a:bodyPr wrap="square" lIns="45720" tIns="0" rIns="45720" bIns="0" anchor="t">
            <a:noAutofit/>
          </a:bodyPr>
          <a:lstStyle/>
          <a:p>
            <a:pPr algn="l"/>
            <a:r>
              <a:rPr lang="en-GB" sz="1700" b="1" dirty="0">
                <a:solidFill>
                  <a:srgbClr val="262626"/>
                </a:solidFill>
              </a:rPr>
              <a:t>5.</a:t>
            </a:r>
          </a:p>
        </p:txBody>
      </p:sp>
      <p:sp>
        <p:nvSpPr>
          <p:cNvPr id="23" name="Label"/>
          <p:cNvSpPr txBox="1"/>
          <p:nvPr/>
        </p:nvSpPr>
        <p:spPr>
          <a:xfrm>
            <a:off x="1014984" y="5184648"/>
            <a:ext cx="6400800" cy="822960"/>
          </a:xfrm>
          <a:prstGeom prst="rect">
            <a:avLst/>
          </a:prstGeom>
          <a:noFill/>
        </p:spPr>
        <p:txBody>
          <a:bodyPr wrap="square" lIns="45720" tIns="0" rIns="45720" bIns="0" anchor="t">
            <a:noAutofit/>
          </a:bodyPr>
          <a:lstStyle/>
          <a:p>
            <a:pPr algn="l"/>
            <a:r>
              <a:rPr lang="en-GB" sz="1600" b="1" dirty="0">
                <a:solidFill>
                  <a:srgbClr val="262626"/>
                </a:solidFill>
              </a:rPr>
              <a:t>An evaluation of disjunction and until</a:t>
            </a:r>
          </a:p>
          <a:p>
            <a:pPr algn="l"/>
            <a:r>
              <a:rPr lang="en-GB" sz="1600" dirty="0">
                <a:solidFill>
                  <a:srgbClr val="262626"/>
                </a:solidFill>
              </a:rPr>
              <a:t>both are compiled but not yet evaluated</a:t>
            </a:r>
          </a:p>
        </p:txBody>
      </p:sp>
      <p:pic>
        <p:nvPicPr>
          <p:cNvPr id="24" name="Figure" descr="Kitchen study, planned against executed robustness"/>
          <p:cNvPicPr>
            <a:picLocks noChangeAspect="1"/>
          </p:cNvPicPr>
          <p:nvPr/>
        </p:nvPicPr>
        <p:blipFill>
          <a:blip r:embed="rId3"/>
          <a:stretch>
            <a:fillRect/>
          </a:stretch>
        </p:blipFill>
        <p:spPr>
          <a:xfrm>
            <a:off x="7543800" y="2670077"/>
            <a:ext cx="4050792" cy="2157925"/>
          </a:xfrm>
          <a:prstGeom prst="rect">
            <a:avLst/>
          </a:prstGeom>
        </p:spPr>
      </p:pic>
      <p:sp>
        <p:nvSpPr>
          <p:cNvPr id="25" name="Label"/>
          <p:cNvSpPr txBox="1"/>
          <p:nvPr/>
        </p:nvSpPr>
        <p:spPr>
          <a:xfrm>
            <a:off x="7543800" y="4901155"/>
            <a:ext cx="4050792" cy="457200"/>
          </a:xfrm>
          <a:prstGeom prst="rect">
            <a:avLst/>
          </a:prstGeom>
          <a:noFill/>
        </p:spPr>
        <p:txBody>
          <a:bodyPr wrap="square" lIns="45720" tIns="0" rIns="45720" bIns="0" anchor="t">
            <a:noAutofit/>
          </a:bodyPr>
          <a:lstStyle/>
          <a:p>
            <a:pPr algn="ctr"/>
            <a:r>
              <a:rPr lang="en-GB" sz="1200" dirty="0">
                <a:solidFill>
                  <a:srgbClr val="6E6E6E"/>
                </a:solidFill>
              </a:rPr>
              <a:t>Kitchen study, planned against executed</a:t>
            </a:r>
          </a:p>
          <a:p>
            <a:pPr algn="ctr"/>
            <a:r>
              <a:rPr lang="en-GB" sz="1200" dirty="0">
                <a:solidFill>
                  <a:srgbClr val="6E6E6E"/>
                </a:solidFill>
              </a:rPr>
              <a:t>robustness (backup)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cNvSpPr>
            <a:spLocks noGrp="1"/>
          </p:cNvSpPr>
          <p:nvPr>
            <p:ph type="sldNum" sz="quarter" idx="12"/>
          </p:nvPr>
        </p:nvSpPr>
        <p:spPr/>
        <p:txBody>
          <a:bodyPr/>
          <a:lstStyle/>
          <a:p>
            <a:fld id="{619F89D8-7AE3-494A-97F3-03D680869632}" type="slidenum">
              <a:rPr lang="en-GB"/>
              <a:t>35</a:t>
            </a:fld>
            <a:endParaRPr lang="en-GB"/>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Supplementary material</a:t>
            </a:r>
          </a:p>
        </p:txBody>
      </p:sp>
      <p:sp>
        <p:nvSpPr>
          <p:cNvPr id="12" name="Subtitle"/>
          <p:cNvSpPr>
            <a:spLocks noGrp="1"/>
          </p:cNvSpPr>
          <p:nvPr>
            <p:ph type="body" idx="1"/>
          </p:nvPr>
        </p:nvSpPr>
        <p:spPr/>
        <p:txBody>
          <a:bodyPr/>
          <a:lstStyle/>
          <a:p>
            <a:r>
              <a:rPr lang="en-GB" dirty="0"/>
              <a:t>Answers to likely questions</a:t>
            </a:r>
          </a:p>
        </p:txBody>
      </p:sp>
      <p:sp>
        <p:nvSpPr>
          <p:cNvPr id="13" name="Slide Number"/>
          <p:cNvSpPr>
            <a:spLocks noGrp="1"/>
          </p:cNvSpPr>
          <p:nvPr>
            <p:ph type="sldNum" sz="quarter" idx="12"/>
          </p:nvPr>
        </p:nvSpPr>
        <p:spPr/>
        <p:txBody>
          <a:bodyPr/>
          <a:lstStyle/>
          <a:p>
            <a:fld id="{619F89D8-7AE3-494A-97F3-03D680869632}" type="slidenum">
              <a:rPr lang="en-GB"/>
              <a:t>36</a:t>
            </a:fld>
            <a:endParaRPr lang="en-GB"/>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Plausible samples that violate the requirement</a:t>
            </a:r>
          </a:p>
        </p:txBody>
      </p:sp>
      <p:sp>
        <p:nvSpPr>
          <p:cNvPr id="12" name="Slide Number"/>
          <p:cNvSpPr>
            <a:spLocks noGrp="1"/>
          </p:cNvSpPr>
          <p:nvPr>
            <p:ph type="sldNum" sz="quarter" idx="12"/>
          </p:nvPr>
        </p:nvSpPr>
        <p:spPr/>
        <p:txBody>
          <a:bodyPr/>
          <a:lstStyle/>
          <a:p>
            <a:fld id="{619F89D8-7AE3-494A-97F3-03D680869632}" type="slidenum">
              <a:rPr lang="en-GB"/>
              <a:t>37</a:t>
            </a:fld>
            <a:endParaRPr lang="en-GB"/>
          </a:p>
        </p:txBody>
      </p:sp>
      <p:pic>
        <p:nvPicPr>
          <p:cNvPr id="13" name="Figure" descr="Demonstrations and samples of the learned prior against the seating window"/>
          <p:cNvPicPr>
            <a:picLocks noChangeAspect="1"/>
          </p:cNvPicPr>
          <p:nvPr/>
        </p:nvPicPr>
        <p:blipFill>
          <a:blip r:embed="rId3"/>
          <a:stretch>
            <a:fillRect/>
          </a:stretch>
        </p:blipFill>
        <p:spPr>
          <a:xfrm>
            <a:off x="603504" y="2162983"/>
            <a:ext cx="10991088" cy="376647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Proposition A.1.2</a:t>
            </a:r>
          </a:p>
        </p:txBody>
      </p:sp>
      <p:sp>
        <p:nvSpPr>
          <p:cNvPr id="12" name="Slide Number"/>
          <p:cNvSpPr>
            <a:spLocks noGrp="1"/>
          </p:cNvSpPr>
          <p:nvPr>
            <p:ph type="sldNum" sz="quarter" idx="12"/>
          </p:nvPr>
        </p:nvSpPr>
        <p:spPr/>
        <p:txBody>
          <a:bodyPr/>
          <a:lstStyle/>
          <a:p>
            <a:fld id="{619F89D8-7AE3-494A-97F3-03D680869632}" type="slidenum">
              <a:rPr lang="en-GB"/>
              <a:t>38</a:t>
            </a:fld>
            <a:endParaRPr lang="en-GB"/>
          </a:p>
        </p:txBody>
      </p:sp>
      <p:pic>
        <p:nvPicPr>
          <p:cNvPr id="13" name="Figure" descr="Proposition A.1.2"/>
          <p:cNvPicPr>
            <a:picLocks noChangeAspect="1"/>
          </p:cNvPicPr>
          <p:nvPr/>
        </p:nvPicPr>
        <p:blipFill>
          <a:blip r:embed="rId3"/>
          <a:stretch>
            <a:fillRect/>
          </a:stretch>
        </p:blipFill>
        <p:spPr>
          <a:xfrm>
            <a:off x="1482388" y="1874520"/>
            <a:ext cx="9233319" cy="43891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Proposition A.3.1</a:t>
            </a:r>
          </a:p>
        </p:txBody>
      </p:sp>
      <p:sp>
        <p:nvSpPr>
          <p:cNvPr id="12" name="Slide Number"/>
          <p:cNvSpPr>
            <a:spLocks noGrp="1"/>
          </p:cNvSpPr>
          <p:nvPr>
            <p:ph type="sldNum" sz="quarter" idx="12"/>
          </p:nvPr>
        </p:nvSpPr>
        <p:spPr/>
        <p:txBody>
          <a:bodyPr/>
          <a:lstStyle/>
          <a:p>
            <a:fld id="{619F89D8-7AE3-494A-97F3-03D680869632}" type="slidenum">
              <a:rPr lang="en-GB"/>
              <a:t>39</a:t>
            </a:fld>
            <a:endParaRPr lang="en-GB"/>
          </a:p>
        </p:txBody>
      </p:sp>
      <p:pic>
        <p:nvPicPr>
          <p:cNvPr id="13" name="Figure" descr="Proposition A.3.1"/>
          <p:cNvPicPr>
            <a:picLocks noChangeAspect="1"/>
          </p:cNvPicPr>
          <p:nvPr/>
        </p:nvPicPr>
        <p:blipFill>
          <a:blip r:embed="rId3"/>
          <a:stretch>
            <a:fillRect/>
          </a:stretch>
        </p:blipFill>
        <p:spPr>
          <a:xfrm>
            <a:off x="3833980" y="1874520"/>
            <a:ext cx="4530136" cy="43891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Proposition A.3.4</a:t>
            </a:r>
          </a:p>
        </p:txBody>
      </p:sp>
      <p:sp>
        <p:nvSpPr>
          <p:cNvPr id="12" name="Slide Number"/>
          <p:cNvSpPr>
            <a:spLocks noGrp="1"/>
          </p:cNvSpPr>
          <p:nvPr>
            <p:ph type="sldNum" sz="quarter" idx="12"/>
          </p:nvPr>
        </p:nvSpPr>
        <p:spPr/>
        <p:txBody>
          <a:bodyPr/>
          <a:lstStyle/>
          <a:p>
            <a:fld id="{619F89D8-7AE3-494A-97F3-03D680869632}" type="slidenum">
              <a:rPr lang="en-GB"/>
              <a:t>40</a:t>
            </a:fld>
            <a:endParaRPr lang="en-GB"/>
          </a:p>
        </p:txBody>
      </p:sp>
      <p:pic>
        <p:nvPicPr>
          <p:cNvPr id="13" name="Figure" descr="Proposition A.3.4"/>
          <p:cNvPicPr>
            <a:picLocks noChangeAspect="1"/>
          </p:cNvPicPr>
          <p:nvPr/>
        </p:nvPicPr>
        <p:blipFill>
          <a:blip r:embed="rId3"/>
          <a:stretch>
            <a:fillRect/>
          </a:stretch>
        </p:blipFill>
        <p:spPr>
          <a:xfrm>
            <a:off x="2774872" y="1874520"/>
            <a:ext cx="6648353" cy="438912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Theorem A.3.6</a:t>
            </a:r>
          </a:p>
        </p:txBody>
      </p:sp>
      <p:sp>
        <p:nvSpPr>
          <p:cNvPr id="12" name="Slide Number"/>
          <p:cNvSpPr>
            <a:spLocks noGrp="1"/>
          </p:cNvSpPr>
          <p:nvPr>
            <p:ph type="sldNum" sz="quarter" idx="12"/>
          </p:nvPr>
        </p:nvSpPr>
        <p:spPr/>
        <p:txBody>
          <a:bodyPr/>
          <a:lstStyle/>
          <a:p>
            <a:fld id="{619F89D8-7AE3-494A-97F3-03D680869632}" type="slidenum">
              <a:rPr lang="en-GB"/>
              <a:t>41</a:t>
            </a:fld>
            <a:endParaRPr lang="en-GB"/>
          </a:p>
        </p:txBody>
      </p:sp>
      <p:pic>
        <p:nvPicPr>
          <p:cNvPr id="13" name="Figure" descr="Theorem A.3.6"/>
          <p:cNvPicPr>
            <a:picLocks noChangeAspect="1"/>
          </p:cNvPicPr>
          <p:nvPr/>
        </p:nvPicPr>
        <p:blipFill>
          <a:blip r:embed="rId3"/>
          <a:stretch>
            <a:fillRect/>
          </a:stretch>
        </p:blipFill>
        <p:spPr>
          <a:xfrm>
            <a:off x="3453222" y="1874520"/>
            <a:ext cx="5291652" cy="43891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Constant guidance strength</a:t>
            </a:r>
          </a:p>
        </p:txBody>
      </p:sp>
      <p:sp>
        <p:nvSpPr>
          <p:cNvPr id="12" name="Slide Number"/>
          <p:cNvSpPr>
            <a:spLocks noGrp="1"/>
          </p:cNvSpPr>
          <p:nvPr>
            <p:ph type="sldNum" sz="quarter" idx="12"/>
          </p:nvPr>
        </p:nvSpPr>
        <p:spPr/>
        <p:txBody>
          <a:bodyPr/>
          <a:lstStyle/>
          <a:p>
            <a:fld id="{619F89D8-7AE3-494A-97F3-03D680869632}" type="slidenum">
              <a:rPr lang="en-GB"/>
              <a:t>42</a:t>
            </a:fld>
            <a:endParaRPr lang="en-GB"/>
          </a:p>
        </p:txBody>
      </p:sp>
      <p:pic>
        <p:nvPicPr>
          <p:cNvPr id="13" name="Equation" descr="Diffusion score, flow-matching target velocity, and the bound on the guided velocity"/>
          <p:cNvPicPr>
            <a:picLocks noChangeAspect="1"/>
          </p:cNvPicPr>
          <p:nvPr/>
        </p:nvPicPr>
        <p:blipFill>
          <a:blip r:embed="rId3"/>
          <a:stretch>
            <a:fillRect/>
          </a:stretch>
        </p:blipFill>
        <p:spPr>
          <a:xfrm>
            <a:off x="1439418" y="2057400"/>
            <a:ext cx="9319260" cy="1719072"/>
          </a:xfrm>
          <a:prstGeom prst="rect">
            <a:avLst/>
          </a:prstGeom>
        </p:spPr>
      </p:pic>
      <p:sp>
        <p:nvSpPr>
          <p:cNvPr id="14" name="Label"/>
          <p:cNvSpPr txBox="1"/>
          <p:nvPr/>
        </p:nvSpPr>
        <p:spPr>
          <a:xfrm>
            <a:off x="603504" y="4160520"/>
            <a:ext cx="10991088" cy="731520"/>
          </a:xfrm>
          <a:prstGeom prst="rect">
            <a:avLst/>
          </a:prstGeom>
          <a:noFill/>
        </p:spPr>
        <p:txBody>
          <a:bodyPr wrap="square" lIns="45720" tIns="0" rIns="45720" bIns="0" anchor="t">
            <a:noAutofit/>
          </a:bodyPr>
          <a:lstStyle/>
          <a:p>
            <a:pPr algn="ctr"/>
            <a:r>
              <a:rPr lang="en-GB" sz="1700" dirty="0">
                <a:solidFill>
                  <a:srgbClr val="262626"/>
                </a:solidFill>
              </a:rPr>
              <a:t>Both terms are of the same bounded order at every flow time, so the ratio of guidance to prior is </a:t>
            </a:r>
            <a:r>
              <a:rPr lang="en-GB" sz="1700" dirty="0">
                <a:solidFill>
                  <a:srgbClr val="262626"/>
                </a:solidFill>
                <a:latin typeface="Cambria Math"/>
                <a:ea typeface="Cambria Math"/>
                <a:cs typeface="Cambria Math"/>
                <a:sym typeface="Cambria Math"/>
              </a:rPr>
              <a:t>Θ(λ</a:t>
            </a:r>
            <a:r>
              <a:rPr lang="en-GB" sz="1700" baseline="-25000" dirty="0">
                <a:solidFill>
                  <a:srgbClr val="262626"/>
                </a:solidFill>
              </a:rPr>
              <a:t>0</a:t>
            </a:r>
            <a:r>
              <a:rPr lang="en-GB" sz="1700" dirty="0">
                <a:solidFill>
                  <a:srgbClr val="262626"/>
                </a:solidFill>
                <a:latin typeface="Cambria Math"/>
                <a:ea typeface="Cambria Math"/>
                <a:cs typeface="Cambria Math"/>
                <a:sym typeface="Cambria Math"/>
              </a:rPr>
              <a:t>)</a:t>
            </a:r>
          </a:p>
          <a:p>
            <a:pPr algn="ctr"/>
            <a:r>
              <a:rPr lang="en-GB" sz="1700" dirty="0">
                <a:solidFill>
                  <a:srgbClr val="262626"/>
                </a:solidFill>
              </a:rPr>
              <a:t>and a constant </a:t>
            </a: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is well posed without a schedule.  </a:t>
            </a: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 50 in navigation and cube, without retuning.</a:t>
            </a:r>
          </a:p>
        </p:txBody>
      </p:sp>
      <p:sp>
        <p:nvSpPr>
          <p:cNvPr id="15" name="Label"/>
          <p:cNvSpPr txBox="1"/>
          <p:nvPr/>
        </p:nvSpPr>
        <p:spPr>
          <a:xfrm>
            <a:off x="603504" y="5074920"/>
            <a:ext cx="10991088" cy="640080"/>
          </a:xfrm>
          <a:prstGeom prst="rect">
            <a:avLst/>
          </a:prstGeom>
          <a:noFill/>
        </p:spPr>
        <p:txBody>
          <a:bodyPr wrap="square" lIns="45720" tIns="0" rIns="45720" bIns="0" anchor="t">
            <a:noAutofit/>
          </a:bodyPr>
          <a:lstStyle/>
          <a:p>
            <a:pPr algn="ctr"/>
            <a:r>
              <a:rPr lang="en-GB" sz="1500" dirty="0">
                <a:solidFill>
                  <a:srgbClr val="6E6E6E"/>
                </a:solidFill>
              </a:rPr>
              <a:t>On a diffusion substrate the guidance weight is coupled to the noise schedule,</a:t>
            </a:r>
          </a:p>
          <a:p>
            <a:pPr algn="ctr"/>
            <a:r>
              <a:rPr lang="en-GB" sz="1500" dirty="0">
                <a:solidFill>
                  <a:srgbClr val="6E6E6E"/>
                </a:solidFill>
              </a:rPr>
              <a:t>λ(t) ∝ σ</a:t>
            </a:r>
            <a:r>
              <a:rPr lang="en-GB" sz="1500" baseline="-25000" dirty="0">
                <a:solidFill>
                  <a:srgbClr val="6E6E6E"/>
                </a:solidFill>
              </a:rPr>
              <a:t>t</a:t>
            </a:r>
            <a:r>
              <a:rPr lang="en-GB" sz="1500" baseline="30000" dirty="0">
                <a:solidFill>
                  <a:srgbClr val="6E6E6E"/>
                </a:solidFill>
              </a:rPr>
              <a:t>k</a:t>
            </a:r>
            <a:r>
              <a:rPr lang="en-GB" sz="1500" dirty="0">
                <a:solidFill>
                  <a:srgbClr val="6E6E6E"/>
                </a:solidFill>
              </a:rPr>
              <a:t> with k ∈ {1, 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Algorithm 1 and Proposition 4.2.1</a:t>
            </a:r>
          </a:p>
        </p:txBody>
      </p:sp>
      <p:sp>
        <p:nvSpPr>
          <p:cNvPr id="12" name="Slide Number"/>
          <p:cNvSpPr>
            <a:spLocks noGrp="1"/>
          </p:cNvSpPr>
          <p:nvPr>
            <p:ph type="sldNum" sz="quarter" idx="12"/>
          </p:nvPr>
        </p:nvSpPr>
        <p:spPr/>
        <p:txBody>
          <a:bodyPr/>
          <a:lstStyle/>
          <a:p>
            <a:fld id="{619F89D8-7AE3-494A-97F3-03D680869632}" type="slidenum">
              <a:rPr lang="en-GB"/>
              <a:t>43</a:t>
            </a:fld>
            <a:endParaRPr lang="en-GB"/>
          </a:p>
        </p:txBody>
      </p:sp>
      <p:pic>
        <p:nvPicPr>
          <p:cNvPr id="13" name="Figure" descr="Algorithm 1 and Proposition 4.2.1"/>
          <p:cNvPicPr>
            <a:picLocks noChangeAspect="1"/>
          </p:cNvPicPr>
          <p:nvPr/>
        </p:nvPicPr>
        <p:blipFill>
          <a:blip r:embed="rId3"/>
          <a:stretch>
            <a:fillRect/>
          </a:stretch>
        </p:blipFill>
        <p:spPr>
          <a:xfrm>
            <a:off x="603504" y="2159254"/>
            <a:ext cx="5312664" cy="3819652"/>
          </a:xfrm>
          <a:prstGeom prst="rect">
            <a:avLst/>
          </a:prstGeom>
        </p:spPr>
      </p:pic>
      <p:pic>
        <p:nvPicPr>
          <p:cNvPr id="14" name="Figure" descr="Algorithm 1 and Proposition 4.2.1"/>
          <p:cNvPicPr>
            <a:picLocks noChangeAspect="1"/>
          </p:cNvPicPr>
          <p:nvPr/>
        </p:nvPicPr>
        <p:blipFill>
          <a:blip r:embed="rId4"/>
          <a:stretch>
            <a:fillRect/>
          </a:stretch>
        </p:blipFill>
        <p:spPr>
          <a:xfrm>
            <a:off x="6281928" y="2311973"/>
            <a:ext cx="5312664" cy="351421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Algorithm 2</a:t>
            </a:r>
          </a:p>
        </p:txBody>
      </p:sp>
      <p:sp>
        <p:nvSpPr>
          <p:cNvPr id="12" name="Slide Number"/>
          <p:cNvSpPr>
            <a:spLocks noGrp="1"/>
          </p:cNvSpPr>
          <p:nvPr>
            <p:ph type="sldNum" sz="quarter" idx="12"/>
          </p:nvPr>
        </p:nvSpPr>
        <p:spPr/>
        <p:txBody>
          <a:bodyPr/>
          <a:lstStyle/>
          <a:p>
            <a:fld id="{619F89D8-7AE3-494A-97F3-03D680869632}" type="slidenum">
              <a:rPr lang="en-GB"/>
              <a:t>44</a:t>
            </a:fld>
            <a:endParaRPr lang="en-GB"/>
          </a:p>
        </p:txBody>
      </p:sp>
      <p:pic>
        <p:nvPicPr>
          <p:cNvPr id="13" name="Figure" descr="Algorithm 2"/>
          <p:cNvPicPr>
            <a:picLocks noChangeAspect="1"/>
          </p:cNvPicPr>
          <p:nvPr/>
        </p:nvPicPr>
        <p:blipFill>
          <a:blip r:embed="rId3"/>
          <a:stretch>
            <a:fillRect/>
          </a:stretch>
        </p:blipFill>
        <p:spPr>
          <a:xfrm>
            <a:off x="3366830" y="1874520"/>
            <a:ext cx="5464437" cy="43891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Navigation results, all four planners</a:t>
            </a:r>
          </a:p>
        </p:txBody>
      </p:sp>
      <p:sp>
        <p:nvSpPr>
          <p:cNvPr id="12" name="Slide Number"/>
          <p:cNvSpPr>
            <a:spLocks noGrp="1"/>
          </p:cNvSpPr>
          <p:nvPr>
            <p:ph type="sldNum" sz="quarter" idx="12"/>
          </p:nvPr>
        </p:nvSpPr>
        <p:spPr/>
        <p:txBody>
          <a:bodyPr/>
          <a:lstStyle/>
          <a:p>
            <a:fld id="{619F89D8-7AE3-494A-97F3-03D680869632}" type="slidenum">
              <a:rPr lang="en-GB"/>
              <a:t>45</a:t>
            </a:fld>
            <a:endParaRPr lang="en-GB"/>
          </a:p>
        </p:txBody>
      </p:sp>
      <p:pic>
        <p:nvPicPr>
          <p:cNvPr id="13" name="Figure" descr="Navigation results, all four planners"/>
          <p:cNvPicPr>
            <a:picLocks noChangeAspect="1"/>
          </p:cNvPicPr>
          <p:nvPr/>
        </p:nvPicPr>
        <p:blipFill>
          <a:blip r:embed="rId3"/>
          <a:stretch>
            <a:fillRect/>
          </a:stretch>
        </p:blipFill>
        <p:spPr>
          <a:xfrm>
            <a:off x="3498026" y="1874520"/>
            <a:ext cx="5202044" cy="2057400"/>
          </a:xfrm>
          <a:prstGeom prst="rect">
            <a:avLst/>
          </a:prstGeom>
        </p:spPr>
      </p:pic>
      <p:pic>
        <p:nvPicPr>
          <p:cNvPr id="14" name="Figure" descr="Navigation results, all four planners"/>
          <p:cNvPicPr>
            <a:picLocks noChangeAspect="1"/>
          </p:cNvPicPr>
          <p:nvPr/>
        </p:nvPicPr>
        <p:blipFill>
          <a:blip r:embed="rId4"/>
          <a:stretch>
            <a:fillRect/>
          </a:stretch>
        </p:blipFill>
        <p:spPr>
          <a:xfrm>
            <a:off x="2912537" y="4206240"/>
            <a:ext cx="6373022" cy="20574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Cube results, all three classes</a:t>
            </a:r>
          </a:p>
        </p:txBody>
      </p:sp>
      <p:sp>
        <p:nvSpPr>
          <p:cNvPr id="12" name="Slide Number"/>
          <p:cNvSpPr>
            <a:spLocks noGrp="1"/>
          </p:cNvSpPr>
          <p:nvPr>
            <p:ph type="sldNum" sz="quarter" idx="12"/>
          </p:nvPr>
        </p:nvSpPr>
        <p:spPr/>
        <p:txBody>
          <a:bodyPr/>
          <a:lstStyle/>
          <a:p>
            <a:fld id="{619F89D8-7AE3-494A-97F3-03D680869632}" type="slidenum">
              <a:rPr lang="en-GB"/>
              <a:t>46</a:t>
            </a:fld>
            <a:endParaRPr lang="en-GB"/>
          </a:p>
        </p:txBody>
      </p:sp>
      <p:pic>
        <p:nvPicPr>
          <p:cNvPr id="13" name="Figure" descr="Cube results, all three classes"/>
          <p:cNvPicPr>
            <a:picLocks noChangeAspect="1"/>
          </p:cNvPicPr>
          <p:nvPr/>
        </p:nvPicPr>
        <p:blipFill>
          <a:blip r:embed="rId3"/>
          <a:stretch>
            <a:fillRect/>
          </a:stretch>
        </p:blipFill>
        <p:spPr>
          <a:xfrm>
            <a:off x="969264" y="2512001"/>
            <a:ext cx="10259568" cy="311415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Kitchen study</a:t>
            </a:r>
          </a:p>
        </p:txBody>
      </p:sp>
      <p:sp>
        <p:nvSpPr>
          <p:cNvPr id="12" name="Slide Number"/>
          <p:cNvSpPr>
            <a:spLocks noGrp="1"/>
          </p:cNvSpPr>
          <p:nvPr>
            <p:ph type="sldNum" sz="quarter" idx="12"/>
          </p:nvPr>
        </p:nvSpPr>
        <p:spPr/>
        <p:txBody>
          <a:bodyPr/>
          <a:lstStyle/>
          <a:p>
            <a:fld id="{619F89D8-7AE3-494A-97F3-03D680869632}" type="slidenum">
              <a:rPr lang="en-GB"/>
              <a:t>47</a:t>
            </a:fld>
            <a:endParaRPr lang="en-GB"/>
          </a:p>
        </p:txBody>
      </p:sp>
      <p:pic>
        <p:nvPicPr>
          <p:cNvPr id="13" name="Figure" descr="Planned against executed robustness, eighty runs"/>
          <p:cNvPicPr>
            <a:picLocks noChangeAspect="1"/>
          </p:cNvPicPr>
          <p:nvPr/>
        </p:nvPicPr>
        <p:blipFill>
          <a:blip r:embed="rId3"/>
          <a:stretch>
            <a:fillRect/>
          </a:stretch>
        </p:blipFill>
        <p:spPr>
          <a:xfrm>
            <a:off x="782416" y="2514600"/>
            <a:ext cx="6865935" cy="3657600"/>
          </a:xfrm>
          <a:prstGeom prst="rect">
            <a:avLst/>
          </a:prstGeom>
        </p:spPr>
      </p:pic>
      <p:pic>
        <p:nvPicPr>
          <p:cNvPr id="14" name="Equation" descr="phi equals eventually microwave and eventually kettle"/>
          <p:cNvPicPr>
            <a:picLocks noChangeAspect="1"/>
          </p:cNvPicPr>
          <p:nvPr/>
        </p:nvPicPr>
        <p:blipFill>
          <a:blip r:embed="rId4"/>
          <a:stretch>
            <a:fillRect/>
          </a:stretch>
        </p:blipFill>
        <p:spPr>
          <a:xfrm>
            <a:off x="1779270" y="1965960"/>
            <a:ext cx="4872228" cy="329184"/>
          </a:xfrm>
          <a:prstGeom prst="rect">
            <a:avLst/>
          </a:prstGeom>
        </p:spPr>
      </p:pic>
      <p:pic>
        <p:nvPicPr>
          <p:cNvPr id="15" name="Figure" descr="The kitchen"/>
          <p:cNvPicPr>
            <a:picLocks noChangeAspect="1"/>
          </p:cNvPicPr>
          <p:nvPr/>
        </p:nvPicPr>
        <p:blipFill>
          <a:blip r:embed="rId5"/>
          <a:stretch>
            <a:fillRect/>
          </a:stretch>
        </p:blipFill>
        <p:spPr>
          <a:xfrm>
            <a:off x="8471916" y="1874520"/>
            <a:ext cx="2743200" cy="2743200"/>
          </a:xfrm>
          <a:prstGeom prst="rect">
            <a:avLst/>
          </a:prstGeom>
        </p:spPr>
      </p:pic>
      <p:sp>
        <p:nvSpPr>
          <p:cNvPr id="16" name="Label"/>
          <p:cNvSpPr txBox="1"/>
          <p:nvPr/>
        </p:nvSpPr>
        <p:spPr>
          <a:xfrm>
            <a:off x="8092440" y="4709160"/>
            <a:ext cx="3502152" cy="1554480"/>
          </a:xfrm>
          <a:prstGeom prst="rect">
            <a:avLst/>
          </a:prstGeom>
          <a:noFill/>
        </p:spPr>
        <p:txBody>
          <a:bodyPr wrap="square" lIns="45720" tIns="0" rIns="45720" bIns="0" anchor="t">
            <a:noAutofit/>
          </a:bodyPr>
          <a:lstStyle/>
          <a:p>
            <a:pPr algn="l"/>
            <a:r>
              <a:rPr lang="en-GB" sz="1400" dirty="0">
                <a:solidFill>
                  <a:srgbClr val="262626"/>
                </a:solidFill>
              </a:rPr>
              <a:t>Complete-v2 prior, unguided,</a:t>
            </a:r>
          </a:p>
          <a:p>
            <a:pPr algn="l"/>
            <a:r>
              <a:rPr lang="en-GB" sz="1400" dirty="0">
                <a:solidFill>
                  <a:srgbClr val="262626"/>
                </a:solidFill>
              </a:rPr>
              <a:t>mean robustness of plan +0.23</a:t>
            </a:r>
          </a:p>
          <a:p>
            <a:pPr algn="l"/>
            <a:r>
              <a:rPr lang="en-GB" sz="1400" dirty="0">
                <a:solidFill>
                  <a:srgbClr val="262626"/>
                </a:solidFill>
              </a:rPr>
              <a:t>and of execution −0.45, a fall of 0.68</a:t>
            </a:r>
          </a:p>
          <a:p>
            <a:pPr algn="l"/>
            <a:r>
              <a:rPr lang="en-GB" sz="1400" dirty="0">
                <a:solidFill>
                  <a:srgbClr val="262626"/>
                </a:solidFill>
              </a:rPr>
              <a:t>against a margin of at most 0.3</a:t>
            </a:r>
          </a:p>
          <a:p>
            <a:pPr algn="l"/>
            <a:endParaRPr lang="en-GB" sz="1400" dirty="0">
              <a:solidFill>
                <a:srgbClr val="262626"/>
              </a:solidFill>
            </a:endParaRPr>
          </a:p>
          <a:p>
            <a:pPr algn="l"/>
            <a:r>
              <a:rPr lang="en-GB" sz="1400" dirty="0">
                <a:solidFill>
                  <a:srgbClr val="262626"/>
                </a:solidFill>
              </a:rPr>
              <a:t>Task success in 0 of 80 executions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Physical platform</a:t>
            </a:r>
          </a:p>
        </p:txBody>
      </p:sp>
      <p:sp>
        <p:nvSpPr>
          <p:cNvPr id="12" name="Slide Number"/>
          <p:cNvSpPr>
            <a:spLocks noGrp="1"/>
          </p:cNvSpPr>
          <p:nvPr>
            <p:ph type="sldNum" sz="quarter" idx="12"/>
          </p:nvPr>
        </p:nvSpPr>
        <p:spPr/>
        <p:txBody>
          <a:bodyPr/>
          <a:lstStyle/>
          <a:p>
            <a:fld id="{619F89D8-7AE3-494A-97F3-03D680869632}" type="slidenum">
              <a:rPr lang="en-GB"/>
              <a:t>48</a:t>
            </a:fld>
            <a:endParaRPr lang="en-GB"/>
          </a:p>
        </p:txBody>
      </p:sp>
      <p:pic>
        <p:nvPicPr>
          <p:cNvPr id="13" name="Figure" descr="The GoFA work cell"/>
          <p:cNvPicPr>
            <a:picLocks noChangeAspect="1"/>
          </p:cNvPicPr>
          <p:nvPr/>
        </p:nvPicPr>
        <p:blipFill>
          <a:blip r:embed="rId3"/>
          <a:stretch>
            <a:fillRect/>
          </a:stretch>
        </p:blipFill>
        <p:spPr>
          <a:xfrm>
            <a:off x="603504" y="1919809"/>
            <a:ext cx="5897880" cy="3338423"/>
          </a:xfrm>
          <a:prstGeom prst="rect">
            <a:avLst/>
          </a:prstGeom>
        </p:spPr>
      </p:pic>
      <p:pic>
        <p:nvPicPr>
          <p:cNvPr id="14" name="Equation" descr="phi equals always between grasp and place, roll, pitch and yaw below 5 degrees"/>
          <p:cNvPicPr>
            <a:picLocks noChangeAspect="1"/>
          </p:cNvPicPr>
          <p:nvPr/>
        </p:nvPicPr>
        <p:blipFill>
          <a:blip r:embed="rId4"/>
          <a:stretch>
            <a:fillRect/>
          </a:stretch>
        </p:blipFill>
        <p:spPr>
          <a:xfrm>
            <a:off x="1315212" y="5532120"/>
            <a:ext cx="4465320" cy="323088"/>
          </a:xfrm>
          <a:prstGeom prst="rect">
            <a:avLst/>
          </a:prstGeom>
        </p:spPr>
      </p:pic>
      <p:pic>
        <p:nvPicPr>
          <p:cNvPr id="15" name="Figure" descr="Prior samples against the demonstration, joint by joint"/>
          <p:cNvPicPr>
            <a:picLocks noChangeAspect="1"/>
          </p:cNvPicPr>
          <p:nvPr/>
        </p:nvPicPr>
        <p:blipFill>
          <a:blip r:embed="rId5"/>
          <a:stretch>
            <a:fillRect/>
          </a:stretch>
        </p:blipFill>
        <p:spPr>
          <a:xfrm>
            <a:off x="6766560" y="1874520"/>
            <a:ext cx="2468880" cy="4389120"/>
          </a:xfrm>
          <a:prstGeom prst="rect">
            <a:avLst/>
          </a:prstGeom>
        </p:spPr>
      </p:pic>
      <p:sp>
        <p:nvSpPr>
          <p:cNvPr id="16" name="Label"/>
          <p:cNvSpPr txBox="1"/>
          <p:nvPr/>
        </p:nvSpPr>
        <p:spPr>
          <a:xfrm>
            <a:off x="9418320" y="2011680"/>
            <a:ext cx="2176272" cy="3474720"/>
          </a:xfrm>
          <a:prstGeom prst="rect">
            <a:avLst/>
          </a:prstGeom>
          <a:noFill/>
        </p:spPr>
        <p:txBody>
          <a:bodyPr wrap="square" lIns="45720" tIns="0" rIns="45720" bIns="0" anchor="t">
            <a:noAutofit/>
          </a:bodyPr>
          <a:lstStyle/>
          <a:p>
            <a:pPr algn="l"/>
            <a:r>
              <a:rPr lang="en-GB" sz="1500" dirty="0">
                <a:solidFill>
                  <a:srgbClr val="262626"/>
                </a:solidFill>
              </a:rPr>
              <a:t>ABB GoFA CRB 15000,</a:t>
            </a:r>
          </a:p>
          <a:p>
            <a:pPr algn="l"/>
            <a:r>
              <a:rPr lang="en-GB" sz="1500" dirty="0">
                <a:solidFill>
                  <a:srgbClr val="262626"/>
                </a:solidFill>
              </a:rPr>
              <a:t>five door-opening</a:t>
            </a:r>
          </a:p>
          <a:p>
            <a:pPr algn="l"/>
            <a:r>
              <a:rPr lang="en-GB" sz="1500" dirty="0">
                <a:solidFill>
                  <a:srgbClr val="262626"/>
                </a:solidFill>
              </a:rPr>
              <a:t>demonstrations,</a:t>
            </a:r>
          </a:p>
          <a:p>
            <a:pPr algn="l"/>
            <a:r>
              <a:rPr lang="en-GB" sz="1500" dirty="0">
                <a:solidFill>
                  <a:srgbClr val="262626"/>
                </a:solidFill>
              </a:rPr>
              <a:t>six joint angles and</a:t>
            </a:r>
          </a:p>
          <a:p>
            <a:pPr algn="l"/>
            <a:r>
              <a:rPr lang="en-GB" sz="1500" dirty="0">
                <a:solidFill>
                  <a:srgbClr val="262626"/>
                </a:solidFill>
              </a:rPr>
              <a:t>the gripper state,</a:t>
            </a:r>
          </a:p>
          <a:p>
            <a:pPr algn="l"/>
            <a:r>
              <a:rPr lang="en-GB" sz="1500" dirty="0">
                <a:solidFill>
                  <a:srgbClr val="262626"/>
                </a:solidFill>
              </a:rPr>
              <a:t>H = 128</a:t>
            </a:r>
          </a:p>
          <a:p>
            <a:pPr algn="l"/>
            <a:endParaRPr lang="en-GB" sz="1500" dirty="0">
              <a:solidFill>
                <a:srgbClr val="262626"/>
              </a:solidFill>
            </a:endParaRPr>
          </a:p>
          <a:p>
            <a:pPr algn="l"/>
            <a:r>
              <a:rPr lang="en-GB" sz="1500" dirty="0">
                <a:solidFill>
                  <a:srgbClr val="262626"/>
                </a:solidFill>
              </a:rPr>
              <a:t>No demonstration</a:t>
            </a:r>
          </a:p>
          <a:p>
            <a:pPr algn="l"/>
            <a:r>
              <a:rPr lang="en-GB" sz="1500" dirty="0">
                <a:solidFill>
                  <a:srgbClr val="262626"/>
                </a:solidFill>
              </a:rPr>
              <a:t>satisfies the carry</a:t>
            </a:r>
          </a:p>
          <a:p>
            <a:pPr algn="l"/>
            <a:r>
              <a:rPr lang="en-GB" sz="1500" dirty="0">
                <a:solidFill>
                  <a:srgbClr val="262626"/>
                </a:solidFill>
              </a:rPr>
              <a:t>requirement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Roughness of guided plans</a:t>
            </a:r>
          </a:p>
        </p:txBody>
      </p:sp>
      <p:sp>
        <p:nvSpPr>
          <p:cNvPr id="12" name="Slide Number"/>
          <p:cNvSpPr>
            <a:spLocks noGrp="1"/>
          </p:cNvSpPr>
          <p:nvPr>
            <p:ph type="sldNum" sz="quarter" idx="12"/>
          </p:nvPr>
        </p:nvSpPr>
        <p:spPr/>
        <p:txBody>
          <a:bodyPr/>
          <a:lstStyle/>
          <a:p>
            <a:fld id="{619F89D8-7AE3-494A-97F3-03D680869632}" type="slidenum">
              <a:rPr lang="en-GB"/>
              <a:t>49</a:t>
            </a:fld>
            <a:endParaRPr lang="en-GB"/>
          </a:p>
        </p:txBody>
      </p:sp>
      <p:sp>
        <p:nvSpPr>
          <p:cNvPr id="13" name="Label"/>
          <p:cNvSpPr txBox="1"/>
          <p:nvPr/>
        </p:nvSpPr>
        <p:spPr>
          <a:xfrm>
            <a:off x="640080" y="1938528"/>
            <a:ext cx="4846320" cy="292608"/>
          </a:xfrm>
          <a:prstGeom prst="rect">
            <a:avLst/>
          </a:prstGeom>
          <a:noFill/>
        </p:spPr>
        <p:txBody>
          <a:bodyPr wrap="square" lIns="45720" tIns="0" rIns="45720" bIns="0" anchor="t">
            <a:noAutofit/>
          </a:bodyPr>
          <a:lstStyle/>
          <a:p>
            <a:pPr algn="l"/>
            <a:r>
              <a:rPr lang="en-GB" sz="1400" dirty="0">
                <a:solidFill>
                  <a:srgbClr val="6E6E6E"/>
                </a:solidFill>
              </a:rPr>
              <a:t>Trajectories</a:t>
            </a:r>
          </a:p>
        </p:txBody>
      </p:sp>
      <p:sp>
        <p:nvSpPr>
          <p:cNvPr id="14" name="Label"/>
          <p:cNvSpPr txBox="1"/>
          <p:nvPr/>
        </p:nvSpPr>
        <p:spPr>
          <a:xfrm>
            <a:off x="5669280" y="1938528"/>
            <a:ext cx="2011680" cy="292608"/>
          </a:xfrm>
          <a:prstGeom prst="rect">
            <a:avLst/>
          </a:prstGeom>
          <a:noFill/>
        </p:spPr>
        <p:txBody>
          <a:bodyPr wrap="square" lIns="45720" tIns="0" rIns="45720" bIns="0" anchor="t">
            <a:noAutofit/>
          </a:bodyPr>
          <a:lstStyle/>
          <a:p>
            <a:pPr algn="ctr"/>
            <a:r>
              <a:rPr lang="en-GB" sz="1400" dirty="0">
                <a:solidFill>
                  <a:srgbClr val="6E6E6E"/>
                </a:solidFill>
              </a:rPr>
              <a:t>Median turn angle</a:t>
            </a:r>
          </a:p>
        </p:txBody>
      </p:sp>
      <p:sp>
        <p:nvSpPr>
          <p:cNvPr id="15" name="Label"/>
          <p:cNvSpPr txBox="1"/>
          <p:nvPr/>
        </p:nvSpPr>
        <p:spPr>
          <a:xfrm>
            <a:off x="7863840" y="1938528"/>
            <a:ext cx="2011680" cy="292608"/>
          </a:xfrm>
          <a:prstGeom prst="rect">
            <a:avLst/>
          </a:prstGeom>
          <a:noFill/>
        </p:spPr>
        <p:txBody>
          <a:bodyPr wrap="square" lIns="45720" tIns="0" rIns="45720" bIns="0" anchor="t">
            <a:noAutofit/>
          </a:bodyPr>
          <a:lstStyle/>
          <a:p>
            <a:pPr algn="ctr"/>
            <a:r>
              <a:rPr lang="en-GB" sz="1400" dirty="0">
                <a:solidFill>
                  <a:srgbClr val="6E6E6E"/>
                </a:solidFill>
              </a:rPr>
              <a:t>Turns above 90°</a:t>
            </a:r>
          </a:p>
        </p:txBody>
      </p:sp>
      <p:cxnSp>
        <p:nvCxnSpPr>
          <p:cNvPr id="16" name="Rule"/>
          <p:cNvCxnSpPr/>
          <p:nvPr/>
        </p:nvCxnSpPr>
        <p:spPr>
          <a:xfrm>
            <a:off x="640080" y="2304288"/>
            <a:ext cx="9235440" cy="0"/>
          </a:xfrm>
          <a:prstGeom prst="straightConnector1">
            <a:avLst/>
          </a:prstGeom>
          <a:ln w="9525">
            <a:solidFill>
              <a:srgbClr val="D2D2D2"/>
            </a:solidFill>
          </a:ln>
        </p:spPr>
      </p:cxnSp>
      <p:sp>
        <p:nvSpPr>
          <p:cNvPr id="17" name="Label"/>
          <p:cNvSpPr txBox="1"/>
          <p:nvPr/>
        </p:nvSpPr>
        <p:spPr>
          <a:xfrm>
            <a:off x="640080" y="2350008"/>
            <a:ext cx="4846320" cy="347472"/>
          </a:xfrm>
          <a:prstGeom prst="rect">
            <a:avLst/>
          </a:prstGeom>
          <a:noFill/>
        </p:spPr>
        <p:txBody>
          <a:bodyPr wrap="square" lIns="45720" tIns="0" rIns="45720" bIns="0" anchor="ctr">
            <a:noAutofit/>
          </a:bodyPr>
          <a:lstStyle/>
          <a:p>
            <a:pPr algn="l"/>
            <a:r>
              <a:rPr lang="en-GB" sz="1700" dirty="0">
                <a:solidFill>
                  <a:srgbClr val="262626"/>
                </a:solidFill>
              </a:rPr>
              <a:t>Demonstrations</a:t>
            </a:r>
          </a:p>
        </p:txBody>
      </p:sp>
      <p:sp>
        <p:nvSpPr>
          <p:cNvPr id="18" name="Label"/>
          <p:cNvSpPr txBox="1"/>
          <p:nvPr/>
        </p:nvSpPr>
        <p:spPr>
          <a:xfrm>
            <a:off x="5669280" y="2350008"/>
            <a:ext cx="2011680" cy="347472"/>
          </a:xfrm>
          <a:prstGeom prst="rect">
            <a:avLst/>
          </a:prstGeom>
          <a:noFill/>
        </p:spPr>
        <p:txBody>
          <a:bodyPr wrap="square" lIns="45720" tIns="0" rIns="45720" bIns="0" anchor="ctr">
            <a:noAutofit/>
          </a:bodyPr>
          <a:lstStyle/>
          <a:p>
            <a:pPr algn="ctr"/>
            <a:r>
              <a:rPr lang="en-GB" sz="1700" dirty="0">
                <a:solidFill>
                  <a:srgbClr val="262626"/>
                </a:solidFill>
              </a:rPr>
              <a:t>0.6°</a:t>
            </a:r>
          </a:p>
        </p:txBody>
      </p:sp>
      <p:sp>
        <p:nvSpPr>
          <p:cNvPr id="19" name="Label"/>
          <p:cNvSpPr txBox="1"/>
          <p:nvPr/>
        </p:nvSpPr>
        <p:spPr>
          <a:xfrm>
            <a:off x="7863840" y="2350008"/>
            <a:ext cx="2011680" cy="347472"/>
          </a:xfrm>
          <a:prstGeom prst="rect">
            <a:avLst/>
          </a:prstGeom>
          <a:noFill/>
        </p:spPr>
        <p:txBody>
          <a:bodyPr wrap="square" lIns="45720" tIns="0" rIns="45720" bIns="0" anchor="ctr">
            <a:noAutofit/>
          </a:bodyPr>
          <a:lstStyle/>
          <a:p>
            <a:pPr algn="ctr"/>
            <a:r>
              <a:rPr lang="en-GB" sz="1700" dirty="0">
                <a:solidFill>
                  <a:srgbClr val="262626"/>
                </a:solidFill>
              </a:rPr>
              <a:t>2 %</a:t>
            </a:r>
          </a:p>
        </p:txBody>
      </p:sp>
      <p:cxnSp>
        <p:nvCxnSpPr>
          <p:cNvPr id="20" name="Rule"/>
          <p:cNvCxnSpPr/>
          <p:nvPr/>
        </p:nvCxnSpPr>
        <p:spPr>
          <a:xfrm>
            <a:off x="640080" y="2734056"/>
            <a:ext cx="9235440" cy="0"/>
          </a:xfrm>
          <a:prstGeom prst="straightConnector1">
            <a:avLst/>
          </a:prstGeom>
          <a:ln w="9525">
            <a:solidFill>
              <a:srgbClr val="D2D2D2"/>
            </a:solidFill>
          </a:ln>
        </p:spPr>
      </p:cxnSp>
      <p:sp>
        <p:nvSpPr>
          <p:cNvPr id="21" name="Label"/>
          <p:cNvSpPr txBox="1"/>
          <p:nvPr/>
        </p:nvSpPr>
        <p:spPr>
          <a:xfrm>
            <a:off x="640080" y="2779776"/>
            <a:ext cx="4846320" cy="347472"/>
          </a:xfrm>
          <a:prstGeom prst="rect">
            <a:avLst/>
          </a:prstGeom>
          <a:noFill/>
        </p:spPr>
        <p:txBody>
          <a:bodyPr wrap="square" lIns="45720" tIns="0" rIns="45720" bIns="0" anchor="ctr">
            <a:noAutofit/>
          </a:bodyPr>
          <a:lstStyle/>
          <a:p>
            <a:pPr algn="l"/>
            <a:r>
              <a:rPr lang="en-GB" sz="1700" dirty="0">
                <a:solidFill>
                  <a:srgbClr val="262626"/>
                </a:solidFill>
              </a:rPr>
              <a:t>Unguided prior, start pinned</a:t>
            </a:r>
          </a:p>
        </p:txBody>
      </p:sp>
      <p:sp>
        <p:nvSpPr>
          <p:cNvPr id="22" name="Label"/>
          <p:cNvSpPr txBox="1"/>
          <p:nvPr/>
        </p:nvSpPr>
        <p:spPr>
          <a:xfrm>
            <a:off x="5669280" y="2779776"/>
            <a:ext cx="2011680" cy="347472"/>
          </a:xfrm>
          <a:prstGeom prst="rect">
            <a:avLst/>
          </a:prstGeom>
          <a:noFill/>
        </p:spPr>
        <p:txBody>
          <a:bodyPr wrap="square" lIns="45720" tIns="0" rIns="45720" bIns="0" anchor="ctr">
            <a:noAutofit/>
          </a:bodyPr>
          <a:lstStyle/>
          <a:p>
            <a:pPr algn="ctr"/>
            <a:r>
              <a:rPr lang="en-GB" sz="1700" dirty="0">
                <a:solidFill>
                  <a:srgbClr val="262626"/>
                </a:solidFill>
              </a:rPr>
              <a:t>6.4°</a:t>
            </a:r>
          </a:p>
        </p:txBody>
      </p:sp>
      <p:sp>
        <p:nvSpPr>
          <p:cNvPr id="23" name="Label"/>
          <p:cNvSpPr txBox="1"/>
          <p:nvPr/>
        </p:nvSpPr>
        <p:spPr>
          <a:xfrm>
            <a:off x="7863840" y="2779776"/>
            <a:ext cx="2011680" cy="347472"/>
          </a:xfrm>
          <a:prstGeom prst="rect">
            <a:avLst/>
          </a:prstGeom>
          <a:noFill/>
        </p:spPr>
        <p:txBody>
          <a:bodyPr wrap="square" lIns="45720" tIns="0" rIns="45720" bIns="0" anchor="ctr">
            <a:noAutofit/>
          </a:bodyPr>
          <a:lstStyle/>
          <a:p>
            <a:pPr algn="ctr"/>
            <a:r>
              <a:rPr lang="en-GB" sz="1700" dirty="0">
                <a:solidFill>
                  <a:srgbClr val="262626"/>
                </a:solidFill>
              </a:rPr>
              <a:t>4 %</a:t>
            </a:r>
          </a:p>
        </p:txBody>
      </p:sp>
      <p:cxnSp>
        <p:nvCxnSpPr>
          <p:cNvPr id="24" name="Rule"/>
          <p:cNvCxnSpPr/>
          <p:nvPr/>
        </p:nvCxnSpPr>
        <p:spPr>
          <a:xfrm>
            <a:off x="640080" y="3163824"/>
            <a:ext cx="9235440" cy="0"/>
          </a:xfrm>
          <a:prstGeom prst="straightConnector1">
            <a:avLst/>
          </a:prstGeom>
          <a:ln w="9525">
            <a:solidFill>
              <a:srgbClr val="D2D2D2"/>
            </a:solidFill>
          </a:ln>
        </p:spPr>
      </p:cxnSp>
      <p:sp>
        <p:nvSpPr>
          <p:cNvPr id="25" name="Label"/>
          <p:cNvSpPr txBox="1"/>
          <p:nvPr/>
        </p:nvSpPr>
        <p:spPr>
          <a:xfrm>
            <a:off x="640080" y="3209544"/>
            <a:ext cx="4846320" cy="347472"/>
          </a:xfrm>
          <a:prstGeom prst="rect">
            <a:avLst/>
          </a:prstGeom>
          <a:noFill/>
        </p:spPr>
        <p:txBody>
          <a:bodyPr wrap="square" lIns="45720" tIns="0" rIns="45720" bIns="0" anchor="ctr">
            <a:noAutofit/>
          </a:bodyPr>
          <a:lstStyle/>
          <a:p>
            <a:pPr algn="l"/>
            <a:r>
              <a:rPr lang="en-GB" sz="1700" dirty="0">
                <a:solidFill>
                  <a:srgbClr val="262626"/>
                </a:solidFill>
              </a:rPr>
              <a:t>Unguided prior, both endpoints pinned</a:t>
            </a:r>
          </a:p>
        </p:txBody>
      </p:sp>
      <p:sp>
        <p:nvSpPr>
          <p:cNvPr id="26" name="Label"/>
          <p:cNvSpPr txBox="1"/>
          <p:nvPr/>
        </p:nvSpPr>
        <p:spPr>
          <a:xfrm>
            <a:off x="5669280" y="3209544"/>
            <a:ext cx="2011680" cy="347472"/>
          </a:xfrm>
          <a:prstGeom prst="rect">
            <a:avLst/>
          </a:prstGeom>
          <a:noFill/>
        </p:spPr>
        <p:txBody>
          <a:bodyPr wrap="square" lIns="45720" tIns="0" rIns="45720" bIns="0" anchor="ctr">
            <a:noAutofit/>
          </a:bodyPr>
          <a:lstStyle/>
          <a:p>
            <a:pPr algn="ctr"/>
            <a:r>
              <a:rPr lang="en-GB" sz="1700" dirty="0">
                <a:solidFill>
                  <a:srgbClr val="262626"/>
                </a:solidFill>
              </a:rPr>
              <a:t>8.2°</a:t>
            </a:r>
          </a:p>
        </p:txBody>
      </p:sp>
      <p:sp>
        <p:nvSpPr>
          <p:cNvPr id="27" name="Label"/>
          <p:cNvSpPr txBox="1"/>
          <p:nvPr/>
        </p:nvSpPr>
        <p:spPr>
          <a:xfrm>
            <a:off x="7863840" y="3209544"/>
            <a:ext cx="2011680" cy="347472"/>
          </a:xfrm>
          <a:prstGeom prst="rect">
            <a:avLst/>
          </a:prstGeom>
          <a:noFill/>
        </p:spPr>
        <p:txBody>
          <a:bodyPr wrap="square" lIns="45720" tIns="0" rIns="45720" bIns="0" anchor="ctr">
            <a:noAutofit/>
          </a:bodyPr>
          <a:lstStyle/>
          <a:p>
            <a:pPr algn="ctr"/>
            <a:r>
              <a:rPr lang="en-GB" sz="1700" dirty="0">
                <a:solidFill>
                  <a:srgbClr val="262626"/>
                </a:solidFill>
              </a:rPr>
              <a:t>7 %</a:t>
            </a:r>
          </a:p>
        </p:txBody>
      </p:sp>
      <p:cxnSp>
        <p:nvCxnSpPr>
          <p:cNvPr id="28" name="Rule"/>
          <p:cNvCxnSpPr/>
          <p:nvPr/>
        </p:nvCxnSpPr>
        <p:spPr>
          <a:xfrm>
            <a:off x="640080" y="3593592"/>
            <a:ext cx="9235440" cy="0"/>
          </a:xfrm>
          <a:prstGeom prst="straightConnector1">
            <a:avLst/>
          </a:prstGeom>
          <a:ln w="9525">
            <a:solidFill>
              <a:srgbClr val="D2D2D2"/>
            </a:solidFill>
          </a:ln>
        </p:spPr>
      </p:cxnSp>
      <p:sp>
        <p:nvSpPr>
          <p:cNvPr id="29" name="Label"/>
          <p:cNvSpPr txBox="1"/>
          <p:nvPr/>
        </p:nvSpPr>
        <p:spPr>
          <a:xfrm>
            <a:off x="640080" y="3639312"/>
            <a:ext cx="4846320" cy="347472"/>
          </a:xfrm>
          <a:prstGeom prst="rect">
            <a:avLst/>
          </a:prstGeom>
          <a:noFill/>
        </p:spPr>
        <p:txBody>
          <a:bodyPr wrap="square" lIns="45720" tIns="0" rIns="45720" bIns="0" anchor="ctr">
            <a:noAutofit/>
          </a:bodyPr>
          <a:lstStyle/>
          <a:p>
            <a:pPr algn="l"/>
            <a:r>
              <a:rPr lang="en-GB" sz="1700" dirty="0">
                <a:solidFill>
                  <a:srgbClr val="1954A6"/>
                </a:solidFill>
              </a:rPr>
              <a:t>STL-FM, nested reach-and-dwell</a:t>
            </a:r>
          </a:p>
        </p:txBody>
      </p:sp>
      <p:sp>
        <p:nvSpPr>
          <p:cNvPr id="30" name="Label"/>
          <p:cNvSpPr txBox="1"/>
          <p:nvPr/>
        </p:nvSpPr>
        <p:spPr>
          <a:xfrm>
            <a:off x="5669280" y="3639312"/>
            <a:ext cx="2011680" cy="347472"/>
          </a:xfrm>
          <a:prstGeom prst="rect">
            <a:avLst/>
          </a:prstGeom>
          <a:noFill/>
        </p:spPr>
        <p:txBody>
          <a:bodyPr wrap="square" lIns="45720" tIns="0" rIns="45720" bIns="0" anchor="ctr">
            <a:noAutofit/>
          </a:bodyPr>
          <a:lstStyle/>
          <a:p>
            <a:pPr algn="ctr"/>
            <a:r>
              <a:rPr lang="en-GB" sz="1700" dirty="0">
                <a:solidFill>
                  <a:srgbClr val="1954A6"/>
                </a:solidFill>
              </a:rPr>
              <a:t>30.9°</a:t>
            </a:r>
          </a:p>
        </p:txBody>
      </p:sp>
      <p:sp>
        <p:nvSpPr>
          <p:cNvPr id="31" name="Label"/>
          <p:cNvSpPr txBox="1"/>
          <p:nvPr/>
        </p:nvSpPr>
        <p:spPr>
          <a:xfrm>
            <a:off x="7863840" y="3639312"/>
            <a:ext cx="2011680" cy="347472"/>
          </a:xfrm>
          <a:prstGeom prst="rect">
            <a:avLst/>
          </a:prstGeom>
          <a:noFill/>
        </p:spPr>
        <p:txBody>
          <a:bodyPr wrap="square" lIns="45720" tIns="0" rIns="45720" bIns="0" anchor="ctr">
            <a:noAutofit/>
          </a:bodyPr>
          <a:lstStyle/>
          <a:p>
            <a:pPr algn="ctr"/>
            <a:r>
              <a:rPr lang="en-GB" sz="1700" dirty="0">
                <a:solidFill>
                  <a:srgbClr val="1954A6"/>
                </a:solidFill>
              </a:rPr>
              <a:t>47 %</a:t>
            </a:r>
          </a:p>
        </p:txBody>
      </p:sp>
      <p:cxnSp>
        <p:nvCxnSpPr>
          <p:cNvPr id="32" name="Rule"/>
          <p:cNvCxnSpPr/>
          <p:nvPr/>
        </p:nvCxnSpPr>
        <p:spPr>
          <a:xfrm>
            <a:off x="640080" y="4023360"/>
            <a:ext cx="9235440" cy="0"/>
          </a:xfrm>
          <a:prstGeom prst="straightConnector1">
            <a:avLst/>
          </a:prstGeom>
          <a:ln w="9525">
            <a:solidFill>
              <a:srgbClr val="D2D2D2"/>
            </a:solidFill>
          </a:ln>
        </p:spPr>
      </p:cxnSp>
      <p:sp>
        <p:nvSpPr>
          <p:cNvPr id="33" name="Label"/>
          <p:cNvSpPr txBox="1"/>
          <p:nvPr/>
        </p:nvSpPr>
        <p:spPr>
          <a:xfrm>
            <a:off x="640080" y="4069080"/>
            <a:ext cx="4846320" cy="347472"/>
          </a:xfrm>
          <a:prstGeom prst="rect">
            <a:avLst/>
          </a:prstGeom>
          <a:noFill/>
        </p:spPr>
        <p:txBody>
          <a:bodyPr wrap="square" lIns="45720" tIns="0" rIns="45720" bIns="0" anchor="ctr">
            <a:noAutofit/>
          </a:bodyPr>
          <a:lstStyle/>
          <a:p>
            <a:pPr algn="l"/>
            <a:r>
              <a:rPr lang="en-GB" sz="1700" dirty="0">
                <a:solidFill>
                  <a:srgbClr val="1954A6"/>
                </a:solidFill>
              </a:rPr>
              <a:t>STL-FM, recurrence</a:t>
            </a:r>
          </a:p>
        </p:txBody>
      </p:sp>
      <p:sp>
        <p:nvSpPr>
          <p:cNvPr id="34" name="Label"/>
          <p:cNvSpPr txBox="1"/>
          <p:nvPr/>
        </p:nvSpPr>
        <p:spPr>
          <a:xfrm>
            <a:off x="5669280" y="4069080"/>
            <a:ext cx="2011680" cy="347472"/>
          </a:xfrm>
          <a:prstGeom prst="rect">
            <a:avLst/>
          </a:prstGeom>
          <a:noFill/>
        </p:spPr>
        <p:txBody>
          <a:bodyPr wrap="square" lIns="45720" tIns="0" rIns="45720" bIns="0" anchor="ctr">
            <a:noAutofit/>
          </a:bodyPr>
          <a:lstStyle/>
          <a:p>
            <a:pPr algn="ctr"/>
            <a:r>
              <a:rPr lang="en-GB" sz="1700" dirty="0">
                <a:solidFill>
                  <a:srgbClr val="1954A6"/>
                </a:solidFill>
              </a:rPr>
              <a:t>9.9°</a:t>
            </a:r>
          </a:p>
        </p:txBody>
      </p:sp>
      <p:sp>
        <p:nvSpPr>
          <p:cNvPr id="35" name="Label"/>
          <p:cNvSpPr txBox="1"/>
          <p:nvPr/>
        </p:nvSpPr>
        <p:spPr>
          <a:xfrm>
            <a:off x="7863840" y="4069080"/>
            <a:ext cx="2011680" cy="347472"/>
          </a:xfrm>
          <a:prstGeom prst="rect">
            <a:avLst/>
          </a:prstGeom>
          <a:noFill/>
        </p:spPr>
        <p:txBody>
          <a:bodyPr wrap="square" lIns="45720" tIns="0" rIns="45720" bIns="0" anchor="ctr">
            <a:noAutofit/>
          </a:bodyPr>
          <a:lstStyle/>
          <a:p>
            <a:pPr algn="ctr"/>
            <a:endParaRPr/>
          </a:p>
        </p:txBody>
      </p:sp>
      <p:cxnSp>
        <p:nvCxnSpPr>
          <p:cNvPr id="36" name="Rule"/>
          <p:cNvCxnSpPr/>
          <p:nvPr/>
        </p:nvCxnSpPr>
        <p:spPr>
          <a:xfrm>
            <a:off x="640080" y="4453128"/>
            <a:ext cx="9235440" cy="0"/>
          </a:xfrm>
          <a:prstGeom prst="straightConnector1">
            <a:avLst/>
          </a:prstGeom>
          <a:ln w="9525">
            <a:solidFill>
              <a:srgbClr val="D2D2D2"/>
            </a:solidFill>
          </a:ln>
        </p:spPr>
      </p:cxnSp>
      <p:sp>
        <p:nvSpPr>
          <p:cNvPr id="37" name="Label"/>
          <p:cNvSpPr txBox="1"/>
          <p:nvPr/>
        </p:nvSpPr>
        <p:spPr>
          <a:xfrm>
            <a:off x="640080" y="4498848"/>
            <a:ext cx="4846320" cy="347472"/>
          </a:xfrm>
          <a:prstGeom prst="rect">
            <a:avLst/>
          </a:prstGeom>
          <a:noFill/>
        </p:spPr>
        <p:txBody>
          <a:bodyPr wrap="square" lIns="45720" tIns="0" rIns="45720" bIns="0" anchor="ctr">
            <a:noAutofit/>
          </a:bodyPr>
          <a:lstStyle/>
          <a:p>
            <a:pPr algn="l"/>
            <a:r>
              <a:rPr lang="en-GB" sz="1700" dirty="0">
                <a:solidFill>
                  <a:srgbClr val="1954A6"/>
                </a:solidFill>
              </a:rPr>
              <a:t>STL-FM, composite</a:t>
            </a:r>
          </a:p>
        </p:txBody>
      </p:sp>
      <p:sp>
        <p:nvSpPr>
          <p:cNvPr id="38" name="Label"/>
          <p:cNvSpPr txBox="1"/>
          <p:nvPr/>
        </p:nvSpPr>
        <p:spPr>
          <a:xfrm>
            <a:off x="5669280" y="4498848"/>
            <a:ext cx="2011680" cy="347472"/>
          </a:xfrm>
          <a:prstGeom prst="rect">
            <a:avLst/>
          </a:prstGeom>
          <a:noFill/>
        </p:spPr>
        <p:txBody>
          <a:bodyPr wrap="square" lIns="45720" tIns="0" rIns="45720" bIns="0" anchor="ctr">
            <a:noAutofit/>
          </a:bodyPr>
          <a:lstStyle/>
          <a:p>
            <a:pPr algn="ctr"/>
            <a:endParaRPr/>
          </a:p>
        </p:txBody>
      </p:sp>
      <p:sp>
        <p:nvSpPr>
          <p:cNvPr id="39" name="Label"/>
          <p:cNvSpPr txBox="1"/>
          <p:nvPr/>
        </p:nvSpPr>
        <p:spPr>
          <a:xfrm>
            <a:off x="7863840" y="4498848"/>
            <a:ext cx="2011680" cy="347472"/>
          </a:xfrm>
          <a:prstGeom prst="rect">
            <a:avLst/>
          </a:prstGeom>
          <a:noFill/>
        </p:spPr>
        <p:txBody>
          <a:bodyPr wrap="square" lIns="45720" tIns="0" rIns="45720" bIns="0" anchor="ctr">
            <a:noAutofit/>
          </a:bodyPr>
          <a:lstStyle/>
          <a:p>
            <a:pPr algn="ctr"/>
            <a:r>
              <a:rPr lang="en-GB" sz="1700" dirty="0">
                <a:solidFill>
                  <a:srgbClr val="1954A6"/>
                </a:solidFill>
              </a:rPr>
              <a:t>18.5 %</a:t>
            </a:r>
          </a:p>
        </p:txBody>
      </p:sp>
      <p:cxnSp>
        <p:nvCxnSpPr>
          <p:cNvPr id="40" name="Rule"/>
          <p:cNvCxnSpPr/>
          <p:nvPr/>
        </p:nvCxnSpPr>
        <p:spPr>
          <a:xfrm>
            <a:off x="640080" y="4882896"/>
            <a:ext cx="9235440" cy="0"/>
          </a:xfrm>
          <a:prstGeom prst="straightConnector1">
            <a:avLst/>
          </a:prstGeom>
          <a:ln w="9525">
            <a:solidFill>
              <a:srgbClr val="D2D2D2"/>
            </a:solidFill>
          </a:ln>
        </p:spPr>
      </p:cxnSp>
      <p:sp>
        <p:nvSpPr>
          <p:cNvPr id="41" name="Label"/>
          <p:cNvSpPr txBox="1"/>
          <p:nvPr/>
        </p:nvSpPr>
        <p:spPr>
          <a:xfrm>
            <a:off x="640080" y="4928616"/>
            <a:ext cx="4846320" cy="347472"/>
          </a:xfrm>
          <a:prstGeom prst="rect">
            <a:avLst/>
          </a:prstGeom>
          <a:noFill/>
        </p:spPr>
        <p:txBody>
          <a:bodyPr wrap="square" lIns="45720" tIns="0" rIns="45720" bIns="0" anchor="ctr">
            <a:noAutofit/>
          </a:bodyPr>
          <a:lstStyle/>
          <a:p>
            <a:pPr algn="l"/>
            <a:r>
              <a:rPr lang="en-GB" sz="1700" dirty="0">
                <a:solidFill>
                  <a:srgbClr val="262626"/>
                </a:solidFill>
              </a:rPr>
              <a:t>Requirement-only optimizer, pooled</a:t>
            </a:r>
          </a:p>
        </p:txBody>
      </p:sp>
      <p:sp>
        <p:nvSpPr>
          <p:cNvPr id="42" name="Label"/>
          <p:cNvSpPr txBox="1"/>
          <p:nvPr/>
        </p:nvSpPr>
        <p:spPr>
          <a:xfrm>
            <a:off x="5669280" y="4928616"/>
            <a:ext cx="2011680" cy="347472"/>
          </a:xfrm>
          <a:prstGeom prst="rect">
            <a:avLst/>
          </a:prstGeom>
          <a:noFill/>
        </p:spPr>
        <p:txBody>
          <a:bodyPr wrap="square" lIns="45720" tIns="0" rIns="45720" bIns="0" anchor="ctr">
            <a:noAutofit/>
          </a:bodyPr>
          <a:lstStyle/>
          <a:p>
            <a:pPr algn="ctr"/>
            <a:r>
              <a:rPr lang="en-GB" sz="1700" dirty="0">
                <a:solidFill>
                  <a:srgbClr val="262626"/>
                </a:solidFill>
              </a:rPr>
              <a:t>0.3°</a:t>
            </a:r>
          </a:p>
        </p:txBody>
      </p:sp>
      <p:sp>
        <p:nvSpPr>
          <p:cNvPr id="43" name="Label"/>
          <p:cNvSpPr txBox="1"/>
          <p:nvPr/>
        </p:nvSpPr>
        <p:spPr>
          <a:xfrm>
            <a:off x="7863840" y="4928616"/>
            <a:ext cx="2011680" cy="347472"/>
          </a:xfrm>
          <a:prstGeom prst="rect">
            <a:avLst/>
          </a:prstGeom>
          <a:noFill/>
        </p:spPr>
        <p:txBody>
          <a:bodyPr wrap="square" lIns="45720" tIns="0" rIns="45720" bIns="0" anchor="ctr">
            <a:noAutofit/>
          </a:bodyPr>
          <a:lstStyle/>
          <a:p>
            <a:pPr algn="ctr"/>
            <a:endParaRPr/>
          </a:p>
        </p:txBody>
      </p:sp>
      <p:cxnSp>
        <p:nvCxnSpPr>
          <p:cNvPr id="44" name="Rule"/>
          <p:cNvCxnSpPr/>
          <p:nvPr/>
        </p:nvCxnSpPr>
        <p:spPr>
          <a:xfrm>
            <a:off x="640080" y="5312664"/>
            <a:ext cx="9235440" cy="0"/>
          </a:xfrm>
          <a:prstGeom prst="straightConnector1">
            <a:avLst/>
          </a:prstGeom>
          <a:ln w="9525">
            <a:solidFill>
              <a:srgbClr val="D2D2D2"/>
            </a:solidFill>
          </a:ln>
        </p:spPr>
      </p:cxnSp>
      <p:sp>
        <p:nvSpPr>
          <p:cNvPr id="45" name="Label"/>
          <p:cNvSpPr txBox="1"/>
          <p:nvPr/>
        </p:nvSpPr>
        <p:spPr>
          <a:xfrm>
            <a:off x="640080" y="5440680"/>
            <a:ext cx="10972800" cy="822960"/>
          </a:xfrm>
          <a:prstGeom prst="rect">
            <a:avLst/>
          </a:prstGeom>
          <a:noFill/>
        </p:spPr>
        <p:txBody>
          <a:bodyPr wrap="square" lIns="45720" tIns="0" rIns="45720" bIns="0" anchor="t">
            <a:noAutofit/>
          </a:bodyPr>
          <a:lstStyle/>
          <a:p>
            <a:pPr algn="l"/>
            <a:r>
              <a:rPr lang="en-GB" sz="1500" dirty="0">
                <a:solidFill>
                  <a:srgbClr val="6E6E6E"/>
                </a:solidFill>
              </a:rPr>
              <a:t>The evaluation does not distinguish two explanations. Either the prior is undertrained, or guidance</a:t>
            </a:r>
          </a:p>
          <a:p>
            <a:pPr algn="l"/>
            <a:r>
              <a:rPr lang="en-GB" sz="1500" dirty="0">
                <a:solidFill>
                  <a:srgbClr val="6E6E6E"/>
                </a:solidFill>
              </a:rPr>
              <a:t>moves iterates away from plausible trajectories faster than the prior moves them back. The evidence</a:t>
            </a:r>
          </a:p>
          <a:p>
            <a:pPr algn="l"/>
            <a:r>
              <a:rPr lang="en-GB" sz="1500" dirty="0">
                <a:solidFill>
                  <a:srgbClr val="6E6E6E"/>
                </a:solidFill>
              </a:rPr>
              <a:t>for the contribution of the prior is the carry gap and the arena excursion.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Limitations</a:t>
            </a:r>
          </a:p>
        </p:txBody>
      </p:sp>
      <p:sp>
        <p:nvSpPr>
          <p:cNvPr id="12" name="Slide Number"/>
          <p:cNvSpPr>
            <a:spLocks noGrp="1"/>
          </p:cNvSpPr>
          <p:nvPr>
            <p:ph type="sldNum" sz="quarter" idx="12"/>
          </p:nvPr>
        </p:nvSpPr>
        <p:spPr/>
        <p:txBody>
          <a:bodyPr/>
          <a:lstStyle/>
          <a:p>
            <a:fld id="{619F89D8-7AE3-494A-97F3-03D680869632}" type="slidenum">
              <a:rPr lang="en-GB"/>
              <a:t>50</a:t>
            </a:fld>
            <a:endParaRPr lang="en-GB"/>
          </a:p>
        </p:txBody>
      </p:sp>
      <p:sp>
        <p:nvSpPr>
          <p:cNvPr id="13" name="Label"/>
          <p:cNvSpPr txBox="1"/>
          <p:nvPr/>
        </p:nvSpPr>
        <p:spPr>
          <a:xfrm>
            <a:off x="640080" y="1920240"/>
            <a:ext cx="3657600" cy="512064"/>
          </a:xfrm>
          <a:prstGeom prst="rect">
            <a:avLst/>
          </a:prstGeom>
          <a:noFill/>
        </p:spPr>
        <p:txBody>
          <a:bodyPr wrap="square" lIns="45720" tIns="0" rIns="45720" bIns="0" anchor="ctr">
            <a:noAutofit/>
          </a:bodyPr>
          <a:lstStyle/>
          <a:p>
            <a:pPr algn="l"/>
            <a:r>
              <a:rPr lang="en-GB" sz="1700" b="1" dirty="0">
                <a:solidFill>
                  <a:srgbClr val="262626"/>
                </a:solidFill>
              </a:rPr>
              <a:t>Fixed requirement instances</a:t>
            </a:r>
          </a:p>
        </p:txBody>
      </p:sp>
      <p:sp>
        <p:nvSpPr>
          <p:cNvPr id="14" name="Label"/>
          <p:cNvSpPr txBox="1"/>
          <p:nvPr/>
        </p:nvSpPr>
        <p:spPr>
          <a:xfrm>
            <a:off x="4389120" y="1920240"/>
            <a:ext cx="7205472" cy="512064"/>
          </a:xfrm>
          <a:prstGeom prst="rect">
            <a:avLst/>
          </a:prstGeom>
          <a:noFill/>
        </p:spPr>
        <p:txBody>
          <a:bodyPr wrap="square" lIns="45720" tIns="0" rIns="45720" bIns="0" anchor="ctr">
            <a:noAutofit/>
          </a:bodyPr>
          <a:lstStyle/>
          <a:p>
            <a:pPr algn="l"/>
            <a:r>
              <a:rPr lang="en-GB" sz="1600" dirty="0">
                <a:solidFill>
                  <a:srgbClr val="262626"/>
                </a:solidFill>
              </a:rPr>
              <a:t>every rate is measured on one instance per class</a:t>
            </a:r>
          </a:p>
        </p:txBody>
      </p:sp>
      <p:sp>
        <p:nvSpPr>
          <p:cNvPr id="15" name="Label"/>
          <p:cNvSpPr txBox="1"/>
          <p:nvPr/>
        </p:nvSpPr>
        <p:spPr>
          <a:xfrm>
            <a:off x="640080" y="2505456"/>
            <a:ext cx="3657600" cy="512064"/>
          </a:xfrm>
          <a:prstGeom prst="rect">
            <a:avLst/>
          </a:prstGeom>
          <a:noFill/>
        </p:spPr>
        <p:txBody>
          <a:bodyPr wrap="square" lIns="45720" tIns="0" rIns="45720" bIns="0" anchor="ctr">
            <a:noAutofit/>
          </a:bodyPr>
          <a:lstStyle/>
          <a:p>
            <a:pPr algn="l"/>
            <a:r>
              <a:rPr lang="en-GB" sz="1700" b="1" dirty="0">
                <a:solidFill>
                  <a:srgbClr val="262626"/>
                </a:solidFill>
              </a:rPr>
              <a:t>No certificate</a:t>
            </a:r>
          </a:p>
        </p:txBody>
      </p:sp>
      <p:sp>
        <p:nvSpPr>
          <p:cNvPr id="16" name="Label"/>
          <p:cNvSpPr txBox="1"/>
          <p:nvPr/>
        </p:nvSpPr>
        <p:spPr>
          <a:xfrm>
            <a:off x="4389120" y="2505456"/>
            <a:ext cx="7205472" cy="512064"/>
          </a:xfrm>
          <a:prstGeom prst="rect">
            <a:avLst/>
          </a:prstGeom>
          <a:noFill/>
        </p:spPr>
        <p:txBody>
          <a:bodyPr wrap="square" lIns="45720" tIns="0" rIns="45720" bIns="0" anchor="ctr">
            <a:noAutofit/>
          </a:bodyPr>
          <a:lstStyle/>
          <a:p>
            <a:pPr algn="l"/>
            <a:r>
              <a:rPr lang="en-GB" sz="1600" dirty="0">
                <a:solidFill>
                  <a:srgbClr val="262626"/>
                </a:solidFill>
              </a:rPr>
              <a:t>the guided sampler is a soft realization, so it gives a rate, not a guarantee</a:t>
            </a:r>
          </a:p>
        </p:txBody>
      </p:sp>
      <p:sp>
        <p:nvSpPr>
          <p:cNvPr id="17" name="Label"/>
          <p:cNvSpPr txBox="1"/>
          <p:nvPr/>
        </p:nvSpPr>
        <p:spPr>
          <a:xfrm>
            <a:off x="640080" y="3090672"/>
            <a:ext cx="3657600" cy="512064"/>
          </a:xfrm>
          <a:prstGeom prst="rect">
            <a:avLst/>
          </a:prstGeom>
          <a:noFill/>
        </p:spPr>
        <p:txBody>
          <a:bodyPr wrap="square" lIns="45720" tIns="0" rIns="45720" bIns="0" anchor="ctr">
            <a:noAutofit/>
          </a:bodyPr>
          <a:lstStyle/>
          <a:p>
            <a:pPr algn="l"/>
            <a:r>
              <a:rPr lang="en-GB" sz="1700" b="1" dirty="0">
                <a:solidFill>
                  <a:srgbClr val="262626"/>
                </a:solidFill>
              </a:rPr>
              <a:t>Sampled-state semantics</a:t>
            </a:r>
          </a:p>
        </p:txBody>
      </p:sp>
      <p:sp>
        <p:nvSpPr>
          <p:cNvPr id="18" name="Label"/>
          <p:cNvSpPr txBox="1"/>
          <p:nvPr/>
        </p:nvSpPr>
        <p:spPr>
          <a:xfrm>
            <a:off x="4389120" y="3090672"/>
            <a:ext cx="7205472" cy="512064"/>
          </a:xfrm>
          <a:prstGeom prst="rect">
            <a:avLst/>
          </a:prstGeom>
          <a:noFill/>
        </p:spPr>
        <p:txBody>
          <a:bodyPr wrap="square" lIns="45720" tIns="0" rIns="45720" bIns="0" anchor="ctr">
            <a:noAutofit/>
          </a:bodyPr>
          <a:lstStyle/>
          <a:p>
            <a:pPr algn="l"/>
            <a:r>
              <a:rPr lang="en-GB" sz="1600" dirty="0">
                <a:solidFill>
                  <a:srgbClr val="262626"/>
                </a:solidFill>
              </a:rPr>
              <a:t>robustness does not constrain the path between two sampled states</a:t>
            </a:r>
          </a:p>
        </p:txBody>
      </p:sp>
      <p:sp>
        <p:nvSpPr>
          <p:cNvPr id="19" name="Label"/>
          <p:cNvSpPr txBox="1"/>
          <p:nvPr/>
        </p:nvSpPr>
        <p:spPr>
          <a:xfrm>
            <a:off x="640080" y="3675888"/>
            <a:ext cx="3657600" cy="512064"/>
          </a:xfrm>
          <a:prstGeom prst="rect">
            <a:avLst/>
          </a:prstGeom>
          <a:noFill/>
        </p:spPr>
        <p:txBody>
          <a:bodyPr wrap="square" lIns="45720" tIns="0" rIns="45720" bIns="0" anchor="ctr">
            <a:noAutofit/>
          </a:bodyPr>
          <a:lstStyle/>
          <a:p>
            <a:pPr algn="l"/>
            <a:r>
              <a:rPr lang="en-GB" sz="1700" b="1" dirty="0">
                <a:solidFill>
                  <a:srgbClr val="262626"/>
                </a:solidFill>
              </a:rPr>
              <a:t>Evaluated fragment</a:t>
            </a:r>
          </a:p>
        </p:txBody>
      </p:sp>
      <p:sp>
        <p:nvSpPr>
          <p:cNvPr id="20" name="Label"/>
          <p:cNvSpPr txBox="1"/>
          <p:nvPr/>
        </p:nvSpPr>
        <p:spPr>
          <a:xfrm>
            <a:off x="4389120" y="3675888"/>
            <a:ext cx="7205472" cy="512064"/>
          </a:xfrm>
          <a:prstGeom prst="rect">
            <a:avLst/>
          </a:prstGeom>
          <a:noFill/>
        </p:spPr>
        <p:txBody>
          <a:bodyPr wrap="square" lIns="45720" tIns="0" rIns="45720" bIns="0" anchor="ctr">
            <a:noAutofit/>
          </a:bodyPr>
          <a:lstStyle/>
          <a:p>
            <a:pPr algn="l"/>
            <a:r>
              <a:rPr lang="en-GB" sz="1600" dirty="0">
                <a:solidFill>
                  <a:srgbClr val="262626"/>
                </a:solidFill>
              </a:rPr>
              <a:t>disjunction and until are compiled but not evaluated, and the fragment has no unbounded operators</a:t>
            </a:r>
          </a:p>
        </p:txBody>
      </p:sp>
      <p:sp>
        <p:nvSpPr>
          <p:cNvPr id="21" name="Label"/>
          <p:cNvSpPr txBox="1"/>
          <p:nvPr/>
        </p:nvSpPr>
        <p:spPr>
          <a:xfrm>
            <a:off x="640080" y="4261104"/>
            <a:ext cx="3657600" cy="512064"/>
          </a:xfrm>
          <a:prstGeom prst="rect">
            <a:avLst/>
          </a:prstGeom>
          <a:noFill/>
        </p:spPr>
        <p:txBody>
          <a:bodyPr wrap="square" lIns="45720" tIns="0" rIns="45720" bIns="0" anchor="ctr">
            <a:noAutofit/>
          </a:bodyPr>
          <a:lstStyle/>
          <a:p>
            <a:pPr algn="l"/>
            <a:r>
              <a:rPr lang="en-GB" sz="1700" b="1" dirty="0">
                <a:solidFill>
                  <a:srgbClr val="262626"/>
                </a:solidFill>
              </a:rPr>
              <a:t>Requirement-neutral prior</a:t>
            </a:r>
          </a:p>
        </p:txBody>
      </p:sp>
      <p:sp>
        <p:nvSpPr>
          <p:cNvPr id="22" name="Label"/>
          <p:cNvSpPr txBox="1"/>
          <p:nvPr/>
        </p:nvSpPr>
        <p:spPr>
          <a:xfrm>
            <a:off x="4389120" y="4261104"/>
            <a:ext cx="7205472" cy="512064"/>
          </a:xfrm>
          <a:prstGeom prst="rect">
            <a:avLst/>
          </a:prstGeom>
          <a:noFill/>
        </p:spPr>
        <p:txBody>
          <a:bodyPr wrap="square" lIns="45720" tIns="0" rIns="45720" bIns="0" anchor="ctr">
            <a:noAutofit/>
          </a:bodyPr>
          <a:lstStyle/>
          <a:p>
            <a:pPr algn="l"/>
            <a:r>
              <a:rPr lang="en-GB" sz="1600" dirty="0">
                <a:solidFill>
                  <a:srgbClr val="262626"/>
                </a:solidFill>
              </a:rPr>
              <a:t>a modelling assumption, although demonstrations can retain task structure</a:t>
            </a:r>
          </a:p>
        </p:txBody>
      </p:sp>
      <p:sp>
        <p:nvSpPr>
          <p:cNvPr id="23" name="Label"/>
          <p:cNvSpPr txBox="1"/>
          <p:nvPr/>
        </p:nvSpPr>
        <p:spPr>
          <a:xfrm>
            <a:off x="640080" y="4846320"/>
            <a:ext cx="3657600" cy="512064"/>
          </a:xfrm>
          <a:prstGeom prst="rect">
            <a:avLst/>
          </a:prstGeom>
          <a:noFill/>
        </p:spPr>
        <p:txBody>
          <a:bodyPr wrap="square" lIns="45720" tIns="0" rIns="45720" bIns="0" anchor="ctr">
            <a:noAutofit/>
          </a:bodyPr>
          <a:lstStyle/>
          <a:p>
            <a:pPr algn="l"/>
            <a:r>
              <a:rPr lang="en-GB" sz="1700" b="1" dirty="0">
                <a:solidFill>
                  <a:srgbClr val="262626"/>
                </a:solidFill>
              </a:rPr>
              <a:t>Reproducibility</a:t>
            </a:r>
          </a:p>
        </p:txBody>
      </p:sp>
      <p:sp>
        <p:nvSpPr>
          <p:cNvPr id="24" name="Label"/>
          <p:cNvSpPr txBox="1"/>
          <p:nvPr/>
        </p:nvSpPr>
        <p:spPr>
          <a:xfrm>
            <a:off x="4389120" y="4846320"/>
            <a:ext cx="7205472" cy="512064"/>
          </a:xfrm>
          <a:prstGeom prst="rect">
            <a:avLst/>
          </a:prstGeom>
          <a:noFill/>
        </p:spPr>
        <p:txBody>
          <a:bodyPr wrap="square" lIns="45720" tIns="0" rIns="45720" bIns="0" anchor="ctr">
            <a:noAutofit/>
          </a:bodyPr>
          <a:lstStyle/>
          <a:p>
            <a:pPr algn="l"/>
            <a:r>
              <a:rPr lang="en-GB" sz="1600" dirty="0">
                <a:solidFill>
                  <a:srgbClr val="262626"/>
                </a:solidFill>
              </a:rPr>
              <a:t>runs with identical seeds agree on the satisfaction count in 27 of 28 cells and differ by one run in the other</a:t>
            </a:r>
          </a:p>
        </p:txBody>
      </p:sp>
      <p:sp>
        <p:nvSpPr>
          <p:cNvPr id="25" name="Label"/>
          <p:cNvSpPr txBox="1"/>
          <p:nvPr/>
        </p:nvSpPr>
        <p:spPr>
          <a:xfrm>
            <a:off x="640080" y="5431536"/>
            <a:ext cx="3657600" cy="512064"/>
          </a:xfrm>
          <a:prstGeom prst="rect">
            <a:avLst/>
          </a:prstGeom>
          <a:noFill/>
        </p:spPr>
        <p:txBody>
          <a:bodyPr wrap="square" lIns="45720" tIns="0" rIns="45720" bIns="0" anchor="ctr">
            <a:noAutofit/>
          </a:bodyPr>
          <a:lstStyle/>
          <a:p>
            <a:pPr algn="l"/>
            <a:r>
              <a:rPr lang="en-GB" sz="1700" b="1" dirty="0">
                <a:solidFill>
                  <a:srgbClr val="262626"/>
                </a:solidFill>
              </a:rPr>
              <a:t>Physical carry interval</a:t>
            </a:r>
          </a:p>
        </p:txBody>
      </p:sp>
      <p:sp>
        <p:nvSpPr>
          <p:cNvPr id="26" name="Label"/>
          <p:cNvSpPr txBox="1"/>
          <p:nvPr/>
        </p:nvSpPr>
        <p:spPr>
          <a:xfrm>
            <a:off x="4389120" y="5431536"/>
            <a:ext cx="7205472" cy="512064"/>
          </a:xfrm>
          <a:prstGeom prst="rect">
            <a:avLst/>
          </a:prstGeom>
          <a:noFill/>
        </p:spPr>
        <p:txBody>
          <a:bodyPr wrap="square" lIns="45720" tIns="0" rIns="45720" bIns="0" anchor="ctr">
            <a:noAutofit/>
          </a:bodyPr>
          <a:lstStyle/>
          <a:p>
            <a:pPr algn="l"/>
            <a:r>
              <a:rPr lang="en-GB" sz="1600" dirty="0">
                <a:solidFill>
                  <a:srgbClr val="262626"/>
                </a:solidFill>
              </a:rPr>
              <a:t>a proxy read from the gripper trace, longer than the planning horizon</a:t>
            </a:r>
          </a:p>
        </p:txBody>
      </p:sp>
    </p:spTree>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792d246-d363-40e2-82bc-6f0655128b68}" enabled="1" method="Standard" siteId="{372ee9e0-9ce0-4033-a64a-c07073a91ecd}" removed="0"/>
</clbl:labelList>
</file>

<file path=docProps/app.xml><?xml version="1.0" encoding="utf-8"?>
<Properties xmlns="http://schemas.openxmlformats.org/officeDocument/2006/extended-properties" xmlns:vt="http://schemas.openxmlformats.org/officeDocument/2006/docPropsVTypes">
  <Template/>
  <TotalTime>239</TotalTime>
  <Words>7251</Words>
  <Application>Microsoft Office PowerPoint</Application>
  <PresentationFormat>Widescreen</PresentationFormat>
  <Paragraphs>547</Paragraphs>
  <Slides>50</Slides>
  <Notes>48</Notes>
  <HiddenSlides>1</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Cambria Math</vt:lpstr>
      <vt:lpstr>Figtree</vt:lpstr>
      <vt:lpstr>Office-tema</vt:lpstr>
      <vt:lpstr>STL-FM: Trajectory Planning Through  STL-Guided Flow Matching</vt:lpstr>
      <vt:lpstr>Adhesive bonding with an ABB YuMi</vt:lpstr>
      <vt:lpstr>Current practice</vt:lpstr>
      <vt:lpstr>From programming to generation</vt:lpstr>
      <vt:lpstr>Requirements that change after training</vt:lpstr>
      <vt:lpstr>Problem</vt:lpstr>
      <vt:lpstr>Aim and research questions</vt:lpstr>
      <vt:lpstr>Approach</vt:lpstr>
      <vt:lpstr>Stating the requirement as an STL </vt:lpstr>
      <vt:lpstr>Signal Temporal Logic</vt:lpstr>
      <vt:lpstr>Evaluated fragment</vt:lpstr>
      <vt:lpstr>Quantitative robustness</vt:lpstr>
      <vt:lpstr>Smooth robustness</vt:lpstr>
      <vt:lpstr>Learning the prior</vt:lpstr>
      <vt:lpstr>Flow matching</vt:lpstr>
      <vt:lpstr>How it looks in 3D</vt:lpstr>
      <vt:lpstr>Learned prior</vt:lpstr>
      <vt:lpstr>Related work</vt:lpstr>
      <vt:lpstr>Comparison of approaches</vt:lpstr>
      <vt:lpstr>Guiding the prior</vt:lpstr>
      <vt:lpstr>Guided velocity field</vt:lpstr>
      <vt:lpstr>Guided sampler</vt:lpstr>
      <vt:lpstr>Evaluating the plans</vt:lpstr>
      <vt:lpstr>Experimental setup</vt:lpstr>
      <vt:lpstr>Evaluation metrics</vt:lpstr>
      <vt:lpstr>Six requirement classes</vt:lpstr>
      <vt:lpstr>Logic satisfaction in navigation</vt:lpstr>
      <vt:lpstr>Arena excursion</vt:lpstr>
      <vt:lpstr>Underdetermination by robustness</vt:lpstr>
      <vt:lpstr>Cube manipulation</vt:lpstr>
      <vt:lpstr>Carry gap</vt:lpstr>
      <vt:lpstr>Logic satisfaction and task success</vt:lpstr>
      <vt:lpstr>Conclusions</vt:lpstr>
      <vt:lpstr>Future work</vt:lpstr>
      <vt:lpstr>PowerPoint Presentation</vt:lpstr>
      <vt:lpstr>Supplementary material</vt:lpstr>
      <vt:lpstr>Plausible samples that violate the requirement</vt:lpstr>
      <vt:lpstr>Proposition A.1.2</vt:lpstr>
      <vt:lpstr>Proposition A.3.1</vt:lpstr>
      <vt:lpstr>Proposition A.3.4</vt:lpstr>
      <vt:lpstr>Theorem A.3.6</vt:lpstr>
      <vt:lpstr>Constant guidance strength</vt:lpstr>
      <vt:lpstr>Algorithm 1 and Proposition 4.2.1</vt:lpstr>
      <vt:lpstr>Algorithm 2</vt:lpstr>
      <vt:lpstr>Navigation results, all four planners</vt:lpstr>
      <vt:lpstr>Cube results, all three classes</vt:lpstr>
      <vt:lpstr>Kitchen study</vt:lpstr>
      <vt:lpstr>Physical platform</vt:lpstr>
      <vt:lpstr>Roughness of guided plans</vt:lpstr>
      <vt:lpstr>Limitations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Gawtam Ramesh</cp:lastModifiedBy>
  <cp:revision>8</cp:revision>
  <dcterms:created xsi:type="dcterms:W3CDTF">2025-11-27T14:16:18Z</dcterms:created>
  <dcterms:modified xsi:type="dcterms:W3CDTF">2026-10-23T09:35:29Z</dcterms:modified>
</cp:coreProperties>
</file>